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2" d="100"/>
          <a:sy n="82" d="100"/>
        </p:scale>
        <p:origin x="69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527048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are Clams With Plans. Our question: can a savanna of zebras, rhinos, leopards, grass and bushes drive itself extinct by mis-adaptation, and how is that different from simply failing to adapt? We compare two set-ups. Before: we seed our species into the original engine and let them run. After: the same species with our new cells and environment features. The background image is a real screenshot from the modified engine at tick 40,000.</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only define the terms we need to talk about evolutionary death. Evolutionary death is the outcome: the lineage hits zero. The question is always why. Evolutionary suicide is the interesting one: the trait is good for each individual, which is why it spreads, but the population as a whole destroys what it depends on. Failure to adapt is the opposite: nothing useful spreads and the species just declines. Predator boom-bust is an ecological collapse, not an evolutionary one, and we keep it separate so we do not mislabel it as suicide.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rule we committed to before running the experiments, and our analysis script applies it to every run so we cannot cherry-pick. A run only counts as evolutionary suicide if the population first succeeded, a trait spread, the food was destroyed, and the deaths were self-caused. If another species did most of the killing, it is a collapse under predation instead.</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“before” setup: we took our species, built only from the original cell types, put them all into the environment, and watched what they did. Zebras are fast herd grazers with two eyes and a rear kick. Rhinos are big, armoured and slow. Leopards have jaws, meaning a killer cell on each side of the mouth. Grass and bush are both plain producer plants. The only small change from the stock engine is that plants can reproduce from the food they produce; without that, mouthless plants never reproduce at all.</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brief asks whether our species are distinct and how we justify them. Each species copies a real animal or plant so that every modification acts on a trade-off the species already has. Zebras trade armour for speed and vigilance. Rhinos trade speed and breeding rate for toughness. Leopards are strong attackers but fragile and dependent on prey. Grass and bush differ in size, water use and food value, which is what lets bush act as a worse fallback food after our changes.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simplest “before” experiment: all species in, default settings, no interference. Leopards boomed on the herds and then died out, because the first boom generation aged out without enough kills. Rhinos boomed hard, up to 356, and then collapsed. Zebras survived in one seed and died out in two. In seed 3, shown here, zebras did evolve more mouths, up to 2.37 per zebra, which counts as a trait spreading. But they died out at tick 31,000 while grass was recovering to over 1,400 plants, so the trait did not destroy their food. Our classifier labels it a suicide candidate, three of four criteria, not confirmed suicide. So with default settings we saw extinction, but not clear evolutionary suicide. That sent us searching for conditions that would produce it.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the default run, we deliberately searched for conditions that cause extinction, three runs each. Read each card as: what we changed, what happened, and our verdict at the top. Less food made everything die faster, and in one run rhinos evolved killers and destroyed their food. With evolution switched off, nothing could adapt, which is our failure-to-adapt baseline. The clogging runs died for a mechanical reason, so we do not count them. Card 5 is the key result: zebras that started without a killer evolved one, and that trait wiped out their food. Card 6 is our control: giving them the killer at the start also killed them, but that is not evolution, so it does not count as suicide.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engine’s population chart, redrawn from the EcoStats log for this run so all four lines fit on one slide. The zebras started with no killer cell. One evolved, and in the old engine a killer cell destroys plants and turns them into food. So a killer zebra gets a windfall meal and breeds faster, and the trait spreads, shown by the blue dashed line. But every kill removes a producer forever. Bushes were gone by tick 6,000, the last grass by 11,900, and the zebras died out at 14,881. All four criteria hold, and it happened in all 3 seeds (peaks of 307, 560 and 312). In one harsh-settings seed, rhinos did the same thing. Note the killer share falls at the very end because only a few zebras are left.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real screenshots from the engine, saved automatically during the run. Pink cells are killer cells. In the middle frame you can see the plants are mostly gone and the map is full of zebras carrying killers. By the end only leftover food cells remain, and nothing can produce more, so the zebras cannot reproduce before old age.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species, same starting numbers, but now with our new cell types, outlined with a dashed border. Zebras gain two stripe cells for herd camouflage. Rhinos swap one armour cell for a horn. Leopards gain a cache cell to store surplus food. Bushes are now woody, a separate producer that uses less water and makes poorer food. Trees are a new long-lived plant. The environment also changes: soil water refilled by rain, a river that only rhinos can wade across, tree cover, and fire.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four member features. They interconnect: stripes keep more zebras alive, which puts more pressure on grass; soil water decides how fast grass recovers; horns protect rhinos but trample food; the cache keeps leopards hunting zebras through lean periods. Each one was designed as a trade-off: it creates a possible path to evolutionary suicide but also a way out, so collapse is possible but never automatic. That matters because if we had hard-coded a collapse, it would not be evidence of anything. No line of code sets a population or a death; every death comes from old age, damage or hunger.</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rules were needed to test the hypothesis from our plan at all. Without worse bush food there is nothing to switch to; without grazing damage, mouths cannot deplete grass; without hunger, scarcity is not lethal; without meat-only leopards, predators never depend on prey. We also added a logger, EcoStats, which records the cause of every death so we can tell suicide from predation.</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organisms themselves are built from the same kinds of cells, which is why they look similar to the original Life Engine. What changed is the world and the rules: the brown shading is soil water, the blue band is the river, the brown squares are trees, and violet cells are browse from bushes. On the right, 40,000 ticks later, grass covers the map and only zebras remain.</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full modified engine, five seeds, 100,000 ticks each. Every leopard population boomed from 16 to 26 to 35 and then died out within 13,000 ticks. Every rhino population died out within 18,000 ticks. Zebras survived only in seed 1, the only seed where the mouth trait spread to nearly two mouths per zebra. In the others, mouths stayed near one and the zebras slowly faded. The next two slides show seed 1 and seed 4 side by side in the engine’s chart style.</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success case after our changes. Leopards boomed on the herd and were gone by tick 4,400. Rhinos lasted until 12,600. The zebras then evolved a second mouth: the average went from 1.0 to 1.99, and the herd peaked at 290 and was still 199 at the end. This is the trait our hypothesis said would cause suicide, but it did not: grass did not crash, it stayed around 1,000 plants, because water-limited regrowth and the bush fallback kept the food supply going. Later in the run the mouth average drifted back down as body plans kept changing, but the herd stayed large.</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contrast case. Same world, same rules, different seed. Here the second mouth never spread: the dashed blue line is flat at one mouth per zebra. The herd peaked early at 136 and then declined slowly over about 50,000 ticks, mostly dying of old age, while there was still plenty of food: 532 grass and 415 bush plants at tick 40,000. Nothing rose first and then collapsed, so this fails criteria 1 to 3. It is failure to adapt, not evolutionary suicide. Seeds 2, 3 and 5 followed the same pattern, with starvation killing only 4 to 81 zebras per run.</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biggest behaviour change is in the zebras. Before, the route to success was a killer cell that turned plants into meals. After, plants cannot be eaten that way, so success came from grazing more efficiently. Once leopards were gone, eyes, stripes and the kick were dead weight. A smaller body needs less food per calf, and a second mouth gathers food faster, so the streamlined lineage won. That is adaptation to a changed environment, the leopards disappearing, not suicide. Rhinos changed from being an occasional suicide case to a clear failure to adapt. Leopards became truly dependent on prey, which is what made them boom and bust.</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brief asks how our species evolve and what produces divergent paths. Four things did. First, predation pressure: once leopards were gone, eyes, stripes and the kick were dead weight, and the lineages that dropped them and gained a second mouth needed less food per calf. Second, chance: the same world with a different seed gave opposite outcomes, depending on whether the mouth mutation appeared and spread early. Third, environment: drier or poorer conditions pushed mouths higher. Fourth, the rules themselves decide which traits pay: killers before, mouths after.</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our changes the species barely had niches: grass and bush gave identical food, and leopards could eat plants, so nothing was tied to a particular resource or place. After, each species has a clear place. Zebras depend on open grass and the wet riverbank. Rhinos are the only animals that can cross the river. Leopards hunt from cover near trees, the only place caches fill. Changing the environment moves these niches: without the river zebras lose their refuge and die out; with scarce food the slow rhinos do better; without trees the leopards could cache anywhere and boomed to 110.</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Ablations switch off one feature and keep everything else the same, so we can see what each feature actually does. The clearest results: removing the river or soil water killed every zebra lineage, and removing stripes made zebras die out fastest. The mouth cap is the key test of our hypothesis: if the extra mouth were suicidal, blocking it should have helped. It made things worse, 1 of 3 against 4 of 5, so the trait is adaptive. Surprisingly, removing the leopard cache saved every zebra lineage, because leopards died sooner.</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ran these to answer three open questions: would a longer or drier run eventually produce overgrazing suicide, would more leopards persist, and would stronger fire change who survives. In the long dry run, grass food fell from about 1,550 to 166 cells and zebras evolved up to 2.8 mouths, but food kept falling after the zebras were gone, so the zebras were responding to scarcity, not causing it. That fails criterion 3. With 48 leopards we saw the textbook predator over-exploitation collapse, but it came from the starting density, not a trait, so it is ecological, not evolutionary.</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yes. Extinction happened in almost every run, before and after. Question 2: both kinds. Our clearest mis-adaptation was before our changes: zebras evolved a killer cell, the trait spread because every plant it killed was a meal, and it wiped out the producers they lived on. After our changes, collapses were failure to adapt: rhinos breeding too slowly, and zebra lineages where the mouth trait never spread. Leopards were boom and bust, which is ecological, not evolutionary. Question 3: environment mattered as much as the species. The same zebras drove themselves extinct in one world and adapted in another, and removing the river or soil water was as decisive as removing a trait. Question 4: the instrumental traits and features are listed here. The cache delayed leopard collapse but mostly prolonged predation on zebras.</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main comparison the brief asks for. Before our changes, the engine produced clear evolutionary suicide: a trait that helped each zebra destroyed the food the whole population depended on. After our changes, every route to collapse had an escape, so the same kind of suicide did not happen. Evolutionary death still happened a lot, but for different reasons: species that failed to adapt, and predators that boomed and busted. Our main hypothesis, zebras overgrazing with extra mouths and being forced onto poor bush food, was not observed. The extra mouth spread, but it was adaptive.</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brief says the code will be inspected to confirm that no extinction or survival is scripted. There are only three ways an organism can die, and they apply to every organism the same way: old age, damage from cells, and hunger. The world generator only places the starting organisms and sets the rule values. The strongest evidence that nothing is scripted is that the same condition with different seeds gives different outcomes. To be transparent, we did adjust general body-part rules during early trial runs, for example how leopard jaws work and when sprinting applies, but those were fixed before the final runs, and every final run used the same rules.</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Lecture 9 says that in co-evolution the fitness landscape is not fixed: it is coupled, and adaptation by one species changes the landscape for others, as in predator-prey interactions. That is exactly what decides evolutionary death in our world. Before, the zebras changed their own landscape by destroying the plants, which is evolutionary suicide. After, the leopards disappearing changed the zebras’ landscape, and the zebras that dropped useless defences won. We expected Lotka-Volterra-style cycles and a Red Queen arms race, but our leopard populations were too small to persist, so we only saw single boom-bust events; that is a limitation. On selection: the Life Engine does not use roulette or tournament selection; organisms that collect food faster simply reproduce more, so selection pressure comes from the environment. The no-mutation baseline shows that without variation there is nothing to select, and every zebra lineage failed to adapt.</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one-line answer: evolutionary suicide depends on the environment as much as on the trait. In the original engine, nothing stopped a successful trait from destroying the food supply, so we saw suicide. In our savanna, every route to collapse had an escape, so populations either adapted, like the streamlined two-mouthed zebras, or failed to adapt, like the slow-breeding rhinos. Limitations to mention if asked: 3 seeds per ablation, settings tuned by trial runs, small leopard numbers, and runs that are not exactly repeatable. Thank you; questions.</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3F0E8"/>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120142"/>
            <a:ext cx="10566400" cy="419100"/>
          </a:xfrm>
          <a:prstGeom prst="rect">
            <a:avLst/>
          </a:prstGeom>
          <a:noFill/>
          <a:ln/>
        </p:spPr>
        <p:txBody>
          <a:bodyPr wrap="square" lIns="0" tIns="0" rIns="0" bIns="0" rtlCol="0" anchor="t"/>
          <a:lstStyle>
            <a:lvl1pPr marL="0" indent="0" algn="l">
              <a:lnSpc>
                <a:spcPct val="115000"/>
              </a:lnSpc>
              <a:buNone/>
              <a:defRPr lang="en-US" sz="3000" dirty="0">
                <a:solidFill>
                  <a:srgbClr val="16202A"/>
                </a:solidFill>
                <a:latin typeface="Space Grotesk" pitchFamily="34" charset="0"/>
                <a:ea typeface="Space Grotesk" pitchFamily="34" charset="-122"/>
                <a:cs typeface="Space Grotesk" pitchFamily="34" charset="-120"/>
              </a:defRPr>
            </a:lvl1pPr>
          </a:lstStyle>
          <a:p>
            <a:pPr marL="0" indent="0" algn="l">
              <a:lnSpc>
                <a:spcPct val="115000"/>
              </a:lnSpc>
              <a:buNone/>
            </a:pPr>
            <a:endParaRPr lang="en-US" sz="3000" dirty="0"/>
          </a:p>
        </p:txBody>
      </p:sp>
      <p:sp>
        <p:nvSpPr>
          <p:cNvPr id="3" name="Text Placeholder 2"/>
          <p:cNvSpPr>
            <a:spLocks noGrp="1"/>
          </p:cNvSpPr>
          <p:nvPr>
            <p:ph type="body" idx="101"/>
          </p:nvPr>
        </p:nvSpPr>
        <p:spPr>
          <a:xfrm>
            <a:off x="812800" y="1844042"/>
            <a:ext cx="10566400" cy="4201158"/>
          </a:xfrm>
          <a:prstGeom prst="rect">
            <a:avLst/>
          </a:prstGeom>
          <a:noFill/>
          <a:ln/>
        </p:spPr>
        <p:txBody>
          <a:bodyPr wrap="square" lIns="0" tIns="0" rIns="0" bIns="0" rtlCol="0" anchor="t"/>
          <a:lstStyle>
            <a:lvl1pPr marL="0" indent="0" algn="l">
              <a:lnSpc>
                <a:spcPct val="140000"/>
              </a:lnSpc>
              <a:buNone/>
              <a:defRPr lang="en-US" sz="1600" dirty="0">
                <a:solidFill>
                  <a:srgbClr val="16202A"/>
                </a:solidFill>
                <a:latin typeface="IBM Plex Sans" pitchFamily="34" charset="0"/>
                <a:ea typeface="IBM Plex Sans" pitchFamily="34" charset="-122"/>
                <a:cs typeface="IBM Plex Sans" pitchFamily="34" charset="-120"/>
              </a:defRPr>
            </a:lvl1pPr>
          </a:lstStyle>
          <a:p>
            <a:pPr marL="0" indent="0" algn="l">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3F0E8"/>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120142"/>
            <a:ext cx="10566400" cy="419100"/>
          </a:xfrm>
          <a:prstGeom prst="rect">
            <a:avLst/>
          </a:prstGeom>
          <a:noFill/>
          <a:ln/>
        </p:spPr>
        <p:txBody>
          <a:bodyPr wrap="square" lIns="0" tIns="0" rIns="0" bIns="0" rtlCol="0" anchor="t"/>
          <a:lstStyle>
            <a:lvl1pPr marL="0" indent="0" algn="l">
              <a:lnSpc>
                <a:spcPct val="115000"/>
              </a:lnSpc>
              <a:buNone/>
              <a:defRPr lang="en-US" sz="3000" dirty="0">
                <a:solidFill>
                  <a:srgbClr val="16202A"/>
                </a:solidFill>
                <a:latin typeface="Space Grotesk" pitchFamily="34" charset="0"/>
                <a:ea typeface="Space Grotesk" pitchFamily="34" charset="-122"/>
                <a:cs typeface="Space Grotesk" pitchFamily="34" charset="-120"/>
              </a:defRPr>
            </a:lvl1pPr>
          </a:lstStyle>
          <a:p>
            <a:pPr marL="0" indent="0" algn="l">
              <a:lnSpc>
                <a:spcPct val="115000"/>
              </a:lnSpc>
              <a:buNone/>
            </a:pPr>
            <a:endParaRPr lang="en-US" sz="3000" dirty="0"/>
          </a:p>
        </p:txBody>
      </p:sp>
      <p:sp>
        <p:nvSpPr>
          <p:cNvPr id="3" name="Text Placeholder 2"/>
          <p:cNvSpPr>
            <a:spLocks noGrp="1"/>
          </p:cNvSpPr>
          <p:nvPr>
            <p:ph type="body" idx="101"/>
          </p:nvPr>
        </p:nvSpPr>
        <p:spPr>
          <a:xfrm>
            <a:off x="812800" y="1844042"/>
            <a:ext cx="10566400" cy="4201158"/>
          </a:xfrm>
          <a:prstGeom prst="rect">
            <a:avLst/>
          </a:prstGeom>
          <a:noFill/>
          <a:ln/>
        </p:spPr>
        <p:txBody>
          <a:bodyPr wrap="square" lIns="0" tIns="0" rIns="0" bIns="0" rtlCol="0" anchor="t"/>
          <a:lstStyle>
            <a:lvl1pPr marL="0" indent="0" algn="l">
              <a:lnSpc>
                <a:spcPct val="140000"/>
              </a:lnSpc>
              <a:buNone/>
              <a:defRPr lang="en-US" sz="1600" dirty="0">
                <a:solidFill>
                  <a:srgbClr val="16202A"/>
                </a:solidFill>
                <a:latin typeface="IBM Plex Sans" pitchFamily="34" charset="0"/>
                <a:ea typeface="IBM Plex Sans" pitchFamily="34" charset="-122"/>
                <a:cs typeface="IBM Plex Sans" pitchFamily="34" charset="-120"/>
              </a:defRPr>
            </a:lvl1pPr>
          </a:lstStyle>
          <a:p>
            <a:pPr marL="0" indent="0" algn="l">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3.xml"/><Relationship Id="rId1" Type="http://schemas.openxmlformats.org/officeDocument/2006/relationships/slideLayout" Target="../slideLayouts/slideLayout2.xml"/><Relationship Id="rId5" Type="http://schemas.openxmlformats.org/officeDocument/2006/relationships/image" Target="../media/image1.png"/><Relationship Id="rId4" Type="http://schemas.openxmlformats.org/officeDocument/2006/relationships/image" Target="../media/image7.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3F0E8"/>
        </a:solidFill>
        <a:effectLst/>
      </p:bgPr>
    </p:bg>
    <p:spTree>
      <p:nvGrpSpPr>
        <p:cNvPr id="1" name=""/>
        <p:cNvGrpSpPr/>
        <p:nvPr/>
      </p:nvGrpSpPr>
      <p:grpSpPr>
        <a:xfrm>
          <a:off x="0" y="0"/>
          <a:ext cx="0" cy="0"/>
          <a:chOff x="0" y="0"/>
          <a:chExt cx="0" cy="0"/>
        </a:xfrm>
      </p:grpSpPr>
      <p:pic>
        <p:nvPicPr>
          <p:cNvPr id="2" name="Image 0" descr="The modified savanna world in the Life Engine at tick 40,000: a blue river, brown trees and thousands of small organisms"/>
          <p:cNvPicPr>
            <a:picLocks noChangeAspect="1"/>
          </p:cNvPicPr>
          <p:nvPr/>
        </p:nvPicPr>
        <p:blipFill>
          <a:blip r:embed="rId3">
            <a:alphaModFix amt="90000"/>
          </a:blip>
          <a:srcRect l="25000" r="25000"/>
          <a:stretch/>
        </p:blipFill>
        <p:spPr>
          <a:xfrm>
            <a:off x="6705600" y="0"/>
            <a:ext cx="5486400" cy="6858000"/>
          </a:xfrm>
          <a:prstGeom prst="rect">
            <a:avLst/>
          </a:prstGeom>
        </p:spPr>
      </p:pic>
      <p:sp>
        <p:nvSpPr>
          <p:cNvPr id="3" name="Shape 0"/>
          <p:cNvSpPr/>
          <p:nvPr/>
        </p:nvSpPr>
        <p:spPr>
          <a:xfrm>
            <a:off x="6705600" y="0"/>
            <a:ext cx="5486400" cy="6858000"/>
          </a:xfrm>
          <a:prstGeom prst="rect">
            <a:avLst/>
          </a:prstGeom>
          <a:gradFill rotWithShape="1">
            <a:gsLst>
              <a:gs pos="0">
                <a:srgbClr val="F3F0E8"/>
              </a:gs>
              <a:gs pos="45000">
                <a:srgbClr val="F3F0E8">
                  <a:alpha val="0"/>
                </a:srgbClr>
              </a:gs>
            </a:gsLst>
            <a:lin ang="0" scaled="0"/>
          </a:gradFill>
          <a:ln/>
        </p:spPr>
        <p:txBody>
          <a:bodyPr/>
          <a:lstStyle/>
          <a:p>
            <a:endParaRPr lang="en-ZA"/>
          </a:p>
        </p:txBody>
      </p:sp>
      <p:sp>
        <p:nvSpPr>
          <p:cNvPr id="4" name="Text 1"/>
          <p:cNvSpPr/>
          <p:nvPr/>
        </p:nvSpPr>
        <p:spPr>
          <a:xfrm>
            <a:off x="812800" y="812800"/>
            <a:ext cx="5886450" cy="558800"/>
          </a:xfrm>
          <a:prstGeom prst="rect">
            <a:avLst/>
          </a:prstGeom>
          <a:noFill/>
          <a:ln/>
        </p:spPr>
        <p:txBody>
          <a:bodyPr wrap="square" lIns="0" tIns="0" rIns="0" bIns="0" rtlCol="0" anchor="t">
            <a:normAutofit/>
          </a:bodyPr>
          <a:lstStyle/>
          <a:p>
            <a:pPr marL="0" indent="0" algn="l">
              <a:lnSpc>
                <a:spcPts val="2100"/>
              </a:lnSpc>
              <a:buNone/>
            </a:pPr>
            <a:r>
              <a:rPr lang="en-US" sz="1500" b="1" kern="0" spc="200" dirty="0">
                <a:solidFill>
                  <a:srgbClr val="8A5A0B"/>
                </a:solidFill>
                <a:latin typeface="IBM Plex Sans" pitchFamily="34" charset="0"/>
                <a:ea typeface="IBM Plex Sans" pitchFamily="34" charset="-122"/>
                <a:cs typeface="IBM Plex Sans" pitchFamily="34" charset="-120"/>
              </a:rPr>
              <a:t>CSC4044Z · ARTIFICIAL LIFE · TEAM CLAMS WITH PLANS</a:t>
            </a:r>
            <a:endParaRPr lang="en-US" sz="1500" dirty="0"/>
          </a:p>
        </p:txBody>
      </p:sp>
      <p:sp>
        <p:nvSpPr>
          <p:cNvPr id="5" name="Text 2"/>
          <p:cNvSpPr>
            <a:spLocks noGrp="1"/>
          </p:cNvSpPr>
          <p:nvPr>
            <p:ph type="title"/>
          </p:nvPr>
        </p:nvSpPr>
        <p:spPr>
          <a:xfrm>
            <a:off x="812800" y="1938576"/>
            <a:ext cx="6409690" cy="2046129"/>
          </a:xfrm>
          <a:prstGeom prst="rect">
            <a:avLst/>
          </a:prstGeom>
          <a:noFill/>
          <a:ln/>
        </p:spPr>
        <p:txBody>
          <a:bodyPr wrap="square" lIns="0" tIns="0" rIns="0" bIns="0" rtlCol="0" anchor="t">
            <a:normAutofit/>
          </a:bodyPr>
          <a:lstStyle/>
          <a:p>
            <a:pPr marL="0" indent="0" algn="l">
              <a:lnSpc>
                <a:spcPts val="5304"/>
              </a:lnSpc>
              <a:buNone/>
            </a:pPr>
            <a:r>
              <a:rPr lang="en-US" sz="5200" b="1" i="0" dirty="0">
                <a:solidFill>
                  <a:srgbClr val="16202A"/>
                </a:solidFill>
                <a:latin typeface="Space Grotesk" pitchFamily="34" charset="0"/>
                <a:ea typeface="Space Grotesk" pitchFamily="34" charset="-122"/>
                <a:cs typeface="Space Grotesk" pitchFamily="34" charset="-120"/>
              </a:rPr>
              <a:t>Evolutionary death in a Life Engine savanna</a:t>
            </a:r>
            <a:endParaRPr lang="en-US" sz="5200" dirty="0"/>
          </a:p>
        </p:txBody>
      </p:sp>
      <p:sp>
        <p:nvSpPr>
          <p:cNvPr id="6" name="Text 3"/>
          <p:cNvSpPr/>
          <p:nvPr/>
        </p:nvSpPr>
        <p:spPr>
          <a:xfrm>
            <a:off x="812800" y="4213304"/>
            <a:ext cx="6409690" cy="1016000"/>
          </a:xfrm>
          <a:prstGeom prst="rect">
            <a:avLst/>
          </a:prstGeom>
          <a:noFill/>
          <a:ln/>
        </p:spPr>
        <p:txBody>
          <a:bodyPr wrap="square" lIns="0" tIns="0" rIns="0" bIns="0" rtlCol="0" anchor="t">
            <a:normAutofit/>
          </a:bodyPr>
          <a:lstStyle/>
          <a:p>
            <a:pPr marL="0" indent="0" algn="l">
              <a:lnSpc>
                <a:spcPts val="2600"/>
              </a:lnSpc>
              <a:buNone/>
            </a:pPr>
            <a:r>
              <a:rPr lang="en-US" sz="2000" dirty="0">
                <a:solidFill>
                  <a:srgbClr val="4A5563"/>
                </a:solidFill>
                <a:latin typeface="IBM Plex Sans" pitchFamily="34" charset="0"/>
                <a:ea typeface="IBM Plex Sans" pitchFamily="34" charset="-122"/>
                <a:cs typeface="IBM Plex Sans" pitchFamily="34" charset="-120"/>
              </a:rPr>
              <a:t>Before and after our new features: how zebras, rhinos and leopards adapted, failed, or drove themselves extinct</a:t>
            </a:r>
            <a:endParaRPr lang="en-US" sz="2000" dirty="0"/>
          </a:p>
        </p:txBody>
      </p:sp>
      <p:sp>
        <p:nvSpPr>
          <p:cNvPr id="7" name="Text 4"/>
          <p:cNvSpPr/>
          <p:nvPr/>
        </p:nvSpPr>
        <p:spPr>
          <a:xfrm>
            <a:off x="812800" y="5796280"/>
            <a:ext cx="5886450"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5C6672"/>
                </a:solidFill>
                <a:latin typeface="IBM Plex Sans" pitchFamily="34" charset="0"/>
                <a:ea typeface="IBM Plex Sans" pitchFamily="34" charset="-122"/>
                <a:cs typeface="IBM Plex Sans" pitchFamily="34" charset="-120"/>
              </a:rPr>
              <a:t>Clams With Plans: Vimbai · Moreblessing · Ashley · 21 October 2026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3F0E8"/>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540"/>
          </a:xfrm>
          <a:prstGeom prst="rect">
            <a:avLst/>
          </a:prstGeom>
          <a:noFill/>
          <a:ln/>
        </p:spPr>
        <p:txBody>
          <a:bodyPr wrap="square" lIns="0" tIns="0" rIns="0" bIns="0" rtlCol="0" anchor="t">
            <a:normAutofit/>
          </a:bodyPr>
          <a:lstStyle/>
          <a:p>
            <a:pPr marL="0" indent="0" algn="l">
              <a:lnSpc>
                <a:spcPts val="1820"/>
              </a:lnSpc>
              <a:buNone/>
            </a:pPr>
            <a:r>
              <a:rPr lang="en-US" sz="1300" b="1" kern="0" spc="150" dirty="0">
                <a:solidFill>
                  <a:srgbClr val="8A5A0B"/>
                </a:solidFill>
                <a:latin typeface="IBM Plex Sans" pitchFamily="34" charset="0"/>
                <a:ea typeface="IBM Plex Sans" pitchFamily="34" charset="-122"/>
                <a:cs typeface="IBM Plex Sans" pitchFamily="34" charset="-120"/>
              </a:rPr>
              <a:t>KEY TERMS</a:t>
            </a:r>
            <a:endParaRPr lang="en-US" sz="1300" dirty="0"/>
          </a:p>
        </p:txBody>
      </p:sp>
      <p:sp>
        <p:nvSpPr>
          <p:cNvPr id="3" name="Text 1"/>
          <p:cNvSpPr>
            <a:spLocks noGrp="1"/>
          </p:cNvSpPr>
          <p:nvPr>
            <p:ph type="title"/>
          </p:nvPr>
        </p:nvSpPr>
        <p:spPr>
          <a:xfrm>
            <a:off x="812800" y="1120140"/>
            <a:ext cx="10883392" cy="47244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6202A"/>
                </a:solidFill>
                <a:latin typeface="Space Grotesk" pitchFamily="34" charset="0"/>
                <a:ea typeface="Space Grotesk" pitchFamily="34" charset="-122"/>
                <a:cs typeface="Space Grotesk" pitchFamily="34" charset="-120"/>
              </a:rPr>
              <a:t>Four ways a population can die out</a:t>
            </a:r>
            <a:endParaRPr lang="en-US" sz="3200" dirty="0"/>
          </a:p>
        </p:txBody>
      </p:sp>
      <p:sp>
        <p:nvSpPr>
          <p:cNvPr id="4" name="Shape 2"/>
          <p:cNvSpPr/>
          <p:nvPr/>
        </p:nvSpPr>
        <p:spPr>
          <a:xfrm>
            <a:off x="815975" y="1875155"/>
            <a:ext cx="5175250" cy="1705610"/>
          </a:xfrm>
          <a:prstGeom prst="roundRect">
            <a:avLst>
              <a:gd name="adj" fmla="val 5771"/>
            </a:avLst>
          </a:prstGeom>
          <a:solidFill>
            <a:srgbClr val="FBFAF6"/>
          </a:solidFill>
          <a:ln w="6350">
            <a:solidFill>
              <a:srgbClr val="DDD6C8"/>
            </a:solidFill>
            <a:prstDash val="solid"/>
          </a:ln>
        </p:spPr>
        <p:txBody>
          <a:bodyPr/>
          <a:lstStyle/>
          <a:p>
            <a:endParaRPr lang="en-ZA"/>
          </a:p>
        </p:txBody>
      </p:sp>
      <p:sp>
        <p:nvSpPr>
          <p:cNvPr id="5" name="Text 3"/>
          <p:cNvSpPr/>
          <p:nvPr/>
        </p:nvSpPr>
        <p:spPr>
          <a:xfrm>
            <a:off x="1071880" y="2131060"/>
            <a:ext cx="4803343"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16202A"/>
                </a:solidFill>
                <a:latin typeface="Space Grotesk" pitchFamily="34" charset="0"/>
                <a:ea typeface="Space Grotesk" pitchFamily="34" charset="-122"/>
                <a:cs typeface="Space Grotesk" pitchFamily="34" charset="-120"/>
              </a:rPr>
              <a:t>Evolutionary death</a:t>
            </a:r>
            <a:endParaRPr lang="en-US" sz="2000" dirty="0"/>
          </a:p>
        </p:txBody>
      </p:sp>
      <p:sp>
        <p:nvSpPr>
          <p:cNvPr id="6" name="Text 4"/>
          <p:cNvSpPr/>
          <p:nvPr/>
        </p:nvSpPr>
        <p:spPr>
          <a:xfrm>
            <a:off x="1071880" y="2524760"/>
            <a:ext cx="4803343" cy="8255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4A5563"/>
                </a:solidFill>
                <a:latin typeface="IBM Plex Sans" pitchFamily="34" charset="0"/>
                <a:ea typeface="IBM Plex Sans" pitchFamily="34" charset="-122"/>
                <a:cs typeface="IBM Plex Sans" pitchFamily="34" charset="-120"/>
              </a:rPr>
              <a:t>A lineage reaches zero living individuals. This is the outcome; the three terms below are the different causes.</a:t>
            </a:r>
            <a:endParaRPr lang="en-US" sz="1500" dirty="0"/>
          </a:p>
        </p:txBody>
      </p:sp>
      <p:sp>
        <p:nvSpPr>
          <p:cNvPr id="7" name="Shape 5"/>
          <p:cNvSpPr/>
          <p:nvPr/>
        </p:nvSpPr>
        <p:spPr>
          <a:xfrm>
            <a:off x="6197600" y="1871980"/>
            <a:ext cx="5181600" cy="1711960"/>
          </a:xfrm>
          <a:prstGeom prst="roundRect">
            <a:avLst>
              <a:gd name="adj" fmla="val 5935"/>
            </a:avLst>
          </a:prstGeom>
          <a:solidFill>
            <a:srgbClr val="16202A"/>
          </a:solidFill>
          <a:ln/>
        </p:spPr>
        <p:txBody>
          <a:bodyPr/>
          <a:lstStyle/>
          <a:p>
            <a:endParaRPr lang="en-ZA"/>
          </a:p>
        </p:txBody>
      </p:sp>
      <p:sp>
        <p:nvSpPr>
          <p:cNvPr id="8" name="Text 6"/>
          <p:cNvSpPr/>
          <p:nvPr/>
        </p:nvSpPr>
        <p:spPr>
          <a:xfrm>
            <a:off x="6451600" y="2125980"/>
            <a:ext cx="4813808"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DEB14D"/>
                </a:solidFill>
                <a:latin typeface="Space Grotesk" pitchFamily="34" charset="0"/>
                <a:ea typeface="Space Grotesk" pitchFamily="34" charset="-122"/>
                <a:cs typeface="Space Grotesk" pitchFamily="34" charset="-120"/>
              </a:rPr>
              <a:t>Evolutionary suicide</a:t>
            </a:r>
            <a:endParaRPr lang="en-US" sz="2000" dirty="0"/>
          </a:p>
        </p:txBody>
      </p:sp>
      <p:sp>
        <p:nvSpPr>
          <p:cNvPr id="9" name="Text 7"/>
          <p:cNvSpPr/>
          <p:nvPr/>
        </p:nvSpPr>
        <p:spPr>
          <a:xfrm>
            <a:off x="6451600" y="2519680"/>
            <a:ext cx="4813808" cy="8255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D5DCE2"/>
                </a:solidFill>
                <a:latin typeface="IBM Plex Sans" pitchFamily="34" charset="0"/>
                <a:ea typeface="IBM Plex Sans" pitchFamily="34" charset="-122"/>
                <a:cs typeface="IBM Plex Sans" pitchFamily="34" charset="-120"/>
              </a:rPr>
              <a:t>Mis-adaptation. The species adapts successfully, maybe becoming dominant, but the very trait behind its success removes the conditions it depends on.</a:t>
            </a:r>
            <a:endParaRPr lang="en-US" sz="1500" dirty="0"/>
          </a:p>
        </p:txBody>
      </p:sp>
      <p:sp>
        <p:nvSpPr>
          <p:cNvPr id="10" name="Shape 8"/>
          <p:cNvSpPr/>
          <p:nvPr/>
        </p:nvSpPr>
        <p:spPr>
          <a:xfrm>
            <a:off x="815975" y="3790315"/>
            <a:ext cx="5175250" cy="1705610"/>
          </a:xfrm>
          <a:prstGeom prst="roundRect">
            <a:avLst>
              <a:gd name="adj" fmla="val 5771"/>
            </a:avLst>
          </a:prstGeom>
          <a:solidFill>
            <a:srgbClr val="FBFAF6"/>
          </a:solidFill>
          <a:ln w="6350">
            <a:solidFill>
              <a:srgbClr val="DDD6C8"/>
            </a:solidFill>
            <a:prstDash val="solid"/>
          </a:ln>
        </p:spPr>
        <p:txBody>
          <a:bodyPr/>
          <a:lstStyle/>
          <a:p>
            <a:endParaRPr lang="en-ZA"/>
          </a:p>
        </p:txBody>
      </p:sp>
      <p:sp>
        <p:nvSpPr>
          <p:cNvPr id="11" name="Text 9"/>
          <p:cNvSpPr/>
          <p:nvPr/>
        </p:nvSpPr>
        <p:spPr>
          <a:xfrm>
            <a:off x="1071880" y="4046220"/>
            <a:ext cx="4803343"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16202A"/>
                </a:solidFill>
                <a:latin typeface="Space Grotesk" pitchFamily="34" charset="0"/>
                <a:ea typeface="Space Grotesk" pitchFamily="34" charset="-122"/>
                <a:cs typeface="Space Grotesk" pitchFamily="34" charset="-120"/>
              </a:rPr>
              <a:t>Failure to adapt</a:t>
            </a:r>
            <a:endParaRPr lang="en-US" sz="2000" dirty="0"/>
          </a:p>
        </p:txBody>
      </p:sp>
      <p:sp>
        <p:nvSpPr>
          <p:cNvPr id="12" name="Text 10"/>
          <p:cNvSpPr/>
          <p:nvPr/>
        </p:nvSpPr>
        <p:spPr>
          <a:xfrm>
            <a:off x="1071880" y="4439920"/>
            <a:ext cx="4803343" cy="8255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4A5563"/>
                </a:solidFill>
                <a:latin typeface="IBM Plex Sans" pitchFamily="34" charset="0"/>
                <a:ea typeface="IBM Plex Sans" pitchFamily="34" charset="-122"/>
                <a:cs typeface="IBM Plex Sans" pitchFamily="34" charset="-120"/>
              </a:rPr>
              <a:t>The species simply lacks the traits to cope with its environment or competitors, and collapses without first succeeding.</a:t>
            </a:r>
            <a:endParaRPr lang="en-US" sz="1500" dirty="0"/>
          </a:p>
        </p:txBody>
      </p:sp>
      <p:sp>
        <p:nvSpPr>
          <p:cNvPr id="13" name="Shape 11"/>
          <p:cNvSpPr/>
          <p:nvPr/>
        </p:nvSpPr>
        <p:spPr>
          <a:xfrm>
            <a:off x="6200775" y="3790315"/>
            <a:ext cx="5175250" cy="1705610"/>
          </a:xfrm>
          <a:prstGeom prst="roundRect">
            <a:avLst>
              <a:gd name="adj" fmla="val 5771"/>
            </a:avLst>
          </a:prstGeom>
          <a:solidFill>
            <a:srgbClr val="FBFAF6"/>
          </a:solidFill>
          <a:ln w="6350">
            <a:solidFill>
              <a:srgbClr val="DDD6C8"/>
            </a:solidFill>
            <a:prstDash val="solid"/>
          </a:ln>
        </p:spPr>
        <p:txBody>
          <a:bodyPr/>
          <a:lstStyle/>
          <a:p>
            <a:endParaRPr lang="en-ZA"/>
          </a:p>
        </p:txBody>
      </p:sp>
      <p:sp>
        <p:nvSpPr>
          <p:cNvPr id="14" name="Text 12"/>
          <p:cNvSpPr/>
          <p:nvPr/>
        </p:nvSpPr>
        <p:spPr>
          <a:xfrm>
            <a:off x="6456680" y="4046220"/>
            <a:ext cx="4803343"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16202A"/>
                </a:solidFill>
                <a:latin typeface="Space Grotesk" pitchFamily="34" charset="0"/>
                <a:ea typeface="Space Grotesk" pitchFamily="34" charset="-122"/>
                <a:cs typeface="Space Grotesk" pitchFamily="34" charset="-120"/>
              </a:rPr>
              <a:t>Predator boom-bust</a:t>
            </a:r>
            <a:endParaRPr lang="en-US" sz="2000" dirty="0"/>
          </a:p>
        </p:txBody>
      </p:sp>
      <p:sp>
        <p:nvSpPr>
          <p:cNvPr id="15" name="Text 13"/>
          <p:cNvSpPr/>
          <p:nvPr/>
        </p:nvSpPr>
        <p:spPr>
          <a:xfrm>
            <a:off x="6456680" y="4439920"/>
            <a:ext cx="4803343" cy="8255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4A5563"/>
                </a:solidFill>
                <a:latin typeface="IBM Plex Sans" pitchFamily="34" charset="0"/>
                <a:ea typeface="IBM Plex Sans" pitchFamily="34" charset="-122"/>
                <a:cs typeface="IBM Plex Sans" pitchFamily="34" charset="-120"/>
              </a:rPr>
              <a:t>An ecological collapse: predators multiply on easy prey, then age out or starve. Caused by numbers, not by an evolved trait.</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3F0E8"/>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540"/>
          </a:xfrm>
          <a:prstGeom prst="rect">
            <a:avLst/>
          </a:prstGeom>
          <a:noFill/>
          <a:ln/>
        </p:spPr>
        <p:txBody>
          <a:bodyPr wrap="square" lIns="0" tIns="0" rIns="0" bIns="0" rtlCol="0" anchor="t">
            <a:normAutofit/>
          </a:bodyPr>
          <a:lstStyle/>
          <a:p>
            <a:pPr marL="0" indent="0" algn="l">
              <a:lnSpc>
                <a:spcPts val="1820"/>
              </a:lnSpc>
              <a:buNone/>
            </a:pPr>
            <a:r>
              <a:rPr lang="en-US" sz="1300" b="1" kern="0" spc="150" dirty="0">
                <a:solidFill>
                  <a:srgbClr val="8A5A0B"/>
                </a:solidFill>
                <a:latin typeface="IBM Plex Sans" pitchFamily="34" charset="0"/>
                <a:ea typeface="IBM Plex Sans" pitchFamily="34" charset="-122"/>
                <a:cs typeface="IBM Plex Sans" pitchFamily="34" charset="-120"/>
              </a:rPr>
              <a:t>EVIDENCE RULE</a:t>
            </a:r>
            <a:endParaRPr lang="en-US" sz="1300" dirty="0"/>
          </a:p>
        </p:txBody>
      </p:sp>
      <p:sp>
        <p:nvSpPr>
          <p:cNvPr id="3" name="Text 1"/>
          <p:cNvSpPr>
            <a:spLocks noGrp="1"/>
          </p:cNvSpPr>
          <p:nvPr>
            <p:ph type="title"/>
          </p:nvPr>
        </p:nvSpPr>
        <p:spPr>
          <a:xfrm>
            <a:off x="812800" y="1120141"/>
            <a:ext cx="10883392" cy="47244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6202A"/>
                </a:solidFill>
                <a:latin typeface="Space Grotesk" pitchFamily="34" charset="0"/>
                <a:ea typeface="Space Grotesk" pitchFamily="34" charset="-122"/>
                <a:cs typeface="Space Grotesk" pitchFamily="34" charset="-120"/>
              </a:rPr>
              <a:t>A decline alone is not suicide: all four must hold</a:t>
            </a:r>
            <a:endParaRPr lang="en-US" sz="3200" dirty="0"/>
          </a:p>
        </p:txBody>
      </p:sp>
      <p:sp>
        <p:nvSpPr>
          <p:cNvPr id="4" name="Shape 2"/>
          <p:cNvSpPr/>
          <p:nvPr/>
        </p:nvSpPr>
        <p:spPr>
          <a:xfrm>
            <a:off x="815975" y="1875155"/>
            <a:ext cx="2501900" cy="2640330"/>
          </a:xfrm>
          <a:prstGeom prst="roundRect">
            <a:avLst>
              <a:gd name="adj" fmla="val 3934"/>
            </a:avLst>
          </a:prstGeom>
          <a:solidFill>
            <a:srgbClr val="FBFAF6"/>
          </a:solidFill>
          <a:ln w="6350">
            <a:solidFill>
              <a:srgbClr val="DDD6C8"/>
            </a:solidFill>
            <a:prstDash val="solid"/>
          </a:ln>
        </p:spPr>
        <p:txBody>
          <a:bodyPr/>
          <a:lstStyle/>
          <a:p>
            <a:endParaRPr lang="en-ZA"/>
          </a:p>
        </p:txBody>
      </p:sp>
      <p:sp>
        <p:nvSpPr>
          <p:cNvPr id="5" name="Text 3"/>
          <p:cNvSpPr/>
          <p:nvPr/>
        </p:nvSpPr>
        <p:spPr>
          <a:xfrm>
            <a:off x="1046480" y="2105661"/>
            <a:ext cx="2102117" cy="482600"/>
          </a:xfrm>
          <a:prstGeom prst="rect">
            <a:avLst/>
          </a:prstGeom>
          <a:noFill/>
          <a:ln/>
        </p:spPr>
        <p:txBody>
          <a:bodyPr wrap="square" lIns="0" tIns="0" rIns="0" bIns="0" rtlCol="0" anchor="t">
            <a:normAutofit/>
          </a:bodyPr>
          <a:lstStyle/>
          <a:p>
            <a:pPr marL="0" indent="0" algn="l">
              <a:lnSpc>
                <a:spcPts val="3600"/>
              </a:lnSpc>
              <a:buNone/>
            </a:pPr>
            <a:r>
              <a:rPr lang="en-US" sz="3600" b="1" dirty="0">
                <a:solidFill>
                  <a:srgbClr val="8A5A0B"/>
                </a:solidFill>
                <a:latin typeface="Space Grotesk" pitchFamily="34" charset="0"/>
                <a:ea typeface="Space Grotesk" pitchFamily="34" charset="-122"/>
                <a:cs typeface="Space Grotesk" pitchFamily="34" charset="-120"/>
              </a:rPr>
              <a:t>1</a:t>
            </a:r>
            <a:endParaRPr lang="en-US" sz="3600" dirty="0"/>
          </a:p>
        </p:txBody>
      </p:sp>
      <p:sp>
        <p:nvSpPr>
          <p:cNvPr id="6" name="Text 4"/>
          <p:cNvSpPr/>
          <p:nvPr/>
        </p:nvSpPr>
        <p:spPr>
          <a:xfrm>
            <a:off x="1046480" y="2664461"/>
            <a:ext cx="2102117" cy="29972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6202A"/>
                </a:solidFill>
                <a:latin typeface="Space Grotesk" pitchFamily="34" charset="0"/>
                <a:ea typeface="Space Grotesk" pitchFamily="34" charset="-122"/>
                <a:cs typeface="Space Grotesk" pitchFamily="34" charset="-120"/>
              </a:rPr>
              <a:t>Success first</a:t>
            </a:r>
            <a:endParaRPr lang="en-US" sz="1800" dirty="0"/>
          </a:p>
        </p:txBody>
      </p:sp>
      <p:sp>
        <p:nvSpPr>
          <p:cNvPr id="7" name="Text 5"/>
          <p:cNvSpPr/>
          <p:nvPr/>
        </p:nvSpPr>
        <p:spPr>
          <a:xfrm>
            <a:off x="1046480" y="3040380"/>
            <a:ext cx="2102117" cy="77216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3"/>
                </a:solidFill>
                <a:latin typeface="IBM Plex Sans" pitchFamily="34" charset="0"/>
                <a:ea typeface="IBM Plex Sans" pitchFamily="34" charset="-122"/>
                <a:cs typeface="IBM Plex Sans" pitchFamily="34" charset="-120"/>
              </a:rPr>
              <a:t>The population grew to at least 1.5 times its starting size.</a:t>
            </a:r>
            <a:endParaRPr lang="en-US" sz="1400" dirty="0"/>
          </a:p>
        </p:txBody>
      </p:sp>
      <p:sp>
        <p:nvSpPr>
          <p:cNvPr id="8" name="Shape 6"/>
          <p:cNvSpPr/>
          <p:nvPr/>
        </p:nvSpPr>
        <p:spPr>
          <a:xfrm>
            <a:off x="3502025" y="1875155"/>
            <a:ext cx="2501900" cy="2640330"/>
          </a:xfrm>
          <a:prstGeom prst="roundRect">
            <a:avLst>
              <a:gd name="adj" fmla="val 3934"/>
            </a:avLst>
          </a:prstGeom>
          <a:solidFill>
            <a:srgbClr val="FBFAF6"/>
          </a:solidFill>
          <a:ln w="6350">
            <a:solidFill>
              <a:srgbClr val="DDD6C8"/>
            </a:solidFill>
            <a:prstDash val="solid"/>
          </a:ln>
        </p:spPr>
        <p:txBody>
          <a:bodyPr/>
          <a:lstStyle/>
          <a:p>
            <a:endParaRPr lang="en-ZA"/>
          </a:p>
        </p:txBody>
      </p:sp>
      <p:sp>
        <p:nvSpPr>
          <p:cNvPr id="9" name="Text 7"/>
          <p:cNvSpPr/>
          <p:nvPr/>
        </p:nvSpPr>
        <p:spPr>
          <a:xfrm>
            <a:off x="3732530" y="2105661"/>
            <a:ext cx="2102117" cy="482600"/>
          </a:xfrm>
          <a:prstGeom prst="rect">
            <a:avLst/>
          </a:prstGeom>
          <a:noFill/>
          <a:ln/>
        </p:spPr>
        <p:txBody>
          <a:bodyPr wrap="square" lIns="0" tIns="0" rIns="0" bIns="0" rtlCol="0" anchor="t">
            <a:normAutofit/>
          </a:bodyPr>
          <a:lstStyle/>
          <a:p>
            <a:pPr marL="0" indent="0" algn="l">
              <a:lnSpc>
                <a:spcPts val="3600"/>
              </a:lnSpc>
              <a:buNone/>
            </a:pPr>
            <a:r>
              <a:rPr lang="en-US" sz="3600" b="1" dirty="0">
                <a:solidFill>
                  <a:srgbClr val="8A5A0B"/>
                </a:solidFill>
                <a:latin typeface="Space Grotesk" pitchFamily="34" charset="0"/>
                <a:ea typeface="Space Grotesk" pitchFamily="34" charset="-122"/>
                <a:cs typeface="Space Grotesk" pitchFamily="34" charset="-120"/>
              </a:rPr>
              <a:t>2</a:t>
            </a:r>
            <a:endParaRPr lang="en-US" sz="3600" dirty="0"/>
          </a:p>
        </p:txBody>
      </p:sp>
      <p:sp>
        <p:nvSpPr>
          <p:cNvPr id="10" name="Text 8"/>
          <p:cNvSpPr/>
          <p:nvPr/>
        </p:nvSpPr>
        <p:spPr>
          <a:xfrm>
            <a:off x="3732530" y="2664461"/>
            <a:ext cx="2102117" cy="29972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6202A"/>
                </a:solidFill>
                <a:latin typeface="Space Grotesk" pitchFamily="34" charset="0"/>
                <a:ea typeface="Space Grotesk" pitchFamily="34" charset="-122"/>
                <a:cs typeface="Space Grotesk" pitchFamily="34" charset="-120"/>
              </a:rPr>
              <a:t>A trait spread</a:t>
            </a:r>
            <a:endParaRPr lang="en-US" sz="1800" dirty="0"/>
          </a:p>
        </p:txBody>
      </p:sp>
      <p:sp>
        <p:nvSpPr>
          <p:cNvPr id="11" name="Text 9"/>
          <p:cNvSpPr/>
          <p:nvPr/>
        </p:nvSpPr>
        <p:spPr>
          <a:xfrm>
            <a:off x="3732530" y="3040380"/>
            <a:ext cx="2102117" cy="102108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3"/>
                </a:solidFill>
                <a:latin typeface="IBM Plex Sans" pitchFamily="34" charset="0"/>
                <a:ea typeface="IBM Plex Sans" pitchFamily="34" charset="-122"/>
                <a:cs typeface="IBM Plex Sans" pitchFamily="34" charset="-120"/>
              </a:rPr>
              <a:t>Mouths per animal rose by 0.4 or more, or the killer-cell share rose by 0.3 or more.</a:t>
            </a:r>
            <a:endParaRPr lang="en-US" sz="1400" dirty="0"/>
          </a:p>
        </p:txBody>
      </p:sp>
      <p:sp>
        <p:nvSpPr>
          <p:cNvPr id="12" name="Shape 10"/>
          <p:cNvSpPr/>
          <p:nvPr/>
        </p:nvSpPr>
        <p:spPr>
          <a:xfrm>
            <a:off x="6188075" y="1875155"/>
            <a:ext cx="2501900" cy="2640330"/>
          </a:xfrm>
          <a:prstGeom prst="roundRect">
            <a:avLst>
              <a:gd name="adj" fmla="val 3934"/>
            </a:avLst>
          </a:prstGeom>
          <a:solidFill>
            <a:srgbClr val="FBFAF6"/>
          </a:solidFill>
          <a:ln w="6350">
            <a:solidFill>
              <a:srgbClr val="DDD6C8"/>
            </a:solidFill>
            <a:prstDash val="solid"/>
          </a:ln>
        </p:spPr>
        <p:txBody>
          <a:bodyPr/>
          <a:lstStyle/>
          <a:p>
            <a:endParaRPr lang="en-ZA"/>
          </a:p>
        </p:txBody>
      </p:sp>
      <p:sp>
        <p:nvSpPr>
          <p:cNvPr id="13" name="Text 11"/>
          <p:cNvSpPr/>
          <p:nvPr/>
        </p:nvSpPr>
        <p:spPr>
          <a:xfrm>
            <a:off x="6418580" y="2105661"/>
            <a:ext cx="2102117" cy="482600"/>
          </a:xfrm>
          <a:prstGeom prst="rect">
            <a:avLst/>
          </a:prstGeom>
          <a:noFill/>
          <a:ln/>
        </p:spPr>
        <p:txBody>
          <a:bodyPr wrap="square" lIns="0" tIns="0" rIns="0" bIns="0" rtlCol="0" anchor="t">
            <a:normAutofit/>
          </a:bodyPr>
          <a:lstStyle/>
          <a:p>
            <a:pPr marL="0" indent="0" algn="l">
              <a:lnSpc>
                <a:spcPts val="3600"/>
              </a:lnSpc>
              <a:buNone/>
            </a:pPr>
            <a:r>
              <a:rPr lang="en-US" sz="3600" b="1" dirty="0">
                <a:solidFill>
                  <a:srgbClr val="8A5A0B"/>
                </a:solidFill>
                <a:latin typeface="Space Grotesk" pitchFamily="34" charset="0"/>
                <a:ea typeface="Space Grotesk" pitchFamily="34" charset="-122"/>
                <a:cs typeface="Space Grotesk" pitchFamily="34" charset="-120"/>
              </a:rPr>
              <a:t>3</a:t>
            </a:r>
            <a:endParaRPr lang="en-US" sz="3600" dirty="0"/>
          </a:p>
        </p:txBody>
      </p:sp>
      <p:sp>
        <p:nvSpPr>
          <p:cNvPr id="14" name="Text 12"/>
          <p:cNvSpPr/>
          <p:nvPr/>
        </p:nvSpPr>
        <p:spPr>
          <a:xfrm>
            <a:off x="6418580" y="2664461"/>
            <a:ext cx="2102117" cy="29972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6202A"/>
                </a:solidFill>
                <a:latin typeface="Space Grotesk" pitchFamily="34" charset="0"/>
                <a:ea typeface="Space Grotesk" pitchFamily="34" charset="-122"/>
                <a:cs typeface="Space Grotesk" pitchFamily="34" charset="-120"/>
              </a:rPr>
              <a:t>Food destroyed</a:t>
            </a:r>
            <a:endParaRPr lang="en-US" sz="1800" dirty="0"/>
          </a:p>
        </p:txBody>
      </p:sp>
      <p:sp>
        <p:nvSpPr>
          <p:cNvPr id="15" name="Text 13"/>
          <p:cNvSpPr/>
          <p:nvPr/>
        </p:nvSpPr>
        <p:spPr>
          <a:xfrm>
            <a:off x="6418580" y="3040380"/>
            <a:ext cx="2102117" cy="77216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3"/>
                </a:solidFill>
                <a:latin typeface="IBM Plex Sans" pitchFamily="34" charset="0"/>
                <a:ea typeface="IBM Plex Sans" pitchFamily="34" charset="-122"/>
                <a:cs typeface="IBM Plex Sans" pitchFamily="34" charset="-120"/>
              </a:rPr>
              <a:t>Food plants fell by at least 25% between the peak and extinction.</a:t>
            </a:r>
            <a:endParaRPr lang="en-US" sz="1400" dirty="0"/>
          </a:p>
        </p:txBody>
      </p:sp>
      <p:sp>
        <p:nvSpPr>
          <p:cNvPr id="16" name="Shape 14"/>
          <p:cNvSpPr/>
          <p:nvPr/>
        </p:nvSpPr>
        <p:spPr>
          <a:xfrm>
            <a:off x="8874125" y="1875155"/>
            <a:ext cx="2501900" cy="2640330"/>
          </a:xfrm>
          <a:prstGeom prst="roundRect">
            <a:avLst>
              <a:gd name="adj" fmla="val 3934"/>
            </a:avLst>
          </a:prstGeom>
          <a:solidFill>
            <a:srgbClr val="FBFAF6"/>
          </a:solidFill>
          <a:ln w="6350">
            <a:solidFill>
              <a:srgbClr val="DDD6C8"/>
            </a:solidFill>
            <a:prstDash val="solid"/>
          </a:ln>
        </p:spPr>
        <p:txBody>
          <a:bodyPr/>
          <a:lstStyle/>
          <a:p>
            <a:endParaRPr lang="en-ZA"/>
          </a:p>
        </p:txBody>
      </p:sp>
      <p:sp>
        <p:nvSpPr>
          <p:cNvPr id="17" name="Text 15"/>
          <p:cNvSpPr/>
          <p:nvPr/>
        </p:nvSpPr>
        <p:spPr>
          <a:xfrm>
            <a:off x="9104630" y="2105661"/>
            <a:ext cx="2102117" cy="482600"/>
          </a:xfrm>
          <a:prstGeom prst="rect">
            <a:avLst/>
          </a:prstGeom>
          <a:noFill/>
          <a:ln/>
        </p:spPr>
        <p:txBody>
          <a:bodyPr wrap="square" lIns="0" tIns="0" rIns="0" bIns="0" rtlCol="0" anchor="t">
            <a:normAutofit/>
          </a:bodyPr>
          <a:lstStyle/>
          <a:p>
            <a:pPr marL="0" indent="0" algn="l">
              <a:lnSpc>
                <a:spcPts val="3600"/>
              </a:lnSpc>
              <a:buNone/>
            </a:pPr>
            <a:r>
              <a:rPr lang="en-US" sz="3600" b="1" dirty="0">
                <a:solidFill>
                  <a:srgbClr val="8A5A0B"/>
                </a:solidFill>
                <a:latin typeface="Space Grotesk" pitchFamily="34" charset="0"/>
                <a:ea typeface="Space Grotesk" pitchFamily="34" charset="-122"/>
                <a:cs typeface="Space Grotesk" pitchFamily="34" charset="-120"/>
              </a:rPr>
              <a:t>4</a:t>
            </a:r>
            <a:endParaRPr lang="en-US" sz="3600" dirty="0"/>
          </a:p>
        </p:txBody>
      </p:sp>
      <p:sp>
        <p:nvSpPr>
          <p:cNvPr id="18" name="Text 16"/>
          <p:cNvSpPr/>
          <p:nvPr/>
        </p:nvSpPr>
        <p:spPr>
          <a:xfrm>
            <a:off x="9104630" y="2664461"/>
            <a:ext cx="2102117" cy="29972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6202A"/>
                </a:solidFill>
                <a:latin typeface="Space Grotesk" pitchFamily="34" charset="0"/>
                <a:ea typeface="Space Grotesk" pitchFamily="34" charset="-122"/>
                <a:cs typeface="Space Grotesk" pitchFamily="34" charset="-120"/>
              </a:rPr>
              <a:t>Self-caused</a:t>
            </a:r>
            <a:endParaRPr lang="en-US" sz="1800" dirty="0"/>
          </a:p>
        </p:txBody>
      </p:sp>
      <p:sp>
        <p:nvSpPr>
          <p:cNvPr id="19" name="Text 17"/>
          <p:cNvSpPr/>
          <p:nvPr/>
        </p:nvSpPr>
        <p:spPr>
          <a:xfrm>
            <a:off x="9104630" y="3040380"/>
            <a:ext cx="2102117" cy="127000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3"/>
                </a:solidFill>
                <a:latin typeface="IBM Plex Sans" pitchFamily="34" charset="0"/>
                <a:ea typeface="IBM Plex Sans" pitchFamily="34" charset="-122"/>
                <a:cs typeface="IBM Plex Sans" pitchFamily="34" charset="-120"/>
              </a:rPr>
              <a:t>Deaths came from starvation, ageing without replacement or the lineage’s own killers, not another species.</a:t>
            </a:r>
            <a:endParaRPr lang="en-US" sz="1400" dirty="0"/>
          </a:p>
        </p:txBody>
      </p:sp>
      <p:sp>
        <p:nvSpPr>
          <p:cNvPr id="20" name="Text 18"/>
          <p:cNvSpPr/>
          <p:nvPr/>
        </p:nvSpPr>
        <p:spPr>
          <a:xfrm>
            <a:off x="812800" y="4823461"/>
            <a:ext cx="10883392"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4A5563"/>
                </a:solidFill>
                <a:latin typeface="IBM Plex Sans" pitchFamily="34" charset="0"/>
                <a:ea typeface="IBM Plex Sans" pitchFamily="34" charset="-122"/>
                <a:cs typeface="IBM Plex Sans" pitchFamily="34" charset="-120"/>
              </a:rPr>
              <a:t>Growth plus a spreading trait but only three criteria = </a:t>
            </a:r>
            <a:r>
              <a:rPr lang="en-US" sz="1500" b="1" dirty="0">
                <a:solidFill>
                  <a:srgbClr val="16202A"/>
                </a:solidFill>
                <a:latin typeface="IBM Plex Sans" pitchFamily="34" charset="0"/>
                <a:ea typeface="IBM Plex Sans" pitchFamily="34" charset="-122"/>
                <a:cs typeface="IBM Plex Sans" pitchFamily="34" charset="-120"/>
              </a:rPr>
              <a:t>suicide candidate</a:t>
            </a:r>
            <a:r>
              <a:rPr lang="en-US" sz="1500" dirty="0">
                <a:solidFill>
                  <a:srgbClr val="4A5563"/>
                </a:solidFill>
                <a:latin typeface="IBM Plex Sans" pitchFamily="34" charset="0"/>
                <a:ea typeface="IBM Plex Sans" pitchFamily="34" charset="-122"/>
                <a:cs typeface="IBM Plex Sans" pitchFamily="34" charset="-120"/>
              </a:rPr>
              <a:t>. A collapse without growth = </a:t>
            </a:r>
            <a:r>
              <a:rPr lang="en-US" sz="1500" b="1" dirty="0">
                <a:solidFill>
                  <a:srgbClr val="16202A"/>
                </a:solidFill>
                <a:latin typeface="IBM Plex Sans" pitchFamily="34" charset="0"/>
                <a:ea typeface="IBM Plex Sans" pitchFamily="34" charset="-122"/>
                <a:cs typeface="IBM Plex Sans" pitchFamily="34" charset="-120"/>
              </a:rPr>
              <a:t>failure to adapt</a:t>
            </a:r>
            <a:r>
              <a:rPr lang="en-US" sz="1500" dirty="0">
                <a:solidFill>
                  <a:srgbClr val="4A5563"/>
                </a:solidFill>
                <a:latin typeface="IBM Plex Sans" pitchFamily="34" charset="0"/>
                <a:ea typeface="IBM Plex Sans" pitchFamily="34" charset="-122"/>
                <a:cs typeface="IBM Plex Sans" pitchFamily="34" charset="-120"/>
              </a:rPr>
              <a:t>.</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3F0E8"/>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540"/>
          </a:xfrm>
          <a:prstGeom prst="rect">
            <a:avLst/>
          </a:prstGeom>
          <a:noFill/>
          <a:ln/>
        </p:spPr>
        <p:txBody>
          <a:bodyPr wrap="square" lIns="0" tIns="0" rIns="0" bIns="0" rtlCol="0" anchor="t">
            <a:normAutofit/>
          </a:bodyPr>
          <a:lstStyle/>
          <a:p>
            <a:pPr marL="0" indent="0" algn="l">
              <a:lnSpc>
                <a:spcPts val="1820"/>
              </a:lnSpc>
              <a:buNone/>
            </a:pPr>
            <a:r>
              <a:rPr lang="en-US" sz="1300" b="1" kern="0" spc="150" dirty="0">
                <a:solidFill>
                  <a:srgbClr val="8A5A0B"/>
                </a:solidFill>
                <a:latin typeface="IBM Plex Sans" pitchFamily="34" charset="0"/>
                <a:ea typeface="IBM Plex Sans" pitchFamily="34" charset="-122"/>
                <a:cs typeface="IBM Plex Sans" pitchFamily="34" charset="-120"/>
              </a:rPr>
              <a:t>BEFORE · THE SEEDED SPECIES</a:t>
            </a:r>
            <a:endParaRPr lang="en-US" sz="1300" dirty="0"/>
          </a:p>
        </p:txBody>
      </p:sp>
      <p:sp>
        <p:nvSpPr>
          <p:cNvPr id="3" name="Text 1"/>
          <p:cNvSpPr>
            <a:spLocks noGrp="1"/>
          </p:cNvSpPr>
          <p:nvPr>
            <p:ph type="title"/>
          </p:nvPr>
        </p:nvSpPr>
        <p:spPr>
          <a:xfrm>
            <a:off x="812800" y="1120141"/>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6202A"/>
                </a:solidFill>
                <a:latin typeface="Space Grotesk" pitchFamily="34" charset="0"/>
                <a:ea typeface="Space Grotesk" pitchFamily="34" charset="-122"/>
                <a:cs typeface="Space Grotesk" pitchFamily="34" charset="-120"/>
              </a:rPr>
              <a:t>Three animals, two plants, all original cells</a:t>
            </a:r>
            <a:endParaRPr lang="en-US" sz="3000" dirty="0"/>
          </a:p>
        </p:txBody>
      </p:sp>
      <p:sp>
        <p:nvSpPr>
          <p:cNvPr id="4" name="Text 2"/>
          <p:cNvSpPr/>
          <p:nvPr/>
        </p:nvSpPr>
        <p:spPr>
          <a:xfrm>
            <a:off x="812800" y="2145666"/>
            <a:ext cx="635000" cy="635000"/>
          </a:xfrm>
          <a:prstGeom prst="rect">
            <a:avLst/>
          </a:prstGeom>
          <a:solidFill>
            <a:srgbClr val="DEB14D"/>
          </a:solidFill>
          <a:ln/>
        </p:spPr>
        <p:txBody>
          <a:bodyPr wrap="square" lIns="0" tIns="0" rIns="0" bIns="0" rtlCol="0" anchor="ctr">
            <a:normAutofit/>
          </a:bodyPr>
          <a:lstStyle/>
          <a:p>
            <a:pPr marL="0" indent="0" algn="ctr">
              <a:lnSpc>
                <a:spcPts val="1680"/>
              </a:lnSpc>
              <a:buNone/>
            </a:pPr>
            <a:r>
              <a:rPr lang="en-US" sz="1200" b="1" dirty="0">
                <a:solidFill>
                  <a:srgbClr val="16202A"/>
                </a:solidFill>
                <a:latin typeface="IBM Plex Sans" pitchFamily="34" charset="0"/>
                <a:ea typeface="IBM Plex Sans" pitchFamily="34" charset="-122"/>
                <a:cs typeface="IBM Plex Sans" pitchFamily="34" charset="-120"/>
              </a:rPr>
              <a:t>mouth</a:t>
            </a:r>
            <a:endParaRPr lang="en-US" sz="1200" dirty="0"/>
          </a:p>
        </p:txBody>
      </p:sp>
      <p:sp>
        <p:nvSpPr>
          <p:cNvPr id="5" name="Text 3"/>
          <p:cNvSpPr/>
          <p:nvPr/>
        </p:nvSpPr>
        <p:spPr>
          <a:xfrm>
            <a:off x="1466850" y="2145666"/>
            <a:ext cx="635000" cy="635000"/>
          </a:xfrm>
          <a:prstGeom prst="rect">
            <a:avLst/>
          </a:prstGeom>
          <a:solidFill>
            <a:srgbClr val="B6C1EA"/>
          </a:solidFill>
          <a:ln/>
        </p:spPr>
        <p:txBody>
          <a:bodyPr wrap="square" lIns="0" tIns="0" rIns="0" bIns="0" rtlCol="0" anchor="ctr">
            <a:normAutofit/>
          </a:bodyPr>
          <a:lstStyle/>
          <a:p>
            <a:pPr marL="0" indent="0" algn="ctr">
              <a:lnSpc>
                <a:spcPts val="1680"/>
              </a:lnSpc>
              <a:buNone/>
            </a:pPr>
            <a:r>
              <a:rPr lang="en-US" sz="1200" b="1" dirty="0">
                <a:solidFill>
                  <a:srgbClr val="16202A"/>
                </a:solidFill>
                <a:latin typeface="IBM Plex Sans" pitchFamily="34" charset="0"/>
                <a:ea typeface="IBM Plex Sans" pitchFamily="34" charset="-122"/>
                <a:cs typeface="IBM Plex Sans" pitchFamily="34" charset="-120"/>
              </a:rPr>
              <a:t>eye</a:t>
            </a:r>
            <a:endParaRPr lang="en-US" sz="1200" dirty="0"/>
          </a:p>
        </p:txBody>
      </p:sp>
      <p:sp>
        <p:nvSpPr>
          <p:cNvPr id="6" name="Text 4"/>
          <p:cNvSpPr/>
          <p:nvPr/>
        </p:nvSpPr>
        <p:spPr>
          <a:xfrm>
            <a:off x="2120900" y="2145666"/>
            <a:ext cx="635000" cy="635000"/>
          </a:xfrm>
          <a:prstGeom prst="rect">
            <a:avLst/>
          </a:prstGeom>
          <a:solidFill>
            <a:srgbClr val="60D4FF"/>
          </a:solidFill>
          <a:ln/>
        </p:spPr>
        <p:txBody>
          <a:bodyPr wrap="square" lIns="0" tIns="0" rIns="0" bIns="0" rtlCol="0" anchor="ctr">
            <a:normAutofit/>
          </a:bodyPr>
          <a:lstStyle/>
          <a:p>
            <a:pPr marL="0" indent="0" algn="ctr">
              <a:lnSpc>
                <a:spcPts val="1680"/>
              </a:lnSpc>
              <a:buNone/>
            </a:pPr>
            <a:r>
              <a:rPr lang="en-US" sz="1200" b="1" dirty="0">
                <a:solidFill>
                  <a:srgbClr val="16202A"/>
                </a:solidFill>
                <a:latin typeface="IBM Plex Sans" pitchFamily="34" charset="0"/>
                <a:ea typeface="IBM Plex Sans" pitchFamily="34" charset="-122"/>
                <a:cs typeface="IBM Plex Sans" pitchFamily="34" charset="-120"/>
              </a:rPr>
              <a:t>mover</a:t>
            </a:r>
            <a:endParaRPr lang="en-US" sz="1200" dirty="0"/>
          </a:p>
        </p:txBody>
      </p:sp>
      <p:sp>
        <p:nvSpPr>
          <p:cNvPr id="7" name="Text 5"/>
          <p:cNvSpPr/>
          <p:nvPr/>
        </p:nvSpPr>
        <p:spPr>
          <a:xfrm>
            <a:off x="812800" y="2799716"/>
            <a:ext cx="635000" cy="635000"/>
          </a:xfrm>
          <a:prstGeom prst="rect">
            <a:avLst/>
          </a:prstGeom>
          <a:solidFill>
            <a:srgbClr val="B6C1EA"/>
          </a:solidFill>
          <a:ln/>
        </p:spPr>
        <p:txBody>
          <a:bodyPr wrap="square" lIns="0" tIns="0" rIns="0" bIns="0" rtlCol="0" anchor="ctr">
            <a:normAutofit/>
          </a:bodyPr>
          <a:lstStyle/>
          <a:p>
            <a:pPr marL="0" indent="0" algn="ctr">
              <a:lnSpc>
                <a:spcPts val="1680"/>
              </a:lnSpc>
              <a:buNone/>
            </a:pPr>
            <a:r>
              <a:rPr lang="en-US" sz="1200" b="1" dirty="0">
                <a:solidFill>
                  <a:srgbClr val="16202A"/>
                </a:solidFill>
                <a:latin typeface="IBM Plex Sans" pitchFamily="34" charset="0"/>
                <a:ea typeface="IBM Plex Sans" pitchFamily="34" charset="-122"/>
                <a:cs typeface="IBM Plex Sans" pitchFamily="34" charset="-120"/>
              </a:rPr>
              <a:t>eye</a:t>
            </a:r>
            <a:endParaRPr lang="en-US" sz="1200" dirty="0"/>
          </a:p>
        </p:txBody>
      </p:sp>
      <p:sp>
        <p:nvSpPr>
          <p:cNvPr id="8" name="Text 6"/>
          <p:cNvSpPr/>
          <p:nvPr/>
        </p:nvSpPr>
        <p:spPr>
          <a:xfrm>
            <a:off x="1466850" y="2799716"/>
            <a:ext cx="635000" cy="635000"/>
          </a:xfrm>
          <a:prstGeom prst="rect">
            <a:avLst/>
          </a:prstGeom>
          <a:solidFill>
            <a:srgbClr val="60D4FF"/>
          </a:solidFill>
          <a:ln/>
        </p:spPr>
        <p:txBody>
          <a:bodyPr wrap="square" lIns="0" tIns="0" rIns="0" bIns="0" rtlCol="0" anchor="ctr">
            <a:normAutofit/>
          </a:bodyPr>
          <a:lstStyle/>
          <a:p>
            <a:pPr marL="0" indent="0" algn="ctr">
              <a:lnSpc>
                <a:spcPts val="1680"/>
              </a:lnSpc>
              <a:buNone/>
            </a:pPr>
            <a:r>
              <a:rPr lang="en-US" sz="1200" b="1" dirty="0">
                <a:solidFill>
                  <a:srgbClr val="16202A"/>
                </a:solidFill>
                <a:latin typeface="IBM Plex Sans" pitchFamily="34" charset="0"/>
                <a:ea typeface="IBM Plex Sans" pitchFamily="34" charset="-122"/>
                <a:cs typeface="IBM Plex Sans" pitchFamily="34" charset="-120"/>
              </a:rPr>
              <a:t>mover</a:t>
            </a:r>
            <a:endParaRPr lang="en-US" sz="1200" dirty="0"/>
          </a:p>
        </p:txBody>
      </p:sp>
      <p:sp>
        <p:nvSpPr>
          <p:cNvPr id="9" name="Text 7"/>
          <p:cNvSpPr/>
          <p:nvPr/>
        </p:nvSpPr>
        <p:spPr>
          <a:xfrm>
            <a:off x="2120900" y="2799716"/>
            <a:ext cx="635000" cy="635000"/>
          </a:xfrm>
          <a:prstGeom prst="rect">
            <a:avLst/>
          </a:prstGeom>
          <a:solidFill>
            <a:srgbClr val="F82380"/>
          </a:solidFill>
          <a:ln/>
        </p:spPr>
        <p:txBody>
          <a:bodyPr wrap="square" lIns="0" tIns="0" rIns="0" bIns="0" rtlCol="0" anchor="ctr">
            <a:normAutofit/>
          </a:bodyPr>
          <a:lstStyle/>
          <a:p>
            <a:pPr marL="0" indent="0" algn="ctr">
              <a:lnSpc>
                <a:spcPts val="1680"/>
              </a:lnSpc>
              <a:buNone/>
            </a:pPr>
            <a:r>
              <a:rPr lang="en-US" sz="1200" b="1" dirty="0">
                <a:solidFill>
                  <a:srgbClr val="FBFAF6"/>
                </a:solidFill>
                <a:latin typeface="IBM Plex Sans" pitchFamily="34" charset="0"/>
                <a:ea typeface="IBM Plex Sans" pitchFamily="34" charset="-122"/>
                <a:cs typeface="IBM Plex Sans" pitchFamily="34" charset="-120"/>
              </a:rPr>
              <a:t>killer</a:t>
            </a:r>
            <a:endParaRPr lang="en-US" sz="1200" dirty="0"/>
          </a:p>
        </p:txBody>
      </p:sp>
      <p:sp>
        <p:nvSpPr>
          <p:cNvPr id="10" name="Text 8"/>
          <p:cNvSpPr/>
          <p:nvPr/>
        </p:nvSpPr>
        <p:spPr>
          <a:xfrm>
            <a:off x="1092930" y="3561716"/>
            <a:ext cx="1382840" cy="274320"/>
          </a:xfrm>
          <a:prstGeom prst="rect">
            <a:avLst/>
          </a:prstGeom>
          <a:noFill/>
          <a:ln/>
        </p:spPr>
        <p:txBody>
          <a:bodyPr wrap="square" lIns="0" tIns="0" rIns="0" bIns="0" rtlCol="0" anchor="t">
            <a:normAutofit/>
          </a:bodyPr>
          <a:lstStyle/>
          <a:p>
            <a:pPr marL="0" indent="0" algn="ctr">
              <a:lnSpc>
                <a:spcPts val="1960"/>
              </a:lnSpc>
              <a:buNone/>
            </a:pPr>
            <a:r>
              <a:rPr lang="en-US" sz="1400" b="1" dirty="0">
                <a:solidFill>
                  <a:srgbClr val="16202A"/>
                </a:solidFill>
                <a:latin typeface="IBM Plex Sans" pitchFamily="34" charset="0"/>
                <a:ea typeface="IBM Plex Sans" pitchFamily="34" charset="-122"/>
                <a:cs typeface="IBM Plex Sans" pitchFamily="34" charset="-120"/>
              </a:rPr>
              <a:t>zebra (6 cells)</a:t>
            </a:r>
            <a:endParaRPr lang="en-US" sz="1400" dirty="0"/>
          </a:p>
        </p:txBody>
      </p:sp>
      <p:sp>
        <p:nvSpPr>
          <p:cNvPr id="11" name="Text 9"/>
          <p:cNvSpPr/>
          <p:nvPr/>
        </p:nvSpPr>
        <p:spPr>
          <a:xfrm>
            <a:off x="2968625" y="1818641"/>
            <a:ext cx="635000" cy="635000"/>
          </a:xfrm>
          <a:prstGeom prst="rect">
            <a:avLst/>
          </a:prstGeom>
          <a:solidFill>
            <a:srgbClr val="DEB14D"/>
          </a:solidFill>
          <a:ln/>
        </p:spPr>
        <p:txBody>
          <a:bodyPr wrap="square" lIns="0" tIns="0" rIns="0" bIns="0" rtlCol="0" anchor="ctr">
            <a:normAutofit/>
          </a:bodyPr>
          <a:lstStyle/>
          <a:p>
            <a:pPr marL="0" indent="0" algn="ctr">
              <a:lnSpc>
                <a:spcPts val="1680"/>
              </a:lnSpc>
              <a:buNone/>
            </a:pPr>
            <a:r>
              <a:rPr lang="en-US" sz="1200" b="1" dirty="0">
                <a:solidFill>
                  <a:srgbClr val="16202A"/>
                </a:solidFill>
                <a:latin typeface="IBM Plex Sans" pitchFamily="34" charset="0"/>
                <a:ea typeface="IBM Plex Sans" pitchFamily="34" charset="-122"/>
                <a:cs typeface="IBM Plex Sans" pitchFamily="34" charset="-120"/>
              </a:rPr>
              <a:t>mouth</a:t>
            </a:r>
            <a:endParaRPr lang="en-US" sz="1200" dirty="0"/>
          </a:p>
        </p:txBody>
      </p:sp>
      <p:sp>
        <p:nvSpPr>
          <p:cNvPr id="12" name="Text 10"/>
          <p:cNvSpPr/>
          <p:nvPr/>
        </p:nvSpPr>
        <p:spPr>
          <a:xfrm>
            <a:off x="3622675" y="1818641"/>
            <a:ext cx="635000" cy="635000"/>
          </a:xfrm>
          <a:prstGeom prst="rect">
            <a:avLst/>
          </a:prstGeom>
          <a:solidFill>
            <a:srgbClr val="7230DB"/>
          </a:solidFill>
          <a:ln/>
        </p:spPr>
        <p:txBody>
          <a:bodyPr wrap="square" lIns="0" tIns="0" rIns="0" bIns="0" rtlCol="0" anchor="ctr">
            <a:normAutofit/>
          </a:bodyPr>
          <a:lstStyle/>
          <a:p>
            <a:pPr marL="0" indent="0" algn="ctr">
              <a:lnSpc>
                <a:spcPts val="1680"/>
              </a:lnSpc>
              <a:buNone/>
            </a:pPr>
            <a:r>
              <a:rPr lang="en-US" sz="1200" b="1" dirty="0">
                <a:solidFill>
                  <a:srgbClr val="FBFAF6"/>
                </a:solidFill>
                <a:latin typeface="IBM Plex Sans" pitchFamily="34" charset="0"/>
                <a:ea typeface="IBM Plex Sans" pitchFamily="34" charset="-122"/>
                <a:cs typeface="IBM Plex Sans" pitchFamily="34" charset="-120"/>
              </a:rPr>
              <a:t>armor</a:t>
            </a:r>
            <a:endParaRPr lang="en-US" sz="1200" dirty="0"/>
          </a:p>
        </p:txBody>
      </p:sp>
      <p:sp>
        <p:nvSpPr>
          <p:cNvPr id="13" name="Text 11"/>
          <p:cNvSpPr/>
          <p:nvPr/>
        </p:nvSpPr>
        <p:spPr>
          <a:xfrm>
            <a:off x="4276725" y="1818641"/>
            <a:ext cx="635000" cy="635000"/>
          </a:xfrm>
          <a:prstGeom prst="rect">
            <a:avLst/>
          </a:prstGeom>
          <a:solidFill>
            <a:srgbClr val="B6C1EA"/>
          </a:solidFill>
          <a:ln/>
        </p:spPr>
        <p:txBody>
          <a:bodyPr wrap="square" lIns="0" tIns="0" rIns="0" bIns="0" rtlCol="0" anchor="ctr">
            <a:normAutofit/>
          </a:bodyPr>
          <a:lstStyle/>
          <a:p>
            <a:pPr marL="0" indent="0" algn="ctr">
              <a:lnSpc>
                <a:spcPts val="1680"/>
              </a:lnSpc>
              <a:buNone/>
            </a:pPr>
            <a:r>
              <a:rPr lang="en-US" sz="1200" b="1" dirty="0">
                <a:solidFill>
                  <a:srgbClr val="16202A"/>
                </a:solidFill>
                <a:latin typeface="IBM Plex Sans" pitchFamily="34" charset="0"/>
                <a:ea typeface="IBM Plex Sans" pitchFamily="34" charset="-122"/>
                <a:cs typeface="IBM Plex Sans" pitchFamily="34" charset="-120"/>
              </a:rPr>
              <a:t>eye</a:t>
            </a:r>
            <a:endParaRPr lang="en-US" sz="1200" dirty="0"/>
          </a:p>
        </p:txBody>
      </p:sp>
      <p:sp>
        <p:nvSpPr>
          <p:cNvPr id="14" name="Text 12"/>
          <p:cNvSpPr/>
          <p:nvPr/>
        </p:nvSpPr>
        <p:spPr>
          <a:xfrm>
            <a:off x="2968625" y="2472691"/>
            <a:ext cx="635000" cy="635000"/>
          </a:xfrm>
          <a:prstGeom prst="rect">
            <a:avLst/>
          </a:prstGeom>
          <a:solidFill>
            <a:srgbClr val="7230DB"/>
          </a:solidFill>
          <a:ln/>
        </p:spPr>
        <p:txBody>
          <a:bodyPr wrap="square" lIns="0" tIns="0" rIns="0" bIns="0" rtlCol="0" anchor="ctr">
            <a:normAutofit/>
          </a:bodyPr>
          <a:lstStyle/>
          <a:p>
            <a:pPr marL="0" indent="0" algn="ctr">
              <a:lnSpc>
                <a:spcPts val="1680"/>
              </a:lnSpc>
              <a:buNone/>
            </a:pPr>
            <a:r>
              <a:rPr lang="en-US" sz="1200" b="1" dirty="0">
                <a:solidFill>
                  <a:srgbClr val="FBFAF6"/>
                </a:solidFill>
                <a:latin typeface="IBM Plex Sans" pitchFamily="34" charset="0"/>
                <a:ea typeface="IBM Plex Sans" pitchFamily="34" charset="-122"/>
                <a:cs typeface="IBM Plex Sans" pitchFamily="34" charset="-120"/>
              </a:rPr>
              <a:t>armor</a:t>
            </a:r>
            <a:endParaRPr lang="en-US" sz="1200" dirty="0"/>
          </a:p>
        </p:txBody>
      </p:sp>
      <p:sp>
        <p:nvSpPr>
          <p:cNvPr id="15" name="Text 13"/>
          <p:cNvSpPr/>
          <p:nvPr/>
        </p:nvSpPr>
        <p:spPr>
          <a:xfrm>
            <a:off x="3622675" y="2472691"/>
            <a:ext cx="635000" cy="635000"/>
          </a:xfrm>
          <a:prstGeom prst="rect">
            <a:avLst/>
          </a:prstGeom>
          <a:solidFill>
            <a:srgbClr val="60D4FF"/>
          </a:solidFill>
          <a:ln/>
        </p:spPr>
        <p:txBody>
          <a:bodyPr wrap="square" lIns="0" tIns="0" rIns="0" bIns="0" rtlCol="0" anchor="ctr">
            <a:normAutofit/>
          </a:bodyPr>
          <a:lstStyle/>
          <a:p>
            <a:pPr marL="0" indent="0" algn="ctr">
              <a:lnSpc>
                <a:spcPts val="1680"/>
              </a:lnSpc>
              <a:buNone/>
            </a:pPr>
            <a:r>
              <a:rPr lang="en-US" sz="1200" b="1" dirty="0">
                <a:solidFill>
                  <a:srgbClr val="16202A"/>
                </a:solidFill>
                <a:latin typeface="IBM Plex Sans" pitchFamily="34" charset="0"/>
                <a:ea typeface="IBM Plex Sans" pitchFamily="34" charset="-122"/>
                <a:cs typeface="IBM Plex Sans" pitchFamily="34" charset="-120"/>
              </a:rPr>
              <a:t>mover</a:t>
            </a:r>
            <a:endParaRPr lang="en-US" sz="1200" dirty="0"/>
          </a:p>
        </p:txBody>
      </p:sp>
      <p:sp>
        <p:nvSpPr>
          <p:cNvPr id="16" name="Text 14"/>
          <p:cNvSpPr/>
          <p:nvPr/>
        </p:nvSpPr>
        <p:spPr>
          <a:xfrm>
            <a:off x="4276725" y="2472691"/>
            <a:ext cx="635000" cy="635000"/>
          </a:xfrm>
          <a:prstGeom prst="rect">
            <a:avLst/>
          </a:prstGeom>
          <a:solidFill>
            <a:srgbClr val="7230DB"/>
          </a:solidFill>
          <a:ln/>
        </p:spPr>
        <p:txBody>
          <a:bodyPr wrap="square" lIns="0" tIns="0" rIns="0" bIns="0" rtlCol="0" anchor="ctr">
            <a:normAutofit/>
          </a:bodyPr>
          <a:lstStyle/>
          <a:p>
            <a:pPr marL="0" indent="0" algn="ctr">
              <a:lnSpc>
                <a:spcPts val="1680"/>
              </a:lnSpc>
              <a:buNone/>
            </a:pPr>
            <a:r>
              <a:rPr lang="en-US" sz="1200" b="1" dirty="0">
                <a:solidFill>
                  <a:srgbClr val="FBFAF6"/>
                </a:solidFill>
                <a:latin typeface="IBM Plex Sans" pitchFamily="34" charset="0"/>
                <a:ea typeface="IBM Plex Sans" pitchFamily="34" charset="-122"/>
                <a:cs typeface="IBM Plex Sans" pitchFamily="34" charset="-120"/>
              </a:rPr>
              <a:t>armor</a:t>
            </a:r>
            <a:endParaRPr lang="en-US" sz="1200" dirty="0"/>
          </a:p>
        </p:txBody>
      </p:sp>
      <p:sp>
        <p:nvSpPr>
          <p:cNvPr id="17" name="Text 15"/>
          <p:cNvSpPr/>
          <p:nvPr/>
        </p:nvSpPr>
        <p:spPr>
          <a:xfrm>
            <a:off x="2968625" y="3126741"/>
            <a:ext cx="635000" cy="635000"/>
          </a:xfrm>
          <a:prstGeom prst="rect">
            <a:avLst/>
          </a:prstGeom>
          <a:solidFill>
            <a:srgbClr val="7230DB"/>
          </a:solidFill>
          <a:ln/>
        </p:spPr>
        <p:txBody>
          <a:bodyPr wrap="square" lIns="0" tIns="0" rIns="0" bIns="0" rtlCol="0" anchor="ctr">
            <a:normAutofit/>
          </a:bodyPr>
          <a:lstStyle/>
          <a:p>
            <a:pPr marL="0" indent="0" algn="ctr">
              <a:lnSpc>
                <a:spcPts val="1680"/>
              </a:lnSpc>
              <a:buNone/>
            </a:pPr>
            <a:r>
              <a:rPr lang="en-US" sz="1200" b="1" dirty="0">
                <a:solidFill>
                  <a:srgbClr val="FBFAF6"/>
                </a:solidFill>
                <a:latin typeface="IBM Plex Sans" pitchFamily="34" charset="0"/>
                <a:ea typeface="IBM Plex Sans" pitchFamily="34" charset="-122"/>
                <a:cs typeface="IBM Plex Sans" pitchFamily="34" charset="-120"/>
              </a:rPr>
              <a:t>armor</a:t>
            </a:r>
            <a:endParaRPr lang="en-US" sz="1200" dirty="0"/>
          </a:p>
        </p:txBody>
      </p:sp>
      <p:sp>
        <p:nvSpPr>
          <p:cNvPr id="18" name="Text 16"/>
          <p:cNvSpPr/>
          <p:nvPr/>
        </p:nvSpPr>
        <p:spPr>
          <a:xfrm>
            <a:off x="3622675" y="3126741"/>
            <a:ext cx="635000" cy="635000"/>
          </a:xfrm>
          <a:prstGeom prst="rect">
            <a:avLst/>
          </a:prstGeom>
          <a:solidFill>
            <a:srgbClr val="7230DB"/>
          </a:solidFill>
          <a:ln/>
        </p:spPr>
        <p:txBody>
          <a:bodyPr wrap="square" lIns="0" tIns="0" rIns="0" bIns="0" rtlCol="0" anchor="ctr">
            <a:normAutofit/>
          </a:bodyPr>
          <a:lstStyle/>
          <a:p>
            <a:pPr marL="0" indent="0" algn="ctr">
              <a:lnSpc>
                <a:spcPts val="1680"/>
              </a:lnSpc>
              <a:buNone/>
            </a:pPr>
            <a:r>
              <a:rPr lang="en-US" sz="1200" b="1" dirty="0">
                <a:solidFill>
                  <a:srgbClr val="FBFAF6"/>
                </a:solidFill>
                <a:latin typeface="IBM Plex Sans" pitchFamily="34" charset="0"/>
                <a:ea typeface="IBM Plex Sans" pitchFamily="34" charset="-122"/>
                <a:cs typeface="IBM Plex Sans" pitchFamily="34" charset="-120"/>
              </a:rPr>
              <a:t>armor</a:t>
            </a:r>
            <a:endParaRPr lang="en-US" sz="1200" dirty="0"/>
          </a:p>
        </p:txBody>
      </p:sp>
      <p:sp>
        <p:nvSpPr>
          <p:cNvPr id="19" name="Text 17"/>
          <p:cNvSpPr/>
          <p:nvPr/>
        </p:nvSpPr>
        <p:spPr>
          <a:xfrm>
            <a:off x="3268194" y="3888741"/>
            <a:ext cx="1343882" cy="274320"/>
          </a:xfrm>
          <a:prstGeom prst="rect">
            <a:avLst/>
          </a:prstGeom>
          <a:noFill/>
          <a:ln/>
        </p:spPr>
        <p:txBody>
          <a:bodyPr wrap="square" lIns="0" tIns="0" rIns="0" bIns="0" rtlCol="0" anchor="t">
            <a:normAutofit/>
          </a:bodyPr>
          <a:lstStyle/>
          <a:p>
            <a:pPr marL="0" indent="0" algn="ctr">
              <a:lnSpc>
                <a:spcPts val="1960"/>
              </a:lnSpc>
              <a:buNone/>
            </a:pPr>
            <a:r>
              <a:rPr lang="en-US" sz="1400" b="1" dirty="0">
                <a:solidFill>
                  <a:srgbClr val="16202A"/>
                </a:solidFill>
                <a:latin typeface="IBM Plex Sans" pitchFamily="34" charset="0"/>
                <a:ea typeface="IBM Plex Sans" pitchFamily="34" charset="-122"/>
                <a:cs typeface="IBM Plex Sans" pitchFamily="34" charset="-120"/>
              </a:rPr>
              <a:t>rhino (8 cells)</a:t>
            </a:r>
            <a:endParaRPr lang="en-US" sz="1400" dirty="0"/>
          </a:p>
        </p:txBody>
      </p:sp>
      <p:sp>
        <p:nvSpPr>
          <p:cNvPr id="20" name="Text 18"/>
          <p:cNvSpPr/>
          <p:nvPr/>
        </p:nvSpPr>
        <p:spPr>
          <a:xfrm>
            <a:off x="5124450" y="2145666"/>
            <a:ext cx="635000" cy="635000"/>
          </a:xfrm>
          <a:prstGeom prst="rect">
            <a:avLst/>
          </a:prstGeom>
          <a:solidFill>
            <a:srgbClr val="F82380"/>
          </a:solidFill>
          <a:ln/>
        </p:spPr>
        <p:txBody>
          <a:bodyPr wrap="square" lIns="0" tIns="0" rIns="0" bIns="0" rtlCol="0" anchor="ctr">
            <a:normAutofit/>
          </a:bodyPr>
          <a:lstStyle/>
          <a:p>
            <a:pPr marL="0" indent="0" algn="ctr">
              <a:lnSpc>
                <a:spcPts val="1680"/>
              </a:lnSpc>
              <a:buNone/>
            </a:pPr>
            <a:r>
              <a:rPr lang="en-US" sz="1200" b="1" dirty="0">
                <a:solidFill>
                  <a:srgbClr val="FBFAF6"/>
                </a:solidFill>
                <a:latin typeface="IBM Plex Sans" pitchFamily="34" charset="0"/>
                <a:ea typeface="IBM Plex Sans" pitchFamily="34" charset="-122"/>
                <a:cs typeface="IBM Plex Sans" pitchFamily="34" charset="-120"/>
              </a:rPr>
              <a:t>killer</a:t>
            </a:r>
            <a:endParaRPr lang="en-US" sz="1200" dirty="0"/>
          </a:p>
        </p:txBody>
      </p:sp>
      <p:sp>
        <p:nvSpPr>
          <p:cNvPr id="21" name="Text 19"/>
          <p:cNvSpPr/>
          <p:nvPr/>
        </p:nvSpPr>
        <p:spPr>
          <a:xfrm>
            <a:off x="5778500" y="2145666"/>
            <a:ext cx="635000" cy="635000"/>
          </a:xfrm>
          <a:prstGeom prst="rect">
            <a:avLst/>
          </a:prstGeom>
          <a:solidFill>
            <a:srgbClr val="DEB14D"/>
          </a:solidFill>
          <a:ln/>
        </p:spPr>
        <p:txBody>
          <a:bodyPr wrap="square" lIns="0" tIns="0" rIns="0" bIns="0" rtlCol="0" anchor="ctr">
            <a:normAutofit/>
          </a:bodyPr>
          <a:lstStyle/>
          <a:p>
            <a:pPr marL="0" indent="0" algn="ctr">
              <a:lnSpc>
                <a:spcPts val="1680"/>
              </a:lnSpc>
              <a:buNone/>
            </a:pPr>
            <a:r>
              <a:rPr lang="en-US" sz="1200" b="1" dirty="0">
                <a:solidFill>
                  <a:srgbClr val="16202A"/>
                </a:solidFill>
                <a:latin typeface="IBM Plex Sans" pitchFamily="34" charset="0"/>
                <a:ea typeface="IBM Plex Sans" pitchFamily="34" charset="-122"/>
                <a:cs typeface="IBM Plex Sans" pitchFamily="34" charset="-120"/>
              </a:rPr>
              <a:t>mouth</a:t>
            </a:r>
            <a:endParaRPr lang="en-US" sz="1200" dirty="0"/>
          </a:p>
        </p:txBody>
      </p:sp>
      <p:sp>
        <p:nvSpPr>
          <p:cNvPr id="22" name="Text 20"/>
          <p:cNvSpPr/>
          <p:nvPr/>
        </p:nvSpPr>
        <p:spPr>
          <a:xfrm>
            <a:off x="6432550" y="2145666"/>
            <a:ext cx="635000" cy="635000"/>
          </a:xfrm>
          <a:prstGeom prst="rect">
            <a:avLst/>
          </a:prstGeom>
          <a:solidFill>
            <a:srgbClr val="B6C1EA"/>
          </a:solidFill>
          <a:ln/>
        </p:spPr>
        <p:txBody>
          <a:bodyPr wrap="square" lIns="0" tIns="0" rIns="0" bIns="0" rtlCol="0" anchor="ctr">
            <a:normAutofit/>
          </a:bodyPr>
          <a:lstStyle/>
          <a:p>
            <a:pPr marL="0" indent="0" algn="ctr">
              <a:lnSpc>
                <a:spcPts val="1680"/>
              </a:lnSpc>
              <a:buNone/>
            </a:pPr>
            <a:r>
              <a:rPr lang="en-US" sz="1200" b="1" dirty="0">
                <a:solidFill>
                  <a:srgbClr val="16202A"/>
                </a:solidFill>
                <a:latin typeface="IBM Plex Sans" pitchFamily="34" charset="0"/>
                <a:ea typeface="IBM Plex Sans" pitchFamily="34" charset="-122"/>
                <a:cs typeface="IBM Plex Sans" pitchFamily="34" charset="-120"/>
              </a:rPr>
              <a:t>eye</a:t>
            </a:r>
            <a:endParaRPr lang="en-US" sz="1200" dirty="0"/>
          </a:p>
        </p:txBody>
      </p:sp>
      <p:sp>
        <p:nvSpPr>
          <p:cNvPr id="23" name="Text 21"/>
          <p:cNvSpPr/>
          <p:nvPr/>
        </p:nvSpPr>
        <p:spPr>
          <a:xfrm>
            <a:off x="5124450" y="2799716"/>
            <a:ext cx="635000" cy="635000"/>
          </a:xfrm>
          <a:prstGeom prst="rect">
            <a:avLst/>
          </a:prstGeom>
          <a:solidFill>
            <a:srgbClr val="60D4FF"/>
          </a:solidFill>
          <a:ln/>
        </p:spPr>
        <p:txBody>
          <a:bodyPr wrap="square" lIns="0" tIns="0" rIns="0" bIns="0" rtlCol="0" anchor="ctr">
            <a:normAutofit/>
          </a:bodyPr>
          <a:lstStyle/>
          <a:p>
            <a:pPr marL="0" indent="0" algn="ctr">
              <a:lnSpc>
                <a:spcPts val="1680"/>
              </a:lnSpc>
              <a:buNone/>
            </a:pPr>
            <a:r>
              <a:rPr lang="en-US" sz="1200" b="1" dirty="0">
                <a:solidFill>
                  <a:srgbClr val="16202A"/>
                </a:solidFill>
                <a:latin typeface="IBM Plex Sans" pitchFamily="34" charset="0"/>
                <a:ea typeface="IBM Plex Sans" pitchFamily="34" charset="-122"/>
                <a:cs typeface="IBM Plex Sans" pitchFamily="34" charset="-120"/>
              </a:rPr>
              <a:t>mover</a:t>
            </a:r>
            <a:endParaRPr lang="en-US" sz="1200" dirty="0"/>
          </a:p>
        </p:txBody>
      </p:sp>
      <p:sp>
        <p:nvSpPr>
          <p:cNvPr id="24" name="Text 22"/>
          <p:cNvSpPr/>
          <p:nvPr/>
        </p:nvSpPr>
        <p:spPr>
          <a:xfrm>
            <a:off x="5778500" y="2799716"/>
            <a:ext cx="635000" cy="635000"/>
          </a:xfrm>
          <a:prstGeom prst="rect">
            <a:avLst/>
          </a:prstGeom>
          <a:solidFill>
            <a:srgbClr val="F82380"/>
          </a:solidFill>
          <a:ln/>
        </p:spPr>
        <p:txBody>
          <a:bodyPr wrap="square" lIns="0" tIns="0" rIns="0" bIns="0" rtlCol="0" anchor="ctr">
            <a:normAutofit/>
          </a:bodyPr>
          <a:lstStyle/>
          <a:p>
            <a:pPr marL="0" indent="0" algn="ctr">
              <a:lnSpc>
                <a:spcPts val="1680"/>
              </a:lnSpc>
              <a:buNone/>
            </a:pPr>
            <a:r>
              <a:rPr lang="en-US" sz="1200" b="1" dirty="0">
                <a:solidFill>
                  <a:srgbClr val="FBFAF6"/>
                </a:solidFill>
                <a:latin typeface="IBM Plex Sans" pitchFamily="34" charset="0"/>
                <a:ea typeface="IBM Plex Sans" pitchFamily="34" charset="-122"/>
                <a:cs typeface="IBM Plex Sans" pitchFamily="34" charset="-120"/>
              </a:rPr>
              <a:t>killer</a:t>
            </a:r>
            <a:endParaRPr lang="en-US" sz="1200" dirty="0"/>
          </a:p>
        </p:txBody>
      </p:sp>
      <p:sp>
        <p:nvSpPr>
          <p:cNvPr id="25" name="Text 23"/>
          <p:cNvSpPr/>
          <p:nvPr/>
        </p:nvSpPr>
        <p:spPr>
          <a:xfrm>
            <a:off x="6432550" y="2799716"/>
            <a:ext cx="635000" cy="635000"/>
          </a:xfrm>
          <a:prstGeom prst="rect">
            <a:avLst/>
          </a:prstGeom>
          <a:solidFill>
            <a:srgbClr val="60D4FF"/>
          </a:solidFill>
          <a:ln/>
        </p:spPr>
        <p:txBody>
          <a:bodyPr wrap="square" lIns="0" tIns="0" rIns="0" bIns="0" rtlCol="0" anchor="ctr">
            <a:normAutofit/>
          </a:bodyPr>
          <a:lstStyle/>
          <a:p>
            <a:pPr marL="0" indent="0" algn="ctr">
              <a:lnSpc>
                <a:spcPts val="1680"/>
              </a:lnSpc>
              <a:buNone/>
            </a:pPr>
            <a:r>
              <a:rPr lang="en-US" sz="1200" b="1" dirty="0">
                <a:solidFill>
                  <a:srgbClr val="16202A"/>
                </a:solidFill>
                <a:latin typeface="IBM Plex Sans" pitchFamily="34" charset="0"/>
                <a:ea typeface="IBM Plex Sans" pitchFamily="34" charset="-122"/>
                <a:cs typeface="IBM Plex Sans" pitchFamily="34" charset="-120"/>
              </a:rPr>
              <a:t>mover</a:t>
            </a:r>
            <a:endParaRPr lang="en-US" sz="1200" dirty="0"/>
          </a:p>
        </p:txBody>
      </p:sp>
      <p:sp>
        <p:nvSpPr>
          <p:cNvPr id="26" name="Text 24"/>
          <p:cNvSpPr/>
          <p:nvPr/>
        </p:nvSpPr>
        <p:spPr>
          <a:xfrm>
            <a:off x="5300766" y="3561716"/>
            <a:ext cx="1590389" cy="274320"/>
          </a:xfrm>
          <a:prstGeom prst="rect">
            <a:avLst/>
          </a:prstGeom>
          <a:noFill/>
          <a:ln/>
        </p:spPr>
        <p:txBody>
          <a:bodyPr wrap="square" lIns="0" tIns="0" rIns="0" bIns="0" rtlCol="0" anchor="t">
            <a:normAutofit/>
          </a:bodyPr>
          <a:lstStyle/>
          <a:p>
            <a:pPr marL="0" indent="0" algn="ctr">
              <a:lnSpc>
                <a:spcPts val="1960"/>
              </a:lnSpc>
              <a:buNone/>
            </a:pPr>
            <a:r>
              <a:rPr lang="en-US" sz="1400" b="1" dirty="0">
                <a:solidFill>
                  <a:srgbClr val="16202A"/>
                </a:solidFill>
                <a:latin typeface="IBM Plex Sans" pitchFamily="34" charset="0"/>
                <a:ea typeface="IBM Plex Sans" pitchFamily="34" charset="-122"/>
                <a:cs typeface="IBM Plex Sans" pitchFamily="34" charset="-120"/>
              </a:rPr>
              <a:t>leopard (6 cells)</a:t>
            </a:r>
            <a:endParaRPr lang="en-US" sz="1400" dirty="0"/>
          </a:p>
        </p:txBody>
      </p:sp>
      <p:sp>
        <p:nvSpPr>
          <p:cNvPr id="27" name="Text 25"/>
          <p:cNvSpPr/>
          <p:nvPr/>
        </p:nvSpPr>
        <p:spPr>
          <a:xfrm>
            <a:off x="7280275" y="2472691"/>
            <a:ext cx="635000" cy="635000"/>
          </a:xfrm>
          <a:prstGeom prst="rect">
            <a:avLst/>
          </a:prstGeom>
          <a:solidFill>
            <a:srgbClr val="15DE59"/>
          </a:solidFill>
          <a:ln/>
        </p:spPr>
        <p:txBody>
          <a:bodyPr wrap="none" lIns="0" tIns="0" rIns="0" bIns="0" rtlCol="0" anchor="ctr">
            <a:normAutofit/>
          </a:bodyPr>
          <a:lstStyle/>
          <a:p>
            <a:pPr marL="0" indent="0" algn="ctr">
              <a:lnSpc>
                <a:spcPts val="1680"/>
              </a:lnSpc>
              <a:buNone/>
            </a:pPr>
            <a:r>
              <a:rPr lang="en-US" sz="1200" b="1" kern="0" spc="-50" dirty="0">
                <a:solidFill>
                  <a:srgbClr val="16202A"/>
                </a:solidFill>
                <a:latin typeface="IBM Plex Sans" pitchFamily="34" charset="0"/>
                <a:ea typeface="IBM Plex Sans" pitchFamily="34" charset="-122"/>
                <a:cs typeface="IBM Plex Sans" pitchFamily="34" charset="-120"/>
              </a:rPr>
              <a:t>producer</a:t>
            </a:r>
            <a:endParaRPr lang="en-US" sz="1200" dirty="0"/>
          </a:p>
        </p:txBody>
      </p:sp>
      <p:sp>
        <p:nvSpPr>
          <p:cNvPr id="28" name="Text 26"/>
          <p:cNvSpPr/>
          <p:nvPr/>
        </p:nvSpPr>
        <p:spPr>
          <a:xfrm>
            <a:off x="7934325" y="2472691"/>
            <a:ext cx="635000" cy="635000"/>
          </a:xfrm>
          <a:prstGeom prst="rect">
            <a:avLst/>
          </a:prstGeom>
          <a:solidFill>
            <a:srgbClr val="15DE59"/>
          </a:solidFill>
          <a:ln/>
        </p:spPr>
        <p:txBody>
          <a:bodyPr wrap="none" lIns="0" tIns="0" rIns="0" bIns="0" rtlCol="0" anchor="ctr">
            <a:normAutofit/>
          </a:bodyPr>
          <a:lstStyle/>
          <a:p>
            <a:pPr marL="0" indent="0" algn="ctr">
              <a:lnSpc>
                <a:spcPts val="1680"/>
              </a:lnSpc>
              <a:buNone/>
            </a:pPr>
            <a:r>
              <a:rPr lang="en-US" sz="1200" b="1" kern="0" spc="-50" dirty="0">
                <a:solidFill>
                  <a:srgbClr val="16202A"/>
                </a:solidFill>
                <a:latin typeface="IBM Plex Sans" pitchFamily="34" charset="0"/>
                <a:ea typeface="IBM Plex Sans" pitchFamily="34" charset="-122"/>
                <a:cs typeface="IBM Plex Sans" pitchFamily="34" charset="-120"/>
              </a:rPr>
              <a:t>producer</a:t>
            </a:r>
            <a:endParaRPr lang="en-US" sz="1200" dirty="0"/>
          </a:p>
        </p:txBody>
      </p:sp>
      <p:sp>
        <p:nvSpPr>
          <p:cNvPr id="29" name="Text 27"/>
          <p:cNvSpPr/>
          <p:nvPr/>
        </p:nvSpPr>
        <p:spPr>
          <a:xfrm>
            <a:off x="8588375" y="2472691"/>
            <a:ext cx="635000" cy="635000"/>
          </a:xfrm>
          <a:prstGeom prst="rect">
            <a:avLst/>
          </a:prstGeom>
          <a:solidFill>
            <a:srgbClr val="15DE59"/>
          </a:solidFill>
          <a:ln/>
        </p:spPr>
        <p:txBody>
          <a:bodyPr wrap="none" lIns="0" tIns="0" rIns="0" bIns="0" rtlCol="0" anchor="ctr">
            <a:normAutofit/>
          </a:bodyPr>
          <a:lstStyle/>
          <a:p>
            <a:pPr marL="0" indent="0" algn="ctr">
              <a:lnSpc>
                <a:spcPts val="1680"/>
              </a:lnSpc>
              <a:buNone/>
            </a:pPr>
            <a:r>
              <a:rPr lang="en-US" sz="1200" b="1" kern="0" spc="-50" dirty="0">
                <a:solidFill>
                  <a:srgbClr val="16202A"/>
                </a:solidFill>
                <a:latin typeface="IBM Plex Sans" pitchFamily="34" charset="0"/>
                <a:ea typeface="IBM Plex Sans" pitchFamily="34" charset="-122"/>
                <a:cs typeface="IBM Plex Sans" pitchFamily="34" charset="-120"/>
              </a:rPr>
              <a:t>producer</a:t>
            </a:r>
            <a:endParaRPr lang="en-US" sz="1200" dirty="0"/>
          </a:p>
        </p:txBody>
      </p:sp>
      <p:sp>
        <p:nvSpPr>
          <p:cNvPr id="30" name="Text 28"/>
          <p:cNvSpPr/>
          <p:nvPr/>
        </p:nvSpPr>
        <p:spPr>
          <a:xfrm>
            <a:off x="7572320" y="3234691"/>
            <a:ext cx="1358932" cy="274320"/>
          </a:xfrm>
          <a:prstGeom prst="rect">
            <a:avLst/>
          </a:prstGeom>
          <a:noFill/>
          <a:ln/>
        </p:spPr>
        <p:txBody>
          <a:bodyPr wrap="square" lIns="0" tIns="0" rIns="0" bIns="0" rtlCol="0" anchor="t">
            <a:normAutofit/>
          </a:bodyPr>
          <a:lstStyle/>
          <a:p>
            <a:pPr marL="0" indent="0" algn="ctr">
              <a:lnSpc>
                <a:spcPts val="1960"/>
              </a:lnSpc>
              <a:buNone/>
            </a:pPr>
            <a:r>
              <a:rPr lang="en-US" sz="1400" b="1" dirty="0">
                <a:solidFill>
                  <a:srgbClr val="16202A"/>
                </a:solidFill>
                <a:latin typeface="IBM Plex Sans" pitchFamily="34" charset="0"/>
                <a:ea typeface="IBM Plex Sans" pitchFamily="34" charset="-122"/>
                <a:cs typeface="IBM Plex Sans" pitchFamily="34" charset="-120"/>
              </a:rPr>
              <a:t>grass (3 cells)</a:t>
            </a:r>
            <a:endParaRPr lang="en-US" sz="1400" dirty="0"/>
          </a:p>
        </p:txBody>
      </p:sp>
      <p:sp>
        <p:nvSpPr>
          <p:cNvPr id="31" name="Text 29"/>
          <p:cNvSpPr/>
          <p:nvPr/>
        </p:nvSpPr>
        <p:spPr>
          <a:xfrm>
            <a:off x="9436100" y="2145666"/>
            <a:ext cx="635000" cy="635000"/>
          </a:xfrm>
          <a:prstGeom prst="rect">
            <a:avLst/>
          </a:prstGeom>
          <a:solidFill>
            <a:srgbClr val="15DE59"/>
          </a:solidFill>
          <a:ln/>
        </p:spPr>
        <p:txBody>
          <a:bodyPr wrap="none" lIns="0" tIns="0" rIns="0" bIns="0" rtlCol="0" anchor="ctr">
            <a:normAutofit/>
          </a:bodyPr>
          <a:lstStyle/>
          <a:p>
            <a:pPr marL="0" indent="0" algn="ctr">
              <a:lnSpc>
                <a:spcPts val="1680"/>
              </a:lnSpc>
              <a:buNone/>
            </a:pPr>
            <a:r>
              <a:rPr lang="en-US" sz="1200" b="1" kern="0" spc="-50" dirty="0">
                <a:solidFill>
                  <a:srgbClr val="16202A"/>
                </a:solidFill>
                <a:latin typeface="IBM Plex Sans" pitchFamily="34" charset="0"/>
                <a:ea typeface="IBM Plex Sans" pitchFamily="34" charset="-122"/>
                <a:cs typeface="IBM Plex Sans" pitchFamily="34" charset="-120"/>
              </a:rPr>
              <a:t>producer</a:t>
            </a:r>
            <a:endParaRPr lang="en-US" sz="1200" dirty="0"/>
          </a:p>
        </p:txBody>
      </p:sp>
      <p:sp>
        <p:nvSpPr>
          <p:cNvPr id="32" name="Text 30"/>
          <p:cNvSpPr/>
          <p:nvPr/>
        </p:nvSpPr>
        <p:spPr>
          <a:xfrm>
            <a:off x="10090150" y="2145666"/>
            <a:ext cx="635000" cy="635000"/>
          </a:xfrm>
          <a:prstGeom prst="rect">
            <a:avLst/>
          </a:prstGeom>
          <a:solidFill>
            <a:srgbClr val="15DE59"/>
          </a:solidFill>
          <a:ln/>
        </p:spPr>
        <p:txBody>
          <a:bodyPr wrap="none" lIns="0" tIns="0" rIns="0" bIns="0" rtlCol="0" anchor="ctr">
            <a:normAutofit/>
          </a:bodyPr>
          <a:lstStyle/>
          <a:p>
            <a:pPr marL="0" indent="0" algn="ctr">
              <a:lnSpc>
                <a:spcPts val="1680"/>
              </a:lnSpc>
              <a:buNone/>
            </a:pPr>
            <a:r>
              <a:rPr lang="en-US" sz="1200" b="1" kern="0" spc="-50" dirty="0">
                <a:solidFill>
                  <a:srgbClr val="16202A"/>
                </a:solidFill>
                <a:latin typeface="IBM Plex Sans" pitchFamily="34" charset="0"/>
                <a:ea typeface="IBM Plex Sans" pitchFamily="34" charset="-122"/>
                <a:cs typeface="IBM Plex Sans" pitchFamily="34" charset="-120"/>
              </a:rPr>
              <a:t>producer</a:t>
            </a:r>
            <a:endParaRPr lang="en-US" sz="1200" dirty="0"/>
          </a:p>
        </p:txBody>
      </p:sp>
      <p:sp>
        <p:nvSpPr>
          <p:cNvPr id="33" name="Text 31"/>
          <p:cNvSpPr/>
          <p:nvPr/>
        </p:nvSpPr>
        <p:spPr>
          <a:xfrm>
            <a:off x="10744200" y="2145666"/>
            <a:ext cx="635000" cy="635000"/>
          </a:xfrm>
          <a:prstGeom prst="rect">
            <a:avLst/>
          </a:prstGeom>
          <a:solidFill>
            <a:srgbClr val="15DE59"/>
          </a:solidFill>
          <a:ln/>
        </p:spPr>
        <p:txBody>
          <a:bodyPr wrap="none" lIns="0" tIns="0" rIns="0" bIns="0" rtlCol="0" anchor="ctr">
            <a:normAutofit/>
          </a:bodyPr>
          <a:lstStyle/>
          <a:p>
            <a:pPr marL="0" indent="0" algn="ctr">
              <a:lnSpc>
                <a:spcPts val="1680"/>
              </a:lnSpc>
              <a:buNone/>
            </a:pPr>
            <a:r>
              <a:rPr lang="en-US" sz="1200" b="1" kern="0" spc="-50" dirty="0">
                <a:solidFill>
                  <a:srgbClr val="16202A"/>
                </a:solidFill>
                <a:latin typeface="IBM Plex Sans" pitchFamily="34" charset="0"/>
                <a:ea typeface="IBM Plex Sans" pitchFamily="34" charset="-122"/>
                <a:cs typeface="IBM Plex Sans" pitchFamily="34" charset="-120"/>
              </a:rPr>
              <a:t>producer</a:t>
            </a:r>
            <a:endParaRPr lang="en-US" sz="1200" dirty="0"/>
          </a:p>
        </p:txBody>
      </p:sp>
      <p:sp>
        <p:nvSpPr>
          <p:cNvPr id="34" name="Text 32"/>
          <p:cNvSpPr/>
          <p:nvPr/>
        </p:nvSpPr>
        <p:spPr>
          <a:xfrm>
            <a:off x="9436100" y="2799716"/>
            <a:ext cx="635000" cy="635000"/>
          </a:xfrm>
          <a:prstGeom prst="rect">
            <a:avLst/>
          </a:prstGeom>
          <a:solidFill>
            <a:srgbClr val="15DE59"/>
          </a:solidFill>
          <a:ln/>
        </p:spPr>
        <p:txBody>
          <a:bodyPr wrap="none" lIns="0" tIns="0" rIns="0" bIns="0" rtlCol="0" anchor="ctr">
            <a:normAutofit/>
          </a:bodyPr>
          <a:lstStyle/>
          <a:p>
            <a:pPr marL="0" indent="0" algn="ctr">
              <a:lnSpc>
                <a:spcPts val="1680"/>
              </a:lnSpc>
              <a:buNone/>
            </a:pPr>
            <a:r>
              <a:rPr lang="en-US" sz="1200" b="1" kern="0" spc="-50" dirty="0">
                <a:solidFill>
                  <a:srgbClr val="16202A"/>
                </a:solidFill>
                <a:latin typeface="IBM Plex Sans" pitchFamily="34" charset="0"/>
                <a:ea typeface="IBM Plex Sans" pitchFamily="34" charset="-122"/>
                <a:cs typeface="IBM Plex Sans" pitchFamily="34" charset="-120"/>
              </a:rPr>
              <a:t>producer</a:t>
            </a:r>
            <a:endParaRPr lang="en-US" sz="1200" dirty="0"/>
          </a:p>
        </p:txBody>
      </p:sp>
      <p:sp>
        <p:nvSpPr>
          <p:cNvPr id="35" name="Text 33"/>
          <p:cNvSpPr/>
          <p:nvPr/>
        </p:nvSpPr>
        <p:spPr>
          <a:xfrm>
            <a:off x="10090150" y="2799716"/>
            <a:ext cx="635000" cy="635000"/>
          </a:xfrm>
          <a:prstGeom prst="rect">
            <a:avLst/>
          </a:prstGeom>
          <a:solidFill>
            <a:srgbClr val="15DE59"/>
          </a:solidFill>
          <a:ln/>
        </p:spPr>
        <p:txBody>
          <a:bodyPr wrap="none" lIns="0" tIns="0" rIns="0" bIns="0" rtlCol="0" anchor="ctr">
            <a:normAutofit/>
          </a:bodyPr>
          <a:lstStyle/>
          <a:p>
            <a:pPr marL="0" indent="0" algn="ctr">
              <a:lnSpc>
                <a:spcPts val="1680"/>
              </a:lnSpc>
              <a:buNone/>
            </a:pPr>
            <a:r>
              <a:rPr lang="en-US" sz="1200" b="1" kern="0" spc="-50" dirty="0">
                <a:solidFill>
                  <a:srgbClr val="16202A"/>
                </a:solidFill>
                <a:latin typeface="IBM Plex Sans" pitchFamily="34" charset="0"/>
                <a:ea typeface="IBM Plex Sans" pitchFamily="34" charset="-122"/>
                <a:cs typeface="IBM Plex Sans" pitchFamily="34" charset="-120"/>
              </a:rPr>
              <a:t>producer</a:t>
            </a:r>
            <a:endParaRPr lang="en-US" sz="1200" dirty="0"/>
          </a:p>
        </p:txBody>
      </p:sp>
      <p:sp>
        <p:nvSpPr>
          <p:cNvPr id="36" name="Text 34"/>
          <p:cNvSpPr/>
          <p:nvPr/>
        </p:nvSpPr>
        <p:spPr>
          <a:xfrm>
            <a:off x="9749758" y="3561716"/>
            <a:ext cx="1315784" cy="274320"/>
          </a:xfrm>
          <a:prstGeom prst="rect">
            <a:avLst/>
          </a:prstGeom>
          <a:noFill/>
          <a:ln/>
        </p:spPr>
        <p:txBody>
          <a:bodyPr wrap="square" lIns="0" tIns="0" rIns="0" bIns="0" rtlCol="0" anchor="t">
            <a:normAutofit/>
          </a:bodyPr>
          <a:lstStyle/>
          <a:p>
            <a:pPr marL="0" indent="0" algn="ctr">
              <a:lnSpc>
                <a:spcPts val="1960"/>
              </a:lnSpc>
              <a:buNone/>
            </a:pPr>
            <a:r>
              <a:rPr lang="en-US" sz="1400" b="1" dirty="0">
                <a:solidFill>
                  <a:srgbClr val="16202A"/>
                </a:solidFill>
                <a:latin typeface="IBM Plex Sans" pitchFamily="34" charset="0"/>
                <a:ea typeface="IBM Plex Sans" pitchFamily="34" charset="-122"/>
                <a:cs typeface="IBM Plex Sans" pitchFamily="34" charset="-120"/>
              </a:rPr>
              <a:t>bush (5 cells)</a:t>
            </a:r>
            <a:endParaRPr lang="en-US" sz="1400" dirty="0"/>
          </a:p>
        </p:txBody>
      </p:sp>
      <p:sp>
        <p:nvSpPr>
          <p:cNvPr id="37" name="Text 35"/>
          <p:cNvSpPr/>
          <p:nvPr/>
        </p:nvSpPr>
        <p:spPr>
          <a:xfrm>
            <a:off x="812800" y="4417061"/>
            <a:ext cx="10883392"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3"/>
                </a:solidFill>
                <a:latin typeface="IBM Plex Sans" pitchFamily="34" charset="0"/>
                <a:ea typeface="IBM Plex Sans" pitchFamily="34" charset="-122"/>
                <a:cs typeface="IBM Plex Sans" pitchFamily="34" charset="-120"/>
              </a:rPr>
              <a:t>Seeded on a 160 × 100 grid: 36 zebras in 6 herds, 12 rhinos, 16 leopards, 140 grass, 45 bushes. Original rules, no water or river.</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3F0E8"/>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540"/>
          </a:xfrm>
          <a:prstGeom prst="rect">
            <a:avLst/>
          </a:prstGeom>
          <a:noFill/>
          <a:ln/>
        </p:spPr>
        <p:txBody>
          <a:bodyPr wrap="square" lIns="0" tIns="0" rIns="0" bIns="0" rtlCol="0" anchor="t">
            <a:normAutofit/>
          </a:bodyPr>
          <a:lstStyle/>
          <a:p>
            <a:pPr marL="0" indent="0" algn="l">
              <a:lnSpc>
                <a:spcPts val="1820"/>
              </a:lnSpc>
              <a:buNone/>
            </a:pPr>
            <a:r>
              <a:rPr lang="en-US" sz="1300" b="1" kern="0" spc="150" dirty="0">
                <a:solidFill>
                  <a:srgbClr val="8A5A0B"/>
                </a:solidFill>
                <a:latin typeface="IBM Plex Sans" pitchFamily="34" charset="0"/>
                <a:ea typeface="IBM Plex Sans" pitchFamily="34" charset="-122"/>
                <a:cs typeface="IBM Plex Sans" pitchFamily="34" charset="-120"/>
              </a:rPr>
              <a:t>WHY THESE SPECIES</a:t>
            </a:r>
            <a:endParaRPr lang="en-US" sz="1300" dirty="0"/>
          </a:p>
        </p:txBody>
      </p:sp>
      <p:sp>
        <p:nvSpPr>
          <p:cNvPr id="3" name="Text 1"/>
          <p:cNvSpPr>
            <a:spLocks noGrp="1"/>
          </p:cNvSpPr>
          <p:nvPr>
            <p:ph type="title"/>
          </p:nvPr>
        </p:nvSpPr>
        <p:spPr>
          <a:xfrm>
            <a:off x="812800" y="1120139"/>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6202A"/>
                </a:solidFill>
                <a:latin typeface="Space Grotesk" pitchFamily="34" charset="0"/>
                <a:ea typeface="Space Grotesk" pitchFamily="34" charset="-122"/>
                <a:cs typeface="Space Grotesk" pitchFamily="34" charset="-120"/>
              </a:rPr>
              <a:t>Each copies a real trade-off, so they are clearly distinct</a:t>
            </a:r>
            <a:endParaRPr lang="en-US" sz="30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2960" y="1777999"/>
          <a:ext cx="10556241" cy="2950210"/>
        </p:xfrm>
        <a:graphic>
          <a:graphicData uri="http://schemas.openxmlformats.org/drawingml/2006/table">
            <a:tbl>
              <a:tblPr/>
              <a:tblGrid>
                <a:gridCol w="1266749">
                  <a:extLst>
                    <a:ext uri="{9D8B030D-6E8A-4147-A177-3AD203B41FA5}">
                      <a16:colId xmlns:a16="http://schemas.microsoft.com/office/drawing/2014/main" val="20000"/>
                    </a:ext>
                  </a:extLst>
                </a:gridCol>
                <a:gridCol w="2533498">
                  <a:extLst>
                    <a:ext uri="{9D8B030D-6E8A-4147-A177-3AD203B41FA5}">
                      <a16:colId xmlns:a16="http://schemas.microsoft.com/office/drawing/2014/main" val="20001"/>
                    </a:ext>
                  </a:extLst>
                </a:gridCol>
                <a:gridCol w="3377997">
                  <a:extLst>
                    <a:ext uri="{9D8B030D-6E8A-4147-A177-3AD203B41FA5}">
                      <a16:colId xmlns:a16="http://schemas.microsoft.com/office/drawing/2014/main" val="20002"/>
                    </a:ext>
                  </a:extLst>
                </a:gridCol>
                <a:gridCol w="3377997">
                  <a:extLst>
                    <a:ext uri="{9D8B030D-6E8A-4147-A177-3AD203B41FA5}">
                      <a16:colId xmlns:a16="http://schemas.microsoft.com/office/drawing/2014/main" val="20003"/>
                    </a:ext>
                  </a:extLst>
                </a:gridCol>
              </a:tblGrid>
              <a:tr h="343535">
                <a:tc>
                  <a:txBody>
                    <a:bodyPr/>
                    <a:lstStyle/>
                    <a:p>
                      <a:pPr marL="0" indent="0">
                        <a:lnSpc>
                          <a:spcPts val="1750"/>
                        </a:lnSpc>
                        <a:buNone/>
                      </a:pPr>
                      <a:r>
                        <a:rPr lang="en-US" sz="1250" b="1" dirty="0">
                          <a:solidFill>
                            <a:srgbClr val="F3F0E8"/>
                          </a:solidFill>
                          <a:latin typeface="IBM Plex Sans" pitchFamily="34" charset="0"/>
                          <a:ea typeface="IBM Plex Sans" pitchFamily="34" charset="-122"/>
                          <a:cs typeface="IBM Plex Sans" pitchFamily="34" charset="-120"/>
                        </a:rPr>
                        <a:t>Species</a:t>
                      </a:r>
                      <a:endParaRPr lang="en-US" sz="1250" dirty="0">
                        <a:latin typeface="IBM Plex Sans" charset="0"/>
                        <a:ea typeface="IBM Plex Sans" charset="0"/>
                        <a:cs typeface="IBM Plex Sans" charset="0"/>
                      </a:endParaRPr>
                    </a:p>
                  </a:txBody>
                  <a:tcPr marL="55563" marR="55563" marT="55563" marB="55563">
                    <a:lnL w="12700" cap="flat" cmpd="sng" algn="ctr">
                      <a:solidFill>
                        <a:srgbClr val="C2C0B9"/>
                      </a:solidFill>
                      <a:prstDash val="solid"/>
                      <a:round/>
                      <a:headEnd type="none" w="med" len="med"/>
                      <a:tailEnd type="none" w="med" len="med"/>
                    </a:lnL>
                    <a:lnR w="12700" cap="flat" cmpd="sng" algn="ctr">
                      <a:solidFill>
                        <a:srgbClr val="161D25"/>
                      </a:solidFill>
                      <a:prstDash val="solid"/>
                      <a:round/>
                      <a:headEnd type="none" w="med" len="med"/>
                      <a:tailEnd type="none" w="med" len="med"/>
                    </a:lnR>
                    <a:lnT w="12700" cap="flat" cmpd="sng" algn="ctr">
                      <a:solidFill>
                        <a:srgbClr val="C2C0B9"/>
                      </a:solidFill>
                      <a:prstDash val="solid"/>
                      <a:round/>
                      <a:headEnd type="none" w="med" len="med"/>
                      <a:tailEnd type="none" w="med" len="med"/>
                    </a:lnT>
                    <a:lnB w="12700" cap="flat" cmpd="sng" algn="ctr">
                      <a:solidFill>
                        <a:srgbClr val="161D25"/>
                      </a:solidFill>
                      <a:prstDash val="solid"/>
                      <a:round/>
                      <a:headEnd type="none" w="med" len="med"/>
                      <a:tailEnd type="none" w="med" len="med"/>
                    </a:lnB>
                    <a:solidFill>
                      <a:srgbClr val="16202A"/>
                    </a:solidFill>
                  </a:tcPr>
                </a:tc>
                <a:tc>
                  <a:txBody>
                    <a:bodyPr/>
                    <a:lstStyle/>
                    <a:p>
                      <a:pPr marL="0" indent="0">
                        <a:lnSpc>
                          <a:spcPts val="1750"/>
                        </a:lnSpc>
                        <a:buNone/>
                      </a:pPr>
                      <a:r>
                        <a:rPr lang="en-US" sz="1250" b="1" dirty="0">
                          <a:solidFill>
                            <a:srgbClr val="F3F0E8"/>
                          </a:solidFill>
                          <a:latin typeface="IBM Plex Sans" pitchFamily="34" charset="0"/>
                          <a:ea typeface="IBM Plex Sans" pitchFamily="34" charset="-122"/>
                          <a:cs typeface="IBM Plex Sans" pitchFamily="34" charset="-120"/>
                        </a:rPr>
                        <a:t>Real-world basis</a:t>
                      </a:r>
                      <a:endParaRPr lang="en-US" sz="1250" dirty="0">
                        <a:latin typeface="IBM Plex Sans" charset="0"/>
                        <a:ea typeface="IBM Plex Sans" charset="0"/>
                        <a:cs typeface="IBM Plex Sans" charset="0"/>
                      </a:endParaRPr>
                    </a:p>
                  </a:txBody>
                  <a:tcPr marL="55563" marR="55563" marT="55563" marB="55563">
                    <a:lnL w="12700" cap="flat" cmpd="sng" algn="ctr">
                      <a:solidFill>
                        <a:srgbClr val="161D25"/>
                      </a:solidFill>
                      <a:prstDash val="solid"/>
                      <a:round/>
                      <a:headEnd type="none" w="med" len="med"/>
                      <a:tailEnd type="none" w="med" len="med"/>
                    </a:lnL>
                    <a:lnR w="12700" cap="flat" cmpd="sng" algn="ctr">
                      <a:solidFill>
                        <a:srgbClr val="161D25"/>
                      </a:solidFill>
                      <a:prstDash val="solid"/>
                      <a:round/>
                      <a:headEnd type="none" w="med" len="med"/>
                      <a:tailEnd type="none" w="med" len="med"/>
                    </a:lnR>
                    <a:lnT w="12700" cap="flat" cmpd="sng" algn="ctr">
                      <a:solidFill>
                        <a:srgbClr val="C2C0B9"/>
                      </a:solidFill>
                      <a:prstDash val="solid"/>
                      <a:round/>
                      <a:headEnd type="none" w="med" len="med"/>
                      <a:tailEnd type="none" w="med" len="med"/>
                    </a:lnT>
                    <a:lnB w="12700" cap="flat" cmpd="sng" algn="ctr">
                      <a:solidFill>
                        <a:srgbClr val="161D25"/>
                      </a:solidFill>
                      <a:prstDash val="solid"/>
                      <a:round/>
                      <a:headEnd type="none" w="med" len="med"/>
                      <a:tailEnd type="none" w="med" len="med"/>
                    </a:lnB>
                    <a:solidFill>
                      <a:srgbClr val="16202A"/>
                    </a:solidFill>
                  </a:tcPr>
                </a:tc>
                <a:tc>
                  <a:txBody>
                    <a:bodyPr/>
                    <a:lstStyle/>
                    <a:p>
                      <a:pPr marL="0" indent="0">
                        <a:lnSpc>
                          <a:spcPts val="1750"/>
                        </a:lnSpc>
                        <a:buNone/>
                      </a:pPr>
                      <a:r>
                        <a:rPr lang="en-US" sz="1250" b="1" dirty="0">
                          <a:solidFill>
                            <a:srgbClr val="F3F0E8"/>
                          </a:solidFill>
                          <a:latin typeface="IBM Plex Sans" pitchFamily="34" charset="0"/>
                          <a:ea typeface="IBM Plex Sans" pitchFamily="34" charset="-122"/>
                          <a:cs typeface="IBM Plex Sans" pitchFamily="34" charset="-120"/>
                        </a:rPr>
                        <a:t>Strengths</a:t>
                      </a:r>
                      <a:endParaRPr lang="en-US" sz="1250" dirty="0">
                        <a:latin typeface="IBM Plex Sans" charset="0"/>
                        <a:ea typeface="IBM Plex Sans" charset="0"/>
                        <a:cs typeface="IBM Plex Sans" charset="0"/>
                      </a:endParaRPr>
                    </a:p>
                  </a:txBody>
                  <a:tcPr marL="55563" marR="55563" marT="55563" marB="55563">
                    <a:lnL w="12700" cap="flat" cmpd="sng" algn="ctr">
                      <a:solidFill>
                        <a:srgbClr val="161D25"/>
                      </a:solidFill>
                      <a:prstDash val="solid"/>
                      <a:round/>
                      <a:headEnd type="none" w="med" len="med"/>
                      <a:tailEnd type="none" w="med" len="med"/>
                    </a:lnL>
                    <a:lnR w="12700" cap="flat" cmpd="sng" algn="ctr">
                      <a:solidFill>
                        <a:srgbClr val="161D25"/>
                      </a:solidFill>
                      <a:prstDash val="solid"/>
                      <a:round/>
                      <a:headEnd type="none" w="med" len="med"/>
                      <a:tailEnd type="none" w="med" len="med"/>
                    </a:lnR>
                    <a:lnT w="12700" cap="flat" cmpd="sng" algn="ctr">
                      <a:solidFill>
                        <a:srgbClr val="C2C0B9"/>
                      </a:solidFill>
                      <a:prstDash val="solid"/>
                      <a:round/>
                      <a:headEnd type="none" w="med" len="med"/>
                      <a:tailEnd type="none" w="med" len="med"/>
                    </a:lnT>
                    <a:lnB w="12700" cap="flat" cmpd="sng" algn="ctr">
                      <a:solidFill>
                        <a:srgbClr val="161D25"/>
                      </a:solidFill>
                      <a:prstDash val="solid"/>
                      <a:round/>
                      <a:headEnd type="none" w="med" len="med"/>
                      <a:tailEnd type="none" w="med" len="med"/>
                    </a:lnB>
                    <a:solidFill>
                      <a:srgbClr val="16202A"/>
                    </a:solidFill>
                  </a:tcPr>
                </a:tc>
                <a:tc>
                  <a:txBody>
                    <a:bodyPr/>
                    <a:lstStyle/>
                    <a:p>
                      <a:pPr marL="0" indent="0">
                        <a:lnSpc>
                          <a:spcPts val="1750"/>
                        </a:lnSpc>
                        <a:buNone/>
                      </a:pPr>
                      <a:r>
                        <a:rPr lang="en-US" sz="1250" b="1" dirty="0">
                          <a:solidFill>
                            <a:srgbClr val="F3F0E8"/>
                          </a:solidFill>
                          <a:latin typeface="IBM Plex Sans" pitchFamily="34" charset="0"/>
                          <a:ea typeface="IBM Plex Sans" pitchFamily="34" charset="-122"/>
                          <a:cs typeface="IBM Plex Sans" pitchFamily="34" charset="-120"/>
                        </a:rPr>
                        <a:t>Weaknesses</a:t>
                      </a:r>
                      <a:endParaRPr lang="en-US" sz="1250" dirty="0">
                        <a:latin typeface="IBM Plex Sans" charset="0"/>
                        <a:ea typeface="IBM Plex Sans" charset="0"/>
                        <a:cs typeface="IBM Plex Sans" charset="0"/>
                      </a:endParaRPr>
                    </a:p>
                  </a:txBody>
                  <a:tcPr marL="55563" marR="55563" marT="55563" marB="55563">
                    <a:lnL w="12700" cap="flat" cmpd="sng" algn="ctr">
                      <a:solidFill>
                        <a:srgbClr val="161D25"/>
                      </a:solidFill>
                      <a:prstDash val="solid"/>
                      <a:round/>
                      <a:headEnd type="none" w="med" len="med"/>
                      <a:tailEnd type="none" w="med" len="med"/>
                    </a:lnL>
                    <a:lnR w="12700" cap="flat" cmpd="sng" algn="ctr">
                      <a:solidFill>
                        <a:srgbClr val="161D25"/>
                      </a:solidFill>
                      <a:prstDash val="solid"/>
                      <a:round/>
                      <a:headEnd type="none" w="med" len="med"/>
                      <a:tailEnd type="none" w="med" len="med"/>
                    </a:lnR>
                    <a:lnT w="12700" cap="flat" cmpd="sng" algn="ctr">
                      <a:solidFill>
                        <a:srgbClr val="C2C0B9"/>
                      </a:solidFill>
                      <a:prstDash val="solid"/>
                      <a:round/>
                      <a:headEnd type="none" w="med" len="med"/>
                      <a:tailEnd type="none" w="med" len="med"/>
                    </a:lnT>
                    <a:lnB w="12700" cap="flat" cmpd="sng" algn="ctr">
                      <a:solidFill>
                        <a:srgbClr val="161D25"/>
                      </a:solidFill>
                      <a:prstDash val="solid"/>
                      <a:round/>
                      <a:headEnd type="none" w="med" len="med"/>
                      <a:tailEnd type="none" w="med" len="med"/>
                    </a:lnB>
                    <a:solidFill>
                      <a:srgbClr val="16202A"/>
                    </a:solidFill>
                  </a:tcPr>
                </a:tc>
                <a:extLst>
                  <a:ext uri="{0D108BD9-81ED-4DB2-BD59-A6C34878D82A}">
                    <a16:rowId xmlns:a16="http://schemas.microsoft.com/office/drawing/2014/main" val="10000"/>
                  </a:ext>
                </a:extLst>
              </a:tr>
              <a:tr h="565785">
                <a:tc>
                  <a:txBody>
                    <a:bodyPr/>
                    <a:lstStyle/>
                    <a:p>
                      <a:pPr marL="0" indent="0">
                        <a:lnSpc>
                          <a:spcPts val="1750"/>
                        </a:lnSpc>
                        <a:buNone/>
                      </a:pPr>
                      <a:r>
                        <a:rPr lang="en-US" sz="1250" dirty="0">
                          <a:solidFill>
                            <a:srgbClr val="16202A"/>
                          </a:solidFill>
                          <a:latin typeface="IBM Plex Sans" pitchFamily="34" charset="0"/>
                          <a:ea typeface="IBM Plex Sans" pitchFamily="34" charset="-122"/>
                          <a:cs typeface="IBM Plex Sans" pitchFamily="34" charset="-120"/>
                        </a:rPr>
                        <a:t>Zebra</a:t>
                      </a:r>
                      <a:endParaRPr lang="en-US" sz="1250" dirty="0">
                        <a:latin typeface="IBM Plex Sans" charset="0"/>
                        <a:ea typeface="IBM Plex Sans" charset="0"/>
                        <a:cs typeface="IBM Plex Sans" charset="0"/>
                      </a:endParaRPr>
                    </a:p>
                  </a:txBody>
                  <a:tcPr marL="55563" marR="55563" marT="55563" marB="55563">
                    <a:lnL w="12700" cap="flat" cmpd="sng" algn="ctr">
                      <a:solidFill>
                        <a:srgbClr val="C2C0B9"/>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161D25"/>
                      </a:solidFill>
                      <a:prstDash val="solid"/>
                      <a:round/>
                      <a:headEnd type="none" w="med" len="med"/>
                      <a:tailEnd type="none" w="med" len="med"/>
                    </a:lnT>
                    <a:lnB w="12700" cap="flat" cmpd="sng" algn="ctr">
                      <a:solidFill>
                        <a:srgbClr val="C8C7C4"/>
                      </a:solidFill>
                      <a:prstDash val="solid"/>
                      <a:round/>
                      <a:headEnd type="none" w="med" len="med"/>
                      <a:tailEnd type="none" w="med" len="med"/>
                    </a:lnB>
                    <a:solidFill>
                      <a:srgbClr val="FBFAF6"/>
                    </a:solidFill>
                  </a:tcPr>
                </a:tc>
                <a:tc>
                  <a:txBody>
                    <a:bodyPr/>
                    <a:lstStyle/>
                    <a:p>
                      <a:pPr marL="0" indent="0">
                        <a:lnSpc>
                          <a:spcPts val="1750"/>
                        </a:lnSpc>
                        <a:buNone/>
                      </a:pPr>
                      <a:r>
                        <a:rPr lang="en-US" sz="1250" dirty="0">
                          <a:solidFill>
                            <a:srgbClr val="16202A"/>
                          </a:solidFill>
                          <a:latin typeface="IBM Plex Sans" pitchFamily="34" charset="0"/>
                          <a:ea typeface="IBM Plex Sans" pitchFamily="34" charset="-122"/>
                          <a:cs typeface="IBM Plex Sans" pitchFamily="34" charset="-120"/>
                        </a:rPr>
                        <a:t>Fast, vigilant herd grazer</a:t>
                      </a:r>
                      <a:endParaRPr lang="en-US" sz="1250" dirty="0">
                        <a:latin typeface="IBM Plex Sans" charset="0"/>
                        <a:ea typeface="IBM Plex Sans" charset="0"/>
                        <a:cs typeface="IBM Plex Sans" charset="0"/>
                      </a:endParaRPr>
                    </a:p>
                  </a:txBody>
                  <a:tcPr marL="55563" marR="55563" marT="55563" marB="55563">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161D25"/>
                      </a:solidFill>
                      <a:prstDash val="solid"/>
                      <a:round/>
                      <a:headEnd type="none" w="med" len="med"/>
                      <a:tailEnd type="none" w="med" len="med"/>
                    </a:lnT>
                    <a:lnB w="12700" cap="flat" cmpd="sng" algn="ctr">
                      <a:solidFill>
                        <a:srgbClr val="C8C7C4"/>
                      </a:solidFill>
                      <a:prstDash val="solid"/>
                      <a:round/>
                      <a:headEnd type="none" w="med" len="med"/>
                      <a:tailEnd type="none" w="med" len="med"/>
                    </a:lnB>
                    <a:solidFill>
                      <a:srgbClr val="FBFAF6"/>
                    </a:solidFill>
                  </a:tcPr>
                </a:tc>
                <a:tc>
                  <a:txBody>
                    <a:bodyPr/>
                    <a:lstStyle/>
                    <a:p>
                      <a:pPr marL="0" indent="0">
                        <a:lnSpc>
                          <a:spcPts val="1750"/>
                        </a:lnSpc>
                        <a:buNone/>
                      </a:pPr>
                      <a:r>
                        <a:rPr lang="en-US" sz="1250" dirty="0">
                          <a:solidFill>
                            <a:srgbClr val="16202A"/>
                          </a:solidFill>
                          <a:latin typeface="IBM Plex Sans" pitchFamily="34" charset="0"/>
                          <a:ea typeface="IBM Plex Sans" pitchFamily="34" charset="-122"/>
                          <a:cs typeface="IBM Plex Sans" pitchFamily="34" charset="-120"/>
                        </a:rPr>
                        <a:t>Two movers, two eyes, a kick that wounds leopards</a:t>
                      </a:r>
                      <a:endParaRPr lang="en-US" sz="1250" dirty="0">
                        <a:latin typeface="IBM Plex Sans" charset="0"/>
                        <a:ea typeface="IBM Plex Sans" charset="0"/>
                        <a:cs typeface="IBM Plex Sans" charset="0"/>
                      </a:endParaRPr>
                    </a:p>
                  </a:txBody>
                  <a:tcPr marL="55563" marR="55563" marT="55563" marB="55563">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161D25"/>
                      </a:solidFill>
                      <a:prstDash val="solid"/>
                      <a:round/>
                      <a:headEnd type="none" w="med" len="med"/>
                      <a:tailEnd type="none" w="med" len="med"/>
                    </a:lnT>
                    <a:lnB w="12700" cap="flat" cmpd="sng" algn="ctr">
                      <a:solidFill>
                        <a:srgbClr val="C8C7C4"/>
                      </a:solidFill>
                      <a:prstDash val="solid"/>
                      <a:round/>
                      <a:headEnd type="none" w="med" len="med"/>
                      <a:tailEnd type="none" w="med" len="med"/>
                    </a:lnB>
                    <a:solidFill>
                      <a:srgbClr val="FBFAF6"/>
                    </a:solidFill>
                  </a:tcPr>
                </a:tc>
                <a:tc>
                  <a:txBody>
                    <a:bodyPr/>
                    <a:lstStyle/>
                    <a:p>
                      <a:pPr marL="0" indent="0">
                        <a:lnSpc>
                          <a:spcPts val="1750"/>
                        </a:lnSpc>
                        <a:buNone/>
                      </a:pPr>
                      <a:r>
                        <a:rPr lang="en-US" sz="1250" dirty="0">
                          <a:solidFill>
                            <a:srgbClr val="16202A"/>
                          </a:solidFill>
                          <a:latin typeface="IBM Plex Sans" pitchFamily="34" charset="0"/>
                          <a:ea typeface="IBM Plex Sans" pitchFamily="34" charset="-122"/>
                          <a:cs typeface="IBM Plex Sans" pitchFamily="34" charset="-120"/>
                        </a:rPr>
                        <a:t>One mouth, no armour, poor at eating bush food</a:t>
                      </a:r>
                      <a:endParaRPr lang="en-US" sz="1250" dirty="0">
                        <a:latin typeface="IBM Plex Sans" charset="0"/>
                        <a:ea typeface="IBM Plex Sans" charset="0"/>
                        <a:cs typeface="IBM Plex Sans" charset="0"/>
                      </a:endParaRPr>
                    </a:p>
                  </a:txBody>
                  <a:tcPr marL="55563" marR="55563" marT="55563" marB="55563">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161D25"/>
                      </a:solidFill>
                      <a:prstDash val="solid"/>
                      <a:round/>
                      <a:headEnd type="none" w="med" len="med"/>
                      <a:tailEnd type="none" w="med" len="med"/>
                    </a:lnT>
                    <a:lnB w="12700" cap="flat" cmpd="sng" algn="ctr">
                      <a:solidFill>
                        <a:srgbClr val="C8C7C4"/>
                      </a:solidFill>
                      <a:prstDash val="solid"/>
                      <a:round/>
                      <a:headEnd type="none" w="med" len="med"/>
                      <a:tailEnd type="none" w="med" len="med"/>
                    </a:lnB>
                    <a:solidFill>
                      <a:srgbClr val="FBFAF6"/>
                    </a:solidFill>
                  </a:tcPr>
                </a:tc>
                <a:extLst>
                  <a:ext uri="{0D108BD9-81ED-4DB2-BD59-A6C34878D82A}">
                    <a16:rowId xmlns:a16="http://schemas.microsoft.com/office/drawing/2014/main" val="10001"/>
                  </a:ext>
                </a:extLst>
              </a:tr>
              <a:tr h="565785">
                <a:tc>
                  <a:txBody>
                    <a:bodyPr/>
                    <a:lstStyle/>
                    <a:p>
                      <a:pPr marL="0" indent="0">
                        <a:lnSpc>
                          <a:spcPts val="1750"/>
                        </a:lnSpc>
                        <a:buNone/>
                      </a:pPr>
                      <a:r>
                        <a:rPr lang="en-US" sz="1250" dirty="0">
                          <a:solidFill>
                            <a:srgbClr val="16202A"/>
                          </a:solidFill>
                          <a:latin typeface="IBM Plex Sans" pitchFamily="34" charset="0"/>
                          <a:ea typeface="IBM Plex Sans" pitchFamily="34" charset="-122"/>
                          <a:cs typeface="IBM Plex Sans" pitchFamily="34" charset="-120"/>
                        </a:rPr>
                        <a:t>Rhino</a:t>
                      </a:r>
                      <a:endParaRPr lang="en-US" sz="1250" dirty="0">
                        <a:latin typeface="IBM Plex Sans" charset="0"/>
                        <a:ea typeface="IBM Plex Sans" charset="0"/>
                        <a:cs typeface="IBM Plex Sans" charset="0"/>
                      </a:endParaRPr>
                    </a:p>
                  </a:txBody>
                  <a:tcPr marL="55563" marR="55563" marT="55563" marB="55563">
                    <a:lnL w="12700" cap="flat" cmpd="sng" algn="ctr">
                      <a:solidFill>
                        <a:srgbClr val="C2C0B9"/>
                      </a:solidFill>
                      <a:prstDash val="solid"/>
                      <a:round/>
                      <a:headEnd type="none" w="med" len="med"/>
                      <a:tailEnd type="none" w="med" len="med"/>
                    </a:lnL>
                    <a:lnR w="12700" cap="flat" cmpd="sng" algn="ctr">
                      <a:solidFill>
                        <a:srgbClr val="C2C0B9"/>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C2C0B9"/>
                      </a:solidFill>
                      <a:prstDash val="solid"/>
                      <a:round/>
                      <a:headEnd type="none" w="med" len="med"/>
                      <a:tailEnd type="none" w="med" len="med"/>
                    </a:lnB>
                  </a:tcPr>
                </a:tc>
                <a:tc>
                  <a:txBody>
                    <a:bodyPr/>
                    <a:lstStyle/>
                    <a:p>
                      <a:pPr marL="0" indent="0">
                        <a:lnSpc>
                          <a:spcPts val="1750"/>
                        </a:lnSpc>
                        <a:buNone/>
                      </a:pPr>
                      <a:r>
                        <a:rPr lang="en-US" sz="1250" dirty="0">
                          <a:solidFill>
                            <a:srgbClr val="16202A"/>
                          </a:solidFill>
                          <a:latin typeface="IBM Plex Sans" pitchFamily="34" charset="0"/>
                          <a:ea typeface="IBM Plex Sans" pitchFamily="34" charset="-122"/>
                          <a:cs typeface="IBM Plex Sans" pitchFamily="34" charset="-120"/>
                        </a:rPr>
                        <a:t>Huge, armoured, slow breeder</a:t>
                      </a:r>
                      <a:endParaRPr lang="en-US" sz="1250" dirty="0">
                        <a:latin typeface="IBM Plex Sans" charset="0"/>
                        <a:ea typeface="IBM Plex Sans" charset="0"/>
                        <a:cs typeface="IBM Plex Sans" charset="0"/>
                      </a:endParaRPr>
                    </a:p>
                  </a:txBody>
                  <a:tcPr marL="55563" marR="55563" marT="55563" marB="55563">
                    <a:lnL w="12700" cap="flat" cmpd="sng" algn="ctr">
                      <a:solidFill>
                        <a:srgbClr val="C2C0B9"/>
                      </a:solidFill>
                      <a:prstDash val="solid"/>
                      <a:round/>
                      <a:headEnd type="none" w="med" len="med"/>
                      <a:tailEnd type="none" w="med" len="med"/>
                    </a:lnL>
                    <a:lnR w="12700" cap="flat" cmpd="sng" algn="ctr">
                      <a:solidFill>
                        <a:srgbClr val="C2C0B9"/>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C2C0B9"/>
                      </a:solidFill>
                      <a:prstDash val="solid"/>
                      <a:round/>
                      <a:headEnd type="none" w="med" len="med"/>
                      <a:tailEnd type="none" w="med" len="med"/>
                    </a:lnB>
                  </a:tcPr>
                </a:tc>
                <a:tc>
                  <a:txBody>
                    <a:bodyPr/>
                    <a:lstStyle/>
                    <a:p>
                      <a:pPr marL="0" indent="0">
                        <a:lnSpc>
                          <a:spcPts val="1750"/>
                        </a:lnSpc>
                        <a:buNone/>
                      </a:pPr>
                      <a:r>
                        <a:rPr lang="en-US" sz="1250" dirty="0">
                          <a:solidFill>
                            <a:srgbClr val="16202A"/>
                          </a:solidFill>
                          <a:latin typeface="IBM Plex Sans" pitchFamily="34" charset="0"/>
                          <a:ea typeface="IBM Plex Sans" pitchFamily="34" charset="-122"/>
                          <a:cs typeface="IBM Plex Sans" pitchFamily="34" charset="-120"/>
                        </a:rPr>
                        <a:t>Armour gives the most health; hard to kill</a:t>
                      </a:r>
                      <a:endParaRPr lang="en-US" sz="1250" dirty="0">
                        <a:latin typeface="IBM Plex Sans" charset="0"/>
                        <a:ea typeface="IBM Plex Sans" charset="0"/>
                        <a:cs typeface="IBM Plex Sans" charset="0"/>
                      </a:endParaRPr>
                    </a:p>
                  </a:txBody>
                  <a:tcPr marL="55563" marR="55563" marT="55563" marB="55563">
                    <a:lnL w="12700" cap="flat" cmpd="sng" algn="ctr">
                      <a:solidFill>
                        <a:srgbClr val="C2C0B9"/>
                      </a:solidFill>
                      <a:prstDash val="solid"/>
                      <a:round/>
                      <a:headEnd type="none" w="med" len="med"/>
                      <a:tailEnd type="none" w="med" len="med"/>
                    </a:lnL>
                    <a:lnR w="12700" cap="flat" cmpd="sng" algn="ctr">
                      <a:solidFill>
                        <a:srgbClr val="C2C0B9"/>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C2C0B9"/>
                      </a:solidFill>
                      <a:prstDash val="solid"/>
                      <a:round/>
                      <a:headEnd type="none" w="med" len="med"/>
                      <a:tailEnd type="none" w="med" len="med"/>
                    </a:lnB>
                  </a:tcPr>
                </a:tc>
                <a:tc>
                  <a:txBody>
                    <a:bodyPr/>
                    <a:lstStyle/>
                    <a:p>
                      <a:pPr marL="0" indent="0">
                        <a:lnSpc>
                          <a:spcPts val="1750"/>
                        </a:lnSpc>
                        <a:buNone/>
                      </a:pPr>
                      <a:r>
                        <a:rPr lang="en-US" sz="1250" dirty="0">
                          <a:solidFill>
                            <a:srgbClr val="16202A"/>
                          </a:solidFill>
                          <a:latin typeface="IBM Plex Sans" pitchFamily="34" charset="0"/>
                          <a:ea typeface="IBM Plex Sans" pitchFamily="34" charset="-122"/>
                          <a:cs typeface="IBM Plex Sans" pitchFamily="34" charset="-120"/>
                        </a:rPr>
                        <a:t>One mover; armour makes each calf expensive</a:t>
                      </a:r>
                      <a:endParaRPr lang="en-US" sz="1250" dirty="0">
                        <a:latin typeface="IBM Plex Sans" charset="0"/>
                        <a:ea typeface="IBM Plex Sans" charset="0"/>
                        <a:cs typeface="IBM Plex Sans" charset="0"/>
                      </a:endParaRPr>
                    </a:p>
                  </a:txBody>
                  <a:tcPr marL="55563" marR="55563" marT="55563" marB="55563">
                    <a:lnL w="12700" cap="flat" cmpd="sng" algn="ctr">
                      <a:solidFill>
                        <a:srgbClr val="C2C0B9"/>
                      </a:solidFill>
                      <a:prstDash val="solid"/>
                      <a:round/>
                      <a:headEnd type="none" w="med" len="med"/>
                      <a:tailEnd type="none" w="med" len="med"/>
                    </a:lnL>
                    <a:lnR w="12700" cap="flat" cmpd="sng" algn="ctr">
                      <a:solidFill>
                        <a:srgbClr val="C2C0B9"/>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C2C0B9"/>
                      </a:solidFill>
                      <a:prstDash val="solid"/>
                      <a:round/>
                      <a:headEnd type="none" w="med" len="med"/>
                      <a:tailEnd type="none" w="med" len="med"/>
                    </a:lnB>
                  </a:tcPr>
                </a:tc>
                <a:extLst>
                  <a:ext uri="{0D108BD9-81ED-4DB2-BD59-A6C34878D82A}">
                    <a16:rowId xmlns:a16="http://schemas.microsoft.com/office/drawing/2014/main" val="10002"/>
                  </a:ext>
                </a:extLst>
              </a:tr>
              <a:tr h="565785">
                <a:tc>
                  <a:txBody>
                    <a:bodyPr/>
                    <a:lstStyle/>
                    <a:p>
                      <a:pPr marL="0" indent="0">
                        <a:lnSpc>
                          <a:spcPts val="1750"/>
                        </a:lnSpc>
                        <a:buNone/>
                      </a:pPr>
                      <a:r>
                        <a:rPr lang="en-US" sz="1250" dirty="0">
                          <a:solidFill>
                            <a:srgbClr val="16202A"/>
                          </a:solidFill>
                          <a:latin typeface="IBM Plex Sans" pitchFamily="34" charset="0"/>
                          <a:ea typeface="IBM Plex Sans" pitchFamily="34" charset="-122"/>
                          <a:cs typeface="IBM Plex Sans" pitchFamily="34" charset="-120"/>
                        </a:rPr>
                        <a:t>Leopard</a:t>
                      </a:r>
                      <a:endParaRPr lang="en-US" sz="1250" dirty="0">
                        <a:latin typeface="IBM Plex Sans" charset="0"/>
                        <a:ea typeface="IBM Plex Sans" charset="0"/>
                        <a:cs typeface="IBM Plex Sans" charset="0"/>
                      </a:endParaRPr>
                    </a:p>
                  </a:txBody>
                  <a:tcPr marL="55563" marR="55563" marT="55563" marB="55563">
                    <a:lnL w="12700" cap="flat" cmpd="sng" algn="ctr">
                      <a:solidFill>
                        <a:srgbClr val="C2C0B9"/>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C2C0B9"/>
                      </a:solidFill>
                      <a:prstDash val="solid"/>
                      <a:round/>
                      <a:headEnd type="none" w="med" len="med"/>
                      <a:tailEnd type="none" w="med" len="med"/>
                    </a:lnT>
                    <a:lnB w="12700" cap="flat" cmpd="sng" algn="ctr">
                      <a:solidFill>
                        <a:srgbClr val="C8C7C4"/>
                      </a:solidFill>
                      <a:prstDash val="solid"/>
                      <a:round/>
                      <a:headEnd type="none" w="med" len="med"/>
                      <a:tailEnd type="none" w="med" len="med"/>
                    </a:lnB>
                    <a:solidFill>
                      <a:srgbClr val="FBFAF6"/>
                    </a:solidFill>
                  </a:tcPr>
                </a:tc>
                <a:tc>
                  <a:txBody>
                    <a:bodyPr/>
                    <a:lstStyle/>
                    <a:p>
                      <a:pPr marL="0" indent="0">
                        <a:lnSpc>
                          <a:spcPts val="1750"/>
                        </a:lnSpc>
                        <a:buNone/>
                      </a:pPr>
                      <a:r>
                        <a:rPr lang="en-US" sz="1250" dirty="0">
                          <a:solidFill>
                            <a:srgbClr val="16202A"/>
                          </a:solidFill>
                          <a:latin typeface="IBM Plex Sans" pitchFamily="34" charset="0"/>
                          <a:ea typeface="IBM Plex Sans" pitchFamily="34" charset="-122"/>
                          <a:cs typeface="IBM Plex Sans" pitchFamily="34" charset="-120"/>
                        </a:rPr>
                        <a:t>Stealthy ambush hunter</a:t>
                      </a:r>
                      <a:endParaRPr lang="en-US" sz="1250" dirty="0">
                        <a:latin typeface="IBM Plex Sans" charset="0"/>
                        <a:ea typeface="IBM Plex Sans" charset="0"/>
                        <a:cs typeface="IBM Plex Sans" charset="0"/>
                      </a:endParaRPr>
                    </a:p>
                  </a:txBody>
                  <a:tcPr marL="55563" marR="55563" marT="55563" marB="55563">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C2C0B9"/>
                      </a:solidFill>
                      <a:prstDash val="solid"/>
                      <a:round/>
                      <a:headEnd type="none" w="med" len="med"/>
                      <a:tailEnd type="none" w="med" len="med"/>
                    </a:lnT>
                    <a:lnB w="12700" cap="flat" cmpd="sng" algn="ctr">
                      <a:solidFill>
                        <a:srgbClr val="C8C7C4"/>
                      </a:solidFill>
                      <a:prstDash val="solid"/>
                      <a:round/>
                      <a:headEnd type="none" w="med" len="med"/>
                      <a:tailEnd type="none" w="med" len="med"/>
                    </a:lnB>
                    <a:solidFill>
                      <a:srgbClr val="FBFAF6"/>
                    </a:solidFill>
                  </a:tcPr>
                </a:tc>
                <a:tc>
                  <a:txBody>
                    <a:bodyPr/>
                    <a:lstStyle/>
                    <a:p>
                      <a:pPr marL="0" indent="0">
                        <a:lnSpc>
                          <a:spcPts val="1750"/>
                        </a:lnSpc>
                        <a:buNone/>
                      </a:pPr>
                      <a:r>
                        <a:rPr lang="en-US" sz="1250" dirty="0">
                          <a:solidFill>
                            <a:srgbClr val="16202A"/>
                          </a:solidFill>
                          <a:latin typeface="IBM Plex Sans" pitchFamily="34" charset="0"/>
                          <a:ea typeface="IBM Plex Sans" pitchFamily="34" charset="-122"/>
                          <a:cs typeface="IBM Plex Sans" pitchFamily="34" charset="-120"/>
                        </a:rPr>
                        <a:t>Jaws on both sides of the mouth; fast</a:t>
                      </a:r>
                      <a:endParaRPr lang="en-US" sz="1250" dirty="0">
                        <a:latin typeface="IBM Plex Sans" charset="0"/>
                        <a:ea typeface="IBM Plex Sans" charset="0"/>
                        <a:cs typeface="IBM Plex Sans" charset="0"/>
                      </a:endParaRPr>
                    </a:p>
                  </a:txBody>
                  <a:tcPr marL="55563" marR="55563" marT="55563" marB="55563">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C2C0B9"/>
                      </a:solidFill>
                      <a:prstDash val="solid"/>
                      <a:round/>
                      <a:headEnd type="none" w="med" len="med"/>
                      <a:tailEnd type="none" w="med" len="med"/>
                    </a:lnT>
                    <a:lnB w="12700" cap="flat" cmpd="sng" algn="ctr">
                      <a:solidFill>
                        <a:srgbClr val="C8C7C4"/>
                      </a:solidFill>
                      <a:prstDash val="solid"/>
                      <a:round/>
                      <a:headEnd type="none" w="med" len="med"/>
                      <a:tailEnd type="none" w="med" len="med"/>
                    </a:lnB>
                    <a:solidFill>
                      <a:srgbClr val="FBFAF6"/>
                    </a:solidFill>
                  </a:tcPr>
                </a:tc>
                <a:tc>
                  <a:txBody>
                    <a:bodyPr/>
                    <a:lstStyle/>
                    <a:p>
                      <a:pPr marL="0" indent="0">
                        <a:lnSpc>
                          <a:spcPts val="1750"/>
                        </a:lnSpc>
                        <a:buNone/>
                      </a:pPr>
                      <a:r>
                        <a:rPr lang="en-US" sz="1250" dirty="0">
                          <a:solidFill>
                            <a:srgbClr val="16202A"/>
                          </a:solidFill>
                          <a:latin typeface="IBM Plex Sans" pitchFamily="34" charset="0"/>
                          <a:ea typeface="IBM Plex Sans" pitchFamily="34" charset="-122"/>
                          <a:cs typeface="IBM Plex Sans" pitchFamily="34" charset="-120"/>
                        </a:rPr>
                        <a:t>No armour; kicked by zebras; depends on prey</a:t>
                      </a:r>
                      <a:endParaRPr lang="en-US" sz="1250" dirty="0">
                        <a:latin typeface="IBM Plex Sans" charset="0"/>
                        <a:ea typeface="IBM Plex Sans" charset="0"/>
                        <a:cs typeface="IBM Plex Sans" charset="0"/>
                      </a:endParaRPr>
                    </a:p>
                  </a:txBody>
                  <a:tcPr marL="55563" marR="55563" marT="55563" marB="55563">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C2C0B9"/>
                      </a:solidFill>
                      <a:prstDash val="solid"/>
                      <a:round/>
                      <a:headEnd type="none" w="med" len="med"/>
                      <a:tailEnd type="none" w="med" len="med"/>
                    </a:lnT>
                    <a:lnB w="12700" cap="flat" cmpd="sng" algn="ctr">
                      <a:solidFill>
                        <a:srgbClr val="C8C7C4"/>
                      </a:solidFill>
                      <a:prstDash val="solid"/>
                      <a:round/>
                      <a:headEnd type="none" w="med" len="med"/>
                      <a:tailEnd type="none" w="med" len="med"/>
                    </a:lnB>
                    <a:solidFill>
                      <a:srgbClr val="FBFAF6"/>
                    </a:solidFill>
                  </a:tcPr>
                </a:tc>
                <a:extLst>
                  <a:ext uri="{0D108BD9-81ED-4DB2-BD59-A6C34878D82A}">
                    <a16:rowId xmlns:a16="http://schemas.microsoft.com/office/drawing/2014/main" val="10003"/>
                  </a:ext>
                </a:extLst>
              </a:tr>
              <a:tr h="565785">
                <a:tc>
                  <a:txBody>
                    <a:bodyPr/>
                    <a:lstStyle/>
                    <a:p>
                      <a:pPr marL="0" indent="0">
                        <a:lnSpc>
                          <a:spcPts val="1750"/>
                        </a:lnSpc>
                        <a:buNone/>
                      </a:pPr>
                      <a:r>
                        <a:rPr lang="en-US" sz="1250" dirty="0">
                          <a:solidFill>
                            <a:srgbClr val="16202A"/>
                          </a:solidFill>
                          <a:latin typeface="IBM Plex Sans" pitchFamily="34" charset="0"/>
                          <a:ea typeface="IBM Plex Sans" pitchFamily="34" charset="-122"/>
                          <a:cs typeface="IBM Plex Sans" pitchFamily="34" charset="-120"/>
                        </a:rPr>
                        <a:t>Grass</a:t>
                      </a:r>
                      <a:endParaRPr lang="en-US" sz="1250" dirty="0">
                        <a:latin typeface="IBM Plex Sans" charset="0"/>
                        <a:ea typeface="IBM Plex Sans" charset="0"/>
                        <a:cs typeface="IBM Plex Sans" charset="0"/>
                      </a:endParaRPr>
                    </a:p>
                  </a:txBody>
                  <a:tcPr marL="55563" marR="55563" marT="55563" marB="55563">
                    <a:lnL w="12700" cap="flat" cmpd="sng" algn="ctr">
                      <a:solidFill>
                        <a:srgbClr val="C2C0B9"/>
                      </a:solidFill>
                      <a:prstDash val="solid"/>
                      <a:round/>
                      <a:headEnd type="none" w="med" len="med"/>
                      <a:tailEnd type="none" w="med" len="med"/>
                    </a:lnL>
                    <a:lnR w="12700" cap="flat" cmpd="sng" algn="ctr">
                      <a:solidFill>
                        <a:srgbClr val="C2C0B9"/>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C2C0B9"/>
                      </a:solidFill>
                      <a:prstDash val="solid"/>
                      <a:round/>
                      <a:headEnd type="none" w="med" len="med"/>
                      <a:tailEnd type="none" w="med" len="med"/>
                    </a:lnB>
                  </a:tcPr>
                </a:tc>
                <a:tc>
                  <a:txBody>
                    <a:bodyPr/>
                    <a:lstStyle/>
                    <a:p>
                      <a:pPr marL="0" indent="0">
                        <a:lnSpc>
                          <a:spcPts val="1750"/>
                        </a:lnSpc>
                        <a:buNone/>
                      </a:pPr>
                      <a:r>
                        <a:rPr lang="en-US" sz="1250" dirty="0">
                          <a:solidFill>
                            <a:srgbClr val="16202A"/>
                          </a:solidFill>
                          <a:latin typeface="IBM Plex Sans" pitchFamily="34" charset="0"/>
                          <a:ea typeface="IBM Plex Sans" pitchFamily="34" charset="-122"/>
                          <a:cs typeface="IBM Plex Sans" pitchFamily="34" charset="-120"/>
                        </a:rPr>
                        <a:t>Fast-spreading, shallow-rooted</a:t>
                      </a:r>
                      <a:endParaRPr lang="en-US" sz="1250" dirty="0">
                        <a:latin typeface="IBM Plex Sans" charset="0"/>
                        <a:ea typeface="IBM Plex Sans" charset="0"/>
                        <a:cs typeface="IBM Plex Sans" charset="0"/>
                      </a:endParaRPr>
                    </a:p>
                  </a:txBody>
                  <a:tcPr marL="55563" marR="55563" marT="55563" marB="55563">
                    <a:lnL w="12700" cap="flat" cmpd="sng" algn="ctr">
                      <a:solidFill>
                        <a:srgbClr val="C2C0B9"/>
                      </a:solidFill>
                      <a:prstDash val="solid"/>
                      <a:round/>
                      <a:headEnd type="none" w="med" len="med"/>
                      <a:tailEnd type="none" w="med" len="med"/>
                    </a:lnL>
                    <a:lnR w="12700" cap="flat" cmpd="sng" algn="ctr">
                      <a:solidFill>
                        <a:srgbClr val="C2C0B9"/>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C2C0B9"/>
                      </a:solidFill>
                      <a:prstDash val="solid"/>
                      <a:round/>
                      <a:headEnd type="none" w="med" len="med"/>
                      <a:tailEnd type="none" w="med" len="med"/>
                    </a:lnB>
                  </a:tcPr>
                </a:tc>
                <a:tc>
                  <a:txBody>
                    <a:bodyPr/>
                    <a:lstStyle/>
                    <a:p>
                      <a:pPr marL="0" indent="0">
                        <a:lnSpc>
                          <a:spcPts val="1750"/>
                        </a:lnSpc>
                        <a:buNone/>
                      </a:pPr>
                      <a:r>
                        <a:rPr lang="en-US" sz="1250" dirty="0">
                          <a:solidFill>
                            <a:srgbClr val="16202A"/>
                          </a:solidFill>
                          <a:latin typeface="IBM Plex Sans" pitchFamily="34" charset="0"/>
                          <a:ea typeface="IBM Plex Sans" pitchFamily="34" charset="-122"/>
                          <a:cs typeface="IBM Plex Sans" pitchFamily="34" charset="-120"/>
                        </a:rPr>
                        <a:t>Small, so it reproduces fastest; full-value food</a:t>
                      </a:r>
                      <a:endParaRPr lang="en-US" sz="1250" dirty="0">
                        <a:latin typeface="IBM Plex Sans" charset="0"/>
                        <a:ea typeface="IBM Plex Sans" charset="0"/>
                        <a:cs typeface="IBM Plex Sans" charset="0"/>
                      </a:endParaRPr>
                    </a:p>
                  </a:txBody>
                  <a:tcPr marL="55563" marR="55563" marT="55563" marB="55563">
                    <a:lnL w="12700" cap="flat" cmpd="sng" algn="ctr">
                      <a:solidFill>
                        <a:srgbClr val="C2C0B9"/>
                      </a:solidFill>
                      <a:prstDash val="solid"/>
                      <a:round/>
                      <a:headEnd type="none" w="med" len="med"/>
                      <a:tailEnd type="none" w="med" len="med"/>
                    </a:lnL>
                    <a:lnR w="12700" cap="flat" cmpd="sng" algn="ctr">
                      <a:solidFill>
                        <a:srgbClr val="C2C0B9"/>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C2C0B9"/>
                      </a:solidFill>
                      <a:prstDash val="solid"/>
                      <a:round/>
                      <a:headEnd type="none" w="med" len="med"/>
                      <a:tailEnd type="none" w="med" len="med"/>
                    </a:lnB>
                  </a:tcPr>
                </a:tc>
                <a:tc>
                  <a:txBody>
                    <a:bodyPr/>
                    <a:lstStyle/>
                    <a:p>
                      <a:pPr marL="0" indent="0">
                        <a:lnSpc>
                          <a:spcPts val="1750"/>
                        </a:lnSpc>
                        <a:buNone/>
                      </a:pPr>
                      <a:r>
                        <a:rPr lang="en-US" sz="1250" dirty="0">
                          <a:solidFill>
                            <a:srgbClr val="16202A"/>
                          </a:solidFill>
                          <a:latin typeface="IBM Plex Sans" pitchFamily="34" charset="0"/>
                          <a:ea typeface="IBM Plex Sans" pitchFamily="34" charset="-122"/>
                          <a:cs typeface="IBM Plex Sans" pitchFamily="34" charset="-120"/>
                        </a:rPr>
                        <a:t>Thirsty; easily grazed</a:t>
                      </a:r>
                      <a:endParaRPr lang="en-US" sz="1250" dirty="0">
                        <a:latin typeface="IBM Plex Sans" charset="0"/>
                        <a:ea typeface="IBM Plex Sans" charset="0"/>
                        <a:cs typeface="IBM Plex Sans" charset="0"/>
                      </a:endParaRPr>
                    </a:p>
                  </a:txBody>
                  <a:tcPr marL="55563" marR="55563" marT="55563" marB="55563">
                    <a:lnL w="12700" cap="flat" cmpd="sng" algn="ctr">
                      <a:solidFill>
                        <a:srgbClr val="C2C0B9"/>
                      </a:solidFill>
                      <a:prstDash val="solid"/>
                      <a:round/>
                      <a:headEnd type="none" w="med" len="med"/>
                      <a:tailEnd type="none" w="med" len="med"/>
                    </a:lnL>
                    <a:lnR w="12700" cap="flat" cmpd="sng" algn="ctr">
                      <a:solidFill>
                        <a:srgbClr val="C2C0B9"/>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C2C0B9"/>
                      </a:solidFill>
                      <a:prstDash val="solid"/>
                      <a:round/>
                      <a:headEnd type="none" w="med" len="med"/>
                      <a:tailEnd type="none" w="med" len="med"/>
                    </a:lnB>
                  </a:tcPr>
                </a:tc>
                <a:extLst>
                  <a:ext uri="{0D108BD9-81ED-4DB2-BD59-A6C34878D82A}">
                    <a16:rowId xmlns:a16="http://schemas.microsoft.com/office/drawing/2014/main" val="10004"/>
                  </a:ext>
                </a:extLst>
              </a:tr>
              <a:tr h="343535">
                <a:tc>
                  <a:txBody>
                    <a:bodyPr/>
                    <a:lstStyle/>
                    <a:p>
                      <a:pPr marL="0" indent="0">
                        <a:lnSpc>
                          <a:spcPts val="1750"/>
                        </a:lnSpc>
                        <a:buNone/>
                      </a:pPr>
                      <a:r>
                        <a:rPr lang="en-US" sz="1250" dirty="0">
                          <a:solidFill>
                            <a:srgbClr val="16202A"/>
                          </a:solidFill>
                          <a:latin typeface="IBM Plex Sans" pitchFamily="34" charset="0"/>
                          <a:ea typeface="IBM Plex Sans" pitchFamily="34" charset="-122"/>
                          <a:cs typeface="IBM Plex Sans" pitchFamily="34" charset="-120"/>
                        </a:rPr>
                        <a:t>Bush</a:t>
                      </a:r>
                      <a:endParaRPr lang="en-US" sz="1250" dirty="0">
                        <a:latin typeface="IBM Plex Sans" charset="0"/>
                        <a:ea typeface="IBM Plex Sans" charset="0"/>
                        <a:cs typeface="IBM Plex Sans" charset="0"/>
                      </a:endParaRPr>
                    </a:p>
                  </a:txBody>
                  <a:tcPr marL="55563" marR="55563" marT="55563" marB="55563">
                    <a:lnL w="12700" cap="flat" cmpd="sng" algn="ctr">
                      <a:solidFill>
                        <a:srgbClr val="C2C0B9"/>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C2C0B9"/>
                      </a:solidFill>
                      <a:prstDash val="solid"/>
                      <a:round/>
                      <a:headEnd type="none" w="med" len="med"/>
                      <a:tailEnd type="none" w="med" len="med"/>
                    </a:lnT>
                    <a:lnB w="12700" cap="flat" cmpd="sng" algn="ctr">
                      <a:solidFill>
                        <a:srgbClr val="C8C7C4"/>
                      </a:solidFill>
                      <a:prstDash val="solid"/>
                      <a:round/>
                      <a:headEnd type="none" w="med" len="med"/>
                      <a:tailEnd type="none" w="med" len="med"/>
                    </a:lnB>
                    <a:solidFill>
                      <a:srgbClr val="FBFAF6"/>
                    </a:solidFill>
                  </a:tcPr>
                </a:tc>
                <a:tc>
                  <a:txBody>
                    <a:bodyPr/>
                    <a:lstStyle/>
                    <a:p>
                      <a:pPr marL="0" indent="0">
                        <a:lnSpc>
                          <a:spcPts val="1750"/>
                        </a:lnSpc>
                        <a:buNone/>
                      </a:pPr>
                      <a:r>
                        <a:rPr lang="en-US" sz="1250" dirty="0">
                          <a:solidFill>
                            <a:srgbClr val="16202A"/>
                          </a:solidFill>
                          <a:latin typeface="IBM Plex Sans" pitchFamily="34" charset="0"/>
                          <a:ea typeface="IBM Plex Sans" pitchFamily="34" charset="-122"/>
                          <a:cs typeface="IBM Plex Sans" pitchFamily="34" charset="-120"/>
                        </a:rPr>
                        <a:t>Woody, thorny, deep-rooted</a:t>
                      </a:r>
                      <a:endParaRPr lang="en-US" sz="1250" dirty="0">
                        <a:latin typeface="IBM Plex Sans" charset="0"/>
                        <a:ea typeface="IBM Plex Sans" charset="0"/>
                        <a:cs typeface="IBM Plex Sans" charset="0"/>
                      </a:endParaRPr>
                    </a:p>
                  </a:txBody>
                  <a:tcPr marL="55563" marR="55563" marT="55563" marB="55563">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C2C0B9"/>
                      </a:solidFill>
                      <a:prstDash val="solid"/>
                      <a:round/>
                      <a:headEnd type="none" w="med" len="med"/>
                      <a:tailEnd type="none" w="med" len="med"/>
                    </a:lnT>
                    <a:lnB w="12700" cap="flat" cmpd="sng" algn="ctr">
                      <a:solidFill>
                        <a:srgbClr val="C8C7C4"/>
                      </a:solidFill>
                      <a:prstDash val="solid"/>
                      <a:round/>
                      <a:headEnd type="none" w="med" len="med"/>
                      <a:tailEnd type="none" w="med" len="med"/>
                    </a:lnB>
                    <a:solidFill>
                      <a:srgbClr val="FBFAF6"/>
                    </a:solidFill>
                  </a:tcPr>
                </a:tc>
                <a:tc>
                  <a:txBody>
                    <a:bodyPr/>
                    <a:lstStyle/>
                    <a:p>
                      <a:pPr marL="0" indent="0">
                        <a:lnSpc>
                          <a:spcPts val="1750"/>
                        </a:lnSpc>
                        <a:buNone/>
                      </a:pPr>
                      <a:r>
                        <a:rPr lang="en-US" sz="1250" dirty="0">
                          <a:solidFill>
                            <a:srgbClr val="16202A"/>
                          </a:solidFill>
                          <a:latin typeface="IBM Plex Sans" pitchFamily="34" charset="0"/>
                          <a:ea typeface="IBM Plex Sans" pitchFamily="34" charset="-122"/>
                          <a:cs typeface="IBM Plex Sans" pitchFamily="34" charset="-120"/>
                        </a:rPr>
                        <a:t>Larger food patch; later needs half the water</a:t>
                      </a:r>
                      <a:endParaRPr lang="en-US" sz="1250" dirty="0">
                        <a:latin typeface="IBM Plex Sans" charset="0"/>
                        <a:ea typeface="IBM Plex Sans" charset="0"/>
                        <a:cs typeface="IBM Plex Sans" charset="0"/>
                      </a:endParaRPr>
                    </a:p>
                  </a:txBody>
                  <a:tcPr marL="55563" marR="55563" marT="55563" marB="55563">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C2C0B9"/>
                      </a:solidFill>
                      <a:prstDash val="solid"/>
                      <a:round/>
                      <a:headEnd type="none" w="med" len="med"/>
                      <a:tailEnd type="none" w="med" len="med"/>
                    </a:lnT>
                    <a:lnB w="12700" cap="flat" cmpd="sng" algn="ctr">
                      <a:solidFill>
                        <a:srgbClr val="C8C7C4"/>
                      </a:solidFill>
                      <a:prstDash val="solid"/>
                      <a:round/>
                      <a:headEnd type="none" w="med" len="med"/>
                      <a:tailEnd type="none" w="med" len="med"/>
                    </a:lnB>
                    <a:solidFill>
                      <a:srgbClr val="FBFAF6"/>
                    </a:solidFill>
                  </a:tcPr>
                </a:tc>
                <a:tc>
                  <a:txBody>
                    <a:bodyPr/>
                    <a:lstStyle/>
                    <a:p>
                      <a:pPr marL="0" indent="0">
                        <a:lnSpc>
                          <a:spcPts val="1750"/>
                        </a:lnSpc>
                        <a:buNone/>
                      </a:pPr>
                      <a:r>
                        <a:rPr lang="en-US" sz="1250" dirty="0">
                          <a:solidFill>
                            <a:srgbClr val="16202A"/>
                          </a:solidFill>
                          <a:latin typeface="IBM Plex Sans" pitchFamily="34" charset="0"/>
                          <a:ea typeface="IBM Plex Sans" pitchFamily="34" charset="-122"/>
                          <a:cs typeface="IBM Plex Sans" pitchFamily="34" charset="-120"/>
                        </a:rPr>
                        <a:t>Its food feeds grazers poorly</a:t>
                      </a:r>
                      <a:endParaRPr lang="en-US" sz="1250" dirty="0">
                        <a:latin typeface="IBM Plex Sans" charset="0"/>
                        <a:ea typeface="IBM Plex Sans" charset="0"/>
                        <a:cs typeface="IBM Plex Sans" charset="0"/>
                      </a:endParaRPr>
                    </a:p>
                  </a:txBody>
                  <a:tcPr marL="55563" marR="55563" marT="55563" marB="55563">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C2C0B9"/>
                      </a:solidFill>
                      <a:prstDash val="solid"/>
                      <a:round/>
                      <a:headEnd type="none" w="med" len="med"/>
                      <a:tailEnd type="none" w="med" len="med"/>
                    </a:lnT>
                    <a:lnB w="12700" cap="flat" cmpd="sng" algn="ctr">
                      <a:solidFill>
                        <a:srgbClr val="C8C7C4"/>
                      </a:solidFill>
                      <a:prstDash val="solid"/>
                      <a:round/>
                      <a:headEnd type="none" w="med" len="med"/>
                      <a:tailEnd type="none" w="med" len="med"/>
                    </a:lnB>
                    <a:solidFill>
                      <a:srgbClr val="FBFAF6"/>
                    </a:solidFill>
                  </a:tcPr>
                </a:tc>
                <a:extLst>
                  <a:ext uri="{0D108BD9-81ED-4DB2-BD59-A6C34878D82A}">
                    <a16:rowId xmlns:a16="http://schemas.microsoft.com/office/drawing/2014/main" val="10005"/>
                  </a:ext>
                </a:extLst>
              </a:tr>
            </a:tbl>
          </a:graphicData>
        </a:graphic>
      </p:graphicFrame>
      <p:sp>
        <p:nvSpPr>
          <p:cNvPr id="5" name="Text 2"/>
          <p:cNvSpPr/>
          <p:nvPr/>
        </p:nvSpPr>
        <p:spPr>
          <a:xfrm>
            <a:off x="812800" y="4956811"/>
            <a:ext cx="10883392"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3"/>
                </a:solidFill>
                <a:latin typeface="IBM Plex Sans" pitchFamily="34" charset="0"/>
                <a:ea typeface="IBM Plex Sans" pitchFamily="34" charset="-122"/>
                <a:cs typeface="IBM Plex Sans" pitchFamily="34" charset="-120"/>
              </a:rPr>
              <a:t>Three animals with different diets and defences; two plants that differ in size, water use and food value. The body plans differ by far more than 3 cells.</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3F0E8"/>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540"/>
          </a:xfrm>
          <a:prstGeom prst="rect">
            <a:avLst/>
          </a:prstGeom>
          <a:noFill/>
          <a:ln/>
        </p:spPr>
        <p:txBody>
          <a:bodyPr wrap="square" lIns="0" tIns="0" rIns="0" bIns="0" rtlCol="0" anchor="t">
            <a:normAutofit/>
          </a:bodyPr>
          <a:lstStyle/>
          <a:p>
            <a:pPr marL="0" indent="0" algn="l">
              <a:lnSpc>
                <a:spcPts val="1820"/>
              </a:lnSpc>
              <a:buNone/>
            </a:pPr>
            <a:r>
              <a:rPr lang="en-US" sz="1300" b="1" kern="0" spc="150" dirty="0">
                <a:solidFill>
                  <a:srgbClr val="8A5A0B"/>
                </a:solidFill>
                <a:latin typeface="IBM Plex Sans" pitchFamily="34" charset="0"/>
                <a:ea typeface="IBM Plex Sans" pitchFamily="34" charset="-122"/>
                <a:cs typeface="IBM Plex Sans" pitchFamily="34" charset="-120"/>
              </a:rPr>
              <a:t>BEFORE · JUST LETTING THEM RUN</a:t>
            </a:r>
            <a:endParaRPr lang="en-US" sz="1300" dirty="0"/>
          </a:p>
        </p:txBody>
      </p:sp>
      <p:sp>
        <p:nvSpPr>
          <p:cNvPr id="3" name="Text 1"/>
          <p:cNvSpPr>
            <a:spLocks noGrp="1"/>
          </p:cNvSpPr>
          <p:nvPr>
            <p:ph type="title"/>
          </p:nvPr>
        </p:nvSpPr>
        <p:spPr>
          <a:xfrm>
            <a:off x="812800" y="1120139"/>
            <a:ext cx="11379200"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6202A"/>
                </a:solidFill>
                <a:latin typeface="Space Grotesk" pitchFamily="34" charset="0"/>
                <a:ea typeface="Space Grotesk" pitchFamily="34" charset="-122"/>
                <a:cs typeface="Space Grotesk" pitchFamily="34" charset="-120"/>
              </a:rPr>
              <a:t>Predators and rhinos crashed; zebras mutated, then died</a:t>
            </a:r>
            <a:endParaRPr lang="en-US" sz="3000" dirty="0"/>
          </a:p>
        </p:txBody>
      </p:sp>
      <p:sp>
        <p:nvSpPr>
          <p:cNvPr id="4" name="Shape 2"/>
          <p:cNvSpPr/>
          <p:nvPr/>
        </p:nvSpPr>
        <p:spPr>
          <a:xfrm>
            <a:off x="815975" y="1833246"/>
            <a:ext cx="171450" cy="31750"/>
          </a:xfrm>
          <a:prstGeom prst="rect">
            <a:avLst/>
          </a:prstGeom>
          <a:solidFill>
            <a:srgbClr val="F2F2F2"/>
          </a:solidFill>
          <a:ln w="6350">
            <a:solidFill>
              <a:srgbClr val="6A7380"/>
            </a:solidFill>
            <a:prstDash val="solid"/>
          </a:ln>
        </p:spPr>
        <p:txBody>
          <a:bodyPr/>
          <a:lstStyle/>
          <a:p>
            <a:endParaRPr lang="en-ZA"/>
          </a:p>
        </p:txBody>
      </p:sp>
      <p:sp>
        <p:nvSpPr>
          <p:cNvPr id="5" name="Text 3"/>
          <p:cNvSpPr/>
          <p:nvPr/>
        </p:nvSpPr>
        <p:spPr>
          <a:xfrm>
            <a:off x="1054100" y="1742439"/>
            <a:ext cx="564737"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3"/>
                </a:solidFill>
                <a:latin typeface="IBM Plex Sans" pitchFamily="34" charset="0"/>
                <a:ea typeface="IBM Plex Sans" pitchFamily="34" charset="-122"/>
                <a:cs typeface="IBM Plex Sans" pitchFamily="34" charset="-120"/>
              </a:rPr>
              <a:t>Zebras</a:t>
            </a:r>
            <a:endParaRPr lang="en-US" sz="1200" dirty="0"/>
          </a:p>
        </p:txBody>
      </p:sp>
      <p:sp>
        <p:nvSpPr>
          <p:cNvPr id="6" name="Shape 4"/>
          <p:cNvSpPr/>
          <p:nvPr/>
        </p:nvSpPr>
        <p:spPr>
          <a:xfrm>
            <a:off x="1727914" y="1830071"/>
            <a:ext cx="177800" cy="38100"/>
          </a:xfrm>
          <a:prstGeom prst="rect">
            <a:avLst/>
          </a:prstGeom>
          <a:solidFill>
            <a:srgbClr val="DEB14D"/>
          </a:solidFill>
          <a:ln/>
        </p:spPr>
        <p:txBody>
          <a:bodyPr/>
          <a:lstStyle/>
          <a:p>
            <a:endParaRPr lang="en-ZA"/>
          </a:p>
        </p:txBody>
      </p:sp>
      <p:sp>
        <p:nvSpPr>
          <p:cNvPr id="7" name="Text 5"/>
          <p:cNvSpPr/>
          <p:nvPr/>
        </p:nvSpPr>
        <p:spPr>
          <a:xfrm>
            <a:off x="1969214" y="1742439"/>
            <a:ext cx="56207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3"/>
                </a:solidFill>
                <a:latin typeface="IBM Plex Sans" pitchFamily="34" charset="0"/>
                <a:ea typeface="IBM Plex Sans" pitchFamily="34" charset="-122"/>
                <a:cs typeface="IBM Plex Sans" pitchFamily="34" charset="-120"/>
              </a:rPr>
              <a:t>Rhinos</a:t>
            </a:r>
            <a:endParaRPr lang="en-US" sz="1200" dirty="0"/>
          </a:p>
        </p:txBody>
      </p:sp>
      <p:sp>
        <p:nvSpPr>
          <p:cNvPr id="8" name="Shape 6"/>
          <p:cNvSpPr/>
          <p:nvPr/>
        </p:nvSpPr>
        <p:spPr>
          <a:xfrm>
            <a:off x="2640806" y="1830071"/>
            <a:ext cx="177800" cy="38100"/>
          </a:xfrm>
          <a:prstGeom prst="rect">
            <a:avLst/>
          </a:prstGeom>
          <a:solidFill>
            <a:srgbClr val="F82380"/>
          </a:solidFill>
          <a:ln/>
        </p:spPr>
        <p:txBody>
          <a:bodyPr/>
          <a:lstStyle/>
          <a:p>
            <a:endParaRPr lang="en-ZA"/>
          </a:p>
        </p:txBody>
      </p:sp>
      <p:sp>
        <p:nvSpPr>
          <p:cNvPr id="9" name="Text 7"/>
          <p:cNvSpPr/>
          <p:nvPr/>
        </p:nvSpPr>
        <p:spPr>
          <a:xfrm>
            <a:off x="2882106" y="1742439"/>
            <a:ext cx="757523"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3"/>
                </a:solidFill>
                <a:latin typeface="IBM Plex Sans" pitchFamily="34" charset="0"/>
                <a:ea typeface="IBM Plex Sans" pitchFamily="34" charset="-122"/>
                <a:cs typeface="IBM Plex Sans" pitchFamily="34" charset="-120"/>
              </a:rPr>
              <a:t>Leopards</a:t>
            </a:r>
            <a:endParaRPr lang="en-US" sz="1200" dirty="0"/>
          </a:p>
        </p:txBody>
      </p:sp>
      <p:sp>
        <p:nvSpPr>
          <p:cNvPr id="10" name="Shape 8"/>
          <p:cNvSpPr/>
          <p:nvPr/>
        </p:nvSpPr>
        <p:spPr>
          <a:xfrm>
            <a:off x="3716576" y="1830071"/>
            <a:ext cx="177800" cy="38100"/>
          </a:xfrm>
          <a:prstGeom prst="rect">
            <a:avLst/>
          </a:prstGeom>
          <a:solidFill>
            <a:srgbClr val="60D4FF"/>
          </a:solidFill>
          <a:ln/>
        </p:spPr>
        <p:txBody>
          <a:bodyPr/>
          <a:lstStyle/>
          <a:p>
            <a:endParaRPr lang="en-ZA"/>
          </a:p>
        </p:txBody>
      </p:sp>
      <p:sp>
        <p:nvSpPr>
          <p:cNvPr id="11" name="Text 9"/>
          <p:cNvSpPr/>
          <p:nvPr/>
        </p:nvSpPr>
        <p:spPr>
          <a:xfrm>
            <a:off x="3957876" y="1742439"/>
            <a:ext cx="2336864"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3"/>
                </a:solidFill>
                <a:latin typeface="IBM Plex Sans" pitchFamily="34" charset="0"/>
                <a:ea typeface="IBM Plex Sans" pitchFamily="34" charset="-122"/>
                <a:cs typeface="IBM Plex Sans" pitchFamily="34" charset="-120"/>
              </a:rPr>
              <a:t>Mouths per zebra (right axis)</a:t>
            </a:r>
            <a:endParaRPr lang="en-US" sz="1200" dirty="0"/>
          </a:p>
        </p:txBody>
      </p:sp>
      <p:sp>
        <p:nvSpPr>
          <p:cNvPr id="12" name="Text 10"/>
          <p:cNvSpPr/>
          <p:nvPr/>
        </p:nvSpPr>
        <p:spPr>
          <a:xfrm>
            <a:off x="762000" y="1981200"/>
            <a:ext cx="508000" cy="177800"/>
          </a:xfrm>
          <a:prstGeom prst="rect">
            <a:avLst/>
          </a:prstGeom>
          <a:noFill/>
          <a:ln/>
        </p:spPr>
        <p:txBody>
          <a:bodyPr wrap="square" lIns="0" tIns="0" rIns="0" bIns="0" rtlCol="0" anchor="t">
            <a:normAutofit/>
          </a:bodyPr>
          <a:lstStyle/>
          <a:p>
            <a:pPr marL="0" indent="0" algn="r">
              <a:lnSpc>
                <a:spcPts val="1200"/>
              </a:lnSpc>
              <a:buNone/>
            </a:pPr>
            <a:r>
              <a:rPr lang="en-US" sz="1200" dirty="0">
                <a:solidFill>
                  <a:srgbClr val="5C6672"/>
                </a:solidFill>
                <a:latin typeface="IBM Plex Sans" pitchFamily="34" charset="0"/>
                <a:ea typeface="IBM Plex Sans" pitchFamily="34" charset="-122"/>
                <a:cs typeface="IBM Plex Sans" pitchFamily="34" charset="-120"/>
              </a:rPr>
              <a:t>300</a:t>
            </a:r>
            <a:endParaRPr lang="en-US" sz="1200" dirty="0"/>
          </a:p>
        </p:txBody>
      </p:sp>
      <p:sp>
        <p:nvSpPr>
          <p:cNvPr id="13" name="Text 11"/>
          <p:cNvSpPr/>
          <p:nvPr/>
        </p:nvSpPr>
        <p:spPr>
          <a:xfrm>
            <a:off x="762000" y="2997200"/>
            <a:ext cx="508000" cy="177800"/>
          </a:xfrm>
          <a:prstGeom prst="rect">
            <a:avLst/>
          </a:prstGeom>
          <a:noFill/>
          <a:ln/>
        </p:spPr>
        <p:txBody>
          <a:bodyPr wrap="square" lIns="0" tIns="0" rIns="0" bIns="0" rtlCol="0" anchor="t">
            <a:normAutofit/>
          </a:bodyPr>
          <a:lstStyle/>
          <a:p>
            <a:pPr marL="0" indent="0" algn="r">
              <a:lnSpc>
                <a:spcPts val="1200"/>
              </a:lnSpc>
              <a:buNone/>
            </a:pPr>
            <a:r>
              <a:rPr lang="en-US" sz="1200" dirty="0">
                <a:solidFill>
                  <a:srgbClr val="5C6672"/>
                </a:solidFill>
                <a:latin typeface="IBM Plex Sans" pitchFamily="34" charset="0"/>
                <a:ea typeface="IBM Plex Sans" pitchFamily="34" charset="-122"/>
                <a:cs typeface="IBM Plex Sans" pitchFamily="34" charset="-120"/>
              </a:rPr>
              <a:t>200</a:t>
            </a:r>
            <a:endParaRPr lang="en-US" sz="1200" dirty="0"/>
          </a:p>
        </p:txBody>
      </p:sp>
      <p:sp>
        <p:nvSpPr>
          <p:cNvPr id="14" name="Text 12"/>
          <p:cNvSpPr/>
          <p:nvPr/>
        </p:nvSpPr>
        <p:spPr>
          <a:xfrm>
            <a:off x="762000" y="4013200"/>
            <a:ext cx="508000" cy="177800"/>
          </a:xfrm>
          <a:prstGeom prst="rect">
            <a:avLst/>
          </a:prstGeom>
          <a:noFill/>
          <a:ln/>
        </p:spPr>
        <p:txBody>
          <a:bodyPr wrap="square" lIns="0" tIns="0" rIns="0" bIns="0" rtlCol="0" anchor="t">
            <a:normAutofit/>
          </a:bodyPr>
          <a:lstStyle/>
          <a:p>
            <a:pPr marL="0" indent="0" algn="r">
              <a:lnSpc>
                <a:spcPts val="1200"/>
              </a:lnSpc>
              <a:buNone/>
            </a:pPr>
            <a:r>
              <a:rPr lang="en-US" sz="1200" dirty="0">
                <a:solidFill>
                  <a:srgbClr val="5C6672"/>
                </a:solidFill>
                <a:latin typeface="IBM Plex Sans" pitchFamily="34" charset="0"/>
                <a:ea typeface="IBM Plex Sans" pitchFamily="34" charset="-122"/>
                <a:cs typeface="IBM Plex Sans" pitchFamily="34" charset="-120"/>
              </a:rPr>
              <a:t>100</a:t>
            </a:r>
            <a:endParaRPr lang="en-US" sz="1200" dirty="0"/>
          </a:p>
        </p:txBody>
      </p:sp>
      <p:sp>
        <p:nvSpPr>
          <p:cNvPr id="15" name="Text 13"/>
          <p:cNvSpPr/>
          <p:nvPr/>
        </p:nvSpPr>
        <p:spPr>
          <a:xfrm>
            <a:off x="762000" y="5029200"/>
            <a:ext cx="508000" cy="177800"/>
          </a:xfrm>
          <a:prstGeom prst="rect">
            <a:avLst/>
          </a:prstGeom>
          <a:noFill/>
          <a:ln/>
        </p:spPr>
        <p:txBody>
          <a:bodyPr wrap="square" lIns="0" tIns="0" rIns="0" bIns="0" rtlCol="0" anchor="t">
            <a:normAutofit/>
          </a:bodyPr>
          <a:lstStyle/>
          <a:p>
            <a:pPr marL="0" indent="0" algn="r">
              <a:lnSpc>
                <a:spcPts val="1200"/>
              </a:lnSpc>
              <a:buNone/>
            </a:pPr>
            <a:r>
              <a:rPr lang="en-US" sz="1200" dirty="0">
                <a:solidFill>
                  <a:srgbClr val="5C6672"/>
                </a:solidFill>
                <a:latin typeface="IBM Plex Sans" pitchFamily="34" charset="0"/>
                <a:ea typeface="IBM Plex Sans" pitchFamily="34" charset="-122"/>
                <a:cs typeface="IBM Plex Sans" pitchFamily="34" charset="-120"/>
              </a:rPr>
              <a:t>0</a:t>
            </a:r>
            <a:endParaRPr lang="en-US" sz="1200" dirty="0"/>
          </a:p>
        </p:txBody>
      </p:sp>
      <p:pic>
        <p:nvPicPr>
          <p:cNvPr id="16" name="Image 0" descr="Line chart, original engine with default settings, seed 3, ticks 0 to 40,000. Leopards peak at 33 and are extinct by 1,400. Rhinos peak at 214 near tick 2,800 and are extinct by 6,100. Zebras peak at 147 near tick 5,700, decline, and are extinct at 31,000. Mouths per zebra rise from 1.0 to about 2 by tick 10,000 and peak at 2.37."/>
          <p:cNvPicPr>
            <a:picLocks noChangeAspect="1"/>
          </p:cNvPicPr>
          <p:nvPr/>
        </p:nvPicPr>
        <p:blipFill>
          <a:blip r:embed="rId3"/>
          <a:srcRect/>
          <a:stretch/>
        </p:blipFill>
        <p:spPr>
          <a:xfrm>
            <a:off x="1346200" y="2057400"/>
            <a:ext cx="6350000" cy="3048000"/>
          </a:xfrm>
          <a:prstGeom prst="rect">
            <a:avLst/>
          </a:prstGeom>
        </p:spPr>
      </p:pic>
      <p:sp>
        <p:nvSpPr>
          <p:cNvPr id="17" name="Text 14"/>
          <p:cNvSpPr/>
          <p:nvPr/>
        </p:nvSpPr>
        <p:spPr>
          <a:xfrm>
            <a:off x="1346200" y="5181600"/>
            <a:ext cx="14224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C6672"/>
                </a:solidFill>
                <a:latin typeface="IBM Plex Sans" pitchFamily="34" charset="0"/>
                <a:ea typeface="IBM Plex Sans" pitchFamily="34" charset="-122"/>
                <a:cs typeface="IBM Plex Sans" pitchFamily="34" charset="-120"/>
              </a:rPr>
              <a:t>0</a:t>
            </a:r>
            <a:endParaRPr lang="en-US" sz="1200" dirty="0"/>
          </a:p>
        </p:txBody>
      </p:sp>
      <p:sp>
        <p:nvSpPr>
          <p:cNvPr id="18" name="Text 15"/>
          <p:cNvSpPr/>
          <p:nvPr/>
        </p:nvSpPr>
        <p:spPr>
          <a:xfrm>
            <a:off x="2649776" y="5181600"/>
            <a:ext cx="315849"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C6672"/>
                </a:solidFill>
                <a:latin typeface="IBM Plex Sans" pitchFamily="34" charset="0"/>
                <a:ea typeface="IBM Plex Sans" pitchFamily="34" charset="-122"/>
                <a:cs typeface="IBM Plex Sans" pitchFamily="34" charset="-120"/>
              </a:rPr>
              <a:t>10k</a:t>
            </a:r>
            <a:endParaRPr lang="en-US" sz="1200" dirty="0"/>
          </a:p>
        </p:txBody>
      </p:sp>
      <p:sp>
        <p:nvSpPr>
          <p:cNvPr id="19" name="Text 16"/>
          <p:cNvSpPr/>
          <p:nvPr/>
        </p:nvSpPr>
        <p:spPr>
          <a:xfrm>
            <a:off x="4125119" y="5181600"/>
            <a:ext cx="315849"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C6672"/>
                </a:solidFill>
                <a:latin typeface="IBM Plex Sans" pitchFamily="34" charset="0"/>
                <a:ea typeface="IBM Plex Sans" pitchFamily="34" charset="-122"/>
                <a:cs typeface="IBM Plex Sans" pitchFamily="34" charset="-120"/>
              </a:rPr>
              <a:t>20k</a:t>
            </a:r>
            <a:endParaRPr lang="en-US" sz="1200" dirty="0"/>
          </a:p>
        </p:txBody>
      </p:sp>
      <p:sp>
        <p:nvSpPr>
          <p:cNvPr id="20" name="Text 17"/>
          <p:cNvSpPr/>
          <p:nvPr/>
        </p:nvSpPr>
        <p:spPr>
          <a:xfrm>
            <a:off x="5600383" y="5181600"/>
            <a:ext cx="315849"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C6672"/>
                </a:solidFill>
                <a:latin typeface="IBM Plex Sans" pitchFamily="34" charset="0"/>
                <a:ea typeface="IBM Plex Sans" pitchFamily="34" charset="-122"/>
                <a:cs typeface="IBM Plex Sans" pitchFamily="34" charset="-120"/>
              </a:rPr>
              <a:t>30k</a:t>
            </a:r>
            <a:endParaRPr lang="en-US" sz="1200" dirty="0"/>
          </a:p>
        </p:txBody>
      </p:sp>
      <p:sp>
        <p:nvSpPr>
          <p:cNvPr id="21" name="Text 18"/>
          <p:cNvSpPr/>
          <p:nvPr/>
        </p:nvSpPr>
        <p:spPr>
          <a:xfrm>
            <a:off x="6951631" y="5181600"/>
            <a:ext cx="744569"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C6672"/>
                </a:solidFill>
                <a:latin typeface="IBM Plex Sans" pitchFamily="34" charset="0"/>
                <a:ea typeface="IBM Plex Sans" pitchFamily="34" charset="-122"/>
                <a:cs typeface="IBM Plex Sans" pitchFamily="34" charset="-120"/>
              </a:rPr>
              <a:t>40k ticks</a:t>
            </a:r>
            <a:endParaRPr lang="en-US" sz="1200" dirty="0"/>
          </a:p>
        </p:txBody>
      </p:sp>
      <p:sp>
        <p:nvSpPr>
          <p:cNvPr id="22" name="Text 19"/>
          <p:cNvSpPr/>
          <p:nvPr/>
        </p:nvSpPr>
        <p:spPr>
          <a:xfrm>
            <a:off x="7772400" y="1981200"/>
            <a:ext cx="508000" cy="177800"/>
          </a:xfrm>
          <a:prstGeom prst="rect">
            <a:avLst/>
          </a:prstGeom>
          <a:noFill/>
          <a:ln/>
        </p:spPr>
        <p:txBody>
          <a:bodyPr wrap="square" lIns="0" tIns="0" rIns="0" bIns="0" rtlCol="0" anchor="t">
            <a:normAutofit/>
          </a:bodyPr>
          <a:lstStyle/>
          <a:p>
            <a:pPr marL="0" indent="0" algn="l">
              <a:lnSpc>
                <a:spcPts val="1200"/>
              </a:lnSpc>
              <a:buNone/>
            </a:pPr>
            <a:r>
              <a:rPr lang="en-US" sz="1200" dirty="0">
                <a:solidFill>
                  <a:srgbClr val="1C6E8C"/>
                </a:solidFill>
                <a:latin typeface="IBM Plex Sans" pitchFamily="34" charset="0"/>
                <a:ea typeface="IBM Plex Sans" pitchFamily="34" charset="-122"/>
                <a:cs typeface="IBM Plex Sans" pitchFamily="34" charset="-120"/>
              </a:rPr>
              <a:t>3</a:t>
            </a:r>
            <a:endParaRPr lang="en-US" sz="1200" dirty="0"/>
          </a:p>
        </p:txBody>
      </p:sp>
      <p:sp>
        <p:nvSpPr>
          <p:cNvPr id="23" name="Text 20"/>
          <p:cNvSpPr/>
          <p:nvPr/>
        </p:nvSpPr>
        <p:spPr>
          <a:xfrm>
            <a:off x="7772400" y="2997200"/>
            <a:ext cx="508000" cy="177800"/>
          </a:xfrm>
          <a:prstGeom prst="rect">
            <a:avLst/>
          </a:prstGeom>
          <a:noFill/>
          <a:ln/>
        </p:spPr>
        <p:txBody>
          <a:bodyPr wrap="square" lIns="0" tIns="0" rIns="0" bIns="0" rtlCol="0" anchor="t">
            <a:normAutofit/>
          </a:bodyPr>
          <a:lstStyle/>
          <a:p>
            <a:pPr marL="0" indent="0" algn="l">
              <a:lnSpc>
                <a:spcPts val="1200"/>
              </a:lnSpc>
              <a:buNone/>
            </a:pPr>
            <a:r>
              <a:rPr lang="en-US" sz="1200" dirty="0">
                <a:solidFill>
                  <a:srgbClr val="1C6E8C"/>
                </a:solidFill>
                <a:latin typeface="IBM Plex Sans" pitchFamily="34" charset="0"/>
                <a:ea typeface="IBM Plex Sans" pitchFamily="34" charset="-122"/>
                <a:cs typeface="IBM Plex Sans" pitchFamily="34" charset="-120"/>
              </a:rPr>
              <a:t>2</a:t>
            </a:r>
            <a:endParaRPr lang="en-US" sz="1200" dirty="0"/>
          </a:p>
        </p:txBody>
      </p:sp>
      <p:sp>
        <p:nvSpPr>
          <p:cNvPr id="24" name="Text 21"/>
          <p:cNvSpPr/>
          <p:nvPr/>
        </p:nvSpPr>
        <p:spPr>
          <a:xfrm>
            <a:off x="7772400" y="4013200"/>
            <a:ext cx="508000" cy="177800"/>
          </a:xfrm>
          <a:prstGeom prst="rect">
            <a:avLst/>
          </a:prstGeom>
          <a:noFill/>
          <a:ln/>
        </p:spPr>
        <p:txBody>
          <a:bodyPr wrap="square" lIns="0" tIns="0" rIns="0" bIns="0" rtlCol="0" anchor="t">
            <a:normAutofit/>
          </a:bodyPr>
          <a:lstStyle/>
          <a:p>
            <a:pPr marL="0" indent="0" algn="l">
              <a:lnSpc>
                <a:spcPts val="1200"/>
              </a:lnSpc>
              <a:buNone/>
            </a:pPr>
            <a:r>
              <a:rPr lang="en-US" sz="1200" dirty="0">
                <a:solidFill>
                  <a:srgbClr val="1C6E8C"/>
                </a:solidFill>
                <a:latin typeface="IBM Plex Sans" pitchFamily="34" charset="0"/>
                <a:ea typeface="IBM Plex Sans" pitchFamily="34" charset="-122"/>
                <a:cs typeface="IBM Plex Sans" pitchFamily="34" charset="-120"/>
              </a:rPr>
              <a:t>1</a:t>
            </a:r>
            <a:endParaRPr lang="en-US" sz="1200" dirty="0"/>
          </a:p>
        </p:txBody>
      </p:sp>
      <p:sp>
        <p:nvSpPr>
          <p:cNvPr id="25" name="Text 22"/>
          <p:cNvSpPr/>
          <p:nvPr/>
        </p:nvSpPr>
        <p:spPr>
          <a:xfrm>
            <a:off x="7772400" y="5029200"/>
            <a:ext cx="508000" cy="177800"/>
          </a:xfrm>
          <a:prstGeom prst="rect">
            <a:avLst/>
          </a:prstGeom>
          <a:noFill/>
          <a:ln/>
        </p:spPr>
        <p:txBody>
          <a:bodyPr wrap="square" lIns="0" tIns="0" rIns="0" bIns="0" rtlCol="0" anchor="t">
            <a:normAutofit/>
          </a:bodyPr>
          <a:lstStyle/>
          <a:p>
            <a:pPr marL="0" indent="0" algn="l">
              <a:lnSpc>
                <a:spcPts val="1200"/>
              </a:lnSpc>
              <a:buNone/>
            </a:pPr>
            <a:r>
              <a:rPr lang="en-US" sz="1200" dirty="0">
                <a:solidFill>
                  <a:srgbClr val="1C6E8C"/>
                </a:solidFill>
                <a:latin typeface="IBM Plex Sans" pitchFamily="34" charset="0"/>
                <a:ea typeface="IBM Plex Sans" pitchFamily="34" charset="-122"/>
                <a:cs typeface="IBM Plex Sans" pitchFamily="34" charset="-120"/>
              </a:rPr>
              <a:t>0</a:t>
            </a:r>
            <a:endParaRPr lang="en-US" sz="1200" dirty="0"/>
          </a:p>
        </p:txBody>
      </p:sp>
      <p:sp>
        <p:nvSpPr>
          <p:cNvPr id="26" name="Text 23"/>
          <p:cNvSpPr/>
          <p:nvPr/>
        </p:nvSpPr>
        <p:spPr>
          <a:xfrm>
            <a:off x="8483600" y="1793239"/>
            <a:ext cx="2982468"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6202A"/>
                </a:solidFill>
                <a:latin typeface="Space Grotesk" pitchFamily="34" charset="0"/>
                <a:ea typeface="Space Grotesk" pitchFamily="34" charset="-122"/>
                <a:cs typeface="Space Grotesk" pitchFamily="34" charset="-120"/>
              </a:rPr>
              <a:t>All 3 seeds</a:t>
            </a:r>
            <a:endParaRPr lang="en-US" sz="1600" dirty="0"/>
          </a:p>
        </p:txBody>
      </p:sp>
      <p:sp>
        <p:nvSpPr>
          <p:cNvPr id="27" name="Text 24"/>
          <p:cNvSpPr/>
          <p:nvPr/>
        </p:nvSpPr>
        <p:spPr>
          <a:xfrm>
            <a:off x="8483600" y="2176782"/>
            <a:ext cx="2982468" cy="471170"/>
          </a:xfrm>
          <a:prstGeom prst="rect">
            <a:avLst/>
          </a:prstGeom>
          <a:noFill/>
          <a:ln/>
        </p:spPr>
        <p:txBody>
          <a:bodyPr wrap="square" lIns="0" tIns="0" rIns="0" bIns="0" rtlCol="0" anchor="t">
            <a:normAutofit/>
          </a:bodyPr>
          <a:lstStyle/>
          <a:p>
            <a:pPr marL="0" indent="0" algn="l">
              <a:lnSpc>
                <a:spcPts val="1755"/>
              </a:lnSpc>
              <a:buNone/>
            </a:pPr>
            <a:r>
              <a:rPr lang="en-US" sz="1300" b="1" dirty="0">
                <a:solidFill>
                  <a:srgbClr val="C2185B"/>
                </a:solidFill>
                <a:latin typeface="IBM Plex Sans" pitchFamily="34" charset="0"/>
                <a:ea typeface="IBM Plex Sans" pitchFamily="34" charset="-122"/>
                <a:cs typeface="IBM Plex Sans" pitchFamily="34" charset="-120"/>
              </a:rPr>
              <a:t>Leopards:</a:t>
            </a:r>
            <a:r>
              <a:rPr lang="en-US" sz="1300" dirty="0">
                <a:solidFill>
                  <a:srgbClr val="4A5563"/>
                </a:solidFill>
                <a:latin typeface="IBM Plex Sans" pitchFamily="34" charset="0"/>
                <a:ea typeface="IBM Plex Sans" pitchFamily="34" charset="-122"/>
                <a:cs typeface="IBM Plex Sans" pitchFamily="34" charset="-120"/>
              </a:rPr>
              <a:t> boom to 31–33, then gone by tick 1,400–8,300 (3 of 3)</a:t>
            </a:r>
            <a:endParaRPr lang="en-US" sz="1300" dirty="0"/>
          </a:p>
        </p:txBody>
      </p:sp>
      <p:sp>
        <p:nvSpPr>
          <p:cNvPr id="28" name="Text 25"/>
          <p:cNvSpPr/>
          <p:nvPr/>
        </p:nvSpPr>
        <p:spPr>
          <a:xfrm>
            <a:off x="8483600" y="2762250"/>
            <a:ext cx="2982468" cy="471170"/>
          </a:xfrm>
          <a:prstGeom prst="rect">
            <a:avLst/>
          </a:prstGeom>
          <a:noFill/>
          <a:ln/>
        </p:spPr>
        <p:txBody>
          <a:bodyPr wrap="square" lIns="0" tIns="0" rIns="0" bIns="0" rtlCol="0" anchor="t">
            <a:normAutofit/>
          </a:bodyPr>
          <a:lstStyle/>
          <a:p>
            <a:pPr marL="0" indent="0" algn="l">
              <a:lnSpc>
                <a:spcPts val="1755"/>
              </a:lnSpc>
              <a:buNone/>
            </a:pPr>
            <a:r>
              <a:rPr lang="en-US" sz="1300" b="1" dirty="0">
                <a:solidFill>
                  <a:srgbClr val="8A5A0B"/>
                </a:solidFill>
                <a:latin typeface="IBM Plex Sans" pitchFamily="34" charset="0"/>
                <a:ea typeface="IBM Plex Sans" pitchFamily="34" charset="-122"/>
                <a:cs typeface="IBM Plex Sans" pitchFamily="34" charset="-120"/>
              </a:rPr>
              <a:t>Rhinos:</a:t>
            </a:r>
            <a:r>
              <a:rPr lang="en-US" sz="1300" dirty="0">
                <a:solidFill>
                  <a:srgbClr val="4A5563"/>
                </a:solidFill>
                <a:latin typeface="IBM Plex Sans" pitchFamily="34" charset="0"/>
                <a:ea typeface="IBM Plex Sans" pitchFamily="34" charset="-122"/>
                <a:cs typeface="IBM Plex Sans" pitchFamily="34" charset="-120"/>
              </a:rPr>
              <a:t> boom to 209–356, then extinct (3 of 3)</a:t>
            </a:r>
            <a:endParaRPr lang="en-US" sz="1300" dirty="0"/>
          </a:p>
        </p:txBody>
      </p:sp>
      <p:sp>
        <p:nvSpPr>
          <p:cNvPr id="29" name="Text 26"/>
          <p:cNvSpPr/>
          <p:nvPr/>
        </p:nvSpPr>
        <p:spPr>
          <a:xfrm>
            <a:off x="8483600" y="3347721"/>
            <a:ext cx="2982468" cy="248285"/>
          </a:xfrm>
          <a:prstGeom prst="rect">
            <a:avLst/>
          </a:prstGeom>
          <a:noFill/>
          <a:ln/>
        </p:spPr>
        <p:txBody>
          <a:bodyPr wrap="square" lIns="0" tIns="0" rIns="0" bIns="0" rtlCol="0" anchor="t">
            <a:normAutofit/>
          </a:bodyPr>
          <a:lstStyle/>
          <a:p>
            <a:pPr marL="0" indent="0" algn="l">
              <a:lnSpc>
                <a:spcPts val="1755"/>
              </a:lnSpc>
              <a:buNone/>
            </a:pPr>
            <a:r>
              <a:rPr lang="en-US" sz="1300" b="1" dirty="0">
                <a:solidFill>
                  <a:srgbClr val="16202A"/>
                </a:solidFill>
                <a:latin typeface="IBM Plex Sans" pitchFamily="34" charset="0"/>
                <a:ea typeface="IBM Plex Sans" pitchFamily="34" charset="-122"/>
                <a:cs typeface="IBM Plex Sans" pitchFamily="34" charset="-120"/>
              </a:rPr>
              <a:t>Zebras:</a:t>
            </a:r>
            <a:r>
              <a:rPr lang="en-US" sz="1300" dirty="0">
                <a:solidFill>
                  <a:srgbClr val="4A5563"/>
                </a:solidFill>
                <a:latin typeface="IBM Plex Sans" pitchFamily="34" charset="0"/>
                <a:ea typeface="IBM Plex Sans" pitchFamily="34" charset="-122"/>
                <a:cs typeface="IBM Plex Sans" pitchFamily="34" charset="-120"/>
              </a:rPr>
              <a:t> survived in 1; died out in 2</a:t>
            </a:r>
            <a:endParaRPr lang="en-US" sz="1300" dirty="0"/>
          </a:p>
        </p:txBody>
      </p:sp>
      <p:sp>
        <p:nvSpPr>
          <p:cNvPr id="30" name="Text 27"/>
          <p:cNvSpPr/>
          <p:nvPr/>
        </p:nvSpPr>
        <p:spPr>
          <a:xfrm>
            <a:off x="8483600" y="3710307"/>
            <a:ext cx="2982468" cy="694055"/>
          </a:xfrm>
          <a:prstGeom prst="rect">
            <a:avLst/>
          </a:prstGeom>
          <a:noFill/>
          <a:ln/>
        </p:spPr>
        <p:txBody>
          <a:bodyPr wrap="square" lIns="0" tIns="0" rIns="0" bIns="0" rtlCol="0" anchor="t">
            <a:normAutofit/>
          </a:bodyPr>
          <a:lstStyle/>
          <a:p>
            <a:pPr marL="0" indent="0" algn="l">
              <a:lnSpc>
                <a:spcPts val="1755"/>
              </a:lnSpc>
              <a:buNone/>
            </a:pPr>
            <a:r>
              <a:rPr lang="en-US" sz="1300" b="1" dirty="0">
                <a:solidFill>
                  <a:srgbClr val="1C6E8C"/>
                </a:solidFill>
                <a:latin typeface="IBM Plex Sans" pitchFamily="34" charset="0"/>
                <a:ea typeface="IBM Plex Sans" pitchFamily="34" charset="-122"/>
                <a:cs typeface="IBM Plex Sans" pitchFamily="34" charset="-120"/>
              </a:rPr>
              <a:t>Seed 3 (shown):</a:t>
            </a:r>
            <a:r>
              <a:rPr lang="en-US" sz="1300" dirty="0">
                <a:solidFill>
                  <a:srgbClr val="4A5563"/>
                </a:solidFill>
                <a:latin typeface="IBM Plex Sans" pitchFamily="34" charset="0"/>
                <a:ea typeface="IBM Plex Sans" pitchFamily="34" charset="-122"/>
                <a:cs typeface="IBM Plex Sans" pitchFamily="34" charset="-120"/>
              </a:rPr>
              <a:t> mouths rose to 2.37, yet zebras died at 31,000 while grass was plentiful</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3F0E8"/>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540"/>
          </a:xfrm>
          <a:prstGeom prst="rect">
            <a:avLst/>
          </a:prstGeom>
          <a:noFill/>
          <a:ln/>
        </p:spPr>
        <p:txBody>
          <a:bodyPr wrap="square" lIns="0" tIns="0" rIns="0" bIns="0" rtlCol="0" anchor="t">
            <a:normAutofit/>
          </a:bodyPr>
          <a:lstStyle/>
          <a:p>
            <a:pPr marL="0" indent="0" algn="l">
              <a:lnSpc>
                <a:spcPts val="1820"/>
              </a:lnSpc>
              <a:buNone/>
            </a:pPr>
            <a:r>
              <a:rPr lang="en-US" sz="1300" b="1" kern="0" spc="150" dirty="0">
                <a:solidFill>
                  <a:srgbClr val="8A5A0B"/>
                </a:solidFill>
                <a:latin typeface="IBM Plex Sans" pitchFamily="34" charset="0"/>
                <a:ea typeface="IBM Plex Sans" pitchFamily="34" charset="-122"/>
                <a:cs typeface="IBM Plex Sans" pitchFamily="34" charset="-120"/>
              </a:rPr>
              <a:t>BEFORE · HUNTING FOR EVOLUTIONARY SUICIDE</a:t>
            </a:r>
            <a:endParaRPr lang="en-US" sz="1300" dirty="0"/>
          </a:p>
        </p:txBody>
      </p:sp>
      <p:sp>
        <p:nvSpPr>
          <p:cNvPr id="3" name="Text 1"/>
          <p:cNvSpPr>
            <a:spLocks noGrp="1"/>
          </p:cNvSpPr>
          <p:nvPr>
            <p:ph type="title"/>
          </p:nvPr>
        </p:nvSpPr>
        <p:spPr>
          <a:xfrm>
            <a:off x="812800" y="1120139"/>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6202A"/>
                </a:solidFill>
                <a:latin typeface="Space Grotesk" pitchFamily="34" charset="0"/>
                <a:ea typeface="Space Grotesk" pitchFamily="34" charset="-122"/>
                <a:cs typeface="Space Grotesk" pitchFamily="34" charset="-120"/>
              </a:rPr>
              <a:t>We tried six set-ups; only one gave true suicide</a:t>
            </a:r>
            <a:endParaRPr lang="en-US" sz="3000" dirty="0"/>
          </a:p>
        </p:txBody>
      </p:sp>
      <p:sp>
        <p:nvSpPr>
          <p:cNvPr id="4" name="Shape 2"/>
          <p:cNvSpPr/>
          <p:nvPr/>
        </p:nvSpPr>
        <p:spPr>
          <a:xfrm>
            <a:off x="815975" y="1771014"/>
            <a:ext cx="3414157" cy="1678305"/>
          </a:xfrm>
          <a:prstGeom prst="roundRect">
            <a:avLst>
              <a:gd name="adj" fmla="val 5865"/>
            </a:avLst>
          </a:prstGeom>
          <a:solidFill>
            <a:srgbClr val="FBFAF6"/>
          </a:solidFill>
          <a:ln w="6350">
            <a:solidFill>
              <a:srgbClr val="DDD6C8"/>
            </a:solidFill>
            <a:prstDash val="solid"/>
          </a:ln>
        </p:spPr>
        <p:txBody>
          <a:bodyPr/>
          <a:lstStyle/>
          <a:p>
            <a:endParaRPr lang="en-ZA"/>
          </a:p>
        </p:txBody>
      </p:sp>
      <p:sp>
        <p:nvSpPr>
          <p:cNvPr id="5" name="Text 3"/>
          <p:cNvSpPr/>
          <p:nvPr/>
        </p:nvSpPr>
        <p:spPr>
          <a:xfrm>
            <a:off x="1008380" y="1963421"/>
            <a:ext cx="3120227"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4A5563"/>
                </a:solidFill>
                <a:latin typeface="IBM Plex Sans" pitchFamily="34" charset="0"/>
                <a:ea typeface="IBM Plex Sans" pitchFamily="34" charset="-122"/>
                <a:cs typeface="IBM Plex Sans" pitchFamily="34" charset="-120"/>
              </a:rPr>
              <a:t>EXTINCTION, NOT SUICIDE</a:t>
            </a:r>
            <a:endParaRPr lang="en-US" sz="1200" dirty="0"/>
          </a:p>
        </p:txBody>
      </p:sp>
      <p:sp>
        <p:nvSpPr>
          <p:cNvPr id="6" name="Text 4"/>
          <p:cNvSpPr/>
          <p:nvPr/>
        </p:nvSpPr>
        <p:spPr>
          <a:xfrm>
            <a:off x="1008380" y="2252982"/>
            <a:ext cx="3120227" cy="28448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16202A"/>
                </a:solidFill>
                <a:latin typeface="Space Grotesk" pitchFamily="34" charset="0"/>
                <a:ea typeface="Space Grotesk" pitchFamily="34" charset="-122"/>
                <a:cs typeface="Space Grotesk" pitchFamily="34" charset="-120"/>
              </a:rPr>
              <a:t>1 · Default</a:t>
            </a:r>
            <a:endParaRPr lang="en-US" sz="1700" dirty="0"/>
          </a:p>
        </p:txBody>
      </p:sp>
      <p:sp>
        <p:nvSpPr>
          <p:cNvPr id="7" name="Text 5"/>
          <p:cNvSpPr/>
          <p:nvPr/>
        </p:nvSpPr>
        <p:spPr>
          <a:xfrm>
            <a:off x="1008380" y="2588261"/>
            <a:ext cx="3120227" cy="694055"/>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4A5563"/>
                </a:solidFill>
                <a:latin typeface="IBM Plex Sans" pitchFamily="34" charset="0"/>
                <a:ea typeface="IBM Plex Sans" pitchFamily="34" charset="-122"/>
                <a:cs typeface="IBM Plex Sans" pitchFamily="34" charset="-120"/>
              </a:rPr>
              <a:t>Nothing changed. Rhinos and leopards died out; zebras died in 2 of 3 runs, but their food never ran out.</a:t>
            </a:r>
            <a:endParaRPr lang="en-US" sz="1300" dirty="0"/>
          </a:p>
        </p:txBody>
      </p:sp>
      <p:sp>
        <p:nvSpPr>
          <p:cNvPr id="8" name="Shape 6"/>
          <p:cNvSpPr/>
          <p:nvPr/>
        </p:nvSpPr>
        <p:spPr>
          <a:xfrm>
            <a:off x="4388882" y="1771014"/>
            <a:ext cx="3414157" cy="1678305"/>
          </a:xfrm>
          <a:prstGeom prst="roundRect">
            <a:avLst>
              <a:gd name="adj" fmla="val 5865"/>
            </a:avLst>
          </a:prstGeom>
          <a:solidFill>
            <a:srgbClr val="FBFAF6"/>
          </a:solidFill>
          <a:ln w="6350">
            <a:solidFill>
              <a:srgbClr val="DDD6C8"/>
            </a:solidFill>
            <a:prstDash val="solid"/>
          </a:ln>
        </p:spPr>
        <p:txBody>
          <a:bodyPr/>
          <a:lstStyle/>
          <a:p>
            <a:endParaRPr lang="en-ZA"/>
          </a:p>
        </p:txBody>
      </p:sp>
      <p:sp>
        <p:nvSpPr>
          <p:cNvPr id="9" name="Text 7"/>
          <p:cNvSpPr/>
          <p:nvPr/>
        </p:nvSpPr>
        <p:spPr>
          <a:xfrm>
            <a:off x="4581287" y="1963421"/>
            <a:ext cx="3120227"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8A5A0B"/>
                </a:solidFill>
                <a:latin typeface="IBM Plex Sans" pitchFamily="34" charset="0"/>
                <a:ea typeface="IBM Plex Sans" pitchFamily="34" charset="-122"/>
                <a:cs typeface="IBM Plex Sans" pitchFamily="34" charset="-120"/>
              </a:rPr>
              <a:t>RHINO SUICIDE, 1 RUN</a:t>
            </a:r>
            <a:endParaRPr lang="en-US" sz="1200" dirty="0"/>
          </a:p>
        </p:txBody>
      </p:sp>
      <p:sp>
        <p:nvSpPr>
          <p:cNvPr id="10" name="Text 8"/>
          <p:cNvSpPr/>
          <p:nvPr/>
        </p:nvSpPr>
        <p:spPr>
          <a:xfrm>
            <a:off x="4581287" y="2252982"/>
            <a:ext cx="3120227" cy="28448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16202A"/>
                </a:solidFill>
                <a:latin typeface="Space Grotesk" pitchFamily="34" charset="0"/>
                <a:ea typeface="Space Grotesk" pitchFamily="34" charset="-122"/>
                <a:cs typeface="Space Grotesk" pitchFamily="34" charset="-120"/>
              </a:rPr>
              <a:t>2 · Less food</a:t>
            </a:r>
            <a:endParaRPr lang="en-US" sz="1700" dirty="0"/>
          </a:p>
        </p:txBody>
      </p:sp>
      <p:sp>
        <p:nvSpPr>
          <p:cNvPr id="11" name="Text 9"/>
          <p:cNvSpPr/>
          <p:nvPr/>
        </p:nvSpPr>
        <p:spPr>
          <a:xfrm>
            <a:off x="4581287" y="2588261"/>
            <a:ext cx="3120227" cy="694055"/>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4A5563"/>
                </a:solidFill>
                <a:latin typeface="IBM Plex Sans" pitchFamily="34" charset="0"/>
                <a:ea typeface="IBM Plex Sans" pitchFamily="34" charset="-122"/>
                <a:cs typeface="IBM Plex Sans" pitchFamily="34" charset="-120"/>
              </a:rPr>
              <a:t>Plants made less food. Zebras died out in all 3 runs; in one, rhinos evolved killers and wiped out their own food.</a:t>
            </a:r>
            <a:endParaRPr lang="en-US" sz="1300" dirty="0"/>
          </a:p>
        </p:txBody>
      </p:sp>
      <p:sp>
        <p:nvSpPr>
          <p:cNvPr id="12" name="Shape 10"/>
          <p:cNvSpPr/>
          <p:nvPr/>
        </p:nvSpPr>
        <p:spPr>
          <a:xfrm>
            <a:off x="7961789" y="1771014"/>
            <a:ext cx="3414157" cy="1678305"/>
          </a:xfrm>
          <a:prstGeom prst="roundRect">
            <a:avLst>
              <a:gd name="adj" fmla="val 5865"/>
            </a:avLst>
          </a:prstGeom>
          <a:solidFill>
            <a:srgbClr val="FBFAF6"/>
          </a:solidFill>
          <a:ln w="6350">
            <a:solidFill>
              <a:srgbClr val="DDD6C8"/>
            </a:solidFill>
            <a:prstDash val="solid"/>
          </a:ln>
        </p:spPr>
        <p:txBody>
          <a:bodyPr/>
          <a:lstStyle/>
          <a:p>
            <a:endParaRPr lang="en-ZA"/>
          </a:p>
        </p:txBody>
      </p:sp>
      <p:sp>
        <p:nvSpPr>
          <p:cNvPr id="13" name="Text 11"/>
          <p:cNvSpPr/>
          <p:nvPr/>
        </p:nvSpPr>
        <p:spPr>
          <a:xfrm>
            <a:off x="8154194" y="1963421"/>
            <a:ext cx="3120227"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4A5563"/>
                </a:solidFill>
                <a:latin typeface="IBM Plex Sans" pitchFamily="34" charset="0"/>
                <a:ea typeface="IBM Plex Sans" pitchFamily="34" charset="-122"/>
                <a:cs typeface="IBM Plex Sans" pitchFamily="34" charset="-120"/>
              </a:rPr>
              <a:t>FAILURE TO ADAPT</a:t>
            </a:r>
            <a:endParaRPr lang="en-US" sz="1200" dirty="0"/>
          </a:p>
        </p:txBody>
      </p:sp>
      <p:sp>
        <p:nvSpPr>
          <p:cNvPr id="14" name="Text 12"/>
          <p:cNvSpPr/>
          <p:nvPr/>
        </p:nvSpPr>
        <p:spPr>
          <a:xfrm>
            <a:off x="8154194" y="2252982"/>
            <a:ext cx="3120227" cy="28448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16202A"/>
                </a:solidFill>
                <a:latin typeface="Space Grotesk" pitchFamily="34" charset="0"/>
                <a:ea typeface="Space Grotesk" pitchFamily="34" charset="-122"/>
                <a:cs typeface="Space Grotesk" pitchFamily="34" charset="-120"/>
              </a:rPr>
              <a:t>3 · No mutation</a:t>
            </a:r>
            <a:endParaRPr lang="en-US" sz="1700" dirty="0"/>
          </a:p>
        </p:txBody>
      </p:sp>
      <p:sp>
        <p:nvSpPr>
          <p:cNvPr id="15" name="Text 13"/>
          <p:cNvSpPr/>
          <p:nvPr/>
        </p:nvSpPr>
        <p:spPr>
          <a:xfrm>
            <a:off x="8154194" y="2588261"/>
            <a:ext cx="3120227" cy="694055"/>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4A5563"/>
                </a:solidFill>
                <a:latin typeface="IBM Plex Sans" pitchFamily="34" charset="0"/>
                <a:ea typeface="IBM Plex Sans" pitchFamily="34" charset="-122"/>
                <a:cs typeface="IBM Plex Sans" pitchFamily="34" charset="-120"/>
              </a:rPr>
              <a:t>Less food and evolution switched off. Nothing could change, so every species died out.</a:t>
            </a:r>
            <a:endParaRPr lang="en-US" sz="1300" dirty="0"/>
          </a:p>
        </p:txBody>
      </p:sp>
      <p:sp>
        <p:nvSpPr>
          <p:cNvPr id="16" name="Shape 14"/>
          <p:cNvSpPr/>
          <p:nvPr/>
        </p:nvSpPr>
        <p:spPr>
          <a:xfrm>
            <a:off x="815975" y="3608071"/>
            <a:ext cx="3414157" cy="1678305"/>
          </a:xfrm>
          <a:prstGeom prst="roundRect">
            <a:avLst>
              <a:gd name="adj" fmla="val 5865"/>
            </a:avLst>
          </a:prstGeom>
          <a:solidFill>
            <a:srgbClr val="FBFAF6"/>
          </a:solidFill>
          <a:ln w="6350">
            <a:solidFill>
              <a:srgbClr val="DDD6C8"/>
            </a:solidFill>
            <a:prstDash val="solid"/>
          </a:ln>
        </p:spPr>
        <p:txBody>
          <a:bodyPr/>
          <a:lstStyle/>
          <a:p>
            <a:endParaRPr lang="en-ZA"/>
          </a:p>
        </p:txBody>
      </p:sp>
      <p:sp>
        <p:nvSpPr>
          <p:cNvPr id="17" name="Text 15"/>
          <p:cNvSpPr/>
          <p:nvPr/>
        </p:nvSpPr>
        <p:spPr>
          <a:xfrm>
            <a:off x="1008380" y="3800475"/>
            <a:ext cx="3120227"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4A5563"/>
                </a:solidFill>
                <a:latin typeface="IBM Plex Sans" pitchFamily="34" charset="0"/>
                <a:ea typeface="IBM Plex Sans" pitchFamily="34" charset="-122"/>
                <a:cs typeface="IBM Plex Sans" pitchFamily="34" charset="-120"/>
              </a:rPr>
              <a:t>ENGINE ARTEFACT</a:t>
            </a:r>
            <a:endParaRPr lang="en-US" sz="1200" dirty="0"/>
          </a:p>
        </p:txBody>
      </p:sp>
      <p:sp>
        <p:nvSpPr>
          <p:cNvPr id="18" name="Text 16"/>
          <p:cNvSpPr/>
          <p:nvPr/>
        </p:nvSpPr>
        <p:spPr>
          <a:xfrm>
            <a:off x="1008380" y="4090036"/>
            <a:ext cx="3120227" cy="28448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16202A"/>
                </a:solidFill>
                <a:latin typeface="Space Grotesk" pitchFamily="34" charset="0"/>
                <a:ea typeface="Space Grotesk" pitchFamily="34" charset="-122"/>
                <a:cs typeface="Space Grotesk" pitchFamily="34" charset="-120"/>
              </a:rPr>
              <a:t>4 · Plants clog the map</a:t>
            </a:r>
            <a:endParaRPr lang="en-US" sz="1700" dirty="0"/>
          </a:p>
        </p:txBody>
      </p:sp>
      <p:sp>
        <p:nvSpPr>
          <p:cNvPr id="19" name="Text 17"/>
          <p:cNvSpPr/>
          <p:nvPr/>
        </p:nvSpPr>
        <p:spPr>
          <a:xfrm>
            <a:off x="1008380" y="4425314"/>
            <a:ext cx="3120227" cy="694055"/>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4A5563"/>
                </a:solidFill>
                <a:latin typeface="IBM Plex Sans" pitchFamily="34" charset="0"/>
                <a:ea typeface="IBM Plex Sans" pitchFamily="34" charset="-122"/>
                <a:cs typeface="IBM Plex Sans" pitchFamily="34" charset="-120"/>
              </a:rPr>
              <a:t>Very fast plants, few grazers. Food filled every space, no one could give birth, all died by tick 3,500.</a:t>
            </a:r>
            <a:endParaRPr lang="en-US" sz="1300" dirty="0"/>
          </a:p>
        </p:txBody>
      </p:sp>
      <p:sp>
        <p:nvSpPr>
          <p:cNvPr id="20" name="Shape 18"/>
          <p:cNvSpPr/>
          <p:nvPr/>
        </p:nvSpPr>
        <p:spPr>
          <a:xfrm>
            <a:off x="4385707" y="3604896"/>
            <a:ext cx="3420507" cy="1684655"/>
          </a:xfrm>
          <a:prstGeom prst="roundRect">
            <a:avLst>
              <a:gd name="adj" fmla="val 6031"/>
            </a:avLst>
          </a:prstGeom>
          <a:solidFill>
            <a:srgbClr val="16202A"/>
          </a:solidFill>
          <a:ln/>
        </p:spPr>
        <p:txBody>
          <a:bodyPr/>
          <a:lstStyle/>
          <a:p>
            <a:endParaRPr lang="en-ZA"/>
          </a:p>
        </p:txBody>
      </p:sp>
      <p:sp>
        <p:nvSpPr>
          <p:cNvPr id="21" name="Text 19"/>
          <p:cNvSpPr/>
          <p:nvPr/>
        </p:nvSpPr>
        <p:spPr>
          <a:xfrm>
            <a:off x="4576207" y="3795396"/>
            <a:ext cx="3130692"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DEB14D"/>
                </a:solidFill>
                <a:latin typeface="IBM Plex Sans" pitchFamily="34" charset="0"/>
                <a:ea typeface="IBM Plex Sans" pitchFamily="34" charset="-122"/>
                <a:cs typeface="IBM Plex Sans" pitchFamily="34" charset="-120"/>
              </a:rPr>
              <a:t>EVOLUTIONARY SUICIDE, 3 OF 3</a:t>
            </a:r>
            <a:endParaRPr lang="en-US" sz="1200" dirty="0"/>
          </a:p>
        </p:txBody>
      </p:sp>
      <p:sp>
        <p:nvSpPr>
          <p:cNvPr id="22" name="Text 20"/>
          <p:cNvSpPr/>
          <p:nvPr/>
        </p:nvSpPr>
        <p:spPr>
          <a:xfrm>
            <a:off x="4576207" y="4084957"/>
            <a:ext cx="3130692" cy="28448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F3F0E8"/>
                </a:solidFill>
                <a:latin typeface="Space Grotesk" pitchFamily="34" charset="0"/>
                <a:ea typeface="Space Grotesk" pitchFamily="34" charset="-122"/>
                <a:cs typeface="Space Grotesk" pitchFamily="34" charset="-120"/>
              </a:rPr>
              <a:t>5 · Killers hurt plants</a:t>
            </a:r>
            <a:endParaRPr lang="en-US" sz="1700" dirty="0"/>
          </a:p>
        </p:txBody>
      </p:sp>
      <p:sp>
        <p:nvSpPr>
          <p:cNvPr id="23" name="Text 21"/>
          <p:cNvSpPr/>
          <p:nvPr/>
        </p:nvSpPr>
        <p:spPr>
          <a:xfrm>
            <a:off x="4576207" y="4420236"/>
            <a:ext cx="3130692" cy="694055"/>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D5DCE2"/>
                </a:solidFill>
                <a:latin typeface="IBM Plex Sans" pitchFamily="34" charset="0"/>
                <a:ea typeface="IBM Plex Sans" pitchFamily="34" charset="-122"/>
                <a:cs typeface="IBM Plex Sans" pitchFamily="34" charset="-120"/>
              </a:rPr>
              <a:t>Zebras start with no killer. They evolved one, boomed to 560, destroyed every plant, then died out.</a:t>
            </a:r>
            <a:endParaRPr lang="en-US" sz="1300" dirty="0"/>
          </a:p>
        </p:txBody>
      </p:sp>
      <p:sp>
        <p:nvSpPr>
          <p:cNvPr id="24" name="Shape 22"/>
          <p:cNvSpPr/>
          <p:nvPr/>
        </p:nvSpPr>
        <p:spPr>
          <a:xfrm>
            <a:off x="7961789" y="3608071"/>
            <a:ext cx="3414157" cy="1678305"/>
          </a:xfrm>
          <a:prstGeom prst="roundRect">
            <a:avLst>
              <a:gd name="adj" fmla="val 5865"/>
            </a:avLst>
          </a:prstGeom>
          <a:solidFill>
            <a:srgbClr val="FBFAF6"/>
          </a:solidFill>
          <a:ln w="6350">
            <a:solidFill>
              <a:srgbClr val="DDD6C8"/>
            </a:solidFill>
            <a:prstDash val="solid"/>
          </a:ln>
        </p:spPr>
        <p:txBody>
          <a:bodyPr/>
          <a:lstStyle/>
          <a:p>
            <a:endParaRPr lang="en-ZA"/>
          </a:p>
        </p:txBody>
      </p:sp>
      <p:sp>
        <p:nvSpPr>
          <p:cNvPr id="25" name="Text 23"/>
          <p:cNvSpPr/>
          <p:nvPr/>
        </p:nvSpPr>
        <p:spPr>
          <a:xfrm>
            <a:off x="8154194" y="3800475"/>
            <a:ext cx="3120227"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4A5563"/>
                </a:solidFill>
                <a:latin typeface="IBM Plex Sans" pitchFamily="34" charset="0"/>
                <a:ea typeface="IBM Plex Sans" pitchFamily="34" charset="-122"/>
                <a:cs typeface="IBM Plex Sans" pitchFamily="34" charset="-120"/>
              </a:rPr>
              <a:t>NOT COUNTED</a:t>
            </a:r>
            <a:endParaRPr lang="en-US" sz="1200" dirty="0"/>
          </a:p>
        </p:txBody>
      </p:sp>
      <p:sp>
        <p:nvSpPr>
          <p:cNvPr id="26" name="Text 24"/>
          <p:cNvSpPr/>
          <p:nvPr/>
        </p:nvSpPr>
        <p:spPr>
          <a:xfrm>
            <a:off x="8154194" y="4090036"/>
            <a:ext cx="3120227" cy="28448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16202A"/>
                </a:solidFill>
                <a:latin typeface="Space Grotesk" pitchFamily="34" charset="0"/>
                <a:ea typeface="Space Grotesk" pitchFamily="34" charset="-122"/>
                <a:cs typeface="Space Grotesk" pitchFamily="34" charset="-120"/>
              </a:rPr>
              <a:t>6 · Killer given at start</a:t>
            </a:r>
            <a:endParaRPr lang="en-US" sz="1700" dirty="0"/>
          </a:p>
        </p:txBody>
      </p:sp>
      <p:sp>
        <p:nvSpPr>
          <p:cNvPr id="27" name="Text 25"/>
          <p:cNvSpPr/>
          <p:nvPr/>
        </p:nvSpPr>
        <p:spPr>
          <a:xfrm>
            <a:off x="8154194" y="4425314"/>
            <a:ext cx="3120227" cy="694055"/>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4A5563"/>
                </a:solidFill>
                <a:latin typeface="IBM Plex Sans" pitchFamily="34" charset="0"/>
                <a:ea typeface="IBM Plex Sans" pitchFamily="34" charset="-122"/>
                <a:cs typeface="IBM Plex Sans" pitchFamily="34" charset="-120"/>
              </a:rPr>
              <a:t>Same as 5, but we gave zebras the killer. They died fast, but the trait did not evolve.</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3F0E8"/>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540"/>
          </a:xfrm>
          <a:prstGeom prst="rect">
            <a:avLst/>
          </a:prstGeom>
          <a:noFill/>
          <a:ln/>
        </p:spPr>
        <p:txBody>
          <a:bodyPr wrap="square" lIns="0" tIns="0" rIns="0" bIns="0" rtlCol="0" anchor="t">
            <a:normAutofit/>
          </a:bodyPr>
          <a:lstStyle/>
          <a:p>
            <a:pPr marL="0" indent="0" algn="l">
              <a:lnSpc>
                <a:spcPts val="1820"/>
              </a:lnSpc>
              <a:buNone/>
            </a:pPr>
            <a:r>
              <a:rPr lang="en-US" sz="1300" b="1" kern="0" spc="150" dirty="0">
                <a:solidFill>
                  <a:srgbClr val="8A5A0B"/>
                </a:solidFill>
                <a:latin typeface="IBM Plex Sans" pitchFamily="34" charset="0"/>
                <a:ea typeface="IBM Plex Sans" pitchFamily="34" charset="-122"/>
                <a:cs typeface="IBM Plex Sans" pitchFamily="34" charset="-120"/>
              </a:rPr>
              <a:t>BEFORE · EVOLUTIONARY SUICIDE FOUND</a:t>
            </a:r>
            <a:endParaRPr lang="en-US" sz="1300" dirty="0"/>
          </a:p>
        </p:txBody>
      </p:sp>
      <p:sp>
        <p:nvSpPr>
          <p:cNvPr id="3" name="Text 1"/>
          <p:cNvSpPr>
            <a:spLocks noGrp="1"/>
          </p:cNvSpPr>
          <p:nvPr>
            <p:ph type="title"/>
          </p:nvPr>
        </p:nvSpPr>
        <p:spPr>
          <a:xfrm>
            <a:off x="812800" y="1120139"/>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6202A"/>
                </a:solidFill>
                <a:latin typeface="Space Grotesk" pitchFamily="34" charset="0"/>
                <a:ea typeface="Space Grotesk" pitchFamily="34" charset="-122"/>
                <a:cs typeface="Space Grotesk" pitchFamily="34" charset="-120"/>
              </a:rPr>
              <a:t>Zebras evolved a plant-killer and ate themselves out</a:t>
            </a:r>
            <a:endParaRPr lang="en-US" sz="3000" dirty="0"/>
          </a:p>
        </p:txBody>
      </p:sp>
      <p:sp>
        <p:nvSpPr>
          <p:cNvPr id="4" name="Shape 2"/>
          <p:cNvSpPr/>
          <p:nvPr/>
        </p:nvSpPr>
        <p:spPr>
          <a:xfrm>
            <a:off x="815975" y="1833246"/>
            <a:ext cx="171450" cy="31750"/>
          </a:xfrm>
          <a:prstGeom prst="rect">
            <a:avLst/>
          </a:prstGeom>
          <a:solidFill>
            <a:srgbClr val="F2F2F2"/>
          </a:solidFill>
          <a:ln w="6350">
            <a:solidFill>
              <a:srgbClr val="6A7380"/>
            </a:solidFill>
            <a:prstDash val="solid"/>
          </a:ln>
        </p:spPr>
        <p:txBody>
          <a:bodyPr/>
          <a:lstStyle/>
          <a:p>
            <a:endParaRPr lang="en-ZA"/>
          </a:p>
        </p:txBody>
      </p:sp>
      <p:sp>
        <p:nvSpPr>
          <p:cNvPr id="5" name="Text 3"/>
          <p:cNvSpPr/>
          <p:nvPr/>
        </p:nvSpPr>
        <p:spPr>
          <a:xfrm>
            <a:off x="1054100" y="1742439"/>
            <a:ext cx="564737"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3"/>
                </a:solidFill>
                <a:latin typeface="IBM Plex Sans" pitchFamily="34" charset="0"/>
                <a:ea typeface="IBM Plex Sans" pitchFamily="34" charset="-122"/>
                <a:cs typeface="IBM Plex Sans" pitchFamily="34" charset="-120"/>
              </a:rPr>
              <a:t>Zebras</a:t>
            </a:r>
            <a:endParaRPr lang="en-US" sz="1200" dirty="0"/>
          </a:p>
        </p:txBody>
      </p:sp>
      <p:sp>
        <p:nvSpPr>
          <p:cNvPr id="6" name="Shape 4"/>
          <p:cNvSpPr/>
          <p:nvPr/>
        </p:nvSpPr>
        <p:spPr>
          <a:xfrm>
            <a:off x="1727914" y="1830071"/>
            <a:ext cx="177800" cy="38100"/>
          </a:xfrm>
          <a:prstGeom prst="rect">
            <a:avLst/>
          </a:prstGeom>
          <a:solidFill>
            <a:srgbClr val="15DE59"/>
          </a:solidFill>
          <a:ln/>
        </p:spPr>
        <p:txBody>
          <a:bodyPr/>
          <a:lstStyle/>
          <a:p>
            <a:endParaRPr lang="en-ZA"/>
          </a:p>
        </p:txBody>
      </p:sp>
      <p:sp>
        <p:nvSpPr>
          <p:cNvPr id="7" name="Text 5"/>
          <p:cNvSpPr/>
          <p:nvPr/>
        </p:nvSpPr>
        <p:spPr>
          <a:xfrm>
            <a:off x="1969214" y="1742439"/>
            <a:ext cx="1021937"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3"/>
                </a:solidFill>
                <a:latin typeface="IBM Plex Sans" pitchFamily="34" charset="0"/>
                <a:ea typeface="IBM Plex Sans" pitchFamily="34" charset="-122"/>
                <a:cs typeface="IBM Plex Sans" pitchFamily="34" charset="-120"/>
              </a:rPr>
              <a:t>Grass plants</a:t>
            </a:r>
            <a:endParaRPr lang="en-US" sz="1200" dirty="0"/>
          </a:p>
        </p:txBody>
      </p:sp>
      <p:sp>
        <p:nvSpPr>
          <p:cNvPr id="8" name="Shape 6"/>
          <p:cNvSpPr/>
          <p:nvPr/>
        </p:nvSpPr>
        <p:spPr>
          <a:xfrm>
            <a:off x="3024029" y="1830071"/>
            <a:ext cx="177800" cy="38100"/>
          </a:xfrm>
          <a:prstGeom prst="rect">
            <a:avLst/>
          </a:prstGeom>
          <a:solidFill>
            <a:srgbClr val="8A6FD1"/>
          </a:solidFill>
          <a:ln/>
        </p:spPr>
        <p:txBody>
          <a:bodyPr/>
          <a:lstStyle/>
          <a:p>
            <a:endParaRPr lang="en-ZA"/>
          </a:p>
        </p:txBody>
      </p:sp>
      <p:sp>
        <p:nvSpPr>
          <p:cNvPr id="9" name="Text 7"/>
          <p:cNvSpPr/>
          <p:nvPr/>
        </p:nvSpPr>
        <p:spPr>
          <a:xfrm>
            <a:off x="3265329" y="1742439"/>
            <a:ext cx="970026"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3"/>
                </a:solidFill>
                <a:latin typeface="IBM Plex Sans" pitchFamily="34" charset="0"/>
                <a:ea typeface="IBM Plex Sans" pitchFamily="34" charset="-122"/>
                <a:cs typeface="IBM Plex Sans" pitchFamily="34" charset="-120"/>
              </a:rPr>
              <a:t>Bush plants</a:t>
            </a:r>
            <a:endParaRPr lang="en-US" sz="1200" dirty="0"/>
          </a:p>
        </p:txBody>
      </p:sp>
      <p:sp>
        <p:nvSpPr>
          <p:cNvPr id="10" name="Shape 8"/>
          <p:cNvSpPr/>
          <p:nvPr/>
        </p:nvSpPr>
        <p:spPr>
          <a:xfrm>
            <a:off x="4276884" y="1830071"/>
            <a:ext cx="177800" cy="38100"/>
          </a:xfrm>
          <a:prstGeom prst="rect">
            <a:avLst/>
          </a:prstGeom>
          <a:solidFill>
            <a:srgbClr val="60D4FF"/>
          </a:solidFill>
          <a:ln/>
        </p:spPr>
        <p:txBody>
          <a:bodyPr/>
          <a:lstStyle/>
          <a:p>
            <a:endParaRPr lang="en-ZA"/>
          </a:p>
        </p:txBody>
      </p:sp>
      <p:sp>
        <p:nvSpPr>
          <p:cNvPr id="11" name="Text 9"/>
          <p:cNvSpPr/>
          <p:nvPr/>
        </p:nvSpPr>
        <p:spPr>
          <a:xfrm>
            <a:off x="4518184" y="1742439"/>
            <a:ext cx="2798826"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3"/>
                </a:solidFill>
                <a:latin typeface="IBM Plex Sans" pitchFamily="34" charset="0"/>
                <a:ea typeface="IBM Plex Sans" pitchFamily="34" charset="-122"/>
                <a:cs typeface="IBM Plex Sans" pitchFamily="34" charset="-120"/>
              </a:rPr>
              <a:t>Zebras with a killer cell (right axis)</a:t>
            </a:r>
            <a:endParaRPr lang="en-US" sz="1200" dirty="0"/>
          </a:p>
        </p:txBody>
      </p:sp>
      <p:sp>
        <p:nvSpPr>
          <p:cNvPr id="12" name="Text 10"/>
          <p:cNvSpPr/>
          <p:nvPr/>
        </p:nvSpPr>
        <p:spPr>
          <a:xfrm>
            <a:off x="762000" y="1981200"/>
            <a:ext cx="508000" cy="177800"/>
          </a:xfrm>
          <a:prstGeom prst="rect">
            <a:avLst/>
          </a:prstGeom>
          <a:noFill/>
          <a:ln/>
        </p:spPr>
        <p:txBody>
          <a:bodyPr wrap="square" lIns="0" tIns="0" rIns="0" bIns="0" rtlCol="0" anchor="t">
            <a:normAutofit/>
          </a:bodyPr>
          <a:lstStyle/>
          <a:p>
            <a:pPr marL="0" indent="0" algn="r">
              <a:lnSpc>
                <a:spcPts val="1200"/>
              </a:lnSpc>
              <a:buNone/>
            </a:pPr>
            <a:r>
              <a:rPr lang="en-US" sz="1200" dirty="0">
                <a:solidFill>
                  <a:srgbClr val="5C6672"/>
                </a:solidFill>
                <a:latin typeface="IBM Plex Sans" pitchFamily="34" charset="0"/>
                <a:ea typeface="IBM Plex Sans" pitchFamily="34" charset="-122"/>
                <a:cs typeface="IBM Plex Sans" pitchFamily="34" charset="-120"/>
              </a:rPr>
              <a:t>600</a:t>
            </a:r>
            <a:endParaRPr lang="en-US" sz="1200" dirty="0"/>
          </a:p>
        </p:txBody>
      </p:sp>
      <p:sp>
        <p:nvSpPr>
          <p:cNvPr id="13" name="Text 11"/>
          <p:cNvSpPr/>
          <p:nvPr/>
        </p:nvSpPr>
        <p:spPr>
          <a:xfrm>
            <a:off x="762000" y="2743200"/>
            <a:ext cx="508000" cy="177800"/>
          </a:xfrm>
          <a:prstGeom prst="rect">
            <a:avLst/>
          </a:prstGeom>
          <a:noFill/>
          <a:ln/>
        </p:spPr>
        <p:txBody>
          <a:bodyPr wrap="square" lIns="0" tIns="0" rIns="0" bIns="0" rtlCol="0" anchor="t">
            <a:normAutofit/>
          </a:bodyPr>
          <a:lstStyle/>
          <a:p>
            <a:pPr marL="0" indent="0" algn="r">
              <a:lnSpc>
                <a:spcPts val="1200"/>
              </a:lnSpc>
              <a:buNone/>
            </a:pPr>
            <a:r>
              <a:rPr lang="en-US" sz="1200" dirty="0">
                <a:solidFill>
                  <a:srgbClr val="5C6672"/>
                </a:solidFill>
                <a:latin typeface="IBM Plex Sans" pitchFamily="34" charset="0"/>
                <a:ea typeface="IBM Plex Sans" pitchFamily="34" charset="-122"/>
                <a:cs typeface="IBM Plex Sans" pitchFamily="34" charset="-120"/>
              </a:rPr>
              <a:t>450</a:t>
            </a:r>
            <a:endParaRPr lang="en-US" sz="1200" dirty="0"/>
          </a:p>
        </p:txBody>
      </p:sp>
      <p:sp>
        <p:nvSpPr>
          <p:cNvPr id="14" name="Text 12"/>
          <p:cNvSpPr/>
          <p:nvPr/>
        </p:nvSpPr>
        <p:spPr>
          <a:xfrm>
            <a:off x="762000" y="3505200"/>
            <a:ext cx="508000" cy="177800"/>
          </a:xfrm>
          <a:prstGeom prst="rect">
            <a:avLst/>
          </a:prstGeom>
          <a:noFill/>
          <a:ln/>
        </p:spPr>
        <p:txBody>
          <a:bodyPr wrap="square" lIns="0" tIns="0" rIns="0" bIns="0" rtlCol="0" anchor="t">
            <a:normAutofit/>
          </a:bodyPr>
          <a:lstStyle/>
          <a:p>
            <a:pPr marL="0" indent="0" algn="r">
              <a:lnSpc>
                <a:spcPts val="1200"/>
              </a:lnSpc>
              <a:buNone/>
            </a:pPr>
            <a:r>
              <a:rPr lang="en-US" sz="1200" dirty="0">
                <a:solidFill>
                  <a:srgbClr val="5C6672"/>
                </a:solidFill>
                <a:latin typeface="IBM Plex Sans" pitchFamily="34" charset="0"/>
                <a:ea typeface="IBM Plex Sans" pitchFamily="34" charset="-122"/>
                <a:cs typeface="IBM Plex Sans" pitchFamily="34" charset="-120"/>
              </a:rPr>
              <a:t>300</a:t>
            </a:r>
            <a:endParaRPr lang="en-US" sz="1200" dirty="0"/>
          </a:p>
        </p:txBody>
      </p:sp>
      <p:sp>
        <p:nvSpPr>
          <p:cNvPr id="15" name="Text 13"/>
          <p:cNvSpPr/>
          <p:nvPr/>
        </p:nvSpPr>
        <p:spPr>
          <a:xfrm>
            <a:off x="762000" y="4267200"/>
            <a:ext cx="508000" cy="177800"/>
          </a:xfrm>
          <a:prstGeom prst="rect">
            <a:avLst/>
          </a:prstGeom>
          <a:noFill/>
          <a:ln/>
        </p:spPr>
        <p:txBody>
          <a:bodyPr wrap="square" lIns="0" tIns="0" rIns="0" bIns="0" rtlCol="0" anchor="t">
            <a:normAutofit/>
          </a:bodyPr>
          <a:lstStyle/>
          <a:p>
            <a:pPr marL="0" indent="0" algn="r">
              <a:lnSpc>
                <a:spcPts val="1200"/>
              </a:lnSpc>
              <a:buNone/>
            </a:pPr>
            <a:r>
              <a:rPr lang="en-US" sz="1200" dirty="0">
                <a:solidFill>
                  <a:srgbClr val="5C6672"/>
                </a:solidFill>
                <a:latin typeface="IBM Plex Sans" pitchFamily="34" charset="0"/>
                <a:ea typeface="IBM Plex Sans" pitchFamily="34" charset="-122"/>
                <a:cs typeface="IBM Plex Sans" pitchFamily="34" charset="-120"/>
              </a:rPr>
              <a:t>150</a:t>
            </a:r>
            <a:endParaRPr lang="en-US" sz="1200" dirty="0"/>
          </a:p>
        </p:txBody>
      </p:sp>
      <p:sp>
        <p:nvSpPr>
          <p:cNvPr id="16" name="Text 14"/>
          <p:cNvSpPr/>
          <p:nvPr/>
        </p:nvSpPr>
        <p:spPr>
          <a:xfrm>
            <a:off x="762000" y="5029200"/>
            <a:ext cx="508000" cy="177800"/>
          </a:xfrm>
          <a:prstGeom prst="rect">
            <a:avLst/>
          </a:prstGeom>
          <a:noFill/>
          <a:ln/>
        </p:spPr>
        <p:txBody>
          <a:bodyPr wrap="square" lIns="0" tIns="0" rIns="0" bIns="0" rtlCol="0" anchor="t">
            <a:normAutofit/>
          </a:bodyPr>
          <a:lstStyle/>
          <a:p>
            <a:pPr marL="0" indent="0" algn="r">
              <a:lnSpc>
                <a:spcPts val="1200"/>
              </a:lnSpc>
              <a:buNone/>
            </a:pPr>
            <a:r>
              <a:rPr lang="en-US" sz="1200" dirty="0">
                <a:solidFill>
                  <a:srgbClr val="5C6672"/>
                </a:solidFill>
                <a:latin typeface="IBM Plex Sans" pitchFamily="34" charset="0"/>
                <a:ea typeface="IBM Plex Sans" pitchFamily="34" charset="-122"/>
                <a:cs typeface="IBM Plex Sans" pitchFamily="34" charset="-120"/>
              </a:rPr>
              <a:t>0</a:t>
            </a:r>
            <a:endParaRPr lang="en-US" sz="1200" dirty="0"/>
          </a:p>
        </p:txBody>
      </p:sp>
      <p:pic>
        <p:nvPicPr>
          <p:cNvPr id="17" name="Image 0" descr="Line chart, base engine plant-kill control seed 2, ticks 0 to 15,000. Zebras rise from 36 to 560 at tick 8,200 then fall to zero at 14,881. Bush plants vanish by tick 6,000 and grass plants by 11,900. The share of zebras with a killer cell climbs from 0 to 70 percent."/>
          <p:cNvPicPr>
            <a:picLocks noChangeAspect="1"/>
          </p:cNvPicPr>
          <p:nvPr/>
        </p:nvPicPr>
        <p:blipFill>
          <a:blip r:embed="rId3"/>
          <a:srcRect/>
          <a:stretch/>
        </p:blipFill>
        <p:spPr>
          <a:xfrm>
            <a:off x="1346200" y="2057400"/>
            <a:ext cx="6350000" cy="3048000"/>
          </a:xfrm>
          <a:prstGeom prst="rect">
            <a:avLst/>
          </a:prstGeom>
        </p:spPr>
      </p:pic>
      <p:sp>
        <p:nvSpPr>
          <p:cNvPr id="18" name="Text 15"/>
          <p:cNvSpPr/>
          <p:nvPr/>
        </p:nvSpPr>
        <p:spPr>
          <a:xfrm>
            <a:off x="1346200" y="5181600"/>
            <a:ext cx="14224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C6672"/>
                </a:solidFill>
                <a:latin typeface="IBM Plex Sans" pitchFamily="34" charset="0"/>
                <a:ea typeface="IBM Plex Sans" pitchFamily="34" charset="-122"/>
                <a:cs typeface="IBM Plex Sans" pitchFamily="34" charset="-120"/>
              </a:rPr>
              <a:t>0</a:t>
            </a:r>
            <a:endParaRPr lang="en-US" sz="1200" dirty="0"/>
          </a:p>
        </p:txBody>
      </p:sp>
      <p:sp>
        <p:nvSpPr>
          <p:cNvPr id="19" name="Text 16"/>
          <p:cNvSpPr/>
          <p:nvPr/>
        </p:nvSpPr>
        <p:spPr>
          <a:xfrm>
            <a:off x="2936558" y="5181600"/>
            <a:ext cx="488728"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C6672"/>
                </a:solidFill>
                <a:latin typeface="IBM Plex Sans" pitchFamily="34" charset="0"/>
                <a:ea typeface="IBM Plex Sans" pitchFamily="34" charset="-122"/>
                <a:cs typeface="IBM Plex Sans" pitchFamily="34" charset="-120"/>
              </a:rPr>
              <a:t>5,000</a:t>
            </a:r>
            <a:endParaRPr lang="en-US" sz="1200" dirty="0"/>
          </a:p>
        </p:txBody>
      </p:sp>
      <p:sp>
        <p:nvSpPr>
          <p:cNvPr id="20" name="Text 17"/>
          <p:cNvSpPr/>
          <p:nvPr/>
        </p:nvSpPr>
        <p:spPr>
          <a:xfrm>
            <a:off x="4842669" y="5181600"/>
            <a:ext cx="598456"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C6672"/>
                </a:solidFill>
                <a:latin typeface="IBM Plex Sans" pitchFamily="34" charset="0"/>
                <a:ea typeface="IBM Plex Sans" pitchFamily="34" charset="-122"/>
                <a:cs typeface="IBM Plex Sans" pitchFamily="34" charset="-120"/>
              </a:rPr>
              <a:t>10,000</a:t>
            </a:r>
            <a:endParaRPr lang="en-US" sz="1200" dirty="0"/>
          </a:p>
        </p:txBody>
      </p:sp>
      <p:sp>
        <p:nvSpPr>
          <p:cNvPr id="21" name="Text 18"/>
          <p:cNvSpPr/>
          <p:nvPr/>
        </p:nvSpPr>
        <p:spPr>
          <a:xfrm>
            <a:off x="6669119" y="5181600"/>
            <a:ext cx="1027081"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C6672"/>
                </a:solidFill>
                <a:latin typeface="IBM Plex Sans" pitchFamily="34" charset="0"/>
                <a:ea typeface="IBM Plex Sans" pitchFamily="34" charset="-122"/>
                <a:cs typeface="IBM Plex Sans" pitchFamily="34" charset="-120"/>
              </a:rPr>
              <a:t>15,000 ticks</a:t>
            </a:r>
            <a:endParaRPr lang="en-US" sz="1200" dirty="0"/>
          </a:p>
        </p:txBody>
      </p:sp>
      <p:sp>
        <p:nvSpPr>
          <p:cNvPr id="22" name="Text 19"/>
          <p:cNvSpPr/>
          <p:nvPr/>
        </p:nvSpPr>
        <p:spPr>
          <a:xfrm>
            <a:off x="7772400" y="1981200"/>
            <a:ext cx="508000" cy="177800"/>
          </a:xfrm>
          <a:prstGeom prst="rect">
            <a:avLst/>
          </a:prstGeom>
          <a:noFill/>
          <a:ln/>
        </p:spPr>
        <p:txBody>
          <a:bodyPr wrap="square" lIns="0" tIns="0" rIns="0" bIns="0" rtlCol="0" anchor="t">
            <a:normAutofit/>
          </a:bodyPr>
          <a:lstStyle/>
          <a:p>
            <a:pPr marL="0" indent="0" algn="l">
              <a:lnSpc>
                <a:spcPts val="1200"/>
              </a:lnSpc>
              <a:buNone/>
            </a:pPr>
            <a:r>
              <a:rPr lang="en-US" sz="1200" dirty="0">
                <a:solidFill>
                  <a:srgbClr val="1C6E8C"/>
                </a:solidFill>
                <a:latin typeface="IBM Plex Sans" pitchFamily="34" charset="0"/>
                <a:ea typeface="IBM Plex Sans" pitchFamily="34" charset="-122"/>
                <a:cs typeface="IBM Plex Sans" pitchFamily="34" charset="-120"/>
              </a:rPr>
              <a:t>100%</a:t>
            </a:r>
            <a:endParaRPr lang="en-US" sz="1200" dirty="0"/>
          </a:p>
        </p:txBody>
      </p:sp>
      <p:sp>
        <p:nvSpPr>
          <p:cNvPr id="23" name="Text 20"/>
          <p:cNvSpPr/>
          <p:nvPr/>
        </p:nvSpPr>
        <p:spPr>
          <a:xfrm>
            <a:off x="7772400" y="2743200"/>
            <a:ext cx="508000" cy="177800"/>
          </a:xfrm>
          <a:prstGeom prst="rect">
            <a:avLst/>
          </a:prstGeom>
          <a:noFill/>
          <a:ln/>
        </p:spPr>
        <p:txBody>
          <a:bodyPr wrap="square" lIns="0" tIns="0" rIns="0" bIns="0" rtlCol="0" anchor="t">
            <a:normAutofit/>
          </a:bodyPr>
          <a:lstStyle/>
          <a:p>
            <a:pPr marL="0" indent="0" algn="l">
              <a:lnSpc>
                <a:spcPts val="1200"/>
              </a:lnSpc>
              <a:buNone/>
            </a:pPr>
            <a:r>
              <a:rPr lang="en-US" sz="1200" dirty="0">
                <a:solidFill>
                  <a:srgbClr val="1C6E8C"/>
                </a:solidFill>
                <a:latin typeface="IBM Plex Sans" pitchFamily="34" charset="0"/>
                <a:ea typeface="IBM Plex Sans" pitchFamily="34" charset="-122"/>
                <a:cs typeface="IBM Plex Sans" pitchFamily="34" charset="-120"/>
              </a:rPr>
              <a:t>75%</a:t>
            </a:r>
            <a:endParaRPr lang="en-US" sz="1200" dirty="0"/>
          </a:p>
        </p:txBody>
      </p:sp>
      <p:sp>
        <p:nvSpPr>
          <p:cNvPr id="24" name="Text 21"/>
          <p:cNvSpPr/>
          <p:nvPr/>
        </p:nvSpPr>
        <p:spPr>
          <a:xfrm>
            <a:off x="7772400" y="3505200"/>
            <a:ext cx="508000" cy="177800"/>
          </a:xfrm>
          <a:prstGeom prst="rect">
            <a:avLst/>
          </a:prstGeom>
          <a:noFill/>
          <a:ln/>
        </p:spPr>
        <p:txBody>
          <a:bodyPr wrap="square" lIns="0" tIns="0" rIns="0" bIns="0" rtlCol="0" anchor="t">
            <a:normAutofit/>
          </a:bodyPr>
          <a:lstStyle/>
          <a:p>
            <a:pPr marL="0" indent="0" algn="l">
              <a:lnSpc>
                <a:spcPts val="1200"/>
              </a:lnSpc>
              <a:buNone/>
            </a:pPr>
            <a:r>
              <a:rPr lang="en-US" sz="1200" dirty="0">
                <a:solidFill>
                  <a:srgbClr val="1C6E8C"/>
                </a:solidFill>
                <a:latin typeface="IBM Plex Sans" pitchFamily="34" charset="0"/>
                <a:ea typeface="IBM Plex Sans" pitchFamily="34" charset="-122"/>
                <a:cs typeface="IBM Plex Sans" pitchFamily="34" charset="-120"/>
              </a:rPr>
              <a:t>50%</a:t>
            </a:r>
            <a:endParaRPr lang="en-US" sz="1200" dirty="0"/>
          </a:p>
        </p:txBody>
      </p:sp>
      <p:sp>
        <p:nvSpPr>
          <p:cNvPr id="25" name="Text 22"/>
          <p:cNvSpPr/>
          <p:nvPr/>
        </p:nvSpPr>
        <p:spPr>
          <a:xfrm>
            <a:off x="7772400" y="4267200"/>
            <a:ext cx="508000" cy="177800"/>
          </a:xfrm>
          <a:prstGeom prst="rect">
            <a:avLst/>
          </a:prstGeom>
          <a:noFill/>
          <a:ln/>
        </p:spPr>
        <p:txBody>
          <a:bodyPr wrap="square" lIns="0" tIns="0" rIns="0" bIns="0" rtlCol="0" anchor="t">
            <a:normAutofit/>
          </a:bodyPr>
          <a:lstStyle/>
          <a:p>
            <a:pPr marL="0" indent="0" algn="l">
              <a:lnSpc>
                <a:spcPts val="1200"/>
              </a:lnSpc>
              <a:buNone/>
            </a:pPr>
            <a:r>
              <a:rPr lang="en-US" sz="1200" dirty="0">
                <a:solidFill>
                  <a:srgbClr val="1C6E8C"/>
                </a:solidFill>
                <a:latin typeface="IBM Plex Sans" pitchFamily="34" charset="0"/>
                <a:ea typeface="IBM Plex Sans" pitchFamily="34" charset="-122"/>
                <a:cs typeface="IBM Plex Sans" pitchFamily="34" charset="-120"/>
              </a:rPr>
              <a:t>25%</a:t>
            </a:r>
            <a:endParaRPr lang="en-US" sz="1200" dirty="0"/>
          </a:p>
        </p:txBody>
      </p:sp>
      <p:sp>
        <p:nvSpPr>
          <p:cNvPr id="26" name="Text 23"/>
          <p:cNvSpPr/>
          <p:nvPr/>
        </p:nvSpPr>
        <p:spPr>
          <a:xfrm>
            <a:off x="7772400" y="5029200"/>
            <a:ext cx="508000" cy="177800"/>
          </a:xfrm>
          <a:prstGeom prst="rect">
            <a:avLst/>
          </a:prstGeom>
          <a:noFill/>
          <a:ln/>
        </p:spPr>
        <p:txBody>
          <a:bodyPr wrap="square" lIns="0" tIns="0" rIns="0" bIns="0" rtlCol="0" anchor="t">
            <a:normAutofit/>
          </a:bodyPr>
          <a:lstStyle/>
          <a:p>
            <a:pPr marL="0" indent="0" algn="l">
              <a:lnSpc>
                <a:spcPts val="1200"/>
              </a:lnSpc>
              <a:buNone/>
            </a:pPr>
            <a:r>
              <a:rPr lang="en-US" sz="1200" dirty="0">
                <a:solidFill>
                  <a:srgbClr val="1C6E8C"/>
                </a:solidFill>
                <a:latin typeface="IBM Plex Sans" pitchFamily="34" charset="0"/>
                <a:ea typeface="IBM Plex Sans" pitchFamily="34" charset="-122"/>
                <a:cs typeface="IBM Plex Sans" pitchFamily="34" charset="-120"/>
              </a:rPr>
              <a:t>0%</a:t>
            </a:r>
            <a:endParaRPr lang="en-US" sz="1200" dirty="0"/>
          </a:p>
        </p:txBody>
      </p:sp>
      <p:sp>
        <p:nvSpPr>
          <p:cNvPr id="27" name="Text 24"/>
          <p:cNvSpPr/>
          <p:nvPr/>
        </p:nvSpPr>
        <p:spPr>
          <a:xfrm>
            <a:off x="8483600" y="1793239"/>
            <a:ext cx="2982468" cy="416560"/>
          </a:xfrm>
          <a:prstGeom prst="rect">
            <a:avLst/>
          </a:prstGeom>
          <a:noFill/>
          <a:ln/>
        </p:spPr>
        <p:txBody>
          <a:bodyPr wrap="square" lIns="0" tIns="0" rIns="0" bIns="0" rtlCol="0" anchor="t">
            <a:normAutofit/>
          </a:bodyPr>
          <a:lstStyle/>
          <a:p>
            <a:pPr marL="0" indent="0" algn="l">
              <a:lnSpc>
                <a:spcPts val="3080"/>
              </a:lnSpc>
              <a:buNone/>
            </a:pPr>
            <a:r>
              <a:rPr lang="en-US" sz="2800" b="1" dirty="0">
                <a:solidFill>
                  <a:srgbClr val="16202A"/>
                </a:solidFill>
                <a:latin typeface="Space Grotesk" pitchFamily="34" charset="0"/>
                <a:ea typeface="Space Grotesk" pitchFamily="34" charset="-122"/>
                <a:cs typeface="Space Grotesk" pitchFamily="34" charset="-120"/>
              </a:rPr>
              <a:t>36 → 560</a:t>
            </a:r>
            <a:endParaRPr lang="en-US" sz="2800" dirty="0"/>
          </a:p>
        </p:txBody>
      </p:sp>
      <p:sp>
        <p:nvSpPr>
          <p:cNvPr id="28" name="Text 25"/>
          <p:cNvSpPr/>
          <p:nvPr/>
        </p:nvSpPr>
        <p:spPr>
          <a:xfrm>
            <a:off x="8483600" y="2209800"/>
            <a:ext cx="2982468" cy="25654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5C6672"/>
                </a:solidFill>
                <a:latin typeface="IBM Plex Sans" pitchFamily="34" charset="0"/>
                <a:ea typeface="IBM Plex Sans" pitchFamily="34" charset="-122"/>
                <a:cs typeface="IBM Plex Sans" pitchFamily="34" charset="-120"/>
              </a:rPr>
              <a:t>zebras at the peak, tick 8,200</a:t>
            </a:r>
            <a:endParaRPr lang="en-US" sz="1300" dirty="0"/>
          </a:p>
        </p:txBody>
      </p:sp>
      <p:sp>
        <p:nvSpPr>
          <p:cNvPr id="29" name="Text 26"/>
          <p:cNvSpPr/>
          <p:nvPr/>
        </p:nvSpPr>
        <p:spPr>
          <a:xfrm>
            <a:off x="8483600" y="2618739"/>
            <a:ext cx="2982468" cy="416560"/>
          </a:xfrm>
          <a:prstGeom prst="rect">
            <a:avLst/>
          </a:prstGeom>
          <a:noFill/>
          <a:ln/>
        </p:spPr>
        <p:txBody>
          <a:bodyPr wrap="square" lIns="0" tIns="0" rIns="0" bIns="0" rtlCol="0" anchor="t">
            <a:normAutofit/>
          </a:bodyPr>
          <a:lstStyle/>
          <a:p>
            <a:pPr marL="0" indent="0" algn="l">
              <a:lnSpc>
                <a:spcPts val="3080"/>
              </a:lnSpc>
              <a:buNone/>
            </a:pPr>
            <a:r>
              <a:rPr lang="en-US" sz="2800" b="1" dirty="0">
                <a:solidFill>
                  <a:srgbClr val="1C6E8C"/>
                </a:solidFill>
                <a:latin typeface="Space Grotesk" pitchFamily="34" charset="0"/>
                <a:ea typeface="Space Grotesk" pitchFamily="34" charset="-122"/>
                <a:cs typeface="Space Grotesk" pitchFamily="34" charset="-120"/>
              </a:rPr>
              <a:t>0 → 70%</a:t>
            </a:r>
            <a:endParaRPr lang="en-US" sz="2800" dirty="0"/>
          </a:p>
        </p:txBody>
      </p:sp>
      <p:sp>
        <p:nvSpPr>
          <p:cNvPr id="30" name="Text 27"/>
          <p:cNvSpPr/>
          <p:nvPr/>
        </p:nvSpPr>
        <p:spPr>
          <a:xfrm>
            <a:off x="8483600" y="3035300"/>
            <a:ext cx="2982468" cy="25654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5C6672"/>
                </a:solidFill>
                <a:latin typeface="IBM Plex Sans" pitchFamily="34" charset="0"/>
                <a:ea typeface="IBM Plex Sans" pitchFamily="34" charset="-122"/>
                <a:cs typeface="IBM Plex Sans" pitchFamily="34" charset="-120"/>
              </a:rPr>
              <a:t>of zebras carried an evolved killer cell</a:t>
            </a:r>
            <a:endParaRPr lang="en-US" sz="1300" dirty="0"/>
          </a:p>
        </p:txBody>
      </p:sp>
      <p:sp>
        <p:nvSpPr>
          <p:cNvPr id="31" name="Text 28"/>
          <p:cNvSpPr/>
          <p:nvPr/>
        </p:nvSpPr>
        <p:spPr>
          <a:xfrm>
            <a:off x="8483600" y="3444239"/>
            <a:ext cx="2982468" cy="416560"/>
          </a:xfrm>
          <a:prstGeom prst="rect">
            <a:avLst/>
          </a:prstGeom>
          <a:noFill/>
          <a:ln/>
        </p:spPr>
        <p:txBody>
          <a:bodyPr wrap="square" lIns="0" tIns="0" rIns="0" bIns="0" rtlCol="0" anchor="t">
            <a:normAutofit/>
          </a:bodyPr>
          <a:lstStyle/>
          <a:p>
            <a:pPr marL="0" indent="0" algn="l">
              <a:lnSpc>
                <a:spcPts val="3080"/>
              </a:lnSpc>
              <a:buNone/>
            </a:pPr>
            <a:r>
              <a:rPr lang="en-US" sz="2800" b="1" dirty="0">
                <a:solidFill>
                  <a:srgbClr val="1E8A44"/>
                </a:solidFill>
                <a:latin typeface="Space Grotesk" pitchFamily="34" charset="0"/>
                <a:ea typeface="Space Grotesk" pitchFamily="34" charset="-122"/>
                <a:cs typeface="Space Grotesk" pitchFamily="34" charset="-120"/>
              </a:rPr>
              <a:t>0 plants</a:t>
            </a:r>
            <a:endParaRPr lang="en-US" sz="2800" dirty="0"/>
          </a:p>
        </p:txBody>
      </p:sp>
      <p:sp>
        <p:nvSpPr>
          <p:cNvPr id="32" name="Text 29"/>
          <p:cNvSpPr/>
          <p:nvPr/>
        </p:nvSpPr>
        <p:spPr>
          <a:xfrm>
            <a:off x="8483600" y="3860800"/>
            <a:ext cx="2982468" cy="4876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5C6672"/>
                </a:solidFill>
                <a:latin typeface="IBM Plex Sans" pitchFamily="34" charset="0"/>
                <a:ea typeface="IBM Plex Sans" pitchFamily="34" charset="-122"/>
                <a:cs typeface="IBM Plex Sans" pitchFamily="34" charset="-120"/>
              </a:rPr>
              <a:t>bushes gone at 6,000, grass at 11,900 (dashed lines)</a:t>
            </a:r>
            <a:endParaRPr lang="en-US" sz="1300" dirty="0"/>
          </a:p>
        </p:txBody>
      </p:sp>
      <p:sp>
        <p:nvSpPr>
          <p:cNvPr id="33" name="Text 30"/>
          <p:cNvSpPr/>
          <p:nvPr/>
        </p:nvSpPr>
        <p:spPr>
          <a:xfrm>
            <a:off x="8483600" y="4500879"/>
            <a:ext cx="2982468" cy="416560"/>
          </a:xfrm>
          <a:prstGeom prst="rect">
            <a:avLst/>
          </a:prstGeom>
          <a:noFill/>
          <a:ln/>
        </p:spPr>
        <p:txBody>
          <a:bodyPr wrap="square" lIns="0" tIns="0" rIns="0" bIns="0" rtlCol="0" anchor="t">
            <a:normAutofit/>
          </a:bodyPr>
          <a:lstStyle/>
          <a:p>
            <a:pPr marL="0" indent="0" algn="l">
              <a:lnSpc>
                <a:spcPts val="3080"/>
              </a:lnSpc>
              <a:buNone/>
            </a:pPr>
            <a:r>
              <a:rPr lang="en-US" sz="2800" b="1" dirty="0">
                <a:solidFill>
                  <a:srgbClr val="8A5A0B"/>
                </a:solidFill>
                <a:latin typeface="Space Grotesk" pitchFamily="34" charset="0"/>
                <a:ea typeface="Space Grotesk" pitchFamily="34" charset="-122"/>
                <a:cs typeface="Space Grotesk" pitchFamily="34" charset="-120"/>
              </a:rPr>
              <a:t>Extinct</a:t>
            </a:r>
            <a:endParaRPr lang="en-US" sz="2800" dirty="0"/>
          </a:p>
        </p:txBody>
      </p:sp>
      <p:sp>
        <p:nvSpPr>
          <p:cNvPr id="34" name="Text 31"/>
          <p:cNvSpPr/>
          <p:nvPr/>
        </p:nvSpPr>
        <p:spPr>
          <a:xfrm>
            <a:off x="8483600" y="4917442"/>
            <a:ext cx="2982468" cy="25654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5C6672"/>
                </a:solidFill>
                <a:latin typeface="IBM Plex Sans" pitchFamily="34" charset="0"/>
                <a:ea typeface="IBM Plex Sans" pitchFamily="34" charset="-122"/>
                <a:cs typeface="IBM Plex Sans" pitchFamily="34" charset="-120"/>
              </a:rPr>
              <a:t>last zebra died at tick 14,881</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3F0E8"/>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540"/>
          </a:xfrm>
          <a:prstGeom prst="rect">
            <a:avLst/>
          </a:prstGeom>
          <a:noFill/>
          <a:ln/>
        </p:spPr>
        <p:txBody>
          <a:bodyPr wrap="square" lIns="0" tIns="0" rIns="0" bIns="0" rtlCol="0" anchor="t">
            <a:normAutofit/>
          </a:bodyPr>
          <a:lstStyle/>
          <a:p>
            <a:pPr marL="0" indent="0" algn="l">
              <a:lnSpc>
                <a:spcPts val="1820"/>
              </a:lnSpc>
              <a:buNone/>
            </a:pPr>
            <a:r>
              <a:rPr lang="en-US" sz="1300" b="1" kern="0" spc="150" dirty="0">
                <a:solidFill>
                  <a:srgbClr val="8A5A0B"/>
                </a:solidFill>
                <a:latin typeface="IBM Plex Sans" pitchFamily="34" charset="0"/>
                <a:ea typeface="IBM Plex Sans" pitchFamily="34" charset="-122"/>
                <a:cs typeface="IBM Plex Sans" pitchFamily="34" charset="-120"/>
              </a:rPr>
              <a:t>BEFORE · IN THE ENGINE</a:t>
            </a:r>
            <a:endParaRPr lang="en-US" sz="1300" dirty="0"/>
          </a:p>
        </p:txBody>
      </p:sp>
      <p:sp>
        <p:nvSpPr>
          <p:cNvPr id="3" name="Text 1"/>
          <p:cNvSpPr>
            <a:spLocks noGrp="1"/>
          </p:cNvSpPr>
          <p:nvPr>
            <p:ph type="title"/>
          </p:nvPr>
        </p:nvSpPr>
        <p:spPr>
          <a:xfrm>
            <a:off x="812800" y="1120142"/>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6202A"/>
                </a:solidFill>
                <a:latin typeface="Space Grotesk" pitchFamily="34" charset="0"/>
                <a:ea typeface="Space Grotesk" pitchFamily="34" charset="-122"/>
                <a:cs typeface="Space Grotesk" pitchFamily="34" charset="-120"/>
              </a:rPr>
              <a:t>The same run, as the Life Engine drew it</a:t>
            </a:r>
            <a:endParaRPr lang="en-US" sz="3000" dirty="0"/>
          </a:p>
        </p:txBody>
      </p:sp>
      <p:pic>
        <p:nvPicPr>
          <p:cNvPr id="4" name="Image 0" descr="Life Engine world at tick 0: scattered zebras, rhinos and green grass and bush plants on a dark background"/>
          <p:cNvPicPr>
            <a:picLocks noChangeAspect="1"/>
          </p:cNvPicPr>
          <p:nvPr/>
        </p:nvPicPr>
        <p:blipFill>
          <a:blip r:embed="rId3"/>
          <a:srcRect t="246" b="246"/>
          <a:stretch/>
        </p:blipFill>
        <p:spPr>
          <a:xfrm>
            <a:off x="825500" y="1831342"/>
            <a:ext cx="3359150" cy="2089150"/>
          </a:xfrm>
          <a:prstGeom prst="roundRect">
            <a:avLst>
              <a:gd name="adj" fmla="val 3040"/>
            </a:avLst>
          </a:prstGeom>
        </p:spPr>
      </p:pic>
      <p:sp>
        <p:nvSpPr>
          <p:cNvPr id="5" name="Shape 2"/>
          <p:cNvSpPr/>
          <p:nvPr/>
        </p:nvSpPr>
        <p:spPr>
          <a:xfrm>
            <a:off x="819150" y="1824992"/>
            <a:ext cx="3371850" cy="2101850"/>
          </a:xfrm>
          <a:prstGeom prst="roundRect">
            <a:avLst>
              <a:gd name="adj" fmla="val 3323"/>
            </a:avLst>
          </a:prstGeom>
          <a:noFill/>
          <a:ln w="12700">
            <a:solidFill>
              <a:srgbClr val="DDD6C8"/>
            </a:solidFill>
            <a:prstDash val="solid"/>
          </a:ln>
        </p:spPr>
        <p:txBody>
          <a:bodyPr/>
          <a:lstStyle/>
          <a:p>
            <a:endParaRPr lang="en-ZA"/>
          </a:p>
        </p:txBody>
      </p:sp>
      <p:sp>
        <p:nvSpPr>
          <p:cNvPr id="6" name="Text 3"/>
          <p:cNvSpPr/>
          <p:nvPr/>
        </p:nvSpPr>
        <p:spPr>
          <a:xfrm>
            <a:off x="812800" y="4047492"/>
            <a:ext cx="3488212" cy="28448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16202A"/>
                </a:solidFill>
                <a:latin typeface="Space Grotesk" pitchFamily="34" charset="0"/>
                <a:ea typeface="Space Grotesk" pitchFamily="34" charset="-122"/>
                <a:cs typeface="Space Grotesk" pitchFamily="34" charset="-120"/>
              </a:rPr>
              <a:t>Tick 0</a:t>
            </a:r>
            <a:endParaRPr lang="en-US" sz="1700" dirty="0"/>
          </a:p>
        </p:txBody>
      </p:sp>
      <p:sp>
        <p:nvSpPr>
          <p:cNvPr id="7" name="Text 4"/>
          <p:cNvSpPr/>
          <p:nvPr/>
        </p:nvSpPr>
        <p:spPr>
          <a:xfrm>
            <a:off x="812800" y="4420871"/>
            <a:ext cx="3488212" cy="4876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563"/>
                </a:solidFill>
                <a:latin typeface="IBM Plex Sans" pitchFamily="34" charset="0"/>
                <a:ea typeface="IBM Plex Sans" pitchFamily="34" charset="-122"/>
                <a:cs typeface="IBM Plex Sans" pitchFamily="34" charset="-120"/>
              </a:rPr>
              <a:t>36 zebras with no killer cell, 12 rhinos, 140 grass and 45 bush plants.</a:t>
            </a:r>
            <a:endParaRPr lang="en-US" sz="1300" dirty="0"/>
          </a:p>
        </p:txBody>
      </p:sp>
      <p:pic>
        <p:nvPicPr>
          <p:cNvPr id="8" name="Image 1" descr="Life Engine world at tick 10,000: many small zebras with pink killer cells, few green plants left"/>
          <p:cNvPicPr>
            <a:picLocks noChangeAspect="1"/>
          </p:cNvPicPr>
          <p:nvPr/>
        </p:nvPicPr>
        <p:blipFill>
          <a:blip r:embed="rId4"/>
          <a:srcRect t="246" b="246"/>
          <a:stretch/>
        </p:blipFill>
        <p:spPr>
          <a:xfrm>
            <a:off x="4415314" y="1831342"/>
            <a:ext cx="3359150" cy="2089150"/>
          </a:xfrm>
          <a:prstGeom prst="roundRect">
            <a:avLst>
              <a:gd name="adj" fmla="val 3040"/>
            </a:avLst>
          </a:prstGeom>
        </p:spPr>
      </p:pic>
      <p:sp>
        <p:nvSpPr>
          <p:cNvPr id="9" name="Shape 5"/>
          <p:cNvSpPr/>
          <p:nvPr/>
        </p:nvSpPr>
        <p:spPr>
          <a:xfrm>
            <a:off x="4408964" y="1824992"/>
            <a:ext cx="3371850" cy="2101850"/>
          </a:xfrm>
          <a:prstGeom prst="roundRect">
            <a:avLst>
              <a:gd name="adj" fmla="val 3323"/>
            </a:avLst>
          </a:prstGeom>
          <a:noFill/>
          <a:ln w="12700">
            <a:solidFill>
              <a:srgbClr val="DDD6C8"/>
            </a:solidFill>
            <a:prstDash val="solid"/>
          </a:ln>
        </p:spPr>
        <p:txBody>
          <a:bodyPr/>
          <a:lstStyle/>
          <a:p>
            <a:endParaRPr lang="en-ZA"/>
          </a:p>
        </p:txBody>
      </p:sp>
      <p:sp>
        <p:nvSpPr>
          <p:cNvPr id="10" name="Text 6"/>
          <p:cNvSpPr/>
          <p:nvPr/>
        </p:nvSpPr>
        <p:spPr>
          <a:xfrm>
            <a:off x="4402614" y="4047492"/>
            <a:ext cx="3488294" cy="28448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16202A"/>
                </a:solidFill>
                <a:latin typeface="Space Grotesk" pitchFamily="34" charset="0"/>
                <a:ea typeface="Space Grotesk" pitchFamily="34" charset="-122"/>
                <a:cs typeface="Space Grotesk" pitchFamily="34" charset="-120"/>
              </a:rPr>
              <a:t>Tick 10,000</a:t>
            </a:r>
            <a:endParaRPr lang="en-US" sz="1700" dirty="0"/>
          </a:p>
        </p:txBody>
      </p:sp>
      <p:sp>
        <p:nvSpPr>
          <p:cNvPr id="11" name="Text 7"/>
          <p:cNvSpPr/>
          <p:nvPr/>
        </p:nvSpPr>
        <p:spPr>
          <a:xfrm>
            <a:off x="4402614" y="4420871"/>
            <a:ext cx="3488294" cy="71882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563"/>
                </a:solidFill>
                <a:latin typeface="IBM Plex Sans" pitchFamily="34" charset="0"/>
                <a:ea typeface="IBM Plex Sans" pitchFamily="34" charset="-122"/>
                <a:cs typeface="IBM Plex Sans" pitchFamily="34" charset="-120"/>
              </a:rPr>
              <a:t>156 zebras, 26% with a pink killer cell. Bushes and rhinos gone; 113 grass plants left.</a:t>
            </a:r>
            <a:endParaRPr lang="en-US" sz="1300" dirty="0"/>
          </a:p>
        </p:txBody>
      </p:sp>
      <p:pic>
        <p:nvPicPr>
          <p:cNvPr id="12" name="Image 2" descr="Life Engine world at tick 14,881: almost empty, only leftover blue food cells"/>
          <p:cNvPicPr>
            <a:picLocks noChangeAspect="1"/>
          </p:cNvPicPr>
          <p:nvPr/>
        </p:nvPicPr>
        <p:blipFill>
          <a:blip r:embed="rId5"/>
          <a:srcRect t="246" b="246"/>
          <a:stretch/>
        </p:blipFill>
        <p:spPr>
          <a:xfrm>
            <a:off x="8005207" y="1831342"/>
            <a:ext cx="3359150" cy="2089150"/>
          </a:xfrm>
          <a:prstGeom prst="roundRect">
            <a:avLst>
              <a:gd name="adj" fmla="val 3040"/>
            </a:avLst>
          </a:prstGeom>
        </p:spPr>
      </p:pic>
      <p:sp>
        <p:nvSpPr>
          <p:cNvPr id="13" name="Shape 8"/>
          <p:cNvSpPr/>
          <p:nvPr/>
        </p:nvSpPr>
        <p:spPr>
          <a:xfrm>
            <a:off x="7998857" y="1824992"/>
            <a:ext cx="3371850" cy="2101850"/>
          </a:xfrm>
          <a:prstGeom prst="roundRect">
            <a:avLst>
              <a:gd name="adj" fmla="val 3323"/>
            </a:avLst>
          </a:prstGeom>
          <a:noFill/>
          <a:ln w="12700">
            <a:solidFill>
              <a:srgbClr val="DDD6C8"/>
            </a:solidFill>
            <a:prstDash val="solid"/>
          </a:ln>
        </p:spPr>
        <p:txBody>
          <a:bodyPr/>
          <a:lstStyle/>
          <a:p>
            <a:endParaRPr lang="en-ZA"/>
          </a:p>
        </p:txBody>
      </p:sp>
      <p:sp>
        <p:nvSpPr>
          <p:cNvPr id="14" name="Text 9"/>
          <p:cNvSpPr/>
          <p:nvPr/>
        </p:nvSpPr>
        <p:spPr>
          <a:xfrm>
            <a:off x="7992507" y="4047492"/>
            <a:ext cx="3488294" cy="28448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16202A"/>
                </a:solidFill>
                <a:latin typeface="Space Grotesk" pitchFamily="34" charset="0"/>
                <a:ea typeface="Space Grotesk" pitchFamily="34" charset="-122"/>
                <a:cs typeface="Space Grotesk" pitchFamily="34" charset="-120"/>
              </a:rPr>
              <a:t>Tick 14,881</a:t>
            </a:r>
            <a:endParaRPr lang="en-US" sz="1700" dirty="0"/>
          </a:p>
        </p:txBody>
      </p:sp>
      <p:sp>
        <p:nvSpPr>
          <p:cNvPr id="15" name="Text 10"/>
          <p:cNvSpPr/>
          <p:nvPr/>
        </p:nvSpPr>
        <p:spPr>
          <a:xfrm>
            <a:off x="7992507" y="4420871"/>
            <a:ext cx="3488294" cy="4876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563"/>
                </a:solidFill>
                <a:latin typeface="IBM Plex Sans" pitchFamily="34" charset="0"/>
                <a:ea typeface="IBM Plex Sans" pitchFamily="34" charset="-122"/>
                <a:cs typeface="IBM Plex Sans" pitchFamily="34" charset="-120"/>
              </a:rPr>
              <a:t>No plants make food any more. The last zebra dies of old age.</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3F0E8"/>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540"/>
          </a:xfrm>
          <a:prstGeom prst="rect">
            <a:avLst/>
          </a:prstGeom>
          <a:noFill/>
          <a:ln/>
        </p:spPr>
        <p:txBody>
          <a:bodyPr wrap="square" lIns="0" tIns="0" rIns="0" bIns="0" rtlCol="0" anchor="t">
            <a:normAutofit/>
          </a:bodyPr>
          <a:lstStyle/>
          <a:p>
            <a:pPr marL="0" indent="0" algn="l">
              <a:lnSpc>
                <a:spcPts val="1820"/>
              </a:lnSpc>
              <a:buNone/>
            </a:pPr>
            <a:r>
              <a:rPr lang="en-US" sz="1300" b="1" kern="0" spc="150" dirty="0">
                <a:solidFill>
                  <a:srgbClr val="1C6E8C"/>
                </a:solidFill>
                <a:latin typeface="IBM Plex Sans" pitchFamily="34" charset="0"/>
                <a:ea typeface="IBM Plex Sans" pitchFamily="34" charset="-122"/>
                <a:cs typeface="IBM Plex Sans" pitchFamily="34" charset="-120"/>
              </a:rPr>
              <a:t>AFTER · THE SAME SPECIES, UPGRADED</a:t>
            </a:r>
            <a:endParaRPr lang="en-US" sz="1300" dirty="0"/>
          </a:p>
        </p:txBody>
      </p:sp>
      <p:sp>
        <p:nvSpPr>
          <p:cNvPr id="3" name="Text 1"/>
          <p:cNvSpPr>
            <a:spLocks noGrp="1"/>
          </p:cNvSpPr>
          <p:nvPr>
            <p:ph type="title"/>
          </p:nvPr>
        </p:nvSpPr>
        <p:spPr>
          <a:xfrm>
            <a:off x="812800" y="1120142"/>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6202A"/>
                </a:solidFill>
                <a:latin typeface="Space Grotesk" pitchFamily="34" charset="0"/>
                <a:ea typeface="Space Grotesk" pitchFamily="34" charset="-122"/>
                <a:cs typeface="Space Grotesk" pitchFamily="34" charset="-120"/>
              </a:rPr>
              <a:t>New cells (outlined), plus water, a river, trees and fire</a:t>
            </a:r>
            <a:endParaRPr lang="en-US" sz="3000" dirty="0"/>
          </a:p>
        </p:txBody>
      </p:sp>
      <p:sp>
        <p:nvSpPr>
          <p:cNvPr id="4" name="Text 2"/>
          <p:cNvSpPr/>
          <p:nvPr/>
        </p:nvSpPr>
        <p:spPr>
          <a:xfrm>
            <a:off x="812800" y="1793242"/>
            <a:ext cx="635000" cy="635000"/>
          </a:xfrm>
          <a:prstGeom prst="rect">
            <a:avLst/>
          </a:prstGeom>
          <a:solidFill>
            <a:srgbClr val="DEB14D"/>
          </a:solidFill>
          <a:ln/>
        </p:spPr>
        <p:txBody>
          <a:bodyPr wrap="square" lIns="0" tIns="0" rIns="0" bIns="0" rtlCol="0" anchor="ctr">
            <a:normAutofit/>
          </a:bodyPr>
          <a:lstStyle/>
          <a:p>
            <a:pPr marL="0" indent="0" algn="ctr">
              <a:lnSpc>
                <a:spcPts val="1680"/>
              </a:lnSpc>
              <a:buNone/>
            </a:pPr>
            <a:r>
              <a:rPr lang="en-US" sz="1200" b="1" dirty="0">
                <a:solidFill>
                  <a:srgbClr val="16202A"/>
                </a:solidFill>
                <a:latin typeface="IBM Plex Sans" pitchFamily="34" charset="0"/>
                <a:ea typeface="IBM Plex Sans" pitchFamily="34" charset="-122"/>
                <a:cs typeface="IBM Plex Sans" pitchFamily="34" charset="-120"/>
              </a:rPr>
              <a:t>mouth</a:t>
            </a:r>
            <a:endParaRPr lang="en-US" sz="1200" dirty="0"/>
          </a:p>
        </p:txBody>
      </p:sp>
      <p:sp>
        <p:nvSpPr>
          <p:cNvPr id="5" name="Text 3"/>
          <p:cNvSpPr/>
          <p:nvPr/>
        </p:nvSpPr>
        <p:spPr>
          <a:xfrm>
            <a:off x="1466850" y="1793242"/>
            <a:ext cx="635000" cy="635000"/>
          </a:xfrm>
          <a:prstGeom prst="rect">
            <a:avLst/>
          </a:prstGeom>
          <a:solidFill>
            <a:srgbClr val="B6C1EA"/>
          </a:solidFill>
          <a:ln/>
        </p:spPr>
        <p:txBody>
          <a:bodyPr wrap="square" lIns="0" tIns="0" rIns="0" bIns="0" rtlCol="0" anchor="ctr">
            <a:normAutofit/>
          </a:bodyPr>
          <a:lstStyle/>
          <a:p>
            <a:pPr marL="0" indent="0" algn="ctr">
              <a:lnSpc>
                <a:spcPts val="1680"/>
              </a:lnSpc>
              <a:buNone/>
            </a:pPr>
            <a:r>
              <a:rPr lang="en-US" sz="1200" b="1" dirty="0">
                <a:solidFill>
                  <a:srgbClr val="16202A"/>
                </a:solidFill>
                <a:latin typeface="IBM Plex Sans" pitchFamily="34" charset="0"/>
                <a:ea typeface="IBM Plex Sans" pitchFamily="34" charset="-122"/>
                <a:cs typeface="IBM Plex Sans" pitchFamily="34" charset="-120"/>
              </a:rPr>
              <a:t>eye</a:t>
            </a:r>
            <a:endParaRPr lang="en-US" sz="1200" dirty="0"/>
          </a:p>
        </p:txBody>
      </p:sp>
      <p:sp>
        <p:nvSpPr>
          <p:cNvPr id="6" name="Text 4"/>
          <p:cNvSpPr/>
          <p:nvPr/>
        </p:nvSpPr>
        <p:spPr>
          <a:xfrm>
            <a:off x="2120900" y="1793242"/>
            <a:ext cx="635000" cy="635000"/>
          </a:xfrm>
          <a:prstGeom prst="rect">
            <a:avLst/>
          </a:prstGeom>
          <a:solidFill>
            <a:srgbClr val="60D4FF"/>
          </a:solidFill>
          <a:ln/>
        </p:spPr>
        <p:txBody>
          <a:bodyPr wrap="square" lIns="0" tIns="0" rIns="0" bIns="0" rtlCol="0" anchor="ctr">
            <a:normAutofit/>
          </a:bodyPr>
          <a:lstStyle/>
          <a:p>
            <a:pPr marL="0" indent="0" algn="ctr">
              <a:lnSpc>
                <a:spcPts val="1680"/>
              </a:lnSpc>
              <a:buNone/>
            </a:pPr>
            <a:r>
              <a:rPr lang="en-US" sz="1200" b="1" dirty="0">
                <a:solidFill>
                  <a:srgbClr val="16202A"/>
                </a:solidFill>
                <a:latin typeface="IBM Plex Sans" pitchFamily="34" charset="0"/>
                <a:ea typeface="IBM Plex Sans" pitchFamily="34" charset="-122"/>
                <a:cs typeface="IBM Plex Sans" pitchFamily="34" charset="-120"/>
              </a:rPr>
              <a:t>mover</a:t>
            </a:r>
            <a:endParaRPr lang="en-US" sz="1200" dirty="0"/>
          </a:p>
        </p:txBody>
      </p:sp>
      <p:sp>
        <p:nvSpPr>
          <p:cNvPr id="7" name="Text 5"/>
          <p:cNvSpPr/>
          <p:nvPr/>
        </p:nvSpPr>
        <p:spPr>
          <a:xfrm>
            <a:off x="812800" y="2447292"/>
            <a:ext cx="635000" cy="635000"/>
          </a:xfrm>
          <a:prstGeom prst="rect">
            <a:avLst/>
          </a:prstGeom>
          <a:solidFill>
            <a:srgbClr val="B6C1EA"/>
          </a:solidFill>
          <a:ln/>
        </p:spPr>
        <p:txBody>
          <a:bodyPr wrap="square" lIns="0" tIns="0" rIns="0" bIns="0" rtlCol="0" anchor="ctr">
            <a:normAutofit/>
          </a:bodyPr>
          <a:lstStyle/>
          <a:p>
            <a:pPr marL="0" indent="0" algn="ctr">
              <a:lnSpc>
                <a:spcPts val="1680"/>
              </a:lnSpc>
              <a:buNone/>
            </a:pPr>
            <a:r>
              <a:rPr lang="en-US" sz="1200" b="1" dirty="0">
                <a:solidFill>
                  <a:srgbClr val="16202A"/>
                </a:solidFill>
                <a:latin typeface="IBM Plex Sans" pitchFamily="34" charset="0"/>
                <a:ea typeface="IBM Plex Sans" pitchFamily="34" charset="-122"/>
                <a:cs typeface="IBM Plex Sans" pitchFamily="34" charset="-120"/>
              </a:rPr>
              <a:t>eye</a:t>
            </a:r>
            <a:endParaRPr lang="en-US" sz="1200" dirty="0"/>
          </a:p>
        </p:txBody>
      </p:sp>
      <p:sp>
        <p:nvSpPr>
          <p:cNvPr id="8" name="Text 6"/>
          <p:cNvSpPr/>
          <p:nvPr/>
        </p:nvSpPr>
        <p:spPr>
          <a:xfrm>
            <a:off x="1479550" y="2459992"/>
            <a:ext cx="609600" cy="609600"/>
          </a:xfrm>
          <a:prstGeom prst="rect">
            <a:avLst/>
          </a:prstGeom>
          <a:solidFill>
            <a:srgbClr val="F2F2F2"/>
          </a:solidFill>
          <a:ln w="25400">
            <a:solidFill>
              <a:srgbClr val="DEB14D"/>
            </a:solidFill>
            <a:prstDash val="dash"/>
          </a:ln>
        </p:spPr>
        <p:txBody>
          <a:bodyPr wrap="square" lIns="12700" tIns="12700" rIns="12700" bIns="12700" rtlCol="0" anchor="ctr">
            <a:normAutofit/>
          </a:bodyPr>
          <a:lstStyle/>
          <a:p>
            <a:pPr marL="0" indent="0" algn="ctr">
              <a:lnSpc>
                <a:spcPts val="1680"/>
              </a:lnSpc>
              <a:buNone/>
            </a:pPr>
            <a:r>
              <a:rPr lang="en-US" sz="1200" b="1" dirty="0">
                <a:solidFill>
                  <a:srgbClr val="16202A"/>
                </a:solidFill>
                <a:latin typeface="IBM Plex Sans" pitchFamily="34" charset="0"/>
                <a:ea typeface="IBM Plex Sans" pitchFamily="34" charset="-122"/>
                <a:cs typeface="IBM Plex Sans" pitchFamily="34" charset="-120"/>
              </a:rPr>
              <a:t>stripe</a:t>
            </a:r>
            <a:endParaRPr lang="en-US" sz="1200" dirty="0"/>
          </a:p>
        </p:txBody>
      </p:sp>
      <p:sp>
        <p:nvSpPr>
          <p:cNvPr id="9" name="Text 7"/>
          <p:cNvSpPr/>
          <p:nvPr/>
        </p:nvSpPr>
        <p:spPr>
          <a:xfrm>
            <a:off x="2120900" y="2447292"/>
            <a:ext cx="635000" cy="635000"/>
          </a:xfrm>
          <a:prstGeom prst="rect">
            <a:avLst/>
          </a:prstGeom>
          <a:solidFill>
            <a:srgbClr val="60D4FF"/>
          </a:solidFill>
          <a:ln/>
        </p:spPr>
        <p:txBody>
          <a:bodyPr wrap="square" lIns="0" tIns="0" rIns="0" bIns="0" rtlCol="0" anchor="ctr">
            <a:normAutofit/>
          </a:bodyPr>
          <a:lstStyle/>
          <a:p>
            <a:pPr marL="0" indent="0" algn="ctr">
              <a:lnSpc>
                <a:spcPts val="1680"/>
              </a:lnSpc>
              <a:buNone/>
            </a:pPr>
            <a:r>
              <a:rPr lang="en-US" sz="1200" b="1" dirty="0">
                <a:solidFill>
                  <a:srgbClr val="16202A"/>
                </a:solidFill>
                <a:latin typeface="IBM Plex Sans" pitchFamily="34" charset="0"/>
                <a:ea typeface="IBM Plex Sans" pitchFamily="34" charset="-122"/>
                <a:cs typeface="IBM Plex Sans" pitchFamily="34" charset="-120"/>
              </a:rPr>
              <a:t>mover</a:t>
            </a:r>
            <a:endParaRPr lang="en-US" sz="1200" dirty="0"/>
          </a:p>
        </p:txBody>
      </p:sp>
      <p:sp>
        <p:nvSpPr>
          <p:cNvPr id="10" name="Text 8"/>
          <p:cNvSpPr/>
          <p:nvPr/>
        </p:nvSpPr>
        <p:spPr>
          <a:xfrm>
            <a:off x="825500" y="3114042"/>
            <a:ext cx="609600" cy="609600"/>
          </a:xfrm>
          <a:prstGeom prst="rect">
            <a:avLst/>
          </a:prstGeom>
          <a:solidFill>
            <a:srgbClr val="F2F2F2"/>
          </a:solidFill>
          <a:ln w="25400">
            <a:solidFill>
              <a:srgbClr val="DEB14D"/>
            </a:solidFill>
            <a:prstDash val="dash"/>
          </a:ln>
        </p:spPr>
        <p:txBody>
          <a:bodyPr wrap="square" lIns="12700" tIns="12700" rIns="12700" bIns="12700" rtlCol="0" anchor="ctr">
            <a:normAutofit/>
          </a:bodyPr>
          <a:lstStyle/>
          <a:p>
            <a:pPr marL="0" indent="0" algn="ctr">
              <a:lnSpc>
                <a:spcPts val="1680"/>
              </a:lnSpc>
              <a:buNone/>
            </a:pPr>
            <a:r>
              <a:rPr lang="en-US" sz="1200" b="1" dirty="0">
                <a:solidFill>
                  <a:srgbClr val="16202A"/>
                </a:solidFill>
                <a:latin typeface="IBM Plex Sans" pitchFamily="34" charset="0"/>
                <a:ea typeface="IBM Plex Sans" pitchFamily="34" charset="-122"/>
                <a:cs typeface="IBM Plex Sans" pitchFamily="34" charset="-120"/>
              </a:rPr>
              <a:t>stripe</a:t>
            </a:r>
            <a:endParaRPr lang="en-US" sz="1200" dirty="0"/>
          </a:p>
        </p:txBody>
      </p:sp>
      <p:sp>
        <p:nvSpPr>
          <p:cNvPr id="11" name="Text 9"/>
          <p:cNvSpPr/>
          <p:nvPr/>
        </p:nvSpPr>
        <p:spPr>
          <a:xfrm>
            <a:off x="1466850" y="3101342"/>
            <a:ext cx="635000" cy="635000"/>
          </a:xfrm>
          <a:prstGeom prst="rect">
            <a:avLst/>
          </a:prstGeom>
          <a:solidFill>
            <a:srgbClr val="F82380"/>
          </a:solidFill>
          <a:ln/>
        </p:spPr>
        <p:txBody>
          <a:bodyPr wrap="square" lIns="0" tIns="0" rIns="0" bIns="0" rtlCol="0" anchor="ctr">
            <a:normAutofit/>
          </a:bodyPr>
          <a:lstStyle/>
          <a:p>
            <a:pPr marL="0" indent="0" algn="ctr">
              <a:lnSpc>
                <a:spcPts val="1680"/>
              </a:lnSpc>
              <a:buNone/>
            </a:pPr>
            <a:r>
              <a:rPr lang="en-US" sz="1200" b="1" dirty="0">
                <a:solidFill>
                  <a:srgbClr val="FBFAF6"/>
                </a:solidFill>
                <a:latin typeface="IBM Plex Sans" pitchFamily="34" charset="0"/>
                <a:ea typeface="IBM Plex Sans" pitchFamily="34" charset="-122"/>
                <a:cs typeface="IBM Plex Sans" pitchFamily="34" charset="-120"/>
              </a:rPr>
              <a:t>killer</a:t>
            </a:r>
            <a:endParaRPr lang="en-US" sz="1200" dirty="0"/>
          </a:p>
        </p:txBody>
      </p:sp>
      <p:sp>
        <p:nvSpPr>
          <p:cNvPr id="12" name="Text 10"/>
          <p:cNvSpPr/>
          <p:nvPr/>
        </p:nvSpPr>
        <p:spPr>
          <a:xfrm>
            <a:off x="1092930" y="3850642"/>
            <a:ext cx="1382840" cy="274320"/>
          </a:xfrm>
          <a:prstGeom prst="rect">
            <a:avLst/>
          </a:prstGeom>
          <a:noFill/>
          <a:ln/>
        </p:spPr>
        <p:txBody>
          <a:bodyPr wrap="square" lIns="0" tIns="0" rIns="0" bIns="0" rtlCol="0" anchor="t">
            <a:normAutofit/>
          </a:bodyPr>
          <a:lstStyle/>
          <a:p>
            <a:pPr marL="0" indent="0" algn="ctr">
              <a:lnSpc>
                <a:spcPts val="1960"/>
              </a:lnSpc>
              <a:buNone/>
            </a:pPr>
            <a:r>
              <a:rPr lang="en-US" sz="1400" b="1" dirty="0">
                <a:solidFill>
                  <a:srgbClr val="16202A"/>
                </a:solidFill>
                <a:latin typeface="IBM Plex Sans" pitchFamily="34" charset="0"/>
                <a:ea typeface="IBM Plex Sans" pitchFamily="34" charset="-122"/>
                <a:cs typeface="IBM Plex Sans" pitchFamily="34" charset="-120"/>
              </a:rPr>
              <a:t>zebra (8 cells)</a:t>
            </a:r>
            <a:endParaRPr lang="en-US" sz="1400" dirty="0"/>
          </a:p>
        </p:txBody>
      </p:sp>
      <p:sp>
        <p:nvSpPr>
          <p:cNvPr id="13" name="Text 11"/>
          <p:cNvSpPr/>
          <p:nvPr/>
        </p:nvSpPr>
        <p:spPr>
          <a:xfrm>
            <a:off x="2968625" y="1793242"/>
            <a:ext cx="635000" cy="635000"/>
          </a:xfrm>
          <a:prstGeom prst="rect">
            <a:avLst/>
          </a:prstGeom>
          <a:solidFill>
            <a:srgbClr val="DEB14D"/>
          </a:solidFill>
          <a:ln/>
        </p:spPr>
        <p:txBody>
          <a:bodyPr wrap="square" lIns="0" tIns="0" rIns="0" bIns="0" rtlCol="0" anchor="ctr">
            <a:normAutofit/>
          </a:bodyPr>
          <a:lstStyle/>
          <a:p>
            <a:pPr marL="0" indent="0" algn="ctr">
              <a:lnSpc>
                <a:spcPts val="1680"/>
              </a:lnSpc>
              <a:buNone/>
            </a:pPr>
            <a:r>
              <a:rPr lang="en-US" sz="1200" b="1" dirty="0">
                <a:solidFill>
                  <a:srgbClr val="16202A"/>
                </a:solidFill>
                <a:latin typeface="IBM Plex Sans" pitchFamily="34" charset="0"/>
                <a:ea typeface="IBM Plex Sans" pitchFamily="34" charset="-122"/>
                <a:cs typeface="IBM Plex Sans" pitchFamily="34" charset="-120"/>
              </a:rPr>
              <a:t>mouth</a:t>
            </a:r>
            <a:endParaRPr lang="en-US" sz="1200" dirty="0"/>
          </a:p>
        </p:txBody>
      </p:sp>
      <p:sp>
        <p:nvSpPr>
          <p:cNvPr id="14" name="Text 12"/>
          <p:cNvSpPr/>
          <p:nvPr/>
        </p:nvSpPr>
        <p:spPr>
          <a:xfrm>
            <a:off x="3635375" y="1805942"/>
            <a:ext cx="609600" cy="609600"/>
          </a:xfrm>
          <a:prstGeom prst="rect">
            <a:avLst/>
          </a:prstGeom>
          <a:solidFill>
            <a:srgbClr val="E8E2C8"/>
          </a:solidFill>
          <a:ln w="25400">
            <a:solidFill>
              <a:srgbClr val="DEB14D"/>
            </a:solidFill>
            <a:prstDash val="dash"/>
          </a:ln>
        </p:spPr>
        <p:txBody>
          <a:bodyPr wrap="square" lIns="12700" tIns="12700" rIns="12700" bIns="12700" rtlCol="0" anchor="ctr">
            <a:normAutofit/>
          </a:bodyPr>
          <a:lstStyle/>
          <a:p>
            <a:pPr marL="0" indent="0" algn="ctr">
              <a:lnSpc>
                <a:spcPts val="1680"/>
              </a:lnSpc>
              <a:buNone/>
            </a:pPr>
            <a:r>
              <a:rPr lang="en-US" sz="1200" b="1" dirty="0">
                <a:solidFill>
                  <a:srgbClr val="16202A"/>
                </a:solidFill>
                <a:latin typeface="IBM Plex Sans" pitchFamily="34" charset="0"/>
                <a:ea typeface="IBM Plex Sans" pitchFamily="34" charset="-122"/>
                <a:cs typeface="IBM Plex Sans" pitchFamily="34" charset="-120"/>
              </a:rPr>
              <a:t>horn</a:t>
            </a:r>
            <a:endParaRPr lang="en-US" sz="1200" dirty="0"/>
          </a:p>
        </p:txBody>
      </p:sp>
      <p:sp>
        <p:nvSpPr>
          <p:cNvPr id="15" name="Text 13"/>
          <p:cNvSpPr/>
          <p:nvPr/>
        </p:nvSpPr>
        <p:spPr>
          <a:xfrm>
            <a:off x="4276725" y="1793242"/>
            <a:ext cx="635000" cy="635000"/>
          </a:xfrm>
          <a:prstGeom prst="rect">
            <a:avLst/>
          </a:prstGeom>
          <a:solidFill>
            <a:srgbClr val="B6C1EA"/>
          </a:solidFill>
          <a:ln/>
        </p:spPr>
        <p:txBody>
          <a:bodyPr wrap="square" lIns="0" tIns="0" rIns="0" bIns="0" rtlCol="0" anchor="ctr">
            <a:normAutofit/>
          </a:bodyPr>
          <a:lstStyle/>
          <a:p>
            <a:pPr marL="0" indent="0" algn="ctr">
              <a:lnSpc>
                <a:spcPts val="1680"/>
              </a:lnSpc>
              <a:buNone/>
            </a:pPr>
            <a:r>
              <a:rPr lang="en-US" sz="1200" b="1" dirty="0">
                <a:solidFill>
                  <a:srgbClr val="16202A"/>
                </a:solidFill>
                <a:latin typeface="IBM Plex Sans" pitchFamily="34" charset="0"/>
                <a:ea typeface="IBM Plex Sans" pitchFamily="34" charset="-122"/>
                <a:cs typeface="IBM Plex Sans" pitchFamily="34" charset="-120"/>
              </a:rPr>
              <a:t>eye</a:t>
            </a:r>
            <a:endParaRPr lang="en-US" sz="1200" dirty="0"/>
          </a:p>
        </p:txBody>
      </p:sp>
      <p:sp>
        <p:nvSpPr>
          <p:cNvPr id="16" name="Text 14"/>
          <p:cNvSpPr/>
          <p:nvPr/>
        </p:nvSpPr>
        <p:spPr>
          <a:xfrm>
            <a:off x="2968625" y="2447292"/>
            <a:ext cx="635000" cy="635000"/>
          </a:xfrm>
          <a:prstGeom prst="rect">
            <a:avLst/>
          </a:prstGeom>
          <a:solidFill>
            <a:srgbClr val="7230DB"/>
          </a:solidFill>
          <a:ln/>
        </p:spPr>
        <p:txBody>
          <a:bodyPr wrap="square" lIns="0" tIns="0" rIns="0" bIns="0" rtlCol="0" anchor="ctr">
            <a:normAutofit/>
          </a:bodyPr>
          <a:lstStyle/>
          <a:p>
            <a:pPr marL="0" indent="0" algn="ctr">
              <a:lnSpc>
                <a:spcPts val="1680"/>
              </a:lnSpc>
              <a:buNone/>
            </a:pPr>
            <a:r>
              <a:rPr lang="en-US" sz="1200" b="1" dirty="0">
                <a:solidFill>
                  <a:srgbClr val="FBFAF6"/>
                </a:solidFill>
                <a:latin typeface="IBM Plex Sans" pitchFamily="34" charset="0"/>
                <a:ea typeface="IBM Plex Sans" pitchFamily="34" charset="-122"/>
                <a:cs typeface="IBM Plex Sans" pitchFamily="34" charset="-120"/>
              </a:rPr>
              <a:t>armor</a:t>
            </a:r>
            <a:endParaRPr lang="en-US" sz="1200" dirty="0"/>
          </a:p>
        </p:txBody>
      </p:sp>
      <p:sp>
        <p:nvSpPr>
          <p:cNvPr id="17" name="Text 15"/>
          <p:cNvSpPr/>
          <p:nvPr/>
        </p:nvSpPr>
        <p:spPr>
          <a:xfrm>
            <a:off x="3622675" y="2447292"/>
            <a:ext cx="635000" cy="635000"/>
          </a:xfrm>
          <a:prstGeom prst="rect">
            <a:avLst/>
          </a:prstGeom>
          <a:solidFill>
            <a:srgbClr val="60D4FF"/>
          </a:solidFill>
          <a:ln/>
        </p:spPr>
        <p:txBody>
          <a:bodyPr wrap="square" lIns="0" tIns="0" rIns="0" bIns="0" rtlCol="0" anchor="ctr">
            <a:normAutofit/>
          </a:bodyPr>
          <a:lstStyle/>
          <a:p>
            <a:pPr marL="0" indent="0" algn="ctr">
              <a:lnSpc>
                <a:spcPts val="1680"/>
              </a:lnSpc>
              <a:buNone/>
            </a:pPr>
            <a:r>
              <a:rPr lang="en-US" sz="1200" b="1" dirty="0">
                <a:solidFill>
                  <a:srgbClr val="16202A"/>
                </a:solidFill>
                <a:latin typeface="IBM Plex Sans" pitchFamily="34" charset="0"/>
                <a:ea typeface="IBM Plex Sans" pitchFamily="34" charset="-122"/>
                <a:cs typeface="IBM Plex Sans" pitchFamily="34" charset="-120"/>
              </a:rPr>
              <a:t>mover</a:t>
            </a:r>
            <a:endParaRPr lang="en-US" sz="1200" dirty="0"/>
          </a:p>
        </p:txBody>
      </p:sp>
      <p:sp>
        <p:nvSpPr>
          <p:cNvPr id="18" name="Text 16"/>
          <p:cNvSpPr/>
          <p:nvPr/>
        </p:nvSpPr>
        <p:spPr>
          <a:xfrm>
            <a:off x="4276725" y="2447292"/>
            <a:ext cx="635000" cy="635000"/>
          </a:xfrm>
          <a:prstGeom prst="rect">
            <a:avLst/>
          </a:prstGeom>
          <a:solidFill>
            <a:srgbClr val="7230DB"/>
          </a:solidFill>
          <a:ln/>
        </p:spPr>
        <p:txBody>
          <a:bodyPr wrap="square" lIns="0" tIns="0" rIns="0" bIns="0" rtlCol="0" anchor="ctr">
            <a:normAutofit/>
          </a:bodyPr>
          <a:lstStyle/>
          <a:p>
            <a:pPr marL="0" indent="0" algn="ctr">
              <a:lnSpc>
                <a:spcPts val="1680"/>
              </a:lnSpc>
              <a:buNone/>
            </a:pPr>
            <a:r>
              <a:rPr lang="en-US" sz="1200" b="1" dirty="0">
                <a:solidFill>
                  <a:srgbClr val="FBFAF6"/>
                </a:solidFill>
                <a:latin typeface="IBM Plex Sans" pitchFamily="34" charset="0"/>
                <a:ea typeface="IBM Plex Sans" pitchFamily="34" charset="-122"/>
                <a:cs typeface="IBM Plex Sans" pitchFamily="34" charset="-120"/>
              </a:rPr>
              <a:t>armor</a:t>
            </a:r>
            <a:endParaRPr lang="en-US" sz="1200" dirty="0"/>
          </a:p>
        </p:txBody>
      </p:sp>
      <p:sp>
        <p:nvSpPr>
          <p:cNvPr id="19" name="Text 17"/>
          <p:cNvSpPr/>
          <p:nvPr/>
        </p:nvSpPr>
        <p:spPr>
          <a:xfrm>
            <a:off x="2968625" y="3101342"/>
            <a:ext cx="635000" cy="635000"/>
          </a:xfrm>
          <a:prstGeom prst="rect">
            <a:avLst/>
          </a:prstGeom>
          <a:solidFill>
            <a:srgbClr val="7230DB"/>
          </a:solidFill>
          <a:ln/>
        </p:spPr>
        <p:txBody>
          <a:bodyPr wrap="square" lIns="0" tIns="0" rIns="0" bIns="0" rtlCol="0" anchor="ctr">
            <a:normAutofit/>
          </a:bodyPr>
          <a:lstStyle/>
          <a:p>
            <a:pPr marL="0" indent="0" algn="ctr">
              <a:lnSpc>
                <a:spcPts val="1680"/>
              </a:lnSpc>
              <a:buNone/>
            </a:pPr>
            <a:r>
              <a:rPr lang="en-US" sz="1200" b="1" dirty="0">
                <a:solidFill>
                  <a:srgbClr val="FBFAF6"/>
                </a:solidFill>
                <a:latin typeface="IBM Plex Sans" pitchFamily="34" charset="0"/>
                <a:ea typeface="IBM Plex Sans" pitchFamily="34" charset="-122"/>
                <a:cs typeface="IBM Plex Sans" pitchFamily="34" charset="-120"/>
              </a:rPr>
              <a:t>armor</a:t>
            </a:r>
            <a:endParaRPr lang="en-US" sz="1200" dirty="0"/>
          </a:p>
        </p:txBody>
      </p:sp>
      <p:sp>
        <p:nvSpPr>
          <p:cNvPr id="20" name="Text 18"/>
          <p:cNvSpPr/>
          <p:nvPr/>
        </p:nvSpPr>
        <p:spPr>
          <a:xfrm>
            <a:off x="3622675" y="3101342"/>
            <a:ext cx="635000" cy="635000"/>
          </a:xfrm>
          <a:prstGeom prst="rect">
            <a:avLst/>
          </a:prstGeom>
          <a:solidFill>
            <a:srgbClr val="7230DB"/>
          </a:solidFill>
          <a:ln/>
        </p:spPr>
        <p:txBody>
          <a:bodyPr wrap="square" lIns="0" tIns="0" rIns="0" bIns="0" rtlCol="0" anchor="ctr">
            <a:normAutofit/>
          </a:bodyPr>
          <a:lstStyle/>
          <a:p>
            <a:pPr marL="0" indent="0" algn="ctr">
              <a:lnSpc>
                <a:spcPts val="1680"/>
              </a:lnSpc>
              <a:buNone/>
            </a:pPr>
            <a:r>
              <a:rPr lang="en-US" sz="1200" b="1" dirty="0">
                <a:solidFill>
                  <a:srgbClr val="FBFAF6"/>
                </a:solidFill>
                <a:latin typeface="IBM Plex Sans" pitchFamily="34" charset="0"/>
                <a:ea typeface="IBM Plex Sans" pitchFamily="34" charset="-122"/>
                <a:cs typeface="IBM Plex Sans" pitchFamily="34" charset="-120"/>
              </a:rPr>
              <a:t>armor</a:t>
            </a:r>
            <a:endParaRPr lang="en-US" sz="1200" dirty="0"/>
          </a:p>
        </p:txBody>
      </p:sp>
      <p:sp>
        <p:nvSpPr>
          <p:cNvPr id="21" name="Text 19"/>
          <p:cNvSpPr/>
          <p:nvPr/>
        </p:nvSpPr>
        <p:spPr>
          <a:xfrm>
            <a:off x="3268194" y="3850642"/>
            <a:ext cx="1343882" cy="274320"/>
          </a:xfrm>
          <a:prstGeom prst="rect">
            <a:avLst/>
          </a:prstGeom>
          <a:noFill/>
          <a:ln/>
        </p:spPr>
        <p:txBody>
          <a:bodyPr wrap="square" lIns="0" tIns="0" rIns="0" bIns="0" rtlCol="0" anchor="t">
            <a:normAutofit/>
          </a:bodyPr>
          <a:lstStyle/>
          <a:p>
            <a:pPr marL="0" indent="0" algn="ctr">
              <a:lnSpc>
                <a:spcPts val="1960"/>
              </a:lnSpc>
              <a:buNone/>
            </a:pPr>
            <a:r>
              <a:rPr lang="en-US" sz="1400" b="1" dirty="0">
                <a:solidFill>
                  <a:srgbClr val="16202A"/>
                </a:solidFill>
                <a:latin typeface="IBM Plex Sans" pitchFamily="34" charset="0"/>
                <a:ea typeface="IBM Plex Sans" pitchFamily="34" charset="-122"/>
                <a:cs typeface="IBM Plex Sans" pitchFamily="34" charset="-120"/>
              </a:rPr>
              <a:t>rhino (8 cells)</a:t>
            </a:r>
            <a:endParaRPr lang="en-US" sz="1400" dirty="0"/>
          </a:p>
        </p:txBody>
      </p:sp>
      <p:sp>
        <p:nvSpPr>
          <p:cNvPr id="22" name="Text 20"/>
          <p:cNvSpPr/>
          <p:nvPr/>
        </p:nvSpPr>
        <p:spPr>
          <a:xfrm>
            <a:off x="5124450" y="1793242"/>
            <a:ext cx="635000" cy="635000"/>
          </a:xfrm>
          <a:prstGeom prst="rect">
            <a:avLst/>
          </a:prstGeom>
          <a:solidFill>
            <a:srgbClr val="F82380"/>
          </a:solidFill>
          <a:ln/>
        </p:spPr>
        <p:txBody>
          <a:bodyPr wrap="square" lIns="0" tIns="0" rIns="0" bIns="0" rtlCol="0" anchor="ctr">
            <a:normAutofit/>
          </a:bodyPr>
          <a:lstStyle/>
          <a:p>
            <a:pPr marL="0" indent="0" algn="ctr">
              <a:lnSpc>
                <a:spcPts val="1680"/>
              </a:lnSpc>
              <a:buNone/>
            </a:pPr>
            <a:r>
              <a:rPr lang="en-US" sz="1200" b="1" dirty="0">
                <a:solidFill>
                  <a:srgbClr val="FBFAF6"/>
                </a:solidFill>
                <a:latin typeface="IBM Plex Sans" pitchFamily="34" charset="0"/>
                <a:ea typeface="IBM Plex Sans" pitchFamily="34" charset="-122"/>
                <a:cs typeface="IBM Plex Sans" pitchFamily="34" charset="-120"/>
              </a:rPr>
              <a:t>killer</a:t>
            </a:r>
            <a:endParaRPr lang="en-US" sz="1200" dirty="0"/>
          </a:p>
        </p:txBody>
      </p:sp>
      <p:sp>
        <p:nvSpPr>
          <p:cNvPr id="23" name="Text 21"/>
          <p:cNvSpPr/>
          <p:nvPr/>
        </p:nvSpPr>
        <p:spPr>
          <a:xfrm>
            <a:off x="5778500" y="1793242"/>
            <a:ext cx="635000" cy="635000"/>
          </a:xfrm>
          <a:prstGeom prst="rect">
            <a:avLst/>
          </a:prstGeom>
          <a:solidFill>
            <a:srgbClr val="DEB14D"/>
          </a:solidFill>
          <a:ln/>
        </p:spPr>
        <p:txBody>
          <a:bodyPr wrap="square" lIns="0" tIns="0" rIns="0" bIns="0" rtlCol="0" anchor="ctr">
            <a:normAutofit/>
          </a:bodyPr>
          <a:lstStyle/>
          <a:p>
            <a:pPr marL="0" indent="0" algn="ctr">
              <a:lnSpc>
                <a:spcPts val="1680"/>
              </a:lnSpc>
              <a:buNone/>
            </a:pPr>
            <a:r>
              <a:rPr lang="en-US" sz="1200" b="1" dirty="0">
                <a:solidFill>
                  <a:srgbClr val="16202A"/>
                </a:solidFill>
                <a:latin typeface="IBM Plex Sans" pitchFamily="34" charset="0"/>
                <a:ea typeface="IBM Plex Sans" pitchFamily="34" charset="-122"/>
                <a:cs typeface="IBM Plex Sans" pitchFamily="34" charset="-120"/>
              </a:rPr>
              <a:t>mouth</a:t>
            </a:r>
            <a:endParaRPr lang="en-US" sz="1200" dirty="0"/>
          </a:p>
        </p:txBody>
      </p:sp>
      <p:sp>
        <p:nvSpPr>
          <p:cNvPr id="24" name="Text 22"/>
          <p:cNvSpPr/>
          <p:nvPr/>
        </p:nvSpPr>
        <p:spPr>
          <a:xfrm>
            <a:off x="6432550" y="1793242"/>
            <a:ext cx="635000" cy="635000"/>
          </a:xfrm>
          <a:prstGeom prst="rect">
            <a:avLst/>
          </a:prstGeom>
          <a:solidFill>
            <a:srgbClr val="B6C1EA"/>
          </a:solidFill>
          <a:ln/>
        </p:spPr>
        <p:txBody>
          <a:bodyPr wrap="square" lIns="0" tIns="0" rIns="0" bIns="0" rtlCol="0" anchor="ctr">
            <a:normAutofit/>
          </a:bodyPr>
          <a:lstStyle/>
          <a:p>
            <a:pPr marL="0" indent="0" algn="ctr">
              <a:lnSpc>
                <a:spcPts val="1680"/>
              </a:lnSpc>
              <a:buNone/>
            </a:pPr>
            <a:r>
              <a:rPr lang="en-US" sz="1200" b="1" dirty="0">
                <a:solidFill>
                  <a:srgbClr val="16202A"/>
                </a:solidFill>
                <a:latin typeface="IBM Plex Sans" pitchFamily="34" charset="0"/>
                <a:ea typeface="IBM Plex Sans" pitchFamily="34" charset="-122"/>
                <a:cs typeface="IBM Plex Sans" pitchFamily="34" charset="-120"/>
              </a:rPr>
              <a:t>eye</a:t>
            </a:r>
            <a:endParaRPr lang="en-US" sz="1200" dirty="0"/>
          </a:p>
        </p:txBody>
      </p:sp>
      <p:sp>
        <p:nvSpPr>
          <p:cNvPr id="25" name="Text 23"/>
          <p:cNvSpPr/>
          <p:nvPr/>
        </p:nvSpPr>
        <p:spPr>
          <a:xfrm>
            <a:off x="5124450" y="2447292"/>
            <a:ext cx="635000" cy="635000"/>
          </a:xfrm>
          <a:prstGeom prst="rect">
            <a:avLst/>
          </a:prstGeom>
          <a:solidFill>
            <a:srgbClr val="60D4FF"/>
          </a:solidFill>
          <a:ln/>
        </p:spPr>
        <p:txBody>
          <a:bodyPr wrap="square" lIns="0" tIns="0" rIns="0" bIns="0" rtlCol="0" anchor="ctr">
            <a:normAutofit/>
          </a:bodyPr>
          <a:lstStyle/>
          <a:p>
            <a:pPr marL="0" indent="0" algn="ctr">
              <a:lnSpc>
                <a:spcPts val="1680"/>
              </a:lnSpc>
              <a:buNone/>
            </a:pPr>
            <a:r>
              <a:rPr lang="en-US" sz="1200" b="1" dirty="0">
                <a:solidFill>
                  <a:srgbClr val="16202A"/>
                </a:solidFill>
                <a:latin typeface="IBM Plex Sans" pitchFamily="34" charset="0"/>
                <a:ea typeface="IBM Plex Sans" pitchFamily="34" charset="-122"/>
                <a:cs typeface="IBM Plex Sans" pitchFamily="34" charset="-120"/>
              </a:rPr>
              <a:t>mover</a:t>
            </a:r>
            <a:endParaRPr lang="en-US" sz="1200" dirty="0"/>
          </a:p>
        </p:txBody>
      </p:sp>
      <p:sp>
        <p:nvSpPr>
          <p:cNvPr id="26" name="Text 24"/>
          <p:cNvSpPr/>
          <p:nvPr/>
        </p:nvSpPr>
        <p:spPr>
          <a:xfrm>
            <a:off x="5778500" y="2447292"/>
            <a:ext cx="635000" cy="635000"/>
          </a:xfrm>
          <a:prstGeom prst="rect">
            <a:avLst/>
          </a:prstGeom>
          <a:solidFill>
            <a:srgbClr val="F82380"/>
          </a:solidFill>
          <a:ln/>
        </p:spPr>
        <p:txBody>
          <a:bodyPr wrap="square" lIns="0" tIns="0" rIns="0" bIns="0" rtlCol="0" anchor="ctr">
            <a:normAutofit/>
          </a:bodyPr>
          <a:lstStyle/>
          <a:p>
            <a:pPr marL="0" indent="0" algn="ctr">
              <a:lnSpc>
                <a:spcPts val="1680"/>
              </a:lnSpc>
              <a:buNone/>
            </a:pPr>
            <a:r>
              <a:rPr lang="en-US" sz="1200" b="1" dirty="0">
                <a:solidFill>
                  <a:srgbClr val="FBFAF6"/>
                </a:solidFill>
                <a:latin typeface="IBM Plex Sans" pitchFamily="34" charset="0"/>
                <a:ea typeface="IBM Plex Sans" pitchFamily="34" charset="-122"/>
                <a:cs typeface="IBM Plex Sans" pitchFamily="34" charset="-120"/>
              </a:rPr>
              <a:t>killer</a:t>
            </a:r>
            <a:endParaRPr lang="en-US" sz="1200" dirty="0"/>
          </a:p>
        </p:txBody>
      </p:sp>
      <p:sp>
        <p:nvSpPr>
          <p:cNvPr id="27" name="Text 25"/>
          <p:cNvSpPr/>
          <p:nvPr/>
        </p:nvSpPr>
        <p:spPr>
          <a:xfrm>
            <a:off x="6432550" y="2447292"/>
            <a:ext cx="635000" cy="635000"/>
          </a:xfrm>
          <a:prstGeom prst="rect">
            <a:avLst/>
          </a:prstGeom>
          <a:solidFill>
            <a:srgbClr val="60D4FF"/>
          </a:solidFill>
          <a:ln/>
        </p:spPr>
        <p:txBody>
          <a:bodyPr wrap="square" lIns="0" tIns="0" rIns="0" bIns="0" rtlCol="0" anchor="ctr">
            <a:normAutofit/>
          </a:bodyPr>
          <a:lstStyle/>
          <a:p>
            <a:pPr marL="0" indent="0" algn="ctr">
              <a:lnSpc>
                <a:spcPts val="1680"/>
              </a:lnSpc>
              <a:buNone/>
            </a:pPr>
            <a:r>
              <a:rPr lang="en-US" sz="1200" b="1" dirty="0">
                <a:solidFill>
                  <a:srgbClr val="16202A"/>
                </a:solidFill>
                <a:latin typeface="IBM Plex Sans" pitchFamily="34" charset="0"/>
                <a:ea typeface="IBM Plex Sans" pitchFamily="34" charset="-122"/>
                <a:cs typeface="IBM Plex Sans" pitchFamily="34" charset="-120"/>
              </a:rPr>
              <a:t>mover</a:t>
            </a:r>
            <a:endParaRPr lang="en-US" sz="1200" dirty="0"/>
          </a:p>
        </p:txBody>
      </p:sp>
      <p:sp>
        <p:nvSpPr>
          <p:cNvPr id="28" name="Text 26"/>
          <p:cNvSpPr/>
          <p:nvPr/>
        </p:nvSpPr>
        <p:spPr>
          <a:xfrm>
            <a:off x="5137150" y="3114042"/>
            <a:ext cx="609600" cy="609600"/>
          </a:xfrm>
          <a:prstGeom prst="rect">
            <a:avLst/>
          </a:prstGeom>
          <a:solidFill>
            <a:srgbClr val="FF8C1A"/>
          </a:solidFill>
          <a:ln w="25400">
            <a:solidFill>
              <a:srgbClr val="DEB14D"/>
            </a:solidFill>
            <a:prstDash val="dash"/>
          </a:ln>
        </p:spPr>
        <p:txBody>
          <a:bodyPr wrap="square" lIns="12700" tIns="12700" rIns="12700" bIns="12700" rtlCol="0" anchor="ctr">
            <a:normAutofit/>
          </a:bodyPr>
          <a:lstStyle/>
          <a:p>
            <a:pPr marL="0" indent="0" algn="ctr">
              <a:lnSpc>
                <a:spcPts val="1680"/>
              </a:lnSpc>
              <a:buNone/>
            </a:pPr>
            <a:r>
              <a:rPr lang="en-US" sz="1200" b="1" dirty="0">
                <a:solidFill>
                  <a:srgbClr val="16202A"/>
                </a:solidFill>
                <a:latin typeface="IBM Plex Sans" pitchFamily="34" charset="0"/>
                <a:ea typeface="IBM Plex Sans" pitchFamily="34" charset="-122"/>
                <a:cs typeface="IBM Plex Sans" pitchFamily="34" charset="-120"/>
              </a:rPr>
              <a:t>cache</a:t>
            </a:r>
            <a:endParaRPr lang="en-US" sz="1200" dirty="0"/>
          </a:p>
        </p:txBody>
      </p:sp>
      <p:sp>
        <p:nvSpPr>
          <p:cNvPr id="29" name="Text 27"/>
          <p:cNvSpPr/>
          <p:nvPr/>
        </p:nvSpPr>
        <p:spPr>
          <a:xfrm>
            <a:off x="5300766" y="3850642"/>
            <a:ext cx="1590389" cy="274320"/>
          </a:xfrm>
          <a:prstGeom prst="rect">
            <a:avLst/>
          </a:prstGeom>
          <a:noFill/>
          <a:ln/>
        </p:spPr>
        <p:txBody>
          <a:bodyPr wrap="square" lIns="0" tIns="0" rIns="0" bIns="0" rtlCol="0" anchor="t">
            <a:normAutofit/>
          </a:bodyPr>
          <a:lstStyle/>
          <a:p>
            <a:pPr marL="0" indent="0" algn="ctr">
              <a:lnSpc>
                <a:spcPts val="1960"/>
              </a:lnSpc>
              <a:buNone/>
            </a:pPr>
            <a:r>
              <a:rPr lang="en-US" sz="1400" b="1" dirty="0">
                <a:solidFill>
                  <a:srgbClr val="16202A"/>
                </a:solidFill>
                <a:latin typeface="IBM Plex Sans" pitchFamily="34" charset="0"/>
                <a:ea typeface="IBM Plex Sans" pitchFamily="34" charset="-122"/>
                <a:cs typeface="IBM Plex Sans" pitchFamily="34" charset="-120"/>
              </a:rPr>
              <a:t>leopard (7 cells)</a:t>
            </a:r>
            <a:endParaRPr lang="en-US" sz="1400" dirty="0"/>
          </a:p>
        </p:txBody>
      </p:sp>
      <p:sp>
        <p:nvSpPr>
          <p:cNvPr id="30" name="Text 28"/>
          <p:cNvSpPr/>
          <p:nvPr/>
        </p:nvSpPr>
        <p:spPr>
          <a:xfrm>
            <a:off x="7292975" y="2132967"/>
            <a:ext cx="609600" cy="609600"/>
          </a:xfrm>
          <a:prstGeom prst="rect">
            <a:avLst/>
          </a:prstGeom>
          <a:solidFill>
            <a:srgbClr val="2E7D32"/>
          </a:solidFill>
          <a:ln w="25400">
            <a:solidFill>
              <a:srgbClr val="DEB14D"/>
            </a:solidFill>
            <a:prstDash val="dash"/>
          </a:ln>
        </p:spPr>
        <p:txBody>
          <a:bodyPr wrap="square" lIns="12700" tIns="12700" rIns="12700" bIns="12700" rtlCol="0" anchor="ctr">
            <a:normAutofit/>
          </a:bodyPr>
          <a:lstStyle/>
          <a:p>
            <a:pPr marL="0" indent="0" algn="ctr">
              <a:lnSpc>
                <a:spcPts val="1680"/>
              </a:lnSpc>
              <a:buNone/>
            </a:pPr>
            <a:r>
              <a:rPr lang="en-US" sz="1200" b="1" dirty="0">
                <a:solidFill>
                  <a:srgbClr val="FBFAF6"/>
                </a:solidFill>
                <a:latin typeface="IBM Plex Sans" pitchFamily="34" charset="0"/>
                <a:ea typeface="IBM Plex Sans" pitchFamily="34" charset="-122"/>
                <a:cs typeface="IBM Plex Sans" pitchFamily="34" charset="-120"/>
              </a:rPr>
              <a:t>woody</a:t>
            </a:r>
            <a:endParaRPr lang="en-US" sz="1200" dirty="0"/>
          </a:p>
        </p:txBody>
      </p:sp>
      <p:sp>
        <p:nvSpPr>
          <p:cNvPr id="31" name="Text 29"/>
          <p:cNvSpPr/>
          <p:nvPr/>
        </p:nvSpPr>
        <p:spPr>
          <a:xfrm>
            <a:off x="7947025" y="2132967"/>
            <a:ext cx="609600" cy="609600"/>
          </a:xfrm>
          <a:prstGeom prst="rect">
            <a:avLst/>
          </a:prstGeom>
          <a:solidFill>
            <a:srgbClr val="2E7D32"/>
          </a:solidFill>
          <a:ln w="25400">
            <a:solidFill>
              <a:srgbClr val="DEB14D"/>
            </a:solidFill>
            <a:prstDash val="dash"/>
          </a:ln>
        </p:spPr>
        <p:txBody>
          <a:bodyPr wrap="square" lIns="12700" tIns="12700" rIns="12700" bIns="12700" rtlCol="0" anchor="ctr">
            <a:normAutofit/>
          </a:bodyPr>
          <a:lstStyle/>
          <a:p>
            <a:pPr marL="0" indent="0" algn="ctr">
              <a:lnSpc>
                <a:spcPts val="1680"/>
              </a:lnSpc>
              <a:buNone/>
            </a:pPr>
            <a:r>
              <a:rPr lang="en-US" sz="1200" b="1" dirty="0">
                <a:solidFill>
                  <a:srgbClr val="FBFAF6"/>
                </a:solidFill>
                <a:latin typeface="IBM Plex Sans" pitchFamily="34" charset="0"/>
                <a:ea typeface="IBM Plex Sans" pitchFamily="34" charset="-122"/>
                <a:cs typeface="IBM Plex Sans" pitchFamily="34" charset="-120"/>
              </a:rPr>
              <a:t>woody</a:t>
            </a:r>
            <a:endParaRPr lang="en-US" sz="1200" dirty="0"/>
          </a:p>
        </p:txBody>
      </p:sp>
      <p:sp>
        <p:nvSpPr>
          <p:cNvPr id="32" name="Text 30"/>
          <p:cNvSpPr/>
          <p:nvPr/>
        </p:nvSpPr>
        <p:spPr>
          <a:xfrm>
            <a:off x="8601075" y="2132967"/>
            <a:ext cx="609600" cy="609600"/>
          </a:xfrm>
          <a:prstGeom prst="rect">
            <a:avLst/>
          </a:prstGeom>
          <a:solidFill>
            <a:srgbClr val="2E7D32"/>
          </a:solidFill>
          <a:ln w="25400">
            <a:solidFill>
              <a:srgbClr val="DEB14D"/>
            </a:solidFill>
            <a:prstDash val="dash"/>
          </a:ln>
        </p:spPr>
        <p:txBody>
          <a:bodyPr wrap="square" lIns="12700" tIns="12700" rIns="12700" bIns="12700" rtlCol="0" anchor="ctr">
            <a:normAutofit/>
          </a:bodyPr>
          <a:lstStyle/>
          <a:p>
            <a:pPr marL="0" indent="0" algn="ctr">
              <a:lnSpc>
                <a:spcPts val="1680"/>
              </a:lnSpc>
              <a:buNone/>
            </a:pPr>
            <a:r>
              <a:rPr lang="en-US" sz="1200" b="1" dirty="0">
                <a:solidFill>
                  <a:srgbClr val="FBFAF6"/>
                </a:solidFill>
                <a:latin typeface="IBM Plex Sans" pitchFamily="34" charset="0"/>
                <a:ea typeface="IBM Plex Sans" pitchFamily="34" charset="-122"/>
                <a:cs typeface="IBM Plex Sans" pitchFamily="34" charset="-120"/>
              </a:rPr>
              <a:t>woody</a:t>
            </a:r>
            <a:endParaRPr lang="en-US" sz="1200" dirty="0"/>
          </a:p>
        </p:txBody>
      </p:sp>
      <p:sp>
        <p:nvSpPr>
          <p:cNvPr id="33" name="Text 31"/>
          <p:cNvSpPr/>
          <p:nvPr/>
        </p:nvSpPr>
        <p:spPr>
          <a:xfrm>
            <a:off x="7292975" y="2787017"/>
            <a:ext cx="609600" cy="609600"/>
          </a:xfrm>
          <a:prstGeom prst="rect">
            <a:avLst/>
          </a:prstGeom>
          <a:solidFill>
            <a:srgbClr val="2E7D32"/>
          </a:solidFill>
          <a:ln w="25400">
            <a:solidFill>
              <a:srgbClr val="DEB14D"/>
            </a:solidFill>
            <a:prstDash val="dash"/>
          </a:ln>
        </p:spPr>
        <p:txBody>
          <a:bodyPr wrap="square" lIns="12700" tIns="12700" rIns="12700" bIns="12700" rtlCol="0" anchor="ctr">
            <a:normAutofit/>
          </a:bodyPr>
          <a:lstStyle/>
          <a:p>
            <a:pPr marL="0" indent="0" algn="ctr">
              <a:lnSpc>
                <a:spcPts val="1680"/>
              </a:lnSpc>
              <a:buNone/>
            </a:pPr>
            <a:r>
              <a:rPr lang="en-US" sz="1200" b="1" dirty="0">
                <a:solidFill>
                  <a:srgbClr val="FBFAF6"/>
                </a:solidFill>
                <a:latin typeface="IBM Plex Sans" pitchFamily="34" charset="0"/>
                <a:ea typeface="IBM Plex Sans" pitchFamily="34" charset="-122"/>
                <a:cs typeface="IBM Plex Sans" pitchFamily="34" charset="-120"/>
              </a:rPr>
              <a:t>woody</a:t>
            </a:r>
            <a:endParaRPr lang="en-US" sz="1200" dirty="0"/>
          </a:p>
        </p:txBody>
      </p:sp>
      <p:sp>
        <p:nvSpPr>
          <p:cNvPr id="34" name="Text 32"/>
          <p:cNvSpPr/>
          <p:nvPr/>
        </p:nvSpPr>
        <p:spPr>
          <a:xfrm>
            <a:off x="7947025" y="2787017"/>
            <a:ext cx="609600" cy="609600"/>
          </a:xfrm>
          <a:prstGeom prst="rect">
            <a:avLst/>
          </a:prstGeom>
          <a:solidFill>
            <a:srgbClr val="2E7D32"/>
          </a:solidFill>
          <a:ln w="25400">
            <a:solidFill>
              <a:srgbClr val="DEB14D"/>
            </a:solidFill>
            <a:prstDash val="dash"/>
          </a:ln>
        </p:spPr>
        <p:txBody>
          <a:bodyPr wrap="square" lIns="12700" tIns="12700" rIns="12700" bIns="12700" rtlCol="0" anchor="ctr">
            <a:normAutofit/>
          </a:bodyPr>
          <a:lstStyle/>
          <a:p>
            <a:pPr marL="0" indent="0" algn="ctr">
              <a:lnSpc>
                <a:spcPts val="1680"/>
              </a:lnSpc>
              <a:buNone/>
            </a:pPr>
            <a:r>
              <a:rPr lang="en-US" sz="1200" b="1" dirty="0">
                <a:solidFill>
                  <a:srgbClr val="FBFAF6"/>
                </a:solidFill>
                <a:latin typeface="IBM Plex Sans" pitchFamily="34" charset="0"/>
                <a:ea typeface="IBM Plex Sans" pitchFamily="34" charset="-122"/>
                <a:cs typeface="IBM Plex Sans" pitchFamily="34" charset="-120"/>
              </a:rPr>
              <a:t>woody</a:t>
            </a:r>
            <a:endParaRPr lang="en-US" sz="1200" dirty="0"/>
          </a:p>
        </p:txBody>
      </p:sp>
      <p:sp>
        <p:nvSpPr>
          <p:cNvPr id="35" name="Text 33"/>
          <p:cNvSpPr/>
          <p:nvPr/>
        </p:nvSpPr>
        <p:spPr>
          <a:xfrm>
            <a:off x="7593933" y="3523617"/>
            <a:ext cx="1315784" cy="274320"/>
          </a:xfrm>
          <a:prstGeom prst="rect">
            <a:avLst/>
          </a:prstGeom>
          <a:noFill/>
          <a:ln/>
        </p:spPr>
        <p:txBody>
          <a:bodyPr wrap="square" lIns="0" tIns="0" rIns="0" bIns="0" rtlCol="0" anchor="t">
            <a:normAutofit/>
          </a:bodyPr>
          <a:lstStyle/>
          <a:p>
            <a:pPr marL="0" indent="0" algn="ctr">
              <a:lnSpc>
                <a:spcPts val="1960"/>
              </a:lnSpc>
              <a:buNone/>
            </a:pPr>
            <a:r>
              <a:rPr lang="en-US" sz="1400" b="1" dirty="0">
                <a:solidFill>
                  <a:srgbClr val="16202A"/>
                </a:solidFill>
                <a:latin typeface="IBM Plex Sans" pitchFamily="34" charset="0"/>
                <a:ea typeface="IBM Plex Sans" pitchFamily="34" charset="-122"/>
                <a:cs typeface="IBM Plex Sans" pitchFamily="34" charset="-120"/>
              </a:rPr>
              <a:t>bush (5 cells)</a:t>
            </a:r>
            <a:endParaRPr lang="en-US" sz="1400" dirty="0"/>
          </a:p>
        </p:txBody>
      </p:sp>
      <p:sp>
        <p:nvSpPr>
          <p:cNvPr id="36" name="Text 34"/>
          <p:cNvSpPr/>
          <p:nvPr/>
        </p:nvSpPr>
        <p:spPr>
          <a:xfrm>
            <a:off x="9448800" y="1805942"/>
            <a:ext cx="609600" cy="609600"/>
          </a:xfrm>
          <a:prstGeom prst="rect">
            <a:avLst/>
          </a:prstGeom>
          <a:solidFill>
            <a:srgbClr val="7A7A7A"/>
          </a:solidFill>
          <a:ln w="25400">
            <a:solidFill>
              <a:srgbClr val="DEB14D"/>
            </a:solidFill>
            <a:prstDash val="dash"/>
          </a:ln>
        </p:spPr>
        <p:txBody>
          <a:bodyPr wrap="square" lIns="12700" tIns="12700" rIns="12700" bIns="12700" rtlCol="0" anchor="ctr">
            <a:normAutofit/>
          </a:bodyPr>
          <a:lstStyle/>
          <a:p>
            <a:pPr marL="0" indent="0" algn="ctr">
              <a:lnSpc>
                <a:spcPts val="1680"/>
              </a:lnSpc>
              <a:buNone/>
            </a:pPr>
            <a:r>
              <a:rPr lang="en-US" sz="1200" b="1" dirty="0">
                <a:solidFill>
                  <a:srgbClr val="FBFAF6"/>
                </a:solidFill>
                <a:latin typeface="IBM Plex Sans" pitchFamily="34" charset="0"/>
                <a:ea typeface="IBM Plex Sans" pitchFamily="34" charset="-122"/>
                <a:cs typeface="IBM Plex Sans" pitchFamily="34" charset="-120"/>
              </a:rPr>
              <a:t>tree</a:t>
            </a:r>
            <a:endParaRPr lang="en-US" sz="1200" dirty="0"/>
          </a:p>
        </p:txBody>
      </p:sp>
      <p:sp>
        <p:nvSpPr>
          <p:cNvPr id="37" name="Text 35"/>
          <p:cNvSpPr/>
          <p:nvPr/>
        </p:nvSpPr>
        <p:spPr>
          <a:xfrm>
            <a:off x="10102850" y="1805942"/>
            <a:ext cx="609600" cy="609600"/>
          </a:xfrm>
          <a:prstGeom prst="rect">
            <a:avLst/>
          </a:prstGeom>
          <a:solidFill>
            <a:srgbClr val="7A7A7A"/>
          </a:solidFill>
          <a:ln w="25400">
            <a:solidFill>
              <a:srgbClr val="DEB14D"/>
            </a:solidFill>
            <a:prstDash val="dash"/>
          </a:ln>
        </p:spPr>
        <p:txBody>
          <a:bodyPr wrap="square" lIns="12700" tIns="12700" rIns="12700" bIns="12700" rtlCol="0" anchor="ctr">
            <a:normAutofit/>
          </a:bodyPr>
          <a:lstStyle/>
          <a:p>
            <a:pPr marL="0" indent="0" algn="ctr">
              <a:lnSpc>
                <a:spcPts val="1680"/>
              </a:lnSpc>
              <a:buNone/>
            </a:pPr>
            <a:r>
              <a:rPr lang="en-US" sz="1200" b="1" dirty="0">
                <a:solidFill>
                  <a:srgbClr val="FBFAF6"/>
                </a:solidFill>
                <a:latin typeface="IBM Plex Sans" pitchFamily="34" charset="0"/>
                <a:ea typeface="IBM Plex Sans" pitchFamily="34" charset="-122"/>
                <a:cs typeface="IBM Plex Sans" pitchFamily="34" charset="-120"/>
              </a:rPr>
              <a:t>tree</a:t>
            </a:r>
            <a:endParaRPr lang="en-US" sz="1200" dirty="0"/>
          </a:p>
        </p:txBody>
      </p:sp>
      <p:sp>
        <p:nvSpPr>
          <p:cNvPr id="38" name="Text 36"/>
          <p:cNvSpPr/>
          <p:nvPr/>
        </p:nvSpPr>
        <p:spPr>
          <a:xfrm>
            <a:off x="10756900" y="1805942"/>
            <a:ext cx="609600" cy="609600"/>
          </a:xfrm>
          <a:prstGeom prst="rect">
            <a:avLst/>
          </a:prstGeom>
          <a:solidFill>
            <a:srgbClr val="7A7A7A"/>
          </a:solidFill>
          <a:ln w="25400">
            <a:solidFill>
              <a:srgbClr val="DEB14D"/>
            </a:solidFill>
            <a:prstDash val="dash"/>
          </a:ln>
        </p:spPr>
        <p:txBody>
          <a:bodyPr wrap="square" lIns="12700" tIns="12700" rIns="12700" bIns="12700" rtlCol="0" anchor="ctr">
            <a:normAutofit/>
          </a:bodyPr>
          <a:lstStyle/>
          <a:p>
            <a:pPr marL="0" indent="0" algn="ctr">
              <a:lnSpc>
                <a:spcPts val="1680"/>
              </a:lnSpc>
              <a:buNone/>
            </a:pPr>
            <a:r>
              <a:rPr lang="en-US" sz="1200" b="1" dirty="0">
                <a:solidFill>
                  <a:srgbClr val="FBFAF6"/>
                </a:solidFill>
                <a:latin typeface="IBM Plex Sans" pitchFamily="34" charset="0"/>
                <a:ea typeface="IBM Plex Sans" pitchFamily="34" charset="-122"/>
                <a:cs typeface="IBM Plex Sans" pitchFamily="34" charset="-120"/>
              </a:rPr>
              <a:t>tree</a:t>
            </a:r>
            <a:endParaRPr lang="en-US" sz="1200" dirty="0"/>
          </a:p>
        </p:txBody>
      </p:sp>
      <p:sp>
        <p:nvSpPr>
          <p:cNvPr id="39" name="Text 37"/>
          <p:cNvSpPr/>
          <p:nvPr/>
        </p:nvSpPr>
        <p:spPr>
          <a:xfrm>
            <a:off x="9448800" y="2459992"/>
            <a:ext cx="609600" cy="609600"/>
          </a:xfrm>
          <a:prstGeom prst="rect">
            <a:avLst/>
          </a:prstGeom>
          <a:solidFill>
            <a:srgbClr val="7A7A7A"/>
          </a:solidFill>
          <a:ln w="25400">
            <a:solidFill>
              <a:srgbClr val="DEB14D"/>
            </a:solidFill>
            <a:prstDash val="dash"/>
          </a:ln>
        </p:spPr>
        <p:txBody>
          <a:bodyPr wrap="square" lIns="12700" tIns="12700" rIns="12700" bIns="12700" rtlCol="0" anchor="ctr">
            <a:normAutofit/>
          </a:bodyPr>
          <a:lstStyle/>
          <a:p>
            <a:pPr marL="0" indent="0" algn="ctr">
              <a:lnSpc>
                <a:spcPts val="1680"/>
              </a:lnSpc>
              <a:buNone/>
            </a:pPr>
            <a:r>
              <a:rPr lang="en-US" sz="1200" b="1" dirty="0">
                <a:solidFill>
                  <a:srgbClr val="FBFAF6"/>
                </a:solidFill>
                <a:latin typeface="IBM Plex Sans" pitchFamily="34" charset="0"/>
                <a:ea typeface="IBM Plex Sans" pitchFamily="34" charset="-122"/>
                <a:cs typeface="IBM Plex Sans" pitchFamily="34" charset="-120"/>
              </a:rPr>
              <a:t>tree</a:t>
            </a:r>
            <a:endParaRPr lang="en-US" sz="1200" dirty="0"/>
          </a:p>
        </p:txBody>
      </p:sp>
      <p:sp>
        <p:nvSpPr>
          <p:cNvPr id="40" name="Text 38"/>
          <p:cNvSpPr/>
          <p:nvPr/>
        </p:nvSpPr>
        <p:spPr>
          <a:xfrm>
            <a:off x="10102850" y="2459992"/>
            <a:ext cx="609600" cy="609600"/>
          </a:xfrm>
          <a:prstGeom prst="rect">
            <a:avLst/>
          </a:prstGeom>
          <a:solidFill>
            <a:srgbClr val="7A7A7A"/>
          </a:solidFill>
          <a:ln w="25400">
            <a:solidFill>
              <a:srgbClr val="DEB14D"/>
            </a:solidFill>
            <a:prstDash val="dash"/>
          </a:ln>
        </p:spPr>
        <p:txBody>
          <a:bodyPr wrap="square" lIns="12700" tIns="12700" rIns="12700" bIns="12700" rtlCol="0" anchor="ctr">
            <a:normAutofit/>
          </a:bodyPr>
          <a:lstStyle/>
          <a:p>
            <a:pPr marL="0" indent="0" algn="ctr">
              <a:lnSpc>
                <a:spcPts val="1680"/>
              </a:lnSpc>
              <a:buNone/>
            </a:pPr>
            <a:r>
              <a:rPr lang="en-US" sz="1200" b="1" dirty="0">
                <a:solidFill>
                  <a:srgbClr val="FBFAF6"/>
                </a:solidFill>
                <a:latin typeface="IBM Plex Sans" pitchFamily="34" charset="0"/>
                <a:ea typeface="IBM Plex Sans" pitchFamily="34" charset="-122"/>
                <a:cs typeface="IBM Plex Sans" pitchFamily="34" charset="-120"/>
              </a:rPr>
              <a:t>tree</a:t>
            </a:r>
            <a:endParaRPr lang="en-US" sz="1200" dirty="0"/>
          </a:p>
        </p:txBody>
      </p:sp>
      <p:sp>
        <p:nvSpPr>
          <p:cNvPr id="41" name="Text 39"/>
          <p:cNvSpPr/>
          <p:nvPr/>
        </p:nvSpPr>
        <p:spPr>
          <a:xfrm>
            <a:off x="10756900" y="2459992"/>
            <a:ext cx="609600" cy="609600"/>
          </a:xfrm>
          <a:prstGeom prst="rect">
            <a:avLst/>
          </a:prstGeom>
          <a:solidFill>
            <a:srgbClr val="7A7A7A"/>
          </a:solidFill>
          <a:ln w="25400">
            <a:solidFill>
              <a:srgbClr val="DEB14D"/>
            </a:solidFill>
            <a:prstDash val="dash"/>
          </a:ln>
        </p:spPr>
        <p:txBody>
          <a:bodyPr wrap="square" lIns="12700" tIns="12700" rIns="12700" bIns="12700" rtlCol="0" anchor="ctr">
            <a:normAutofit/>
          </a:bodyPr>
          <a:lstStyle/>
          <a:p>
            <a:pPr marL="0" indent="0" algn="ctr">
              <a:lnSpc>
                <a:spcPts val="1680"/>
              </a:lnSpc>
              <a:buNone/>
            </a:pPr>
            <a:r>
              <a:rPr lang="en-US" sz="1200" b="1" dirty="0">
                <a:solidFill>
                  <a:srgbClr val="FBFAF6"/>
                </a:solidFill>
                <a:latin typeface="IBM Plex Sans" pitchFamily="34" charset="0"/>
                <a:ea typeface="IBM Plex Sans" pitchFamily="34" charset="-122"/>
                <a:cs typeface="IBM Plex Sans" pitchFamily="34" charset="-120"/>
              </a:rPr>
              <a:t>tree</a:t>
            </a:r>
            <a:endParaRPr lang="en-US" sz="1200" dirty="0"/>
          </a:p>
        </p:txBody>
      </p:sp>
      <p:sp>
        <p:nvSpPr>
          <p:cNvPr id="42" name="Text 40"/>
          <p:cNvSpPr/>
          <p:nvPr/>
        </p:nvSpPr>
        <p:spPr>
          <a:xfrm>
            <a:off x="9448800" y="3114042"/>
            <a:ext cx="609600" cy="609600"/>
          </a:xfrm>
          <a:prstGeom prst="rect">
            <a:avLst/>
          </a:prstGeom>
          <a:solidFill>
            <a:srgbClr val="7A7A7A"/>
          </a:solidFill>
          <a:ln w="25400">
            <a:solidFill>
              <a:srgbClr val="DEB14D"/>
            </a:solidFill>
            <a:prstDash val="dash"/>
          </a:ln>
        </p:spPr>
        <p:txBody>
          <a:bodyPr wrap="square" lIns="12700" tIns="12700" rIns="12700" bIns="12700" rtlCol="0" anchor="ctr">
            <a:normAutofit/>
          </a:bodyPr>
          <a:lstStyle/>
          <a:p>
            <a:pPr marL="0" indent="0" algn="ctr">
              <a:lnSpc>
                <a:spcPts val="1680"/>
              </a:lnSpc>
              <a:buNone/>
            </a:pPr>
            <a:r>
              <a:rPr lang="en-US" sz="1200" b="1" dirty="0">
                <a:solidFill>
                  <a:srgbClr val="FBFAF6"/>
                </a:solidFill>
                <a:latin typeface="IBM Plex Sans" pitchFamily="34" charset="0"/>
                <a:ea typeface="IBM Plex Sans" pitchFamily="34" charset="-122"/>
                <a:cs typeface="IBM Plex Sans" pitchFamily="34" charset="-120"/>
              </a:rPr>
              <a:t>tree</a:t>
            </a:r>
            <a:endParaRPr lang="en-US" sz="1200" dirty="0"/>
          </a:p>
        </p:txBody>
      </p:sp>
      <p:sp>
        <p:nvSpPr>
          <p:cNvPr id="43" name="Text 41"/>
          <p:cNvSpPr/>
          <p:nvPr/>
        </p:nvSpPr>
        <p:spPr>
          <a:xfrm>
            <a:off x="10102850" y="3114042"/>
            <a:ext cx="609600" cy="609600"/>
          </a:xfrm>
          <a:prstGeom prst="rect">
            <a:avLst/>
          </a:prstGeom>
          <a:solidFill>
            <a:srgbClr val="7A7A7A"/>
          </a:solidFill>
          <a:ln w="25400">
            <a:solidFill>
              <a:srgbClr val="DEB14D"/>
            </a:solidFill>
            <a:prstDash val="dash"/>
          </a:ln>
        </p:spPr>
        <p:txBody>
          <a:bodyPr wrap="square" lIns="12700" tIns="12700" rIns="12700" bIns="12700" rtlCol="0" anchor="ctr">
            <a:normAutofit/>
          </a:bodyPr>
          <a:lstStyle/>
          <a:p>
            <a:pPr marL="0" indent="0" algn="ctr">
              <a:lnSpc>
                <a:spcPts val="1680"/>
              </a:lnSpc>
              <a:buNone/>
            </a:pPr>
            <a:r>
              <a:rPr lang="en-US" sz="1200" b="1" dirty="0">
                <a:solidFill>
                  <a:srgbClr val="FBFAF6"/>
                </a:solidFill>
                <a:latin typeface="IBM Plex Sans" pitchFamily="34" charset="0"/>
                <a:ea typeface="IBM Plex Sans" pitchFamily="34" charset="-122"/>
                <a:cs typeface="IBM Plex Sans" pitchFamily="34" charset="-120"/>
              </a:rPr>
              <a:t>tree</a:t>
            </a:r>
            <a:endParaRPr lang="en-US" sz="1200" dirty="0"/>
          </a:p>
        </p:txBody>
      </p:sp>
      <p:sp>
        <p:nvSpPr>
          <p:cNvPr id="44" name="Text 42"/>
          <p:cNvSpPr/>
          <p:nvPr/>
        </p:nvSpPr>
        <p:spPr>
          <a:xfrm>
            <a:off x="10756900" y="3114042"/>
            <a:ext cx="609600" cy="609600"/>
          </a:xfrm>
          <a:prstGeom prst="rect">
            <a:avLst/>
          </a:prstGeom>
          <a:solidFill>
            <a:srgbClr val="7A7A7A"/>
          </a:solidFill>
          <a:ln w="25400">
            <a:solidFill>
              <a:srgbClr val="DEB14D"/>
            </a:solidFill>
            <a:prstDash val="dash"/>
          </a:ln>
        </p:spPr>
        <p:txBody>
          <a:bodyPr wrap="square" lIns="12700" tIns="12700" rIns="12700" bIns="12700" rtlCol="0" anchor="ctr">
            <a:normAutofit/>
          </a:bodyPr>
          <a:lstStyle/>
          <a:p>
            <a:pPr marL="0" indent="0" algn="ctr">
              <a:lnSpc>
                <a:spcPts val="1680"/>
              </a:lnSpc>
              <a:buNone/>
            </a:pPr>
            <a:r>
              <a:rPr lang="en-US" sz="1200" b="1" dirty="0">
                <a:solidFill>
                  <a:srgbClr val="FBFAF6"/>
                </a:solidFill>
                <a:latin typeface="IBM Plex Sans" pitchFamily="34" charset="0"/>
                <a:ea typeface="IBM Plex Sans" pitchFamily="34" charset="-122"/>
                <a:cs typeface="IBM Plex Sans" pitchFamily="34" charset="-120"/>
              </a:rPr>
              <a:t>tree</a:t>
            </a:r>
            <a:endParaRPr lang="en-US" sz="1200" dirty="0"/>
          </a:p>
        </p:txBody>
      </p:sp>
      <p:sp>
        <p:nvSpPr>
          <p:cNvPr id="45" name="Text 43"/>
          <p:cNvSpPr/>
          <p:nvPr/>
        </p:nvSpPr>
        <p:spPr>
          <a:xfrm>
            <a:off x="9526691" y="3850642"/>
            <a:ext cx="1761839" cy="274320"/>
          </a:xfrm>
          <a:prstGeom prst="rect">
            <a:avLst/>
          </a:prstGeom>
          <a:noFill/>
          <a:ln/>
        </p:spPr>
        <p:txBody>
          <a:bodyPr wrap="square" lIns="0" tIns="0" rIns="0" bIns="0" rtlCol="0" anchor="t">
            <a:normAutofit/>
          </a:bodyPr>
          <a:lstStyle/>
          <a:p>
            <a:pPr marL="0" indent="0" algn="ctr">
              <a:lnSpc>
                <a:spcPts val="1960"/>
              </a:lnSpc>
              <a:buNone/>
            </a:pPr>
            <a:r>
              <a:rPr lang="en-US" sz="1400" b="1" dirty="0">
                <a:solidFill>
                  <a:srgbClr val="16202A"/>
                </a:solidFill>
                <a:latin typeface="IBM Plex Sans" pitchFamily="34" charset="0"/>
                <a:ea typeface="IBM Plex Sans" pitchFamily="34" charset="-122"/>
                <a:cs typeface="IBM Plex Sans" pitchFamily="34" charset="-120"/>
              </a:rPr>
              <a:t>tree (9 cells, new)</a:t>
            </a:r>
            <a:endParaRPr lang="en-US" sz="1400" dirty="0"/>
          </a:p>
        </p:txBody>
      </p:sp>
      <p:sp>
        <p:nvSpPr>
          <p:cNvPr id="46" name="Text 44"/>
          <p:cNvSpPr/>
          <p:nvPr/>
        </p:nvSpPr>
        <p:spPr>
          <a:xfrm>
            <a:off x="812800" y="4353564"/>
            <a:ext cx="1475105" cy="358140"/>
          </a:xfrm>
          <a:prstGeom prst="roundRect">
            <a:avLst>
              <a:gd name="adj" fmla="val 50000"/>
            </a:avLst>
          </a:prstGeom>
          <a:solidFill>
            <a:srgbClr val="1F5FA8"/>
          </a:solidFill>
          <a:ln/>
        </p:spPr>
        <p:txBody>
          <a:bodyPr wrap="none" lIns="0" tIns="0" rIns="0" bIns="0" rtlCol="0" anchor="ctr">
            <a:normAutofit/>
          </a:bodyPr>
          <a:lstStyle/>
          <a:p>
            <a:pPr marL="0" indent="0" algn="ctr">
              <a:lnSpc>
                <a:spcPts val="1820"/>
              </a:lnSpc>
              <a:buNone/>
            </a:pPr>
            <a:r>
              <a:rPr lang="en-US" sz="1300" dirty="0">
                <a:solidFill>
                  <a:srgbClr val="F3F0E8"/>
                </a:solidFill>
                <a:latin typeface="IBM Plex Sans" pitchFamily="34" charset="0"/>
                <a:ea typeface="IBM Plex Sans" pitchFamily="34" charset="-122"/>
                <a:cs typeface="IBM Plex Sans" pitchFamily="34" charset="-120"/>
              </a:rPr>
              <a:t>Soil water + rain</a:t>
            </a:r>
            <a:endParaRPr lang="en-US" sz="1300" dirty="0"/>
          </a:p>
        </p:txBody>
      </p:sp>
      <p:sp>
        <p:nvSpPr>
          <p:cNvPr id="47" name="Text 45"/>
          <p:cNvSpPr/>
          <p:nvPr/>
        </p:nvSpPr>
        <p:spPr>
          <a:xfrm>
            <a:off x="2414905" y="4353564"/>
            <a:ext cx="2059067" cy="358140"/>
          </a:xfrm>
          <a:prstGeom prst="roundRect">
            <a:avLst>
              <a:gd name="adj" fmla="val 50000"/>
            </a:avLst>
          </a:prstGeom>
          <a:solidFill>
            <a:srgbClr val="1F5FA8"/>
          </a:solidFill>
          <a:ln/>
        </p:spPr>
        <p:txBody>
          <a:bodyPr wrap="none" lIns="0" tIns="0" rIns="0" bIns="0" rtlCol="0" anchor="ctr">
            <a:normAutofit/>
          </a:bodyPr>
          <a:lstStyle/>
          <a:p>
            <a:pPr marL="0" indent="0" algn="ctr">
              <a:lnSpc>
                <a:spcPts val="1820"/>
              </a:lnSpc>
              <a:buNone/>
            </a:pPr>
            <a:r>
              <a:rPr lang="en-US" sz="1300" dirty="0">
                <a:solidFill>
                  <a:srgbClr val="F3F0E8"/>
                </a:solidFill>
                <a:latin typeface="IBM Plex Sans" pitchFamily="34" charset="0"/>
                <a:ea typeface="IBM Plex Sans" pitchFamily="34" charset="-122"/>
                <a:cs typeface="IBM Plex Sans" pitchFamily="34" charset="-120"/>
              </a:rPr>
              <a:t>River (only rhinos wade)</a:t>
            </a:r>
            <a:endParaRPr lang="en-US" sz="1300" dirty="0"/>
          </a:p>
        </p:txBody>
      </p:sp>
      <p:sp>
        <p:nvSpPr>
          <p:cNvPr id="48" name="Text 46"/>
          <p:cNvSpPr/>
          <p:nvPr/>
        </p:nvSpPr>
        <p:spPr>
          <a:xfrm>
            <a:off x="4600972" y="4353564"/>
            <a:ext cx="2054066" cy="358140"/>
          </a:xfrm>
          <a:prstGeom prst="roundRect">
            <a:avLst>
              <a:gd name="adj" fmla="val 50000"/>
            </a:avLst>
          </a:prstGeom>
          <a:solidFill>
            <a:srgbClr val="3B4652"/>
          </a:solidFill>
          <a:ln/>
        </p:spPr>
        <p:txBody>
          <a:bodyPr wrap="none" lIns="0" tIns="0" rIns="0" bIns="0" rtlCol="0" anchor="ctr">
            <a:normAutofit/>
          </a:bodyPr>
          <a:lstStyle/>
          <a:p>
            <a:pPr marL="0" indent="0" algn="ctr">
              <a:lnSpc>
                <a:spcPts val="1820"/>
              </a:lnSpc>
              <a:buNone/>
            </a:pPr>
            <a:r>
              <a:rPr lang="en-US" sz="1300" dirty="0">
                <a:solidFill>
                  <a:srgbClr val="F3F0E8"/>
                </a:solidFill>
                <a:latin typeface="IBM Plex Sans" pitchFamily="34" charset="0"/>
                <a:ea typeface="IBM Plex Sans" pitchFamily="34" charset="-122"/>
                <a:cs typeface="IBM Plex Sans" pitchFamily="34" charset="-120"/>
              </a:rPr>
              <a:t>Trees: cover and caches</a:t>
            </a:r>
            <a:endParaRPr lang="en-US" sz="1300" dirty="0"/>
          </a:p>
        </p:txBody>
      </p:sp>
      <p:sp>
        <p:nvSpPr>
          <p:cNvPr id="49" name="Text 47"/>
          <p:cNvSpPr/>
          <p:nvPr/>
        </p:nvSpPr>
        <p:spPr>
          <a:xfrm>
            <a:off x="6782038" y="4353564"/>
            <a:ext cx="1516698" cy="358140"/>
          </a:xfrm>
          <a:prstGeom prst="roundRect">
            <a:avLst>
              <a:gd name="adj" fmla="val 50000"/>
            </a:avLst>
          </a:prstGeom>
          <a:solidFill>
            <a:srgbClr val="8C3A1E"/>
          </a:solidFill>
          <a:ln/>
        </p:spPr>
        <p:txBody>
          <a:bodyPr wrap="none" lIns="0" tIns="0" rIns="0" bIns="0" rtlCol="0" anchor="ctr">
            <a:normAutofit/>
          </a:bodyPr>
          <a:lstStyle/>
          <a:p>
            <a:pPr marL="0" indent="0" algn="ctr">
              <a:lnSpc>
                <a:spcPts val="1820"/>
              </a:lnSpc>
              <a:buNone/>
            </a:pPr>
            <a:r>
              <a:rPr lang="en-US" sz="1300" dirty="0">
                <a:solidFill>
                  <a:srgbClr val="F3F0E8"/>
                </a:solidFill>
                <a:latin typeface="IBM Plex Sans" pitchFamily="34" charset="0"/>
                <a:ea typeface="IBM Plex Sans" pitchFamily="34" charset="-122"/>
                <a:cs typeface="IBM Plex Sans" pitchFamily="34" charset="-120"/>
              </a:rPr>
              <a:t>Fire in dry plants</a:t>
            </a:r>
            <a:endParaRPr lang="en-US" sz="1300" dirty="0"/>
          </a:p>
        </p:txBody>
      </p:sp>
      <p:sp>
        <p:nvSpPr>
          <p:cNvPr id="50" name="Text 48"/>
          <p:cNvSpPr/>
          <p:nvPr/>
        </p:nvSpPr>
        <p:spPr>
          <a:xfrm>
            <a:off x="8425736" y="4353564"/>
            <a:ext cx="1559957" cy="358140"/>
          </a:xfrm>
          <a:prstGeom prst="roundRect">
            <a:avLst>
              <a:gd name="adj" fmla="val 50000"/>
            </a:avLst>
          </a:prstGeom>
          <a:solidFill>
            <a:srgbClr val="3B4652"/>
          </a:solidFill>
          <a:ln/>
        </p:spPr>
        <p:txBody>
          <a:bodyPr wrap="none" lIns="0" tIns="0" rIns="0" bIns="0" rtlCol="0" anchor="ctr">
            <a:normAutofit/>
          </a:bodyPr>
          <a:lstStyle/>
          <a:p>
            <a:pPr marL="0" indent="0" algn="ctr">
              <a:lnSpc>
                <a:spcPts val="1820"/>
              </a:lnSpc>
              <a:buNone/>
            </a:pPr>
            <a:r>
              <a:rPr lang="en-US" sz="1300" dirty="0">
                <a:solidFill>
                  <a:srgbClr val="F3F0E8"/>
                </a:solidFill>
                <a:latin typeface="IBM Plex Sans" pitchFamily="34" charset="0"/>
                <a:ea typeface="IBM Plex Sans" pitchFamily="34" charset="-122"/>
                <a:cs typeface="IBM Plex Sans" pitchFamily="34" charset="-120"/>
              </a:rPr>
              <a:t>Grass unchanged</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3F0E8"/>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540"/>
          </a:xfrm>
          <a:prstGeom prst="rect">
            <a:avLst/>
          </a:prstGeom>
          <a:noFill/>
          <a:ln/>
        </p:spPr>
        <p:txBody>
          <a:bodyPr wrap="square" lIns="0" tIns="0" rIns="0" bIns="0" rtlCol="0" anchor="t">
            <a:normAutofit/>
          </a:bodyPr>
          <a:lstStyle/>
          <a:p>
            <a:pPr marL="0" indent="0" algn="l">
              <a:lnSpc>
                <a:spcPts val="1820"/>
              </a:lnSpc>
              <a:buNone/>
            </a:pPr>
            <a:r>
              <a:rPr lang="en-US" sz="1300" b="1" kern="0" spc="150" dirty="0">
                <a:solidFill>
                  <a:srgbClr val="1C6E8C"/>
                </a:solidFill>
                <a:latin typeface="IBM Plex Sans" pitchFamily="34" charset="0"/>
                <a:ea typeface="IBM Plex Sans" pitchFamily="34" charset="-122"/>
                <a:cs typeface="IBM Plex Sans" pitchFamily="34" charset="-120"/>
              </a:rPr>
              <a:t>AFTER · ONE FEATURE PER MEMBER, ALL CONNECTED</a:t>
            </a:r>
            <a:endParaRPr lang="en-US" sz="1300" dirty="0"/>
          </a:p>
        </p:txBody>
      </p:sp>
      <p:sp>
        <p:nvSpPr>
          <p:cNvPr id="3" name="Text 1"/>
          <p:cNvSpPr>
            <a:spLocks noGrp="1"/>
          </p:cNvSpPr>
          <p:nvPr>
            <p:ph type="title"/>
          </p:nvPr>
        </p:nvSpPr>
        <p:spPr>
          <a:xfrm>
            <a:off x="812800" y="1120142"/>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6202A"/>
                </a:solidFill>
                <a:latin typeface="Space Grotesk" pitchFamily="34" charset="0"/>
                <a:ea typeface="Space Grotesk" pitchFamily="34" charset="-122"/>
                <a:cs typeface="Space Grotesk" pitchFamily="34" charset="-120"/>
              </a:rPr>
              <a:t>Each feature opens a route to collapse and an escape</a:t>
            </a:r>
            <a:endParaRPr lang="en-US" sz="3000" dirty="0"/>
          </a:p>
        </p:txBody>
      </p:sp>
      <p:graphicFrame>
        <p:nvGraphicFramePr>
          <p:cNvPr id="4" name="Table 0"/>
          <p:cNvGraphicFramePr>
            <a:graphicFrameLocks noGrp="1"/>
          </p:cNvGraphicFramePr>
          <p:nvPr>
            <p:extLst>
              <p:ext uri="{D42A27DB-BD31-4B8C-83A1-F6EECF244321}">
                <p14:modId xmlns:p14="http://schemas.microsoft.com/office/powerpoint/2010/main" val="2844031533"/>
              </p:ext>
            </p:extLst>
          </p:nvPr>
        </p:nvGraphicFramePr>
        <p:xfrm>
          <a:off x="822960" y="1803402"/>
          <a:ext cx="10556241" cy="2913380"/>
        </p:xfrm>
        <a:graphic>
          <a:graphicData uri="http://schemas.openxmlformats.org/drawingml/2006/table">
            <a:tbl>
              <a:tblPr/>
              <a:tblGrid>
                <a:gridCol w="1900123">
                  <a:extLst>
                    <a:ext uri="{9D8B030D-6E8A-4147-A177-3AD203B41FA5}">
                      <a16:colId xmlns:a16="http://schemas.microsoft.com/office/drawing/2014/main" val="20000"/>
                    </a:ext>
                  </a:extLst>
                </a:gridCol>
                <a:gridCol w="1477874">
                  <a:extLst>
                    <a:ext uri="{9D8B030D-6E8A-4147-A177-3AD203B41FA5}">
                      <a16:colId xmlns:a16="http://schemas.microsoft.com/office/drawing/2014/main" val="20001"/>
                    </a:ext>
                  </a:extLst>
                </a:gridCol>
                <a:gridCol w="3589122">
                  <a:extLst>
                    <a:ext uri="{9D8B030D-6E8A-4147-A177-3AD203B41FA5}">
                      <a16:colId xmlns:a16="http://schemas.microsoft.com/office/drawing/2014/main" val="20002"/>
                    </a:ext>
                  </a:extLst>
                </a:gridCol>
                <a:gridCol w="3589122">
                  <a:extLst>
                    <a:ext uri="{9D8B030D-6E8A-4147-A177-3AD203B41FA5}">
                      <a16:colId xmlns:a16="http://schemas.microsoft.com/office/drawing/2014/main" val="20003"/>
                    </a:ext>
                  </a:extLst>
                </a:gridCol>
              </a:tblGrid>
              <a:tr h="383540">
                <a:tc>
                  <a:txBody>
                    <a:bodyPr/>
                    <a:lstStyle/>
                    <a:p>
                      <a:pPr marL="0" indent="0">
                        <a:lnSpc>
                          <a:spcPts val="1960"/>
                        </a:lnSpc>
                        <a:buNone/>
                      </a:pPr>
                      <a:r>
                        <a:rPr lang="en-US" sz="1400" b="1" dirty="0">
                          <a:solidFill>
                            <a:srgbClr val="F3F0E8"/>
                          </a:solidFill>
                          <a:latin typeface="IBM Plex Sans" pitchFamily="34" charset="0"/>
                          <a:ea typeface="IBM Plex Sans" pitchFamily="34" charset="-122"/>
                          <a:cs typeface="IBM Plex Sans" pitchFamily="34" charset="-120"/>
                        </a:rPr>
                        <a:t>Feature</a:t>
                      </a:r>
                      <a:endParaRPr lang="en-US" sz="1400" dirty="0">
                        <a:latin typeface="IBM Plex Sans" charset="0"/>
                        <a:ea typeface="IBM Plex Sans" charset="0"/>
                        <a:cs typeface="IBM Plex Sans" charset="0"/>
                      </a:endParaRPr>
                    </a:p>
                  </a:txBody>
                  <a:tcPr marL="62230" marR="62230" marT="62230" marB="62230">
                    <a:lnL w="12700" cap="flat" cmpd="sng" algn="ctr">
                      <a:solidFill>
                        <a:srgbClr val="C2C0B9"/>
                      </a:solidFill>
                      <a:prstDash val="solid"/>
                      <a:round/>
                      <a:headEnd type="none" w="med" len="med"/>
                      <a:tailEnd type="none" w="med" len="med"/>
                    </a:lnL>
                    <a:lnR w="12700" cap="flat" cmpd="sng" algn="ctr">
                      <a:solidFill>
                        <a:srgbClr val="161D25"/>
                      </a:solidFill>
                      <a:prstDash val="solid"/>
                      <a:round/>
                      <a:headEnd type="none" w="med" len="med"/>
                      <a:tailEnd type="none" w="med" len="med"/>
                    </a:lnR>
                    <a:lnT w="12700" cap="flat" cmpd="sng" algn="ctr">
                      <a:solidFill>
                        <a:srgbClr val="C2C0B9"/>
                      </a:solidFill>
                      <a:prstDash val="solid"/>
                      <a:round/>
                      <a:headEnd type="none" w="med" len="med"/>
                      <a:tailEnd type="none" w="med" len="med"/>
                    </a:lnT>
                    <a:lnB w="12700" cap="flat" cmpd="sng" algn="ctr">
                      <a:solidFill>
                        <a:srgbClr val="161D25"/>
                      </a:solidFill>
                      <a:prstDash val="solid"/>
                      <a:round/>
                      <a:headEnd type="none" w="med" len="med"/>
                      <a:tailEnd type="none" w="med" len="med"/>
                    </a:lnB>
                    <a:solidFill>
                      <a:srgbClr val="16202A"/>
                    </a:solidFill>
                  </a:tcPr>
                </a:tc>
                <a:tc>
                  <a:txBody>
                    <a:bodyPr/>
                    <a:lstStyle/>
                    <a:p>
                      <a:pPr marL="0" indent="0">
                        <a:lnSpc>
                          <a:spcPts val="1960"/>
                        </a:lnSpc>
                        <a:buNone/>
                      </a:pPr>
                      <a:r>
                        <a:rPr lang="en-US" sz="1400" b="1" dirty="0">
                          <a:solidFill>
                            <a:srgbClr val="F3F0E8"/>
                          </a:solidFill>
                          <a:latin typeface="IBM Plex Sans" pitchFamily="34" charset="0"/>
                          <a:ea typeface="IBM Plex Sans" pitchFamily="34" charset="-122"/>
                          <a:cs typeface="IBM Plex Sans" pitchFamily="34" charset="-120"/>
                        </a:rPr>
                        <a:t>Owner</a:t>
                      </a:r>
                      <a:endParaRPr lang="en-US" sz="1400" dirty="0">
                        <a:latin typeface="IBM Plex Sans" charset="0"/>
                        <a:ea typeface="IBM Plex Sans" charset="0"/>
                        <a:cs typeface="IBM Plex Sans" charset="0"/>
                      </a:endParaRPr>
                    </a:p>
                  </a:txBody>
                  <a:tcPr marL="62230" marR="62230" marT="62230" marB="62230">
                    <a:lnL w="12700" cap="flat" cmpd="sng" algn="ctr">
                      <a:solidFill>
                        <a:srgbClr val="161D25"/>
                      </a:solidFill>
                      <a:prstDash val="solid"/>
                      <a:round/>
                      <a:headEnd type="none" w="med" len="med"/>
                      <a:tailEnd type="none" w="med" len="med"/>
                    </a:lnL>
                    <a:lnR w="12700" cap="flat" cmpd="sng" algn="ctr">
                      <a:solidFill>
                        <a:srgbClr val="161D25"/>
                      </a:solidFill>
                      <a:prstDash val="solid"/>
                      <a:round/>
                      <a:headEnd type="none" w="med" len="med"/>
                      <a:tailEnd type="none" w="med" len="med"/>
                    </a:lnR>
                    <a:lnT w="12700" cap="flat" cmpd="sng" algn="ctr">
                      <a:solidFill>
                        <a:srgbClr val="C2C0B9"/>
                      </a:solidFill>
                      <a:prstDash val="solid"/>
                      <a:round/>
                      <a:headEnd type="none" w="med" len="med"/>
                      <a:tailEnd type="none" w="med" len="med"/>
                    </a:lnT>
                    <a:lnB w="12700" cap="flat" cmpd="sng" algn="ctr">
                      <a:solidFill>
                        <a:srgbClr val="161D25"/>
                      </a:solidFill>
                      <a:prstDash val="solid"/>
                      <a:round/>
                      <a:headEnd type="none" w="med" len="med"/>
                      <a:tailEnd type="none" w="med" len="med"/>
                    </a:lnB>
                    <a:solidFill>
                      <a:srgbClr val="16202A"/>
                    </a:solidFill>
                  </a:tcPr>
                </a:tc>
                <a:tc>
                  <a:txBody>
                    <a:bodyPr/>
                    <a:lstStyle/>
                    <a:p>
                      <a:pPr marL="0" indent="0">
                        <a:lnSpc>
                          <a:spcPts val="1960"/>
                        </a:lnSpc>
                        <a:buNone/>
                      </a:pPr>
                      <a:r>
                        <a:rPr lang="en-US" sz="1400" b="1" dirty="0">
                          <a:solidFill>
                            <a:srgbClr val="F3F0E8"/>
                          </a:solidFill>
                          <a:latin typeface="IBM Plex Sans" pitchFamily="34" charset="0"/>
                          <a:ea typeface="IBM Plex Sans" pitchFamily="34" charset="-122"/>
                          <a:cs typeface="IBM Plex Sans" pitchFamily="34" charset="-120"/>
                        </a:rPr>
                        <a:t>Route to collapse</a:t>
                      </a:r>
                      <a:endParaRPr lang="en-US" sz="1400" dirty="0">
                        <a:latin typeface="IBM Plex Sans" charset="0"/>
                        <a:ea typeface="IBM Plex Sans" charset="0"/>
                        <a:cs typeface="IBM Plex Sans" charset="0"/>
                      </a:endParaRPr>
                    </a:p>
                  </a:txBody>
                  <a:tcPr marL="62230" marR="62230" marT="62230" marB="62230">
                    <a:lnL w="12700" cap="flat" cmpd="sng" algn="ctr">
                      <a:solidFill>
                        <a:srgbClr val="161D25"/>
                      </a:solidFill>
                      <a:prstDash val="solid"/>
                      <a:round/>
                      <a:headEnd type="none" w="med" len="med"/>
                      <a:tailEnd type="none" w="med" len="med"/>
                    </a:lnL>
                    <a:lnR w="12700" cap="flat" cmpd="sng" algn="ctr">
                      <a:solidFill>
                        <a:srgbClr val="161D25"/>
                      </a:solidFill>
                      <a:prstDash val="solid"/>
                      <a:round/>
                      <a:headEnd type="none" w="med" len="med"/>
                      <a:tailEnd type="none" w="med" len="med"/>
                    </a:lnR>
                    <a:lnT w="12700" cap="flat" cmpd="sng" algn="ctr">
                      <a:solidFill>
                        <a:srgbClr val="C2C0B9"/>
                      </a:solidFill>
                      <a:prstDash val="solid"/>
                      <a:round/>
                      <a:headEnd type="none" w="med" len="med"/>
                      <a:tailEnd type="none" w="med" len="med"/>
                    </a:lnT>
                    <a:lnB w="12700" cap="flat" cmpd="sng" algn="ctr">
                      <a:solidFill>
                        <a:srgbClr val="161D25"/>
                      </a:solidFill>
                      <a:prstDash val="solid"/>
                      <a:round/>
                      <a:headEnd type="none" w="med" len="med"/>
                      <a:tailEnd type="none" w="med" len="med"/>
                    </a:lnB>
                    <a:solidFill>
                      <a:srgbClr val="16202A"/>
                    </a:solidFill>
                  </a:tcPr>
                </a:tc>
                <a:tc>
                  <a:txBody>
                    <a:bodyPr/>
                    <a:lstStyle/>
                    <a:p>
                      <a:pPr marL="0" indent="0">
                        <a:lnSpc>
                          <a:spcPts val="1960"/>
                        </a:lnSpc>
                        <a:buNone/>
                      </a:pPr>
                      <a:r>
                        <a:rPr lang="en-US" sz="1400" b="1" dirty="0">
                          <a:solidFill>
                            <a:srgbClr val="F3F0E8"/>
                          </a:solidFill>
                          <a:latin typeface="IBM Plex Sans" pitchFamily="34" charset="0"/>
                          <a:ea typeface="IBM Plex Sans" pitchFamily="34" charset="-122"/>
                          <a:cs typeface="IBM Plex Sans" pitchFamily="34" charset="-120"/>
                        </a:rPr>
                        <a:t>Escape that makes it hard</a:t>
                      </a:r>
                      <a:endParaRPr lang="en-US" sz="1400" dirty="0">
                        <a:latin typeface="IBM Plex Sans" charset="0"/>
                        <a:ea typeface="IBM Plex Sans" charset="0"/>
                        <a:cs typeface="IBM Plex Sans" charset="0"/>
                      </a:endParaRPr>
                    </a:p>
                  </a:txBody>
                  <a:tcPr marL="62230" marR="62230" marT="62230" marB="62230">
                    <a:lnL w="12700" cap="flat" cmpd="sng" algn="ctr">
                      <a:solidFill>
                        <a:srgbClr val="161D25"/>
                      </a:solidFill>
                      <a:prstDash val="solid"/>
                      <a:round/>
                      <a:headEnd type="none" w="med" len="med"/>
                      <a:tailEnd type="none" w="med" len="med"/>
                    </a:lnL>
                    <a:lnR w="12700" cap="flat" cmpd="sng" algn="ctr">
                      <a:solidFill>
                        <a:srgbClr val="161D25"/>
                      </a:solidFill>
                      <a:prstDash val="solid"/>
                      <a:round/>
                      <a:headEnd type="none" w="med" len="med"/>
                      <a:tailEnd type="none" w="med" len="med"/>
                    </a:lnR>
                    <a:lnT w="12700" cap="flat" cmpd="sng" algn="ctr">
                      <a:solidFill>
                        <a:srgbClr val="C2C0B9"/>
                      </a:solidFill>
                      <a:prstDash val="solid"/>
                      <a:round/>
                      <a:headEnd type="none" w="med" len="med"/>
                      <a:tailEnd type="none" w="med" len="med"/>
                    </a:lnT>
                    <a:lnB w="12700" cap="flat" cmpd="sng" algn="ctr">
                      <a:solidFill>
                        <a:srgbClr val="161D25"/>
                      </a:solidFill>
                      <a:prstDash val="solid"/>
                      <a:round/>
                      <a:headEnd type="none" w="med" len="med"/>
                      <a:tailEnd type="none" w="med" len="med"/>
                    </a:lnB>
                    <a:solidFill>
                      <a:srgbClr val="16202A"/>
                    </a:solidFill>
                  </a:tcPr>
                </a:tc>
                <a:extLst>
                  <a:ext uri="{0D108BD9-81ED-4DB2-BD59-A6C34878D82A}">
                    <a16:rowId xmlns:a16="http://schemas.microsoft.com/office/drawing/2014/main" val="10000"/>
                  </a:ext>
                </a:extLst>
              </a:tr>
              <a:tr h="632460">
                <a:tc>
                  <a:txBody>
                    <a:bodyPr/>
                    <a:lstStyle/>
                    <a:p>
                      <a:pPr marL="0" indent="0">
                        <a:lnSpc>
                          <a:spcPts val="1960"/>
                        </a:lnSpc>
                        <a:buNone/>
                      </a:pPr>
                      <a:r>
                        <a:rPr lang="en-US" sz="1400" dirty="0">
                          <a:solidFill>
                            <a:srgbClr val="16202A"/>
                          </a:solidFill>
                          <a:latin typeface="IBM Plex Sans" pitchFamily="34" charset="0"/>
                          <a:ea typeface="IBM Plex Sans" pitchFamily="34" charset="-122"/>
                          <a:cs typeface="IBM Plex Sans" pitchFamily="34" charset="-120"/>
                        </a:rPr>
                        <a:t>Horn cell (rhino)</a:t>
                      </a:r>
                      <a:endParaRPr lang="en-US" sz="1400" dirty="0">
                        <a:latin typeface="IBM Plex Sans" charset="0"/>
                        <a:ea typeface="IBM Plex Sans" charset="0"/>
                        <a:cs typeface="IBM Plex Sans" charset="0"/>
                      </a:endParaRPr>
                    </a:p>
                  </a:txBody>
                  <a:tcPr marL="62230" marR="62230" marT="62230" marB="62230">
                    <a:lnL w="12700" cap="flat" cmpd="sng" algn="ctr">
                      <a:solidFill>
                        <a:srgbClr val="C2C0B9"/>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161D25"/>
                      </a:solidFill>
                      <a:prstDash val="solid"/>
                      <a:round/>
                      <a:headEnd type="none" w="med" len="med"/>
                      <a:tailEnd type="none" w="med" len="med"/>
                    </a:lnT>
                    <a:lnB w="12700" cap="flat" cmpd="sng" algn="ctr">
                      <a:solidFill>
                        <a:srgbClr val="C8C7C4"/>
                      </a:solidFill>
                      <a:prstDash val="solid"/>
                      <a:round/>
                      <a:headEnd type="none" w="med" len="med"/>
                      <a:tailEnd type="none" w="med" len="med"/>
                    </a:lnB>
                    <a:solidFill>
                      <a:srgbClr val="FBFAF6"/>
                    </a:solidFill>
                  </a:tcPr>
                </a:tc>
                <a:tc>
                  <a:txBody>
                    <a:bodyPr/>
                    <a:lstStyle/>
                    <a:p>
                      <a:pPr marL="0" indent="0">
                        <a:lnSpc>
                          <a:spcPts val="1960"/>
                        </a:lnSpc>
                        <a:buNone/>
                      </a:pPr>
                      <a:r>
                        <a:rPr lang="en-US" sz="1400" dirty="0">
                          <a:solidFill>
                            <a:srgbClr val="16202A"/>
                          </a:solidFill>
                          <a:latin typeface="IBM Plex Sans" pitchFamily="34" charset="0"/>
                          <a:ea typeface="IBM Plex Sans" pitchFamily="34" charset="-122"/>
                          <a:cs typeface="IBM Plex Sans" pitchFamily="34" charset="-120"/>
                        </a:rPr>
                        <a:t>Vimbai</a:t>
                      </a:r>
                      <a:endParaRPr lang="en-US" sz="1400" dirty="0">
                        <a:latin typeface="IBM Plex Sans" charset="0"/>
                        <a:ea typeface="IBM Plex Sans" charset="0"/>
                        <a:cs typeface="IBM Plex Sans" charset="0"/>
                      </a:endParaRPr>
                    </a:p>
                  </a:txBody>
                  <a:tcPr marL="62230" marR="62230" marT="62230" marB="62230">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161D25"/>
                      </a:solidFill>
                      <a:prstDash val="solid"/>
                      <a:round/>
                      <a:headEnd type="none" w="med" len="med"/>
                      <a:tailEnd type="none" w="med" len="med"/>
                    </a:lnT>
                    <a:lnB w="12700" cap="flat" cmpd="sng" algn="ctr">
                      <a:solidFill>
                        <a:srgbClr val="C8C7C4"/>
                      </a:solidFill>
                      <a:prstDash val="solid"/>
                      <a:round/>
                      <a:headEnd type="none" w="med" len="med"/>
                      <a:tailEnd type="none" w="med" len="med"/>
                    </a:lnB>
                    <a:solidFill>
                      <a:srgbClr val="FBFAF6"/>
                    </a:solidFill>
                  </a:tcPr>
                </a:tc>
                <a:tc>
                  <a:txBody>
                    <a:bodyPr/>
                    <a:lstStyle/>
                    <a:p>
                      <a:pPr marL="0" indent="0">
                        <a:lnSpc>
                          <a:spcPts val="1960"/>
                        </a:lnSpc>
                        <a:buNone/>
                      </a:pPr>
                      <a:r>
                        <a:rPr lang="en-US" sz="1400" dirty="0">
                          <a:solidFill>
                            <a:srgbClr val="16202A"/>
                          </a:solidFill>
                          <a:latin typeface="IBM Plex Sans" pitchFamily="34" charset="0"/>
                          <a:ea typeface="IBM Plex Sans" pitchFamily="34" charset="-122"/>
                          <a:cs typeface="IBM Plex Sans" pitchFamily="34" charset="-120"/>
                        </a:rPr>
                        <a:t>Horned rhinos trample nearby plants and food</a:t>
                      </a:r>
                      <a:endParaRPr lang="en-US" sz="1400" dirty="0">
                        <a:latin typeface="IBM Plex Sans" charset="0"/>
                        <a:ea typeface="IBM Plex Sans" charset="0"/>
                        <a:cs typeface="IBM Plex Sans" charset="0"/>
                      </a:endParaRPr>
                    </a:p>
                  </a:txBody>
                  <a:tcPr marL="62230" marR="62230" marT="62230" marB="62230">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161D25"/>
                      </a:solidFill>
                      <a:prstDash val="solid"/>
                      <a:round/>
                      <a:headEnd type="none" w="med" len="med"/>
                      <a:tailEnd type="none" w="med" len="med"/>
                    </a:lnT>
                    <a:lnB w="12700" cap="flat" cmpd="sng" algn="ctr">
                      <a:solidFill>
                        <a:srgbClr val="C8C7C4"/>
                      </a:solidFill>
                      <a:prstDash val="solid"/>
                      <a:round/>
                      <a:headEnd type="none" w="med" len="med"/>
                      <a:tailEnd type="none" w="med" len="med"/>
                    </a:lnB>
                    <a:solidFill>
                      <a:srgbClr val="FBFAF6"/>
                    </a:solidFill>
                  </a:tcPr>
                </a:tc>
                <a:tc>
                  <a:txBody>
                    <a:bodyPr/>
                    <a:lstStyle/>
                    <a:p>
                      <a:pPr marL="0" indent="0">
                        <a:lnSpc>
                          <a:spcPts val="1960"/>
                        </a:lnSpc>
                        <a:buNone/>
                      </a:pPr>
                      <a:r>
                        <a:rPr lang="en-US" sz="1400" dirty="0">
                          <a:solidFill>
                            <a:srgbClr val="16202A"/>
                          </a:solidFill>
                          <a:latin typeface="IBM Plex Sans" pitchFamily="34" charset="0"/>
                          <a:ea typeface="IBM Plex Sans" pitchFamily="34" charset="-122"/>
                          <a:cs typeface="IBM Plex Sans" pitchFamily="34" charset="-120"/>
                        </a:rPr>
                        <a:t>Immune to killers; gores attackers, so rhinos survive predation</a:t>
                      </a:r>
                      <a:endParaRPr lang="en-US" sz="1400" dirty="0">
                        <a:latin typeface="IBM Plex Sans" charset="0"/>
                        <a:ea typeface="IBM Plex Sans" charset="0"/>
                        <a:cs typeface="IBM Plex Sans" charset="0"/>
                      </a:endParaRPr>
                    </a:p>
                  </a:txBody>
                  <a:tcPr marL="62230" marR="62230" marT="62230" marB="62230">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161D25"/>
                      </a:solidFill>
                      <a:prstDash val="solid"/>
                      <a:round/>
                      <a:headEnd type="none" w="med" len="med"/>
                      <a:tailEnd type="none" w="med" len="med"/>
                    </a:lnT>
                    <a:lnB w="12700" cap="flat" cmpd="sng" algn="ctr">
                      <a:solidFill>
                        <a:srgbClr val="C8C7C4"/>
                      </a:solidFill>
                      <a:prstDash val="solid"/>
                      <a:round/>
                      <a:headEnd type="none" w="med" len="med"/>
                      <a:tailEnd type="none" w="med" len="med"/>
                    </a:lnB>
                    <a:solidFill>
                      <a:srgbClr val="FBFAF6"/>
                    </a:solidFill>
                  </a:tcPr>
                </a:tc>
                <a:extLst>
                  <a:ext uri="{0D108BD9-81ED-4DB2-BD59-A6C34878D82A}">
                    <a16:rowId xmlns:a16="http://schemas.microsoft.com/office/drawing/2014/main" val="10001"/>
                  </a:ext>
                </a:extLst>
              </a:tr>
              <a:tr h="632460">
                <a:tc>
                  <a:txBody>
                    <a:bodyPr/>
                    <a:lstStyle/>
                    <a:p>
                      <a:pPr marL="0" indent="0">
                        <a:lnSpc>
                          <a:spcPts val="1960"/>
                        </a:lnSpc>
                        <a:buNone/>
                      </a:pPr>
                      <a:r>
                        <a:rPr lang="en-US" sz="1400" dirty="0">
                          <a:solidFill>
                            <a:srgbClr val="16202A"/>
                          </a:solidFill>
                          <a:latin typeface="IBM Plex Sans" pitchFamily="34" charset="0"/>
                          <a:ea typeface="IBM Plex Sans" pitchFamily="34" charset="-122"/>
                          <a:cs typeface="IBM Plex Sans" pitchFamily="34" charset="-120"/>
                        </a:rPr>
                        <a:t>Stripe cell (zebra)</a:t>
                      </a:r>
                      <a:endParaRPr lang="en-US" sz="1400" dirty="0">
                        <a:latin typeface="IBM Plex Sans" charset="0"/>
                        <a:ea typeface="IBM Plex Sans" charset="0"/>
                        <a:cs typeface="IBM Plex Sans" charset="0"/>
                      </a:endParaRPr>
                    </a:p>
                  </a:txBody>
                  <a:tcPr marL="62230" marR="62230" marT="62230" marB="62230">
                    <a:lnL w="12700" cap="flat" cmpd="sng" algn="ctr">
                      <a:solidFill>
                        <a:srgbClr val="C2C0B9"/>
                      </a:solidFill>
                      <a:prstDash val="solid"/>
                      <a:round/>
                      <a:headEnd type="none" w="med" len="med"/>
                      <a:tailEnd type="none" w="med" len="med"/>
                    </a:lnL>
                    <a:lnR w="12700" cap="flat" cmpd="sng" algn="ctr">
                      <a:solidFill>
                        <a:srgbClr val="C2C0B9"/>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C2C0B9"/>
                      </a:solidFill>
                      <a:prstDash val="solid"/>
                      <a:round/>
                      <a:headEnd type="none" w="med" len="med"/>
                      <a:tailEnd type="none" w="med" len="med"/>
                    </a:lnB>
                  </a:tcPr>
                </a:tc>
                <a:tc>
                  <a:txBody>
                    <a:bodyPr/>
                    <a:lstStyle/>
                    <a:p>
                      <a:pPr marL="0" indent="0">
                        <a:lnSpc>
                          <a:spcPts val="1960"/>
                        </a:lnSpc>
                        <a:buNone/>
                      </a:pPr>
                      <a:r>
                        <a:rPr lang="en-US" sz="1400" dirty="0">
                          <a:solidFill>
                            <a:srgbClr val="16202A"/>
                          </a:solidFill>
                          <a:latin typeface="IBM Plex Sans" pitchFamily="34" charset="0"/>
                          <a:ea typeface="IBM Plex Sans" pitchFamily="34" charset="-122"/>
                          <a:cs typeface="IBM Plex Sans" pitchFamily="34" charset="-120"/>
                        </a:rPr>
                        <a:t>Moreblessing</a:t>
                      </a:r>
                      <a:endParaRPr lang="en-US" sz="1400" dirty="0">
                        <a:latin typeface="IBM Plex Sans" charset="0"/>
                        <a:ea typeface="IBM Plex Sans" charset="0"/>
                        <a:cs typeface="IBM Plex Sans" charset="0"/>
                      </a:endParaRPr>
                    </a:p>
                  </a:txBody>
                  <a:tcPr marL="62230" marR="62230" marT="62230" marB="62230">
                    <a:lnL w="12700" cap="flat" cmpd="sng" algn="ctr">
                      <a:solidFill>
                        <a:srgbClr val="C2C0B9"/>
                      </a:solidFill>
                      <a:prstDash val="solid"/>
                      <a:round/>
                      <a:headEnd type="none" w="med" len="med"/>
                      <a:tailEnd type="none" w="med" len="med"/>
                    </a:lnL>
                    <a:lnR w="12700" cap="flat" cmpd="sng" algn="ctr">
                      <a:solidFill>
                        <a:srgbClr val="C2C0B9"/>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C2C0B9"/>
                      </a:solidFill>
                      <a:prstDash val="solid"/>
                      <a:round/>
                      <a:headEnd type="none" w="med" len="med"/>
                      <a:tailEnd type="none" w="med" len="med"/>
                    </a:lnB>
                  </a:tcPr>
                </a:tc>
                <a:tc>
                  <a:txBody>
                    <a:bodyPr/>
                    <a:lstStyle/>
                    <a:p>
                      <a:pPr marL="0" indent="0">
                        <a:lnSpc>
                          <a:spcPts val="1960"/>
                        </a:lnSpc>
                        <a:buNone/>
                      </a:pPr>
                      <a:r>
                        <a:rPr lang="en-US" sz="1400" dirty="0">
                          <a:solidFill>
                            <a:srgbClr val="16202A"/>
                          </a:solidFill>
                          <a:latin typeface="IBM Plex Sans" pitchFamily="34" charset="0"/>
                          <a:ea typeface="IBM Plex Sans" pitchFamily="34" charset="-122"/>
                          <a:cs typeface="IBM Plex Sans" pitchFamily="34" charset="-120"/>
                        </a:rPr>
                        <a:t>More surviving zebras put more pressure on grass</a:t>
                      </a:r>
                      <a:endParaRPr lang="en-US" sz="1400" dirty="0">
                        <a:latin typeface="IBM Plex Sans" charset="0"/>
                        <a:ea typeface="IBM Plex Sans" charset="0"/>
                        <a:cs typeface="IBM Plex Sans" charset="0"/>
                      </a:endParaRPr>
                    </a:p>
                  </a:txBody>
                  <a:tcPr marL="62230" marR="62230" marT="62230" marB="62230">
                    <a:lnL w="12700" cap="flat" cmpd="sng" algn="ctr">
                      <a:solidFill>
                        <a:srgbClr val="C2C0B9"/>
                      </a:solidFill>
                      <a:prstDash val="solid"/>
                      <a:round/>
                      <a:headEnd type="none" w="med" len="med"/>
                      <a:tailEnd type="none" w="med" len="med"/>
                    </a:lnL>
                    <a:lnR w="12700" cap="flat" cmpd="sng" algn="ctr">
                      <a:solidFill>
                        <a:srgbClr val="C2C0B9"/>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C2C0B9"/>
                      </a:solidFill>
                      <a:prstDash val="solid"/>
                      <a:round/>
                      <a:headEnd type="none" w="med" len="med"/>
                      <a:tailEnd type="none" w="med" len="med"/>
                    </a:lnB>
                  </a:tcPr>
                </a:tc>
                <a:tc>
                  <a:txBody>
                    <a:bodyPr/>
                    <a:lstStyle/>
                    <a:p>
                      <a:pPr marL="0" indent="0">
                        <a:lnSpc>
                          <a:spcPts val="1960"/>
                        </a:lnSpc>
                        <a:buNone/>
                      </a:pPr>
                      <a:r>
                        <a:rPr lang="en-US" sz="1400" dirty="0">
                          <a:solidFill>
                            <a:srgbClr val="16202A"/>
                          </a:solidFill>
                          <a:latin typeface="IBM Plex Sans" pitchFamily="34" charset="0"/>
                          <a:ea typeface="IBM Plex Sans" pitchFamily="34" charset="-122"/>
                          <a:cs typeface="IBM Plex Sans" pitchFamily="34" charset="-120"/>
                        </a:rPr>
                        <a:t>Leopard eyes miss striped zebras in a herd, up to 85%</a:t>
                      </a:r>
                      <a:endParaRPr lang="en-US" sz="1400" dirty="0">
                        <a:latin typeface="IBM Plex Sans" charset="0"/>
                        <a:ea typeface="IBM Plex Sans" charset="0"/>
                        <a:cs typeface="IBM Plex Sans" charset="0"/>
                      </a:endParaRPr>
                    </a:p>
                  </a:txBody>
                  <a:tcPr marL="62230" marR="62230" marT="62230" marB="62230">
                    <a:lnL w="12700" cap="flat" cmpd="sng" algn="ctr">
                      <a:solidFill>
                        <a:srgbClr val="C2C0B9"/>
                      </a:solidFill>
                      <a:prstDash val="solid"/>
                      <a:round/>
                      <a:headEnd type="none" w="med" len="med"/>
                      <a:tailEnd type="none" w="med" len="med"/>
                    </a:lnL>
                    <a:lnR w="12700" cap="flat" cmpd="sng" algn="ctr">
                      <a:solidFill>
                        <a:srgbClr val="C2C0B9"/>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C2C0B9"/>
                      </a:solidFill>
                      <a:prstDash val="solid"/>
                      <a:round/>
                      <a:headEnd type="none" w="med" len="med"/>
                      <a:tailEnd type="none" w="med" len="med"/>
                    </a:lnB>
                  </a:tcPr>
                </a:tc>
                <a:extLst>
                  <a:ext uri="{0D108BD9-81ED-4DB2-BD59-A6C34878D82A}">
                    <a16:rowId xmlns:a16="http://schemas.microsoft.com/office/drawing/2014/main" val="10002"/>
                  </a:ext>
                </a:extLst>
              </a:tr>
              <a:tr h="632460">
                <a:tc>
                  <a:txBody>
                    <a:bodyPr/>
                    <a:lstStyle/>
                    <a:p>
                      <a:pPr marL="0" indent="0">
                        <a:lnSpc>
                          <a:spcPts val="1960"/>
                        </a:lnSpc>
                        <a:buNone/>
                      </a:pPr>
                      <a:r>
                        <a:rPr lang="en-US" sz="1400" dirty="0">
                          <a:solidFill>
                            <a:srgbClr val="16202A"/>
                          </a:solidFill>
                          <a:latin typeface="IBM Plex Sans" pitchFamily="34" charset="0"/>
                          <a:ea typeface="IBM Plex Sans" pitchFamily="34" charset="-122"/>
                          <a:cs typeface="IBM Plex Sans" pitchFamily="34" charset="-120"/>
                        </a:rPr>
                        <a:t>Cache cell (leopard)</a:t>
                      </a:r>
                      <a:endParaRPr lang="en-US" sz="1400" dirty="0">
                        <a:latin typeface="IBM Plex Sans" charset="0"/>
                        <a:ea typeface="IBM Plex Sans" charset="0"/>
                        <a:cs typeface="IBM Plex Sans" charset="0"/>
                      </a:endParaRPr>
                    </a:p>
                  </a:txBody>
                  <a:tcPr marL="62230" marR="62230" marT="62230" marB="62230">
                    <a:lnL w="12700" cap="flat" cmpd="sng" algn="ctr">
                      <a:solidFill>
                        <a:srgbClr val="C2C0B9"/>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C2C0B9"/>
                      </a:solidFill>
                      <a:prstDash val="solid"/>
                      <a:round/>
                      <a:headEnd type="none" w="med" len="med"/>
                      <a:tailEnd type="none" w="med" len="med"/>
                    </a:lnT>
                    <a:lnB w="12700" cap="flat" cmpd="sng" algn="ctr">
                      <a:solidFill>
                        <a:srgbClr val="C8C7C4"/>
                      </a:solidFill>
                      <a:prstDash val="solid"/>
                      <a:round/>
                      <a:headEnd type="none" w="med" len="med"/>
                      <a:tailEnd type="none" w="med" len="med"/>
                    </a:lnB>
                    <a:solidFill>
                      <a:srgbClr val="FBFAF6"/>
                    </a:solidFill>
                  </a:tcPr>
                </a:tc>
                <a:tc>
                  <a:txBody>
                    <a:bodyPr/>
                    <a:lstStyle/>
                    <a:p>
                      <a:pPr marL="0" indent="0">
                        <a:lnSpc>
                          <a:spcPts val="1960"/>
                        </a:lnSpc>
                        <a:buNone/>
                      </a:pPr>
                      <a:r>
                        <a:rPr lang="en-US" sz="1400" dirty="0">
                          <a:solidFill>
                            <a:srgbClr val="16202A"/>
                          </a:solidFill>
                          <a:latin typeface="IBM Plex Sans" pitchFamily="34" charset="0"/>
                          <a:ea typeface="IBM Plex Sans" pitchFamily="34" charset="-122"/>
                          <a:cs typeface="IBM Plex Sans" pitchFamily="34" charset="-120"/>
                        </a:rPr>
                        <a:t>Ashley</a:t>
                      </a:r>
                      <a:endParaRPr lang="en-US" sz="1400" dirty="0">
                        <a:latin typeface="IBM Plex Sans" charset="0"/>
                        <a:ea typeface="IBM Plex Sans" charset="0"/>
                        <a:cs typeface="IBM Plex Sans" charset="0"/>
                      </a:endParaRPr>
                    </a:p>
                  </a:txBody>
                  <a:tcPr marL="62230" marR="62230" marT="62230" marB="62230">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C2C0B9"/>
                      </a:solidFill>
                      <a:prstDash val="solid"/>
                      <a:round/>
                      <a:headEnd type="none" w="med" len="med"/>
                      <a:tailEnd type="none" w="med" len="med"/>
                    </a:lnT>
                    <a:lnB w="12700" cap="flat" cmpd="sng" algn="ctr">
                      <a:solidFill>
                        <a:srgbClr val="C8C7C4"/>
                      </a:solidFill>
                      <a:prstDash val="solid"/>
                      <a:round/>
                      <a:headEnd type="none" w="med" len="med"/>
                      <a:tailEnd type="none" w="med" len="med"/>
                    </a:lnB>
                    <a:solidFill>
                      <a:srgbClr val="FBFAF6"/>
                    </a:solidFill>
                  </a:tcPr>
                </a:tc>
                <a:tc>
                  <a:txBody>
                    <a:bodyPr/>
                    <a:lstStyle/>
                    <a:p>
                      <a:pPr marL="0" indent="0">
                        <a:lnSpc>
                          <a:spcPts val="1960"/>
                        </a:lnSpc>
                        <a:buNone/>
                      </a:pPr>
                      <a:r>
                        <a:rPr lang="en-US" sz="1400" dirty="0">
                          <a:solidFill>
                            <a:srgbClr val="16202A"/>
                          </a:solidFill>
                          <a:latin typeface="IBM Plex Sans" pitchFamily="34" charset="0"/>
                          <a:ea typeface="IBM Plex Sans" pitchFamily="34" charset="-122"/>
                          <a:cs typeface="IBM Plex Sans" pitchFamily="34" charset="-120"/>
                        </a:rPr>
                        <a:t>Banking food delays breeding</a:t>
                      </a:r>
                      <a:endParaRPr lang="en-US" sz="1400" dirty="0">
                        <a:latin typeface="IBM Plex Sans" charset="0"/>
                        <a:ea typeface="IBM Plex Sans" charset="0"/>
                        <a:cs typeface="IBM Plex Sans" charset="0"/>
                      </a:endParaRPr>
                    </a:p>
                  </a:txBody>
                  <a:tcPr marL="62230" marR="62230" marT="62230" marB="62230">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C2C0B9"/>
                      </a:solidFill>
                      <a:prstDash val="solid"/>
                      <a:round/>
                      <a:headEnd type="none" w="med" len="med"/>
                      <a:tailEnd type="none" w="med" len="med"/>
                    </a:lnT>
                    <a:lnB w="12700" cap="flat" cmpd="sng" algn="ctr">
                      <a:solidFill>
                        <a:srgbClr val="C8C7C4"/>
                      </a:solidFill>
                      <a:prstDash val="solid"/>
                      <a:round/>
                      <a:headEnd type="none" w="med" len="med"/>
                      <a:tailEnd type="none" w="med" len="med"/>
                    </a:lnB>
                    <a:solidFill>
                      <a:srgbClr val="FBFAF6"/>
                    </a:solidFill>
                  </a:tcPr>
                </a:tc>
                <a:tc>
                  <a:txBody>
                    <a:bodyPr/>
                    <a:lstStyle/>
                    <a:p>
                      <a:pPr marL="0" indent="0">
                        <a:lnSpc>
                          <a:spcPts val="1960"/>
                        </a:lnSpc>
                        <a:buNone/>
                      </a:pPr>
                      <a:r>
                        <a:rPr lang="en-US" sz="1400" dirty="0">
                          <a:solidFill>
                            <a:srgbClr val="16202A"/>
                          </a:solidFill>
                          <a:latin typeface="IBM Plex Sans" pitchFamily="34" charset="0"/>
                          <a:ea typeface="IBM Plex Sans" pitchFamily="34" charset="-122"/>
                          <a:cs typeface="IBM Plex Sans" pitchFamily="34" charset="-120"/>
                        </a:rPr>
                        <a:t>Stored food near trees is spent when hunger would kill</a:t>
                      </a:r>
                      <a:endParaRPr lang="en-US" sz="1400" dirty="0">
                        <a:latin typeface="IBM Plex Sans" charset="0"/>
                        <a:ea typeface="IBM Plex Sans" charset="0"/>
                        <a:cs typeface="IBM Plex Sans" charset="0"/>
                      </a:endParaRPr>
                    </a:p>
                  </a:txBody>
                  <a:tcPr marL="62230" marR="62230" marT="62230" marB="62230">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C2C0B9"/>
                      </a:solidFill>
                      <a:prstDash val="solid"/>
                      <a:round/>
                      <a:headEnd type="none" w="med" len="med"/>
                      <a:tailEnd type="none" w="med" len="med"/>
                    </a:lnT>
                    <a:lnB w="12700" cap="flat" cmpd="sng" algn="ctr">
                      <a:solidFill>
                        <a:srgbClr val="C8C7C4"/>
                      </a:solidFill>
                      <a:prstDash val="solid"/>
                      <a:round/>
                      <a:headEnd type="none" w="med" len="med"/>
                      <a:tailEnd type="none" w="med" len="med"/>
                    </a:lnB>
                    <a:solidFill>
                      <a:srgbClr val="FBFAF6"/>
                    </a:solidFill>
                  </a:tcPr>
                </a:tc>
                <a:extLst>
                  <a:ext uri="{0D108BD9-81ED-4DB2-BD59-A6C34878D82A}">
                    <a16:rowId xmlns:a16="http://schemas.microsoft.com/office/drawing/2014/main" val="10003"/>
                  </a:ext>
                </a:extLst>
              </a:tr>
              <a:tr h="632460">
                <a:tc>
                  <a:txBody>
                    <a:bodyPr/>
                    <a:lstStyle/>
                    <a:p>
                      <a:pPr marL="0" indent="0">
                        <a:lnSpc>
                          <a:spcPts val="1960"/>
                        </a:lnSpc>
                        <a:buNone/>
                      </a:pPr>
                      <a:r>
                        <a:rPr lang="en-US" sz="1400" dirty="0">
                          <a:solidFill>
                            <a:srgbClr val="16202A"/>
                          </a:solidFill>
                          <a:latin typeface="IBM Plex Sans" pitchFamily="34" charset="0"/>
                          <a:ea typeface="IBM Plex Sans" pitchFamily="34" charset="-122"/>
                          <a:cs typeface="IBM Plex Sans" pitchFamily="34" charset="-120"/>
                        </a:rPr>
                        <a:t>Soil water</a:t>
                      </a:r>
                      <a:endParaRPr lang="en-US" sz="1400" dirty="0">
                        <a:latin typeface="IBM Plex Sans" charset="0"/>
                        <a:ea typeface="IBM Plex Sans" charset="0"/>
                        <a:cs typeface="IBM Plex Sans" charset="0"/>
                      </a:endParaRPr>
                    </a:p>
                  </a:txBody>
                  <a:tcPr marL="62230" marR="62230" marT="62230" marB="62230">
                    <a:lnL w="12700" cap="flat" cmpd="sng" algn="ctr">
                      <a:solidFill>
                        <a:srgbClr val="C2C0B9"/>
                      </a:solidFill>
                      <a:prstDash val="solid"/>
                      <a:round/>
                      <a:headEnd type="none" w="med" len="med"/>
                      <a:tailEnd type="none" w="med" len="med"/>
                    </a:lnL>
                    <a:lnR w="12700" cap="flat" cmpd="sng" algn="ctr">
                      <a:solidFill>
                        <a:srgbClr val="C2C0B9"/>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C2C0B9"/>
                      </a:solidFill>
                      <a:prstDash val="solid"/>
                      <a:round/>
                      <a:headEnd type="none" w="med" len="med"/>
                      <a:tailEnd type="none" w="med" len="med"/>
                    </a:lnB>
                  </a:tcPr>
                </a:tc>
                <a:tc>
                  <a:txBody>
                    <a:bodyPr/>
                    <a:lstStyle/>
                    <a:p>
                      <a:pPr marL="0" indent="0">
                        <a:lnSpc>
                          <a:spcPts val="1960"/>
                        </a:lnSpc>
                        <a:buNone/>
                      </a:pPr>
                      <a:r>
                        <a:rPr lang="en-US" sz="1400" dirty="0">
                          <a:solidFill>
                            <a:srgbClr val="16202A"/>
                          </a:solidFill>
                          <a:latin typeface="IBM Plex Sans" pitchFamily="34" charset="0"/>
                          <a:ea typeface="IBM Plex Sans" charset="0"/>
                          <a:cs typeface="IBM Plex Sans" charset="0"/>
                        </a:rPr>
                        <a:t>shared</a:t>
                      </a:r>
                      <a:endParaRPr lang="en-US" sz="1400" dirty="0">
                        <a:latin typeface="IBM Plex Sans" charset="0"/>
                        <a:ea typeface="IBM Plex Sans" charset="0"/>
                        <a:cs typeface="IBM Plex Sans" charset="0"/>
                      </a:endParaRPr>
                    </a:p>
                  </a:txBody>
                  <a:tcPr marL="62230" marR="62230" marT="62230" marB="62230">
                    <a:lnL w="12700" cap="flat" cmpd="sng" algn="ctr">
                      <a:solidFill>
                        <a:srgbClr val="C2C0B9"/>
                      </a:solidFill>
                      <a:prstDash val="solid"/>
                      <a:round/>
                      <a:headEnd type="none" w="med" len="med"/>
                      <a:tailEnd type="none" w="med" len="med"/>
                    </a:lnL>
                    <a:lnR w="12700" cap="flat" cmpd="sng" algn="ctr">
                      <a:solidFill>
                        <a:srgbClr val="C2C0B9"/>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C2C0B9"/>
                      </a:solidFill>
                      <a:prstDash val="solid"/>
                      <a:round/>
                      <a:headEnd type="none" w="med" len="med"/>
                      <a:tailEnd type="none" w="med" len="med"/>
                    </a:lnB>
                  </a:tcPr>
                </a:tc>
                <a:tc>
                  <a:txBody>
                    <a:bodyPr/>
                    <a:lstStyle/>
                    <a:p>
                      <a:pPr marL="0" indent="0">
                        <a:lnSpc>
                          <a:spcPts val="1960"/>
                        </a:lnSpc>
                        <a:buNone/>
                      </a:pPr>
                      <a:r>
                        <a:rPr lang="en-US" sz="1400" dirty="0">
                          <a:solidFill>
                            <a:srgbClr val="16202A"/>
                          </a:solidFill>
                          <a:latin typeface="IBM Plex Sans" pitchFamily="34" charset="0"/>
                          <a:ea typeface="IBM Plex Sans" pitchFamily="34" charset="-122"/>
                          <a:cs typeface="IBM Plex Sans" pitchFamily="34" charset="-120"/>
                        </a:rPr>
                        <a:t>Grass needs water, so overgrazed dry soil recovers slowly</a:t>
                      </a:r>
                      <a:endParaRPr lang="en-US" sz="1400" dirty="0">
                        <a:latin typeface="IBM Plex Sans" charset="0"/>
                        <a:ea typeface="IBM Plex Sans" charset="0"/>
                        <a:cs typeface="IBM Plex Sans" charset="0"/>
                      </a:endParaRPr>
                    </a:p>
                  </a:txBody>
                  <a:tcPr marL="62230" marR="62230" marT="62230" marB="62230">
                    <a:lnL w="12700" cap="flat" cmpd="sng" algn="ctr">
                      <a:solidFill>
                        <a:srgbClr val="C2C0B9"/>
                      </a:solidFill>
                      <a:prstDash val="solid"/>
                      <a:round/>
                      <a:headEnd type="none" w="med" len="med"/>
                      <a:tailEnd type="none" w="med" len="med"/>
                    </a:lnL>
                    <a:lnR w="12700" cap="flat" cmpd="sng" algn="ctr">
                      <a:solidFill>
                        <a:srgbClr val="C2C0B9"/>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C2C0B9"/>
                      </a:solidFill>
                      <a:prstDash val="solid"/>
                      <a:round/>
                      <a:headEnd type="none" w="med" len="med"/>
                      <a:tailEnd type="none" w="med" len="med"/>
                    </a:lnB>
                  </a:tcPr>
                </a:tc>
                <a:tc>
                  <a:txBody>
                    <a:bodyPr/>
                    <a:lstStyle/>
                    <a:p>
                      <a:pPr marL="0" indent="0">
                        <a:lnSpc>
                          <a:spcPts val="1960"/>
                        </a:lnSpc>
                        <a:buNone/>
                      </a:pPr>
                      <a:r>
                        <a:rPr lang="en-US" sz="1400" dirty="0">
                          <a:solidFill>
                            <a:srgbClr val="16202A"/>
                          </a:solidFill>
                          <a:latin typeface="IBM Plex Sans" pitchFamily="34" charset="0"/>
                          <a:ea typeface="IBM Plex Sans" pitchFamily="34" charset="-122"/>
                          <a:cs typeface="IBM Plex Sans" pitchFamily="34" charset="-120"/>
                        </a:rPr>
                        <a:t>Rain refills soil; bushes use half the water and expand when grass falls</a:t>
                      </a:r>
                      <a:endParaRPr lang="en-US" sz="1400" dirty="0">
                        <a:latin typeface="IBM Plex Sans" charset="0"/>
                        <a:ea typeface="IBM Plex Sans" charset="0"/>
                        <a:cs typeface="IBM Plex Sans" charset="0"/>
                      </a:endParaRPr>
                    </a:p>
                  </a:txBody>
                  <a:tcPr marL="62230" marR="62230" marT="62230" marB="62230">
                    <a:lnL w="12700" cap="flat" cmpd="sng" algn="ctr">
                      <a:solidFill>
                        <a:srgbClr val="C2C0B9"/>
                      </a:solidFill>
                      <a:prstDash val="solid"/>
                      <a:round/>
                      <a:headEnd type="none" w="med" len="med"/>
                      <a:tailEnd type="none" w="med" len="med"/>
                    </a:lnL>
                    <a:lnR w="12700" cap="flat" cmpd="sng" algn="ctr">
                      <a:solidFill>
                        <a:srgbClr val="C2C0B9"/>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C2C0B9"/>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5" name="Text 2"/>
          <p:cNvSpPr/>
          <p:nvPr/>
        </p:nvSpPr>
        <p:spPr>
          <a:xfrm>
            <a:off x="812800" y="4970779"/>
            <a:ext cx="10883392"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3"/>
                </a:solidFill>
                <a:latin typeface="IBM Plex Sans" pitchFamily="34" charset="0"/>
                <a:ea typeface="IBM Plex Sans" pitchFamily="34" charset="-122"/>
                <a:cs typeface="IBM Plex Sans" pitchFamily="34" charset="-120"/>
              </a:rPr>
              <a:t>Every new setting defaults to off, so the “before” runs reproduce the original engine exactly.</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3F0E8"/>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5905"/>
          </a:xfrm>
          <a:prstGeom prst="rect">
            <a:avLst/>
          </a:prstGeom>
          <a:noFill/>
          <a:ln/>
        </p:spPr>
        <p:txBody>
          <a:bodyPr wrap="square" lIns="0" tIns="0" rIns="0" bIns="0" rtlCol="0" anchor="t">
            <a:normAutofit/>
          </a:bodyPr>
          <a:lstStyle/>
          <a:p>
            <a:pPr marL="0" indent="0" algn="l">
              <a:lnSpc>
                <a:spcPts val="1820"/>
              </a:lnSpc>
              <a:buNone/>
            </a:pPr>
            <a:r>
              <a:rPr lang="en-US" sz="1300" b="1" kern="0" spc="150" dirty="0">
                <a:solidFill>
                  <a:srgbClr val="1C6E8C"/>
                </a:solidFill>
                <a:latin typeface="IBM Plex Sans" pitchFamily="34" charset="0"/>
                <a:ea typeface="IBM Plex Sans" pitchFamily="34" charset="-122"/>
                <a:cs typeface="IBM Plex Sans" pitchFamily="34" charset="-120"/>
              </a:rPr>
              <a:t>AFTER · SHARED ECOLOGY</a:t>
            </a:r>
            <a:endParaRPr lang="en-US" sz="1300" dirty="0"/>
          </a:p>
        </p:txBody>
      </p:sp>
      <p:sp>
        <p:nvSpPr>
          <p:cNvPr id="3" name="Text 1"/>
          <p:cNvSpPr>
            <a:spLocks noGrp="1"/>
          </p:cNvSpPr>
          <p:nvPr>
            <p:ph type="title"/>
          </p:nvPr>
        </p:nvSpPr>
        <p:spPr>
          <a:xfrm>
            <a:off x="812800" y="1119504"/>
            <a:ext cx="10883392" cy="861139"/>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6202A"/>
                </a:solidFill>
                <a:latin typeface="Space Grotesk" pitchFamily="34" charset="0"/>
                <a:ea typeface="Space Grotesk" pitchFamily="34" charset="-122"/>
                <a:cs typeface="Space Grotesk" pitchFamily="34" charset="-120"/>
              </a:rPr>
              <a:t>Rule changes that fixed what the old engine could not do</a:t>
            </a:r>
            <a:endParaRPr lang="en-US" sz="3000" dirty="0"/>
          </a:p>
        </p:txBody>
      </p:sp>
      <p:sp>
        <p:nvSpPr>
          <p:cNvPr id="4" name="Shape 2"/>
          <p:cNvSpPr/>
          <p:nvPr/>
        </p:nvSpPr>
        <p:spPr>
          <a:xfrm>
            <a:off x="815975" y="2212423"/>
            <a:ext cx="3414157" cy="1099820"/>
          </a:xfrm>
          <a:prstGeom prst="roundRect">
            <a:avLst>
              <a:gd name="adj" fmla="val 7794"/>
            </a:avLst>
          </a:prstGeom>
          <a:solidFill>
            <a:srgbClr val="FBFAF6"/>
          </a:solidFill>
          <a:ln w="6350">
            <a:solidFill>
              <a:srgbClr val="DDD6C8"/>
            </a:solidFill>
            <a:prstDash val="solid"/>
          </a:ln>
        </p:spPr>
        <p:txBody>
          <a:bodyPr/>
          <a:lstStyle/>
          <a:p>
            <a:endParaRPr lang="en-ZA"/>
          </a:p>
        </p:txBody>
      </p:sp>
      <p:sp>
        <p:nvSpPr>
          <p:cNvPr id="5" name="Text 3"/>
          <p:cNvSpPr/>
          <p:nvPr/>
        </p:nvSpPr>
        <p:spPr>
          <a:xfrm>
            <a:off x="995680" y="2392127"/>
            <a:ext cx="3146389"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6202A"/>
                </a:solidFill>
                <a:latin typeface="Space Grotesk" pitchFamily="34" charset="0"/>
                <a:ea typeface="Space Grotesk" pitchFamily="34" charset="-122"/>
                <a:cs typeface="Space Grotesk" pitchFamily="34" charset="-120"/>
              </a:rPr>
              <a:t>Worse bush food</a:t>
            </a:r>
            <a:endParaRPr lang="en-US" sz="1600" dirty="0"/>
          </a:p>
        </p:txBody>
      </p:sp>
      <p:sp>
        <p:nvSpPr>
          <p:cNvPr id="6" name="Text 4"/>
          <p:cNvSpPr/>
          <p:nvPr/>
        </p:nvSpPr>
        <p:spPr>
          <a:xfrm>
            <a:off x="995680" y="2686763"/>
            <a:ext cx="3146389" cy="471170"/>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4A5563"/>
                </a:solidFill>
                <a:latin typeface="IBM Plex Sans" pitchFamily="34" charset="0"/>
                <a:ea typeface="IBM Plex Sans" pitchFamily="34" charset="-122"/>
                <a:cs typeface="IBM Plex Sans" pitchFamily="34" charset="-120"/>
              </a:rPr>
              <a:t>Browse is worth 0.35 of grass food: a poor fallback.</a:t>
            </a:r>
            <a:endParaRPr lang="en-US" sz="1300" dirty="0"/>
          </a:p>
        </p:txBody>
      </p:sp>
      <p:sp>
        <p:nvSpPr>
          <p:cNvPr id="7" name="Shape 5"/>
          <p:cNvSpPr/>
          <p:nvPr/>
        </p:nvSpPr>
        <p:spPr>
          <a:xfrm>
            <a:off x="4388882" y="2212423"/>
            <a:ext cx="3414157" cy="1099820"/>
          </a:xfrm>
          <a:prstGeom prst="roundRect">
            <a:avLst>
              <a:gd name="adj" fmla="val 7794"/>
            </a:avLst>
          </a:prstGeom>
          <a:solidFill>
            <a:srgbClr val="FBFAF6"/>
          </a:solidFill>
          <a:ln w="6350">
            <a:solidFill>
              <a:srgbClr val="DDD6C8"/>
            </a:solidFill>
            <a:prstDash val="solid"/>
          </a:ln>
        </p:spPr>
        <p:txBody>
          <a:bodyPr/>
          <a:lstStyle/>
          <a:p>
            <a:endParaRPr lang="en-ZA"/>
          </a:p>
        </p:txBody>
      </p:sp>
      <p:sp>
        <p:nvSpPr>
          <p:cNvPr id="8" name="Text 6"/>
          <p:cNvSpPr/>
          <p:nvPr/>
        </p:nvSpPr>
        <p:spPr>
          <a:xfrm>
            <a:off x="4568587" y="2392127"/>
            <a:ext cx="3146389"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6202A"/>
                </a:solidFill>
                <a:latin typeface="Space Grotesk" pitchFamily="34" charset="0"/>
                <a:ea typeface="Space Grotesk" pitchFamily="34" charset="-122"/>
                <a:cs typeface="Space Grotesk" pitchFamily="34" charset="-120"/>
              </a:rPr>
              <a:t>Grazing</a:t>
            </a:r>
            <a:endParaRPr lang="en-US" sz="1600" dirty="0"/>
          </a:p>
        </p:txBody>
      </p:sp>
      <p:sp>
        <p:nvSpPr>
          <p:cNvPr id="9" name="Text 7"/>
          <p:cNvSpPr/>
          <p:nvPr/>
        </p:nvSpPr>
        <p:spPr>
          <a:xfrm>
            <a:off x="4568587" y="2686763"/>
            <a:ext cx="3146389" cy="471170"/>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4A5563"/>
                </a:solidFill>
                <a:latin typeface="IBM Plex Sans" pitchFamily="34" charset="0"/>
                <a:ea typeface="IBM Plex Sans" pitchFamily="34" charset="-122"/>
                <a:cs typeface="IBM Plex Sans" pitchFamily="34" charset="-120"/>
              </a:rPr>
              <a:t>A mouth next to grass damages it, so overgrazing is possible.</a:t>
            </a:r>
            <a:endParaRPr lang="en-US" sz="1300" dirty="0"/>
          </a:p>
        </p:txBody>
      </p:sp>
      <p:sp>
        <p:nvSpPr>
          <p:cNvPr id="10" name="Shape 8"/>
          <p:cNvSpPr/>
          <p:nvPr/>
        </p:nvSpPr>
        <p:spPr>
          <a:xfrm>
            <a:off x="7961789" y="2212423"/>
            <a:ext cx="3414157" cy="1099820"/>
          </a:xfrm>
          <a:prstGeom prst="roundRect">
            <a:avLst>
              <a:gd name="adj" fmla="val 7794"/>
            </a:avLst>
          </a:prstGeom>
          <a:solidFill>
            <a:srgbClr val="FBFAF6"/>
          </a:solidFill>
          <a:ln w="6350">
            <a:solidFill>
              <a:srgbClr val="DDD6C8"/>
            </a:solidFill>
            <a:prstDash val="solid"/>
          </a:ln>
        </p:spPr>
        <p:txBody>
          <a:bodyPr/>
          <a:lstStyle/>
          <a:p>
            <a:endParaRPr lang="en-ZA"/>
          </a:p>
        </p:txBody>
      </p:sp>
      <p:sp>
        <p:nvSpPr>
          <p:cNvPr id="11" name="Text 9"/>
          <p:cNvSpPr/>
          <p:nvPr/>
        </p:nvSpPr>
        <p:spPr>
          <a:xfrm>
            <a:off x="8141494" y="2392127"/>
            <a:ext cx="3146389"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6202A"/>
                </a:solidFill>
                <a:latin typeface="Space Grotesk" pitchFamily="34" charset="0"/>
                <a:ea typeface="Space Grotesk" pitchFamily="34" charset="-122"/>
                <a:cs typeface="Space Grotesk" pitchFamily="34" charset="-120"/>
              </a:rPr>
              <a:t>Hunger</a:t>
            </a:r>
            <a:endParaRPr lang="en-US" sz="1600" dirty="0"/>
          </a:p>
        </p:txBody>
      </p:sp>
      <p:sp>
        <p:nvSpPr>
          <p:cNvPr id="12" name="Text 10"/>
          <p:cNvSpPr/>
          <p:nvPr/>
        </p:nvSpPr>
        <p:spPr>
          <a:xfrm>
            <a:off x="8141494" y="2686763"/>
            <a:ext cx="3146389" cy="471170"/>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4A5563"/>
                </a:solidFill>
                <a:latin typeface="IBM Plex Sans" pitchFamily="34" charset="0"/>
                <a:ea typeface="IBM Plex Sans" pitchFamily="34" charset="-122"/>
                <a:cs typeface="IBM Plex Sans" pitchFamily="34" charset="-120"/>
              </a:rPr>
              <a:t>Pay 1 food every 80 ticks; 10 missed payments and you starve.</a:t>
            </a:r>
            <a:endParaRPr lang="en-US" sz="1300" dirty="0"/>
          </a:p>
        </p:txBody>
      </p:sp>
      <p:sp>
        <p:nvSpPr>
          <p:cNvPr id="13" name="Shape 11"/>
          <p:cNvSpPr/>
          <p:nvPr/>
        </p:nvSpPr>
        <p:spPr>
          <a:xfrm>
            <a:off x="815975" y="3470988"/>
            <a:ext cx="3414157" cy="1312466"/>
          </a:xfrm>
          <a:prstGeom prst="roundRect">
            <a:avLst>
              <a:gd name="adj" fmla="val 6532"/>
            </a:avLst>
          </a:prstGeom>
          <a:solidFill>
            <a:srgbClr val="FBFAF6"/>
          </a:solidFill>
          <a:ln w="6350">
            <a:solidFill>
              <a:srgbClr val="DDD6C8"/>
            </a:solidFill>
            <a:prstDash val="solid"/>
          </a:ln>
        </p:spPr>
        <p:txBody>
          <a:bodyPr/>
          <a:lstStyle/>
          <a:p>
            <a:endParaRPr lang="en-ZA"/>
          </a:p>
        </p:txBody>
      </p:sp>
      <p:sp>
        <p:nvSpPr>
          <p:cNvPr id="14" name="Text 12"/>
          <p:cNvSpPr/>
          <p:nvPr/>
        </p:nvSpPr>
        <p:spPr>
          <a:xfrm>
            <a:off x="995680" y="3650698"/>
            <a:ext cx="3146389"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6202A"/>
                </a:solidFill>
                <a:latin typeface="Space Grotesk" pitchFamily="34" charset="0"/>
                <a:ea typeface="Space Grotesk" pitchFamily="34" charset="-122"/>
                <a:cs typeface="Space Grotesk" pitchFamily="34" charset="-120"/>
              </a:rPr>
              <a:t>Meat and jaws</a:t>
            </a:r>
            <a:endParaRPr lang="en-US" sz="1600" dirty="0"/>
          </a:p>
        </p:txBody>
      </p:sp>
      <p:sp>
        <p:nvSpPr>
          <p:cNvPr id="15" name="Text 13"/>
          <p:cNvSpPr/>
          <p:nvPr/>
        </p:nvSpPr>
        <p:spPr>
          <a:xfrm>
            <a:off x="995680" y="3945334"/>
            <a:ext cx="3146389" cy="471170"/>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4A5563"/>
                </a:solidFill>
                <a:latin typeface="IBM Plex Sans" pitchFamily="34" charset="0"/>
                <a:ea typeface="IBM Plex Sans" pitchFamily="34" charset="-122"/>
                <a:cs typeface="IBM Plex Sans" pitchFamily="34" charset="-120"/>
              </a:rPr>
              <a:t>Carcasses become meat; leopards eat meat only, so they need prey.</a:t>
            </a:r>
            <a:endParaRPr lang="en-US" sz="1300" dirty="0"/>
          </a:p>
        </p:txBody>
      </p:sp>
      <p:sp>
        <p:nvSpPr>
          <p:cNvPr id="16" name="Shape 14"/>
          <p:cNvSpPr/>
          <p:nvPr/>
        </p:nvSpPr>
        <p:spPr>
          <a:xfrm>
            <a:off x="4388882" y="3470988"/>
            <a:ext cx="3414157" cy="1312466"/>
          </a:xfrm>
          <a:prstGeom prst="roundRect">
            <a:avLst>
              <a:gd name="adj" fmla="val 6532"/>
            </a:avLst>
          </a:prstGeom>
          <a:solidFill>
            <a:srgbClr val="FBFAF6"/>
          </a:solidFill>
          <a:ln w="6350">
            <a:solidFill>
              <a:srgbClr val="DDD6C8"/>
            </a:solidFill>
            <a:prstDash val="solid"/>
          </a:ln>
        </p:spPr>
        <p:txBody>
          <a:bodyPr/>
          <a:lstStyle/>
          <a:p>
            <a:endParaRPr lang="en-ZA"/>
          </a:p>
        </p:txBody>
      </p:sp>
      <p:sp>
        <p:nvSpPr>
          <p:cNvPr id="17" name="Text 15"/>
          <p:cNvSpPr/>
          <p:nvPr/>
        </p:nvSpPr>
        <p:spPr>
          <a:xfrm>
            <a:off x="4568587" y="3650698"/>
            <a:ext cx="3146389" cy="266541"/>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6202A"/>
                </a:solidFill>
                <a:latin typeface="Space Grotesk" pitchFamily="34" charset="0"/>
                <a:ea typeface="Space Grotesk" pitchFamily="34" charset="-122"/>
                <a:cs typeface="Space Grotesk" pitchFamily="34" charset="-120"/>
              </a:rPr>
              <a:t>Sprint and kick</a:t>
            </a:r>
            <a:endParaRPr lang="en-US" sz="1600" dirty="0"/>
          </a:p>
        </p:txBody>
      </p:sp>
      <p:sp>
        <p:nvSpPr>
          <p:cNvPr id="18" name="Text 16"/>
          <p:cNvSpPr/>
          <p:nvPr/>
        </p:nvSpPr>
        <p:spPr>
          <a:xfrm>
            <a:off x="4568587" y="3942637"/>
            <a:ext cx="3146389" cy="686514"/>
          </a:xfrm>
          <a:prstGeom prst="rect">
            <a:avLst/>
          </a:prstGeom>
          <a:noFill/>
          <a:ln/>
        </p:spPr>
        <p:txBody>
          <a:bodyPr wrap="square" lIns="0" tIns="0" rIns="0" bIns="0" rtlCol="0" anchor="t">
            <a:normAutofit/>
          </a:bodyPr>
          <a:lstStyle/>
          <a:p>
            <a:pPr marL="0" indent="0" algn="l">
              <a:lnSpc>
                <a:spcPts val="1739"/>
              </a:lnSpc>
              <a:buNone/>
            </a:pPr>
            <a:r>
              <a:rPr lang="en-US" sz="1288" dirty="0">
                <a:solidFill>
                  <a:srgbClr val="4A5563"/>
                </a:solidFill>
                <a:latin typeface="IBM Plex Sans" pitchFamily="34" charset="0"/>
                <a:ea typeface="IBM Plex Sans" pitchFamily="34" charset="-122"/>
                <a:cs typeface="IBM Plex Sans" pitchFamily="34" charset="-120"/>
              </a:rPr>
              <a:t>Extra movers add speed only when chasing or fleeing; zebra kicks hit predators.</a:t>
            </a:r>
            <a:endParaRPr lang="en-US" sz="1288" dirty="0"/>
          </a:p>
        </p:txBody>
      </p:sp>
      <p:sp>
        <p:nvSpPr>
          <p:cNvPr id="19" name="Shape 17"/>
          <p:cNvSpPr/>
          <p:nvPr/>
        </p:nvSpPr>
        <p:spPr>
          <a:xfrm>
            <a:off x="7961789" y="3470988"/>
            <a:ext cx="3414157" cy="1312466"/>
          </a:xfrm>
          <a:prstGeom prst="roundRect">
            <a:avLst>
              <a:gd name="adj" fmla="val 6532"/>
            </a:avLst>
          </a:prstGeom>
          <a:solidFill>
            <a:srgbClr val="FBFAF6"/>
          </a:solidFill>
          <a:ln w="6350">
            <a:solidFill>
              <a:srgbClr val="DDD6C8"/>
            </a:solidFill>
            <a:prstDash val="solid"/>
          </a:ln>
        </p:spPr>
        <p:txBody>
          <a:bodyPr/>
          <a:lstStyle/>
          <a:p>
            <a:endParaRPr lang="en-ZA"/>
          </a:p>
        </p:txBody>
      </p:sp>
      <p:sp>
        <p:nvSpPr>
          <p:cNvPr id="20" name="Text 18"/>
          <p:cNvSpPr/>
          <p:nvPr/>
        </p:nvSpPr>
        <p:spPr>
          <a:xfrm>
            <a:off x="8141494" y="3650698"/>
            <a:ext cx="3146389"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6202A"/>
                </a:solidFill>
                <a:latin typeface="Space Grotesk" pitchFamily="34" charset="0"/>
                <a:ea typeface="Space Grotesk" pitchFamily="34" charset="-122"/>
                <a:cs typeface="Space Grotesk" pitchFamily="34" charset="-120"/>
              </a:rPr>
              <a:t>Costly armour</a:t>
            </a:r>
            <a:endParaRPr lang="en-US" sz="1600" dirty="0"/>
          </a:p>
        </p:txBody>
      </p:sp>
      <p:sp>
        <p:nvSpPr>
          <p:cNvPr id="21" name="Text 19"/>
          <p:cNvSpPr/>
          <p:nvPr/>
        </p:nvSpPr>
        <p:spPr>
          <a:xfrm>
            <a:off x="8141494" y="3945334"/>
            <a:ext cx="3146389" cy="471170"/>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4A5563"/>
                </a:solidFill>
                <a:latin typeface="IBM Plex Sans" pitchFamily="34" charset="0"/>
                <a:ea typeface="IBM Plex Sans" pitchFamily="34" charset="-122"/>
                <a:cs typeface="IBM Plex Sans" pitchFamily="34" charset="-120"/>
              </a:rPr>
              <a:t>Armour adds health but costs food, so rhinos breed slowly.</a:t>
            </a:r>
            <a:endParaRPr lang="en-US" sz="1300" dirty="0"/>
          </a:p>
        </p:txBody>
      </p:sp>
      <p:sp>
        <p:nvSpPr>
          <p:cNvPr id="22" name="Shape 20"/>
          <p:cNvSpPr/>
          <p:nvPr/>
        </p:nvSpPr>
        <p:spPr>
          <a:xfrm>
            <a:off x="815975" y="4942204"/>
            <a:ext cx="3414157" cy="1099820"/>
          </a:xfrm>
          <a:prstGeom prst="roundRect">
            <a:avLst>
              <a:gd name="adj" fmla="val 7794"/>
            </a:avLst>
          </a:prstGeom>
          <a:solidFill>
            <a:srgbClr val="FBFAF6"/>
          </a:solidFill>
          <a:ln w="6350">
            <a:solidFill>
              <a:srgbClr val="DDD6C8"/>
            </a:solidFill>
            <a:prstDash val="solid"/>
          </a:ln>
        </p:spPr>
        <p:txBody>
          <a:bodyPr/>
          <a:lstStyle/>
          <a:p>
            <a:endParaRPr lang="en-ZA"/>
          </a:p>
        </p:txBody>
      </p:sp>
      <p:sp>
        <p:nvSpPr>
          <p:cNvPr id="23" name="Text 21"/>
          <p:cNvSpPr/>
          <p:nvPr/>
        </p:nvSpPr>
        <p:spPr>
          <a:xfrm>
            <a:off x="995680" y="5121914"/>
            <a:ext cx="3146389"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6202A"/>
                </a:solidFill>
                <a:latin typeface="Space Grotesk" pitchFamily="34" charset="0"/>
                <a:ea typeface="Space Grotesk" pitchFamily="34" charset="-122"/>
                <a:cs typeface="Space Grotesk" pitchFamily="34" charset="-120"/>
              </a:rPr>
              <a:t>River</a:t>
            </a:r>
            <a:endParaRPr lang="en-US" sz="1600" dirty="0"/>
          </a:p>
        </p:txBody>
      </p:sp>
      <p:sp>
        <p:nvSpPr>
          <p:cNvPr id="24" name="Text 22"/>
          <p:cNvSpPr/>
          <p:nvPr/>
        </p:nvSpPr>
        <p:spPr>
          <a:xfrm>
            <a:off x="995680" y="5416550"/>
            <a:ext cx="3146389" cy="471170"/>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4A5563"/>
                </a:solidFill>
                <a:latin typeface="IBM Plex Sans" pitchFamily="34" charset="0"/>
                <a:ea typeface="IBM Plex Sans" pitchFamily="34" charset="-122"/>
                <a:cs typeface="IBM Plex Sans" pitchFamily="34" charset="-120"/>
              </a:rPr>
              <a:t>Wet, fertile banks; only large animals can wade across.</a:t>
            </a:r>
            <a:endParaRPr lang="en-US" sz="1300" dirty="0"/>
          </a:p>
        </p:txBody>
      </p:sp>
      <p:sp>
        <p:nvSpPr>
          <p:cNvPr id="25" name="Shape 23"/>
          <p:cNvSpPr/>
          <p:nvPr/>
        </p:nvSpPr>
        <p:spPr>
          <a:xfrm>
            <a:off x="4388882" y="4942204"/>
            <a:ext cx="3414157" cy="1099820"/>
          </a:xfrm>
          <a:prstGeom prst="roundRect">
            <a:avLst>
              <a:gd name="adj" fmla="val 7794"/>
            </a:avLst>
          </a:prstGeom>
          <a:solidFill>
            <a:srgbClr val="FBFAF6"/>
          </a:solidFill>
          <a:ln w="6350">
            <a:solidFill>
              <a:srgbClr val="DDD6C8"/>
            </a:solidFill>
            <a:prstDash val="solid"/>
          </a:ln>
        </p:spPr>
        <p:txBody>
          <a:bodyPr/>
          <a:lstStyle/>
          <a:p>
            <a:endParaRPr lang="en-ZA"/>
          </a:p>
        </p:txBody>
      </p:sp>
      <p:sp>
        <p:nvSpPr>
          <p:cNvPr id="26" name="Text 24"/>
          <p:cNvSpPr/>
          <p:nvPr/>
        </p:nvSpPr>
        <p:spPr>
          <a:xfrm>
            <a:off x="4568587" y="5121914"/>
            <a:ext cx="3146389"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6202A"/>
                </a:solidFill>
                <a:latin typeface="Space Grotesk" pitchFamily="34" charset="0"/>
                <a:ea typeface="Space Grotesk" pitchFamily="34" charset="-122"/>
                <a:cs typeface="Space Grotesk" pitchFamily="34" charset="-120"/>
              </a:rPr>
              <a:t>Trees</a:t>
            </a:r>
            <a:endParaRPr lang="en-US" sz="1600" dirty="0"/>
          </a:p>
        </p:txBody>
      </p:sp>
      <p:sp>
        <p:nvSpPr>
          <p:cNvPr id="27" name="Text 25"/>
          <p:cNvSpPr/>
          <p:nvPr/>
        </p:nvSpPr>
        <p:spPr>
          <a:xfrm>
            <a:off x="4568587" y="5416550"/>
            <a:ext cx="3146389" cy="471170"/>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4A5563"/>
                </a:solidFill>
                <a:latin typeface="IBM Plex Sans" pitchFamily="34" charset="0"/>
                <a:ea typeface="IBM Plex Sans" pitchFamily="34" charset="-122"/>
                <a:cs typeface="IBM Plex Sans" pitchFamily="34" charset="-120"/>
              </a:rPr>
              <a:t>Long-lived cover that hides animals; the only place caches fill.</a:t>
            </a:r>
            <a:endParaRPr lang="en-US" sz="1300" dirty="0"/>
          </a:p>
        </p:txBody>
      </p:sp>
      <p:sp>
        <p:nvSpPr>
          <p:cNvPr id="28" name="Shape 26"/>
          <p:cNvSpPr/>
          <p:nvPr/>
        </p:nvSpPr>
        <p:spPr>
          <a:xfrm>
            <a:off x="7961789" y="4942204"/>
            <a:ext cx="3414157" cy="1099820"/>
          </a:xfrm>
          <a:prstGeom prst="roundRect">
            <a:avLst>
              <a:gd name="adj" fmla="val 7794"/>
            </a:avLst>
          </a:prstGeom>
          <a:solidFill>
            <a:srgbClr val="FBFAF6"/>
          </a:solidFill>
          <a:ln w="6350">
            <a:solidFill>
              <a:srgbClr val="DDD6C8"/>
            </a:solidFill>
            <a:prstDash val="solid"/>
          </a:ln>
        </p:spPr>
        <p:txBody>
          <a:bodyPr/>
          <a:lstStyle/>
          <a:p>
            <a:endParaRPr lang="en-ZA"/>
          </a:p>
        </p:txBody>
      </p:sp>
      <p:sp>
        <p:nvSpPr>
          <p:cNvPr id="29" name="Text 27"/>
          <p:cNvSpPr/>
          <p:nvPr/>
        </p:nvSpPr>
        <p:spPr>
          <a:xfrm>
            <a:off x="8141494" y="5121914"/>
            <a:ext cx="3146389"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6202A"/>
                </a:solidFill>
                <a:latin typeface="Space Grotesk" pitchFamily="34" charset="0"/>
                <a:ea typeface="Space Grotesk" pitchFamily="34" charset="-122"/>
                <a:cs typeface="Space Grotesk" pitchFamily="34" charset="-120"/>
              </a:rPr>
              <a:t>Fire</a:t>
            </a:r>
            <a:endParaRPr lang="en-US" sz="1600" dirty="0"/>
          </a:p>
        </p:txBody>
      </p:sp>
      <p:sp>
        <p:nvSpPr>
          <p:cNvPr id="30" name="Text 28"/>
          <p:cNvSpPr/>
          <p:nvPr/>
        </p:nvSpPr>
        <p:spPr>
          <a:xfrm>
            <a:off x="8141494" y="5416550"/>
            <a:ext cx="3146389" cy="471170"/>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4A5563"/>
                </a:solidFill>
                <a:latin typeface="IBM Plex Sans" pitchFamily="34" charset="0"/>
                <a:ea typeface="IBM Plex Sans" pitchFamily="34" charset="-122"/>
                <a:cs typeface="IBM Plex Sans" pitchFamily="34" charset="-120"/>
              </a:rPr>
              <a:t>Spreads through dry plants; wet ground and grazed gaps stop it.</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3F0E8"/>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540"/>
          </a:xfrm>
          <a:prstGeom prst="rect">
            <a:avLst/>
          </a:prstGeom>
          <a:noFill/>
          <a:ln/>
        </p:spPr>
        <p:txBody>
          <a:bodyPr wrap="square" lIns="0" tIns="0" rIns="0" bIns="0" rtlCol="0" anchor="t">
            <a:normAutofit/>
          </a:bodyPr>
          <a:lstStyle/>
          <a:p>
            <a:pPr marL="0" indent="0" algn="l">
              <a:lnSpc>
                <a:spcPts val="1820"/>
              </a:lnSpc>
              <a:buNone/>
            </a:pPr>
            <a:r>
              <a:rPr lang="en-US" sz="1300" b="1" kern="0" spc="150" dirty="0">
                <a:solidFill>
                  <a:srgbClr val="1C6E8C"/>
                </a:solidFill>
                <a:latin typeface="IBM Plex Sans" pitchFamily="34" charset="0"/>
                <a:ea typeface="IBM Plex Sans" pitchFamily="34" charset="-122"/>
                <a:cs typeface="IBM Plex Sans" pitchFamily="34" charset="-120"/>
              </a:rPr>
              <a:t>AFTER · IN THE ENGINE</a:t>
            </a:r>
            <a:endParaRPr lang="en-US" sz="1300" dirty="0"/>
          </a:p>
        </p:txBody>
      </p:sp>
      <p:sp>
        <p:nvSpPr>
          <p:cNvPr id="3" name="Text 1"/>
          <p:cNvSpPr>
            <a:spLocks noGrp="1"/>
          </p:cNvSpPr>
          <p:nvPr>
            <p:ph type="title"/>
          </p:nvPr>
        </p:nvSpPr>
        <p:spPr>
          <a:xfrm>
            <a:off x="812800" y="1120142"/>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6202A"/>
                </a:solidFill>
                <a:latin typeface="Space Grotesk" pitchFamily="34" charset="0"/>
                <a:ea typeface="Space Grotesk" pitchFamily="34" charset="-122"/>
                <a:cs typeface="Space Grotesk" pitchFamily="34" charset="-120"/>
              </a:rPr>
              <a:t>Same animals, a different world around them</a:t>
            </a:r>
            <a:endParaRPr lang="en-US" sz="3000" dirty="0"/>
          </a:p>
        </p:txBody>
      </p:sp>
      <p:pic>
        <p:nvPicPr>
          <p:cNvPr id="4" name="Image 0" descr="Before engine at tick 0: dark empty background with scattered animals and plants"/>
          <p:cNvPicPr>
            <a:picLocks noChangeAspect="1"/>
          </p:cNvPicPr>
          <p:nvPr/>
        </p:nvPicPr>
        <p:blipFill>
          <a:blip r:embed="rId3"/>
          <a:srcRect t="246" b="246"/>
          <a:stretch/>
        </p:blipFill>
        <p:spPr>
          <a:xfrm>
            <a:off x="825500" y="1831342"/>
            <a:ext cx="3359150" cy="2089150"/>
          </a:xfrm>
          <a:prstGeom prst="roundRect">
            <a:avLst>
              <a:gd name="adj" fmla="val 3040"/>
            </a:avLst>
          </a:prstGeom>
        </p:spPr>
      </p:pic>
      <p:sp>
        <p:nvSpPr>
          <p:cNvPr id="5" name="Shape 2"/>
          <p:cNvSpPr/>
          <p:nvPr/>
        </p:nvSpPr>
        <p:spPr>
          <a:xfrm>
            <a:off x="819150" y="1824992"/>
            <a:ext cx="3371850" cy="2101850"/>
          </a:xfrm>
          <a:prstGeom prst="roundRect">
            <a:avLst>
              <a:gd name="adj" fmla="val 3323"/>
            </a:avLst>
          </a:prstGeom>
          <a:noFill/>
          <a:ln w="12700">
            <a:solidFill>
              <a:srgbClr val="DDD6C8"/>
            </a:solidFill>
            <a:prstDash val="solid"/>
          </a:ln>
        </p:spPr>
        <p:txBody>
          <a:bodyPr/>
          <a:lstStyle/>
          <a:p>
            <a:endParaRPr lang="en-ZA"/>
          </a:p>
        </p:txBody>
      </p:sp>
      <p:sp>
        <p:nvSpPr>
          <p:cNvPr id="6" name="Text 3"/>
          <p:cNvSpPr/>
          <p:nvPr/>
        </p:nvSpPr>
        <p:spPr>
          <a:xfrm>
            <a:off x="812800" y="4047492"/>
            <a:ext cx="3488212" cy="28448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8A5A0B"/>
                </a:solidFill>
                <a:latin typeface="Space Grotesk" pitchFamily="34" charset="0"/>
                <a:ea typeface="Space Grotesk" pitchFamily="34" charset="-122"/>
                <a:cs typeface="Space Grotesk" pitchFamily="34" charset="-120"/>
              </a:rPr>
              <a:t>Before · tick 0</a:t>
            </a:r>
            <a:endParaRPr lang="en-US" sz="1700" dirty="0"/>
          </a:p>
        </p:txBody>
      </p:sp>
      <p:sp>
        <p:nvSpPr>
          <p:cNvPr id="7" name="Text 4"/>
          <p:cNvSpPr/>
          <p:nvPr/>
        </p:nvSpPr>
        <p:spPr>
          <a:xfrm>
            <a:off x="812800" y="4420871"/>
            <a:ext cx="3488212" cy="4876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563"/>
                </a:solidFill>
                <a:latin typeface="IBM Plex Sans" pitchFamily="34" charset="0"/>
                <a:ea typeface="IBM Plex Sans" pitchFamily="34" charset="-122"/>
                <a:cs typeface="IBM Plex Sans" pitchFamily="34" charset="-120"/>
              </a:rPr>
              <a:t>Flat dark map. No water or trees, and nothing can starve.</a:t>
            </a:r>
            <a:endParaRPr lang="en-US" sz="1300" dirty="0"/>
          </a:p>
        </p:txBody>
      </p:sp>
      <p:pic>
        <p:nvPicPr>
          <p:cNvPr id="8" name="Image 1" descr="After engine at tick 0: brown soil shading, a blue river down the middle, brown trees and the starting herds"/>
          <p:cNvPicPr>
            <a:picLocks noChangeAspect="1"/>
          </p:cNvPicPr>
          <p:nvPr/>
        </p:nvPicPr>
        <p:blipFill>
          <a:blip r:embed="rId4"/>
          <a:srcRect t="246" b="246"/>
          <a:stretch/>
        </p:blipFill>
        <p:spPr>
          <a:xfrm>
            <a:off x="4415314" y="1831342"/>
            <a:ext cx="3359150" cy="2089150"/>
          </a:xfrm>
          <a:prstGeom prst="roundRect">
            <a:avLst>
              <a:gd name="adj" fmla="val 3040"/>
            </a:avLst>
          </a:prstGeom>
        </p:spPr>
      </p:pic>
      <p:sp>
        <p:nvSpPr>
          <p:cNvPr id="9" name="Shape 5"/>
          <p:cNvSpPr/>
          <p:nvPr/>
        </p:nvSpPr>
        <p:spPr>
          <a:xfrm>
            <a:off x="4408964" y="1824992"/>
            <a:ext cx="3371850" cy="2101850"/>
          </a:xfrm>
          <a:prstGeom prst="roundRect">
            <a:avLst>
              <a:gd name="adj" fmla="val 3323"/>
            </a:avLst>
          </a:prstGeom>
          <a:noFill/>
          <a:ln w="12700">
            <a:solidFill>
              <a:srgbClr val="DDD6C8"/>
            </a:solidFill>
            <a:prstDash val="solid"/>
          </a:ln>
        </p:spPr>
        <p:txBody>
          <a:bodyPr/>
          <a:lstStyle/>
          <a:p>
            <a:endParaRPr lang="en-ZA"/>
          </a:p>
        </p:txBody>
      </p:sp>
      <p:sp>
        <p:nvSpPr>
          <p:cNvPr id="10" name="Text 6"/>
          <p:cNvSpPr/>
          <p:nvPr/>
        </p:nvSpPr>
        <p:spPr>
          <a:xfrm>
            <a:off x="4402614" y="4047492"/>
            <a:ext cx="3488294" cy="28448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1C6E8C"/>
                </a:solidFill>
                <a:latin typeface="Space Grotesk" pitchFamily="34" charset="0"/>
                <a:ea typeface="Space Grotesk" pitchFamily="34" charset="-122"/>
                <a:cs typeface="Space Grotesk" pitchFamily="34" charset="-120"/>
              </a:rPr>
              <a:t>After · tick 0</a:t>
            </a:r>
            <a:endParaRPr lang="en-US" sz="1700" dirty="0"/>
          </a:p>
        </p:txBody>
      </p:sp>
      <p:sp>
        <p:nvSpPr>
          <p:cNvPr id="11" name="Text 7"/>
          <p:cNvSpPr/>
          <p:nvPr/>
        </p:nvSpPr>
        <p:spPr>
          <a:xfrm>
            <a:off x="4402614" y="4420871"/>
            <a:ext cx="3488294" cy="4876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563"/>
                </a:solidFill>
                <a:latin typeface="IBM Plex Sans" pitchFamily="34" charset="0"/>
                <a:ea typeface="IBM Plex Sans" pitchFamily="34" charset="-122"/>
                <a:cs typeface="IBM Plex Sans" pitchFamily="34" charset="-120"/>
              </a:rPr>
              <a:t>Soil water shading, a river, 14 trees and 16 leopards added.</a:t>
            </a:r>
            <a:endParaRPr lang="en-US" sz="1300" dirty="0"/>
          </a:p>
        </p:txBody>
      </p:sp>
      <p:pic>
        <p:nvPicPr>
          <p:cNvPr id="12" name="Image 2" descr="After engine at tick 40,000: the map filled with grass, violet browse and zebras either side of the river"/>
          <p:cNvPicPr>
            <a:picLocks noChangeAspect="1"/>
          </p:cNvPicPr>
          <p:nvPr/>
        </p:nvPicPr>
        <p:blipFill>
          <a:blip r:embed="rId5"/>
          <a:srcRect t="246" b="246"/>
          <a:stretch/>
        </p:blipFill>
        <p:spPr>
          <a:xfrm>
            <a:off x="8005207" y="1831342"/>
            <a:ext cx="3359150" cy="2089150"/>
          </a:xfrm>
          <a:prstGeom prst="roundRect">
            <a:avLst>
              <a:gd name="adj" fmla="val 3040"/>
            </a:avLst>
          </a:prstGeom>
        </p:spPr>
      </p:pic>
      <p:sp>
        <p:nvSpPr>
          <p:cNvPr id="13" name="Shape 8"/>
          <p:cNvSpPr/>
          <p:nvPr/>
        </p:nvSpPr>
        <p:spPr>
          <a:xfrm>
            <a:off x="7998857" y="1824992"/>
            <a:ext cx="3371850" cy="2101850"/>
          </a:xfrm>
          <a:prstGeom prst="roundRect">
            <a:avLst>
              <a:gd name="adj" fmla="val 3323"/>
            </a:avLst>
          </a:prstGeom>
          <a:noFill/>
          <a:ln w="12700">
            <a:solidFill>
              <a:srgbClr val="DDD6C8"/>
            </a:solidFill>
            <a:prstDash val="solid"/>
          </a:ln>
        </p:spPr>
        <p:txBody>
          <a:bodyPr/>
          <a:lstStyle/>
          <a:p>
            <a:endParaRPr lang="en-ZA"/>
          </a:p>
        </p:txBody>
      </p:sp>
      <p:sp>
        <p:nvSpPr>
          <p:cNvPr id="14" name="Text 9"/>
          <p:cNvSpPr/>
          <p:nvPr/>
        </p:nvSpPr>
        <p:spPr>
          <a:xfrm>
            <a:off x="7992507" y="4047492"/>
            <a:ext cx="3488294" cy="28448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1C6E8C"/>
                </a:solidFill>
                <a:latin typeface="Space Grotesk" pitchFamily="34" charset="0"/>
                <a:ea typeface="Space Grotesk" pitchFamily="34" charset="-122"/>
                <a:cs typeface="Space Grotesk" pitchFamily="34" charset="-120"/>
              </a:rPr>
              <a:t>After · tick 40,000</a:t>
            </a:r>
            <a:endParaRPr lang="en-US" sz="1700" dirty="0"/>
          </a:p>
        </p:txBody>
      </p:sp>
      <p:sp>
        <p:nvSpPr>
          <p:cNvPr id="15" name="Text 10"/>
          <p:cNvSpPr/>
          <p:nvPr/>
        </p:nvSpPr>
        <p:spPr>
          <a:xfrm>
            <a:off x="7992507" y="4420871"/>
            <a:ext cx="3488294" cy="4876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563"/>
                </a:solidFill>
                <a:latin typeface="IBM Plex Sans" pitchFamily="34" charset="0"/>
                <a:ea typeface="IBM Plex Sans" pitchFamily="34" charset="-122"/>
                <a:cs typeface="IBM Plex Sans" pitchFamily="34" charset="-120"/>
              </a:rPr>
              <a:t>996 grass plants, 208 zebras; leopards and rhinos already extinct.</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3F0E8"/>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540"/>
          </a:xfrm>
          <a:prstGeom prst="rect">
            <a:avLst/>
          </a:prstGeom>
          <a:noFill/>
          <a:ln/>
        </p:spPr>
        <p:txBody>
          <a:bodyPr wrap="square" lIns="0" tIns="0" rIns="0" bIns="0" rtlCol="0" anchor="t">
            <a:normAutofit/>
          </a:bodyPr>
          <a:lstStyle/>
          <a:p>
            <a:pPr marL="0" indent="0" algn="l">
              <a:lnSpc>
                <a:spcPts val="1820"/>
              </a:lnSpc>
              <a:buNone/>
            </a:pPr>
            <a:r>
              <a:rPr lang="en-US" sz="1300" b="1" kern="0" spc="150" dirty="0">
                <a:solidFill>
                  <a:srgbClr val="1C6E8C"/>
                </a:solidFill>
                <a:latin typeface="IBM Plex Sans" pitchFamily="34" charset="0"/>
                <a:ea typeface="IBM Plex Sans" pitchFamily="34" charset="-122"/>
                <a:cs typeface="IBM Plex Sans" pitchFamily="34" charset="-120"/>
              </a:rPr>
              <a:t>AFTER · FIVE 100,000-TICK RUNS</a:t>
            </a:r>
            <a:endParaRPr lang="en-US" sz="1300" dirty="0"/>
          </a:p>
        </p:txBody>
      </p:sp>
      <p:sp>
        <p:nvSpPr>
          <p:cNvPr id="3" name="Text 1"/>
          <p:cNvSpPr>
            <a:spLocks noGrp="1"/>
          </p:cNvSpPr>
          <p:nvPr>
            <p:ph type="title"/>
          </p:nvPr>
        </p:nvSpPr>
        <p:spPr>
          <a:xfrm>
            <a:off x="812800" y="1120142"/>
            <a:ext cx="11379200"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6202A"/>
                </a:solidFill>
                <a:latin typeface="Space Grotesk" pitchFamily="34" charset="0"/>
                <a:ea typeface="Space Grotesk" pitchFamily="34" charset="-122"/>
                <a:cs typeface="Space Grotesk" pitchFamily="34" charset="-120"/>
              </a:rPr>
              <a:t>Zebras survived only where they evolved a second mouth</a:t>
            </a:r>
            <a:endParaRPr lang="en-US" sz="30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2960" y="1803402"/>
          <a:ext cx="10556240" cy="2461260"/>
        </p:xfrm>
        <a:graphic>
          <a:graphicData uri="http://schemas.openxmlformats.org/drawingml/2006/table">
            <a:tbl>
              <a:tblPr/>
              <a:tblGrid>
                <a:gridCol w="1055624">
                  <a:extLst>
                    <a:ext uri="{9D8B030D-6E8A-4147-A177-3AD203B41FA5}">
                      <a16:colId xmlns:a16="http://schemas.microsoft.com/office/drawing/2014/main" val="20000"/>
                    </a:ext>
                  </a:extLst>
                </a:gridCol>
                <a:gridCol w="2533498">
                  <a:extLst>
                    <a:ext uri="{9D8B030D-6E8A-4147-A177-3AD203B41FA5}">
                      <a16:colId xmlns:a16="http://schemas.microsoft.com/office/drawing/2014/main" val="20001"/>
                    </a:ext>
                  </a:extLst>
                </a:gridCol>
                <a:gridCol w="2533498">
                  <a:extLst>
                    <a:ext uri="{9D8B030D-6E8A-4147-A177-3AD203B41FA5}">
                      <a16:colId xmlns:a16="http://schemas.microsoft.com/office/drawing/2014/main" val="20002"/>
                    </a:ext>
                  </a:extLst>
                </a:gridCol>
                <a:gridCol w="2744622">
                  <a:extLst>
                    <a:ext uri="{9D8B030D-6E8A-4147-A177-3AD203B41FA5}">
                      <a16:colId xmlns:a16="http://schemas.microsoft.com/office/drawing/2014/main" val="20003"/>
                    </a:ext>
                  </a:extLst>
                </a:gridCol>
                <a:gridCol w="1688998">
                  <a:extLst>
                    <a:ext uri="{9D8B030D-6E8A-4147-A177-3AD203B41FA5}">
                      <a16:colId xmlns:a16="http://schemas.microsoft.com/office/drawing/2014/main" val="20004"/>
                    </a:ext>
                  </a:extLst>
                </a:gridCol>
              </a:tblGrid>
              <a:tr h="410210">
                <a:tc>
                  <a:txBody>
                    <a:bodyPr/>
                    <a:lstStyle/>
                    <a:p>
                      <a:pPr marL="0" indent="0">
                        <a:lnSpc>
                          <a:spcPts val="2100"/>
                        </a:lnSpc>
                        <a:buNone/>
                      </a:pPr>
                      <a:r>
                        <a:rPr lang="en-US" sz="1500" b="1" dirty="0">
                          <a:solidFill>
                            <a:srgbClr val="F3F0E8"/>
                          </a:solidFill>
                          <a:latin typeface="IBM Plex Sans" pitchFamily="34" charset="0"/>
                          <a:ea typeface="IBM Plex Sans" pitchFamily="34" charset="-122"/>
                          <a:cs typeface="IBM Plex Sans" pitchFamily="34" charset="-120"/>
                        </a:rPr>
                        <a:t>Seed</a:t>
                      </a:r>
                      <a:endParaRPr lang="en-US" sz="1500" dirty="0">
                        <a:latin typeface="IBM Plex Sans" charset="0"/>
                        <a:ea typeface="IBM Plex Sans" charset="0"/>
                        <a:cs typeface="IBM Plex Sans" charset="0"/>
                      </a:endParaRPr>
                    </a:p>
                  </a:txBody>
                  <a:tcPr marL="66675" marR="66675" marT="66675" marB="66675">
                    <a:lnL w="12700" cap="flat" cmpd="sng" algn="ctr">
                      <a:solidFill>
                        <a:srgbClr val="C2C0B9"/>
                      </a:solidFill>
                      <a:prstDash val="solid"/>
                      <a:round/>
                      <a:headEnd type="none" w="med" len="med"/>
                      <a:tailEnd type="none" w="med" len="med"/>
                    </a:lnL>
                    <a:lnR w="12700" cap="flat" cmpd="sng" algn="ctr">
                      <a:solidFill>
                        <a:srgbClr val="161D25"/>
                      </a:solidFill>
                      <a:prstDash val="solid"/>
                      <a:round/>
                      <a:headEnd type="none" w="med" len="med"/>
                      <a:tailEnd type="none" w="med" len="med"/>
                    </a:lnR>
                    <a:lnT w="12700" cap="flat" cmpd="sng" algn="ctr">
                      <a:solidFill>
                        <a:srgbClr val="C2C0B9"/>
                      </a:solidFill>
                      <a:prstDash val="solid"/>
                      <a:round/>
                      <a:headEnd type="none" w="med" len="med"/>
                      <a:tailEnd type="none" w="med" len="med"/>
                    </a:lnT>
                    <a:lnB w="12700" cap="flat" cmpd="sng" algn="ctr">
                      <a:solidFill>
                        <a:srgbClr val="161D25"/>
                      </a:solidFill>
                      <a:prstDash val="solid"/>
                      <a:round/>
                      <a:headEnd type="none" w="med" len="med"/>
                      <a:tailEnd type="none" w="med" len="med"/>
                    </a:lnB>
                    <a:solidFill>
                      <a:srgbClr val="16202A"/>
                    </a:solidFill>
                  </a:tcPr>
                </a:tc>
                <a:tc>
                  <a:txBody>
                    <a:bodyPr/>
                    <a:lstStyle/>
                    <a:p>
                      <a:pPr marL="0" indent="0">
                        <a:lnSpc>
                          <a:spcPts val="2100"/>
                        </a:lnSpc>
                        <a:buNone/>
                      </a:pPr>
                      <a:r>
                        <a:rPr lang="en-US" sz="1500" b="1" dirty="0">
                          <a:solidFill>
                            <a:srgbClr val="F3F0E8"/>
                          </a:solidFill>
                          <a:latin typeface="IBM Plex Sans" pitchFamily="34" charset="0"/>
                          <a:ea typeface="IBM Plex Sans" pitchFamily="34" charset="-122"/>
                          <a:cs typeface="IBM Plex Sans" pitchFamily="34" charset="-120"/>
                        </a:rPr>
                        <a:t>Leopards: peak, extinct</a:t>
                      </a:r>
                      <a:endParaRPr lang="en-US" sz="1500" dirty="0">
                        <a:latin typeface="IBM Plex Sans" charset="0"/>
                        <a:ea typeface="IBM Plex Sans" charset="0"/>
                        <a:cs typeface="IBM Plex Sans" charset="0"/>
                      </a:endParaRPr>
                    </a:p>
                  </a:txBody>
                  <a:tcPr marL="66675" marR="66675" marT="66675" marB="66675">
                    <a:lnL w="12700" cap="flat" cmpd="sng" algn="ctr">
                      <a:solidFill>
                        <a:srgbClr val="161D25"/>
                      </a:solidFill>
                      <a:prstDash val="solid"/>
                      <a:round/>
                      <a:headEnd type="none" w="med" len="med"/>
                      <a:tailEnd type="none" w="med" len="med"/>
                    </a:lnL>
                    <a:lnR w="12700" cap="flat" cmpd="sng" algn="ctr">
                      <a:solidFill>
                        <a:srgbClr val="161D25"/>
                      </a:solidFill>
                      <a:prstDash val="solid"/>
                      <a:round/>
                      <a:headEnd type="none" w="med" len="med"/>
                      <a:tailEnd type="none" w="med" len="med"/>
                    </a:lnR>
                    <a:lnT w="12700" cap="flat" cmpd="sng" algn="ctr">
                      <a:solidFill>
                        <a:srgbClr val="C2C0B9"/>
                      </a:solidFill>
                      <a:prstDash val="solid"/>
                      <a:round/>
                      <a:headEnd type="none" w="med" len="med"/>
                      <a:tailEnd type="none" w="med" len="med"/>
                    </a:lnT>
                    <a:lnB w="12700" cap="flat" cmpd="sng" algn="ctr">
                      <a:solidFill>
                        <a:srgbClr val="161D25"/>
                      </a:solidFill>
                      <a:prstDash val="solid"/>
                      <a:round/>
                      <a:headEnd type="none" w="med" len="med"/>
                      <a:tailEnd type="none" w="med" len="med"/>
                    </a:lnB>
                    <a:solidFill>
                      <a:srgbClr val="16202A"/>
                    </a:solidFill>
                  </a:tcPr>
                </a:tc>
                <a:tc>
                  <a:txBody>
                    <a:bodyPr/>
                    <a:lstStyle/>
                    <a:p>
                      <a:pPr marL="0" indent="0">
                        <a:lnSpc>
                          <a:spcPts val="2100"/>
                        </a:lnSpc>
                        <a:buNone/>
                      </a:pPr>
                      <a:r>
                        <a:rPr lang="en-US" sz="1500" b="1" dirty="0">
                          <a:solidFill>
                            <a:srgbClr val="F3F0E8"/>
                          </a:solidFill>
                          <a:latin typeface="IBM Plex Sans" pitchFamily="34" charset="0"/>
                          <a:ea typeface="IBM Plex Sans" pitchFamily="34" charset="-122"/>
                          <a:cs typeface="IBM Plex Sans" pitchFamily="34" charset="-120"/>
                        </a:rPr>
                        <a:t>Rhinos: peak, extinct</a:t>
                      </a:r>
                      <a:endParaRPr lang="en-US" sz="1500" dirty="0">
                        <a:latin typeface="IBM Plex Sans" charset="0"/>
                        <a:ea typeface="IBM Plex Sans" charset="0"/>
                        <a:cs typeface="IBM Plex Sans" charset="0"/>
                      </a:endParaRPr>
                    </a:p>
                  </a:txBody>
                  <a:tcPr marL="66675" marR="66675" marT="66675" marB="66675">
                    <a:lnL w="12700" cap="flat" cmpd="sng" algn="ctr">
                      <a:solidFill>
                        <a:srgbClr val="161D25"/>
                      </a:solidFill>
                      <a:prstDash val="solid"/>
                      <a:round/>
                      <a:headEnd type="none" w="med" len="med"/>
                      <a:tailEnd type="none" w="med" len="med"/>
                    </a:lnL>
                    <a:lnR w="12700" cap="flat" cmpd="sng" algn="ctr">
                      <a:solidFill>
                        <a:srgbClr val="161D25"/>
                      </a:solidFill>
                      <a:prstDash val="solid"/>
                      <a:round/>
                      <a:headEnd type="none" w="med" len="med"/>
                      <a:tailEnd type="none" w="med" len="med"/>
                    </a:lnR>
                    <a:lnT w="12700" cap="flat" cmpd="sng" algn="ctr">
                      <a:solidFill>
                        <a:srgbClr val="C2C0B9"/>
                      </a:solidFill>
                      <a:prstDash val="solid"/>
                      <a:round/>
                      <a:headEnd type="none" w="med" len="med"/>
                      <a:tailEnd type="none" w="med" len="med"/>
                    </a:lnT>
                    <a:lnB w="12700" cap="flat" cmpd="sng" algn="ctr">
                      <a:solidFill>
                        <a:srgbClr val="161D25"/>
                      </a:solidFill>
                      <a:prstDash val="solid"/>
                      <a:round/>
                      <a:headEnd type="none" w="med" len="med"/>
                      <a:tailEnd type="none" w="med" len="med"/>
                    </a:lnB>
                    <a:solidFill>
                      <a:srgbClr val="16202A"/>
                    </a:solidFill>
                  </a:tcPr>
                </a:tc>
                <a:tc>
                  <a:txBody>
                    <a:bodyPr/>
                    <a:lstStyle/>
                    <a:p>
                      <a:pPr marL="0" indent="0">
                        <a:lnSpc>
                          <a:spcPts val="2100"/>
                        </a:lnSpc>
                        <a:buNone/>
                      </a:pPr>
                      <a:r>
                        <a:rPr lang="en-US" sz="1500" b="1" dirty="0">
                          <a:solidFill>
                            <a:srgbClr val="F3F0E8"/>
                          </a:solidFill>
                          <a:latin typeface="IBM Plex Sans" pitchFamily="34" charset="0"/>
                          <a:ea typeface="IBM Plex Sans" pitchFamily="34" charset="-122"/>
                          <a:cs typeface="IBM Plex Sans" pitchFamily="34" charset="-120"/>
                        </a:rPr>
                        <a:t>Zebras: peak, outcome</a:t>
                      </a:r>
                      <a:endParaRPr lang="en-US" sz="1500" dirty="0">
                        <a:latin typeface="IBM Plex Sans" charset="0"/>
                        <a:ea typeface="IBM Plex Sans" charset="0"/>
                        <a:cs typeface="IBM Plex Sans" charset="0"/>
                      </a:endParaRPr>
                    </a:p>
                  </a:txBody>
                  <a:tcPr marL="66675" marR="66675" marT="66675" marB="66675">
                    <a:lnL w="12700" cap="flat" cmpd="sng" algn="ctr">
                      <a:solidFill>
                        <a:srgbClr val="161D25"/>
                      </a:solidFill>
                      <a:prstDash val="solid"/>
                      <a:round/>
                      <a:headEnd type="none" w="med" len="med"/>
                      <a:tailEnd type="none" w="med" len="med"/>
                    </a:lnL>
                    <a:lnR w="12700" cap="flat" cmpd="sng" algn="ctr">
                      <a:solidFill>
                        <a:srgbClr val="161D25"/>
                      </a:solidFill>
                      <a:prstDash val="solid"/>
                      <a:round/>
                      <a:headEnd type="none" w="med" len="med"/>
                      <a:tailEnd type="none" w="med" len="med"/>
                    </a:lnR>
                    <a:lnT w="12700" cap="flat" cmpd="sng" algn="ctr">
                      <a:solidFill>
                        <a:srgbClr val="C2C0B9"/>
                      </a:solidFill>
                      <a:prstDash val="solid"/>
                      <a:round/>
                      <a:headEnd type="none" w="med" len="med"/>
                      <a:tailEnd type="none" w="med" len="med"/>
                    </a:lnT>
                    <a:lnB w="12700" cap="flat" cmpd="sng" algn="ctr">
                      <a:solidFill>
                        <a:srgbClr val="161D25"/>
                      </a:solidFill>
                      <a:prstDash val="solid"/>
                      <a:round/>
                      <a:headEnd type="none" w="med" len="med"/>
                      <a:tailEnd type="none" w="med" len="med"/>
                    </a:lnB>
                    <a:solidFill>
                      <a:srgbClr val="16202A"/>
                    </a:solidFill>
                  </a:tcPr>
                </a:tc>
                <a:tc>
                  <a:txBody>
                    <a:bodyPr/>
                    <a:lstStyle/>
                    <a:p>
                      <a:pPr marL="0" indent="0" algn="r">
                        <a:lnSpc>
                          <a:spcPts val="2100"/>
                        </a:lnSpc>
                        <a:buNone/>
                      </a:pPr>
                      <a:r>
                        <a:rPr lang="en-US" sz="1500" b="1" dirty="0">
                          <a:solidFill>
                            <a:srgbClr val="F3F0E8"/>
                          </a:solidFill>
                          <a:latin typeface="IBM Plex Sans" pitchFamily="34" charset="0"/>
                          <a:ea typeface="IBM Plex Sans" pitchFamily="34" charset="-122"/>
                          <a:cs typeface="IBM Plex Sans" pitchFamily="34" charset="-120"/>
                        </a:rPr>
                        <a:t>Max mouths</a:t>
                      </a:r>
                      <a:endParaRPr lang="en-US" sz="1500" dirty="0">
                        <a:latin typeface="IBM Plex Sans" charset="0"/>
                        <a:ea typeface="IBM Plex Sans" charset="0"/>
                        <a:cs typeface="IBM Plex Sans" charset="0"/>
                      </a:endParaRPr>
                    </a:p>
                  </a:txBody>
                  <a:tcPr marL="66675" marR="66675" marT="66675" marB="66675">
                    <a:lnL w="12700" cap="flat" cmpd="sng" algn="ctr">
                      <a:solidFill>
                        <a:srgbClr val="161D25"/>
                      </a:solidFill>
                      <a:prstDash val="solid"/>
                      <a:round/>
                      <a:headEnd type="none" w="med" len="med"/>
                      <a:tailEnd type="none" w="med" len="med"/>
                    </a:lnL>
                    <a:lnR w="12700" cap="flat" cmpd="sng" algn="ctr">
                      <a:solidFill>
                        <a:srgbClr val="161D25"/>
                      </a:solidFill>
                      <a:prstDash val="solid"/>
                      <a:round/>
                      <a:headEnd type="none" w="med" len="med"/>
                      <a:tailEnd type="none" w="med" len="med"/>
                    </a:lnR>
                    <a:lnT w="12700" cap="flat" cmpd="sng" algn="ctr">
                      <a:solidFill>
                        <a:srgbClr val="C2C0B9"/>
                      </a:solidFill>
                      <a:prstDash val="solid"/>
                      <a:round/>
                      <a:headEnd type="none" w="med" len="med"/>
                      <a:tailEnd type="none" w="med" len="med"/>
                    </a:lnT>
                    <a:lnB w="12700" cap="flat" cmpd="sng" algn="ctr">
                      <a:solidFill>
                        <a:srgbClr val="161D25"/>
                      </a:solidFill>
                      <a:prstDash val="solid"/>
                      <a:round/>
                      <a:headEnd type="none" w="med" len="med"/>
                      <a:tailEnd type="none" w="med" len="med"/>
                    </a:lnB>
                    <a:solidFill>
                      <a:srgbClr val="16202A"/>
                    </a:solidFill>
                  </a:tcPr>
                </a:tc>
                <a:extLst>
                  <a:ext uri="{0D108BD9-81ED-4DB2-BD59-A6C34878D82A}">
                    <a16:rowId xmlns:a16="http://schemas.microsoft.com/office/drawing/2014/main" val="10000"/>
                  </a:ext>
                </a:extLst>
              </a:tr>
              <a:tr h="410210">
                <a:tc>
                  <a:txBody>
                    <a:bodyPr/>
                    <a:lstStyle/>
                    <a:p>
                      <a:pPr marL="0" indent="0">
                        <a:lnSpc>
                          <a:spcPts val="2100"/>
                        </a:lnSpc>
                        <a:buNone/>
                      </a:pPr>
                      <a:r>
                        <a:rPr lang="en-US" sz="1500" dirty="0">
                          <a:solidFill>
                            <a:srgbClr val="16202A"/>
                          </a:solidFill>
                          <a:latin typeface="IBM Plex Sans" pitchFamily="34" charset="0"/>
                          <a:ea typeface="IBM Plex Sans" pitchFamily="34" charset="-122"/>
                          <a:cs typeface="IBM Plex Sans" pitchFamily="34" charset="-120"/>
                        </a:rPr>
                        <a:t>1</a:t>
                      </a:r>
                      <a:endParaRPr lang="en-US" sz="1500" dirty="0">
                        <a:latin typeface="IBM Plex Sans" charset="0"/>
                        <a:ea typeface="IBM Plex Sans" charset="0"/>
                        <a:cs typeface="IBM Plex Sans" charset="0"/>
                      </a:endParaRPr>
                    </a:p>
                  </a:txBody>
                  <a:tcPr marL="66675" marR="66675" marT="66675" marB="66675">
                    <a:lnL w="12700" cap="flat" cmpd="sng" algn="ctr">
                      <a:solidFill>
                        <a:srgbClr val="C2C0B9"/>
                      </a:solidFill>
                      <a:prstDash val="solid"/>
                      <a:round/>
                      <a:headEnd type="none" w="med" len="med"/>
                      <a:tailEnd type="none" w="med" len="med"/>
                    </a:lnL>
                    <a:lnR w="12700" cap="flat" cmpd="sng" algn="ctr">
                      <a:solidFill>
                        <a:srgbClr val="B0BEC3"/>
                      </a:solidFill>
                      <a:prstDash val="solid"/>
                      <a:round/>
                      <a:headEnd type="none" w="med" len="med"/>
                      <a:tailEnd type="none" w="med" len="med"/>
                    </a:lnR>
                    <a:lnT w="12700" cap="flat" cmpd="sng" algn="ctr">
                      <a:solidFill>
                        <a:srgbClr val="161D25"/>
                      </a:solidFill>
                      <a:prstDash val="solid"/>
                      <a:round/>
                      <a:headEnd type="none" w="med" len="med"/>
                      <a:tailEnd type="none" w="med" len="med"/>
                    </a:lnT>
                    <a:lnB w="12700" cap="flat" cmpd="sng" algn="ctr">
                      <a:solidFill>
                        <a:srgbClr val="B0BEC3"/>
                      </a:solidFill>
                      <a:prstDash val="solid"/>
                      <a:round/>
                      <a:headEnd type="none" w="med" len="med"/>
                      <a:tailEnd type="none" w="med" len="med"/>
                    </a:lnB>
                    <a:solidFill>
                      <a:srgbClr val="DCEEF4"/>
                    </a:solidFill>
                  </a:tcPr>
                </a:tc>
                <a:tc>
                  <a:txBody>
                    <a:bodyPr/>
                    <a:lstStyle/>
                    <a:p>
                      <a:pPr marL="0" indent="0">
                        <a:lnSpc>
                          <a:spcPts val="2100"/>
                        </a:lnSpc>
                        <a:buNone/>
                      </a:pPr>
                      <a:r>
                        <a:rPr lang="en-US" sz="1500" dirty="0">
                          <a:solidFill>
                            <a:srgbClr val="16202A"/>
                          </a:solidFill>
                          <a:latin typeface="IBM Plex Sans" pitchFamily="34" charset="0"/>
                          <a:ea typeface="IBM Plex Sans" pitchFamily="34" charset="-122"/>
                          <a:cs typeface="IBM Plex Sans" pitchFamily="34" charset="-120"/>
                        </a:rPr>
                        <a:t>35, tick 4,400</a:t>
                      </a:r>
                      <a:endParaRPr lang="en-US" sz="1500" dirty="0">
                        <a:latin typeface="IBM Plex Sans" charset="0"/>
                        <a:ea typeface="IBM Plex Sans" charset="0"/>
                        <a:cs typeface="IBM Plex Sans" charset="0"/>
                      </a:endParaRPr>
                    </a:p>
                  </a:txBody>
                  <a:tcPr marL="66675" marR="66675" marT="66675" marB="66675">
                    <a:lnL w="12700" cap="flat" cmpd="sng" algn="ctr">
                      <a:solidFill>
                        <a:srgbClr val="B0BEC3"/>
                      </a:solidFill>
                      <a:prstDash val="solid"/>
                      <a:round/>
                      <a:headEnd type="none" w="med" len="med"/>
                      <a:tailEnd type="none" w="med" len="med"/>
                    </a:lnL>
                    <a:lnR w="12700" cap="flat" cmpd="sng" algn="ctr">
                      <a:solidFill>
                        <a:srgbClr val="B0BEC3"/>
                      </a:solidFill>
                      <a:prstDash val="solid"/>
                      <a:round/>
                      <a:headEnd type="none" w="med" len="med"/>
                      <a:tailEnd type="none" w="med" len="med"/>
                    </a:lnR>
                    <a:lnT w="12700" cap="flat" cmpd="sng" algn="ctr">
                      <a:solidFill>
                        <a:srgbClr val="161D25"/>
                      </a:solidFill>
                      <a:prstDash val="solid"/>
                      <a:round/>
                      <a:headEnd type="none" w="med" len="med"/>
                      <a:tailEnd type="none" w="med" len="med"/>
                    </a:lnT>
                    <a:lnB w="12700" cap="flat" cmpd="sng" algn="ctr">
                      <a:solidFill>
                        <a:srgbClr val="B0BEC3"/>
                      </a:solidFill>
                      <a:prstDash val="solid"/>
                      <a:round/>
                      <a:headEnd type="none" w="med" len="med"/>
                      <a:tailEnd type="none" w="med" len="med"/>
                    </a:lnB>
                    <a:solidFill>
                      <a:srgbClr val="DCEEF4"/>
                    </a:solidFill>
                  </a:tcPr>
                </a:tc>
                <a:tc>
                  <a:txBody>
                    <a:bodyPr/>
                    <a:lstStyle/>
                    <a:p>
                      <a:pPr marL="0" indent="0">
                        <a:lnSpc>
                          <a:spcPts val="2100"/>
                        </a:lnSpc>
                        <a:buNone/>
                      </a:pPr>
                      <a:r>
                        <a:rPr lang="en-US" sz="1500" dirty="0">
                          <a:solidFill>
                            <a:srgbClr val="16202A"/>
                          </a:solidFill>
                          <a:latin typeface="IBM Plex Sans" pitchFamily="34" charset="0"/>
                          <a:ea typeface="IBM Plex Sans" pitchFamily="34" charset="-122"/>
                          <a:cs typeface="IBM Plex Sans" pitchFamily="34" charset="-120"/>
                        </a:rPr>
                        <a:t>80, tick 12,600</a:t>
                      </a:r>
                      <a:endParaRPr lang="en-US" sz="1500" dirty="0">
                        <a:latin typeface="IBM Plex Sans" charset="0"/>
                        <a:ea typeface="IBM Plex Sans" charset="0"/>
                        <a:cs typeface="IBM Plex Sans" charset="0"/>
                      </a:endParaRPr>
                    </a:p>
                  </a:txBody>
                  <a:tcPr marL="66675" marR="66675" marT="66675" marB="66675">
                    <a:lnL w="12700" cap="flat" cmpd="sng" algn="ctr">
                      <a:solidFill>
                        <a:srgbClr val="B0BEC3"/>
                      </a:solidFill>
                      <a:prstDash val="solid"/>
                      <a:round/>
                      <a:headEnd type="none" w="med" len="med"/>
                      <a:tailEnd type="none" w="med" len="med"/>
                    </a:lnL>
                    <a:lnR w="12700" cap="flat" cmpd="sng" algn="ctr">
                      <a:solidFill>
                        <a:srgbClr val="B0BEC3"/>
                      </a:solidFill>
                      <a:prstDash val="solid"/>
                      <a:round/>
                      <a:headEnd type="none" w="med" len="med"/>
                      <a:tailEnd type="none" w="med" len="med"/>
                    </a:lnR>
                    <a:lnT w="12700" cap="flat" cmpd="sng" algn="ctr">
                      <a:solidFill>
                        <a:srgbClr val="161D25"/>
                      </a:solidFill>
                      <a:prstDash val="solid"/>
                      <a:round/>
                      <a:headEnd type="none" w="med" len="med"/>
                      <a:tailEnd type="none" w="med" len="med"/>
                    </a:lnT>
                    <a:lnB w="12700" cap="flat" cmpd="sng" algn="ctr">
                      <a:solidFill>
                        <a:srgbClr val="B0BEC3"/>
                      </a:solidFill>
                      <a:prstDash val="solid"/>
                      <a:round/>
                      <a:headEnd type="none" w="med" len="med"/>
                      <a:tailEnd type="none" w="med" len="med"/>
                    </a:lnB>
                    <a:solidFill>
                      <a:srgbClr val="DCEEF4"/>
                    </a:solidFill>
                  </a:tcPr>
                </a:tc>
                <a:tc>
                  <a:txBody>
                    <a:bodyPr/>
                    <a:lstStyle/>
                    <a:p>
                      <a:pPr marL="0" indent="0">
                        <a:lnSpc>
                          <a:spcPts val="2100"/>
                        </a:lnSpc>
                        <a:buNone/>
                      </a:pPr>
                      <a:r>
                        <a:rPr lang="en-US" sz="1500" dirty="0">
                          <a:solidFill>
                            <a:srgbClr val="16202A"/>
                          </a:solidFill>
                          <a:latin typeface="IBM Plex Sans" pitchFamily="34" charset="0"/>
                          <a:ea typeface="IBM Plex Sans" pitchFamily="34" charset="-122"/>
                          <a:cs typeface="IBM Plex Sans" pitchFamily="34" charset="-120"/>
                        </a:rPr>
                        <a:t>290, survived (199 at 100k)</a:t>
                      </a:r>
                      <a:endParaRPr lang="en-US" sz="1500" dirty="0">
                        <a:latin typeface="IBM Plex Sans" charset="0"/>
                        <a:ea typeface="IBM Plex Sans" charset="0"/>
                        <a:cs typeface="IBM Plex Sans" charset="0"/>
                      </a:endParaRPr>
                    </a:p>
                  </a:txBody>
                  <a:tcPr marL="66675" marR="66675" marT="66675" marB="66675">
                    <a:lnL w="12700" cap="flat" cmpd="sng" algn="ctr">
                      <a:solidFill>
                        <a:srgbClr val="B0BEC3"/>
                      </a:solidFill>
                      <a:prstDash val="solid"/>
                      <a:round/>
                      <a:headEnd type="none" w="med" len="med"/>
                      <a:tailEnd type="none" w="med" len="med"/>
                    </a:lnL>
                    <a:lnR w="12700" cap="flat" cmpd="sng" algn="ctr">
                      <a:solidFill>
                        <a:srgbClr val="B0BEC3"/>
                      </a:solidFill>
                      <a:prstDash val="solid"/>
                      <a:round/>
                      <a:headEnd type="none" w="med" len="med"/>
                      <a:tailEnd type="none" w="med" len="med"/>
                    </a:lnR>
                    <a:lnT w="12700" cap="flat" cmpd="sng" algn="ctr">
                      <a:solidFill>
                        <a:srgbClr val="161D25"/>
                      </a:solidFill>
                      <a:prstDash val="solid"/>
                      <a:round/>
                      <a:headEnd type="none" w="med" len="med"/>
                      <a:tailEnd type="none" w="med" len="med"/>
                    </a:lnT>
                    <a:lnB w="12700" cap="flat" cmpd="sng" algn="ctr">
                      <a:solidFill>
                        <a:srgbClr val="B0BEC3"/>
                      </a:solidFill>
                      <a:prstDash val="solid"/>
                      <a:round/>
                      <a:headEnd type="none" w="med" len="med"/>
                      <a:tailEnd type="none" w="med" len="med"/>
                    </a:lnB>
                    <a:solidFill>
                      <a:srgbClr val="DCEEF4"/>
                    </a:solidFill>
                  </a:tcPr>
                </a:tc>
                <a:tc>
                  <a:txBody>
                    <a:bodyPr/>
                    <a:lstStyle/>
                    <a:p>
                      <a:pPr marL="0" indent="0" algn="r">
                        <a:lnSpc>
                          <a:spcPts val="2100"/>
                        </a:lnSpc>
                        <a:buNone/>
                      </a:pPr>
                      <a:r>
                        <a:rPr lang="en-US" sz="1500" dirty="0">
                          <a:solidFill>
                            <a:srgbClr val="16202A"/>
                          </a:solidFill>
                          <a:latin typeface="IBM Plex Sans" pitchFamily="34" charset="0"/>
                          <a:ea typeface="IBM Plex Sans" pitchFamily="34" charset="-122"/>
                          <a:cs typeface="IBM Plex Sans" pitchFamily="34" charset="-120"/>
                        </a:rPr>
                        <a:t>1.99</a:t>
                      </a:r>
                      <a:endParaRPr lang="en-US" sz="1500" dirty="0">
                        <a:latin typeface="IBM Plex Sans" charset="0"/>
                        <a:ea typeface="IBM Plex Sans" charset="0"/>
                        <a:cs typeface="IBM Plex Sans" charset="0"/>
                      </a:endParaRPr>
                    </a:p>
                  </a:txBody>
                  <a:tcPr marL="66675" marR="66675" marT="66675" marB="66675">
                    <a:lnL w="12700" cap="flat" cmpd="sng" algn="ctr">
                      <a:solidFill>
                        <a:srgbClr val="B0BEC3"/>
                      </a:solidFill>
                      <a:prstDash val="solid"/>
                      <a:round/>
                      <a:headEnd type="none" w="med" len="med"/>
                      <a:tailEnd type="none" w="med" len="med"/>
                    </a:lnL>
                    <a:lnR w="12700" cap="flat" cmpd="sng" algn="ctr">
                      <a:solidFill>
                        <a:srgbClr val="B0BEC3"/>
                      </a:solidFill>
                      <a:prstDash val="solid"/>
                      <a:round/>
                      <a:headEnd type="none" w="med" len="med"/>
                      <a:tailEnd type="none" w="med" len="med"/>
                    </a:lnR>
                    <a:lnT w="12700" cap="flat" cmpd="sng" algn="ctr">
                      <a:solidFill>
                        <a:srgbClr val="161D25"/>
                      </a:solidFill>
                      <a:prstDash val="solid"/>
                      <a:round/>
                      <a:headEnd type="none" w="med" len="med"/>
                      <a:tailEnd type="none" w="med" len="med"/>
                    </a:lnT>
                    <a:lnB w="12700" cap="flat" cmpd="sng" algn="ctr">
                      <a:solidFill>
                        <a:srgbClr val="B0BEC3"/>
                      </a:solidFill>
                      <a:prstDash val="solid"/>
                      <a:round/>
                      <a:headEnd type="none" w="med" len="med"/>
                      <a:tailEnd type="none" w="med" len="med"/>
                    </a:lnB>
                    <a:solidFill>
                      <a:srgbClr val="DCEEF4"/>
                    </a:solidFill>
                  </a:tcPr>
                </a:tc>
                <a:extLst>
                  <a:ext uri="{0D108BD9-81ED-4DB2-BD59-A6C34878D82A}">
                    <a16:rowId xmlns:a16="http://schemas.microsoft.com/office/drawing/2014/main" val="10001"/>
                  </a:ext>
                </a:extLst>
              </a:tr>
              <a:tr h="410210">
                <a:tc>
                  <a:txBody>
                    <a:bodyPr/>
                    <a:lstStyle/>
                    <a:p>
                      <a:pPr marL="0" indent="0">
                        <a:lnSpc>
                          <a:spcPts val="2100"/>
                        </a:lnSpc>
                        <a:buNone/>
                      </a:pPr>
                      <a:r>
                        <a:rPr lang="en-US" sz="1500" dirty="0">
                          <a:solidFill>
                            <a:srgbClr val="16202A"/>
                          </a:solidFill>
                          <a:latin typeface="IBM Plex Sans" pitchFamily="34" charset="0"/>
                          <a:ea typeface="IBM Plex Sans" pitchFamily="34" charset="-122"/>
                          <a:cs typeface="IBM Plex Sans" pitchFamily="34" charset="-120"/>
                        </a:rPr>
                        <a:t>2</a:t>
                      </a:r>
                      <a:endParaRPr lang="en-US" sz="1500" dirty="0">
                        <a:latin typeface="IBM Plex Sans" charset="0"/>
                        <a:ea typeface="IBM Plex Sans" charset="0"/>
                        <a:cs typeface="IBM Plex Sans" charset="0"/>
                      </a:endParaRPr>
                    </a:p>
                  </a:txBody>
                  <a:tcPr marL="66675" marR="66675" marT="66675" marB="66675">
                    <a:lnL w="12700" cap="flat" cmpd="sng" algn="ctr">
                      <a:solidFill>
                        <a:srgbClr val="C2C0B9"/>
                      </a:solidFill>
                      <a:prstDash val="solid"/>
                      <a:round/>
                      <a:headEnd type="none" w="med" len="med"/>
                      <a:tailEnd type="none" w="med" len="med"/>
                    </a:lnL>
                    <a:lnR w="12700" cap="flat" cmpd="sng" algn="ctr">
                      <a:solidFill>
                        <a:srgbClr val="C2C0B9"/>
                      </a:solidFill>
                      <a:prstDash val="solid"/>
                      <a:round/>
                      <a:headEnd type="none" w="med" len="med"/>
                      <a:tailEnd type="none" w="med" len="med"/>
                    </a:lnR>
                    <a:lnT w="12700" cap="flat" cmpd="sng" algn="ctr">
                      <a:solidFill>
                        <a:srgbClr val="B0BEC3"/>
                      </a:solidFill>
                      <a:prstDash val="solid"/>
                      <a:round/>
                      <a:headEnd type="none" w="med" len="med"/>
                      <a:tailEnd type="none" w="med" len="med"/>
                    </a:lnT>
                    <a:lnB w="12700" cap="flat" cmpd="sng" algn="ctr">
                      <a:solidFill>
                        <a:srgbClr val="C2C0B9"/>
                      </a:solidFill>
                      <a:prstDash val="solid"/>
                      <a:round/>
                      <a:headEnd type="none" w="med" len="med"/>
                      <a:tailEnd type="none" w="med" len="med"/>
                    </a:lnB>
                  </a:tcPr>
                </a:tc>
                <a:tc>
                  <a:txBody>
                    <a:bodyPr/>
                    <a:lstStyle/>
                    <a:p>
                      <a:pPr marL="0" indent="0">
                        <a:lnSpc>
                          <a:spcPts val="2100"/>
                        </a:lnSpc>
                        <a:buNone/>
                      </a:pPr>
                      <a:r>
                        <a:rPr lang="en-US" sz="1500" dirty="0">
                          <a:solidFill>
                            <a:srgbClr val="16202A"/>
                          </a:solidFill>
                          <a:latin typeface="IBM Plex Sans" pitchFamily="34" charset="0"/>
                          <a:ea typeface="IBM Plex Sans" pitchFamily="34" charset="-122"/>
                          <a:cs typeface="IBM Plex Sans" pitchFamily="34" charset="-120"/>
                        </a:rPr>
                        <a:t>26, tick 4,600</a:t>
                      </a:r>
                      <a:endParaRPr lang="en-US" sz="1500" dirty="0">
                        <a:latin typeface="IBM Plex Sans" charset="0"/>
                        <a:ea typeface="IBM Plex Sans" charset="0"/>
                        <a:cs typeface="IBM Plex Sans" charset="0"/>
                      </a:endParaRPr>
                    </a:p>
                  </a:txBody>
                  <a:tcPr marL="66675" marR="66675" marT="66675" marB="66675">
                    <a:lnL w="12700" cap="flat" cmpd="sng" algn="ctr">
                      <a:solidFill>
                        <a:srgbClr val="C2C0B9"/>
                      </a:solidFill>
                      <a:prstDash val="solid"/>
                      <a:round/>
                      <a:headEnd type="none" w="med" len="med"/>
                      <a:tailEnd type="none" w="med" len="med"/>
                    </a:lnL>
                    <a:lnR w="12700" cap="flat" cmpd="sng" algn="ctr">
                      <a:solidFill>
                        <a:srgbClr val="C2C0B9"/>
                      </a:solidFill>
                      <a:prstDash val="solid"/>
                      <a:round/>
                      <a:headEnd type="none" w="med" len="med"/>
                      <a:tailEnd type="none" w="med" len="med"/>
                    </a:lnR>
                    <a:lnT w="12700" cap="flat" cmpd="sng" algn="ctr">
                      <a:solidFill>
                        <a:srgbClr val="B0BEC3"/>
                      </a:solidFill>
                      <a:prstDash val="solid"/>
                      <a:round/>
                      <a:headEnd type="none" w="med" len="med"/>
                      <a:tailEnd type="none" w="med" len="med"/>
                    </a:lnT>
                    <a:lnB w="12700" cap="flat" cmpd="sng" algn="ctr">
                      <a:solidFill>
                        <a:srgbClr val="C2C0B9"/>
                      </a:solidFill>
                      <a:prstDash val="solid"/>
                      <a:round/>
                      <a:headEnd type="none" w="med" len="med"/>
                      <a:tailEnd type="none" w="med" len="med"/>
                    </a:lnB>
                  </a:tcPr>
                </a:tc>
                <a:tc>
                  <a:txBody>
                    <a:bodyPr/>
                    <a:lstStyle/>
                    <a:p>
                      <a:pPr marL="0" indent="0">
                        <a:lnSpc>
                          <a:spcPts val="2100"/>
                        </a:lnSpc>
                        <a:buNone/>
                      </a:pPr>
                      <a:r>
                        <a:rPr lang="en-US" sz="1500" dirty="0">
                          <a:solidFill>
                            <a:srgbClr val="16202A"/>
                          </a:solidFill>
                          <a:latin typeface="IBM Plex Sans" pitchFamily="34" charset="0"/>
                          <a:ea typeface="IBM Plex Sans" pitchFamily="34" charset="-122"/>
                          <a:cs typeface="IBM Plex Sans" pitchFamily="34" charset="-120"/>
                        </a:rPr>
                        <a:t>38, tick 13,900</a:t>
                      </a:r>
                      <a:endParaRPr lang="en-US" sz="1500" dirty="0">
                        <a:latin typeface="IBM Plex Sans" charset="0"/>
                        <a:ea typeface="IBM Plex Sans" charset="0"/>
                        <a:cs typeface="IBM Plex Sans" charset="0"/>
                      </a:endParaRPr>
                    </a:p>
                  </a:txBody>
                  <a:tcPr marL="66675" marR="66675" marT="66675" marB="66675">
                    <a:lnL w="12700" cap="flat" cmpd="sng" algn="ctr">
                      <a:solidFill>
                        <a:srgbClr val="C2C0B9"/>
                      </a:solidFill>
                      <a:prstDash val="solid"/>
                      <a:round/>
                      <a:headEnd type="none" w="med" len="med"/>
                      <a:tailEnd type="none" w="med" len="med"/>
                    </a:lnL>
                    <a:lnR w="12700" cap="flat" cmpd="sng" algn="ctr">
                      <a:solidFill>
                        <a:srgbClr val="C2C0B9"/>
                      </a:solidFill>
                      <a:prstDash val="solid"/>
                      <a:round/>
                      <a:headEnd type="none" w="med" len="med"/>
                      <a:tailEnd type="none" w="med" len="med"/>
                    </a:lnR>
                    <a:lnT w="12700" cap="flat" cmpd="sng" algn="ctr">
                      <a:solidFill>
                        <a:srgbClr val="B0BEC3"/>
                      </a:solidFill>
                      <a:prstDash val="solid"/>
                      <a:round/>
                      <a:headEnd type="none" w="med" len="med"/>
                      <a:tailEnd type="none" w="med" len="med"/>
                    </a:lnT>
                    <a:lnB w="12700" cap="flat" cmpd="sng" algn="ctr">
                      <a:solidFill>
                        <a:srgbClr val="C2C0B9"/>
                      </a:solidFill>
                      <a:prstDash val="solid"/>
                      <a:round/>
                      <a:headEnd type="none" w="med" len="med"/>
                      <a:tailEnd type="none" w="med" len="med"/>
                    </a:lnB>
                  </a:tcPr>
                </a:tc>
                <a:tc>
                  <a:txBody>
                    <a:bodyPr/>
                    <a:lstStyle/>
                    <a:p>
                      <a:pPr marL="0" indent="0">
                        <a:lnSpc>
                          <a:spcPts val="2100"/>
                        </a:lnSpc>
                        <a:buNone/>
                      </a:pPr>
                      <a:r>
                        <a:rPr lang="en-US" sz="1500" dirty="0">
                          <a:solidFill>
                            <a:srgbClr val="16202A"/>
                          </a:solidFill>
                          <a:latin typeface="IBM Plex Sans" pitchFamily="34" charset="0"/>
                          <a:ea typeface="IBM Plex Sans" pitchFamily="34" charset="-122"/>
                          <a:cs typeface="IBM Plex Sans" pitchFamily="34" charset="-120"/>
                        </a:rPr>
                        <a:t>120, extinct at 48,700</a:t>
                      </a:r>
                      <a:endParaRPr lang="en-US" sz="1500" dirty="0">
                        <a:latin typeface="IBM Plex Sans" charset="0"/>
                        <a:ea typeface="IBM Plex Sans" charset="0"/>
                        <a:cs typeface="IBM Plex Sans" charset="0"/>
                      </a:endParaRPr>
                    </a:p>
                  </a:txBody>
                  <a:tcPr marL="66675" marR="66675" marT="66675" marB="66675">
                    <a:lnL w="12700" cap="flat" cmpd="sng" algn="ctr">
                      <a:solidFill>
                        <a:srgbClr val="C2C0B9"/>
                      </a:solidFill>
                      <a:prstDash val="solid"/>
                      <a:round/>
                      <a:headEnd type="none" w="med" len="med"/>
                      <a:tailEnd type="none" w="med" len="med"/>
                    </a:lnL>
                    <a:lnR w="12700" cap="flat" cmpd="sng" algn="ctr">
                      <a:solidFill>
                        <a:srgbClr val="C2C0B9"/>
                      </a:solidFill>
                      <a:prstDash val="solid"/>
                      <a:round/>
                      <a:headEnd type="none" w="med" len="med"/>
                      <a:tailEnd type="none" w="med" len="med"/>
                    </a:lnR>
                    <a:lnT w="12700" cap="flat" cmpd="sng" algn="ctr">
                      <a:solidFill>
                        <a:srgbClr val="B0BEC3"/>
                      </a:solidFill>
                      <a:prstDash val="solid"/>
                      <a:round/>
                      <a:headEnd type="none" w="med" len="med"/>
                      <a:tailEnd type="none" w="med" len="med"/>
                    </a:lnT>
                    <a:lnB w="12700" cap="flat" cmpd="sng" algn="ctr">
                      <a:solidFill>
                        <a:srgbClr val="C2C0B9"/>
                      </a:solidFill>
                      <a:prstDash val="solid"/>
                      <a:round/>
                      <a:headEnd type="none" w="med" len="med"/>
                      <a:tailEnd type="none" w="med" len="med"/>
                    </a:lnB>
                  </a:tcPr>
                </a:tc>
                <a:tc>
                  <a:txBody>
                    <a:bodyPr/>
                    <a:lstStyle/>
                    <a:p>
                      <a:pPr marL="0" indent="0" algn="r">
                        <a:lnSpc>
                          <a:spcPts val="2100"/>
                        </a:lnSpc>
                        <a:buNone/>
                      </a:pPr>
                      <a:r>
                        <a:rPr lang="en-US" sz="1500" dirty="0">
                          <a:solidFill>
                            <a:srgbClr val="16202A"/>
                          </a:solidFill>
                          <a:latin typeface="IBM Plex Sans" pitchFamily="34" charset="0"/>
                          <a:ea typeface="IBM Plex Sans" pitchFamily="34" charset="-122"/>
                          <a:cs typeface="IBM Plex Sans" pitchFamily="34" charset="-120"/>
                        </a:rPr>
                        <a:t>1.10</a:t>
                      </a:r>
                      <a:endParaRPr lang="en-US" sz="1500" dirty="0">
                        <a:latin typeface="IBM Plex Sans" charset="0"/>
                        <a:ea typeface="IBM Plex Sans" charset="0"/>
                        <a:cs typeface="IBM Plex Sans" charset="0"/>
                      </a:endParaRPr>
                    </a:p>
                  </a:txBody>
                  <a:tcPr marL="66675" marR="66675" marT="66675" marB="66675">
                    <a:lnL w="12700" cap="flat" cmpd="sng" algn="ctr">
                      <a:solidFill>
                        <a:srgbClr val="C2C0B9"/>
                      </a:solidFill>
                      <a:prstDash val="solid"/>
                      <a:round/>
                      <a:headEnd type="none" w="med" len="med"/>
                      <a:tailEnd type="none" w="med" len="med"/>
                    </a:lnL>
                    <a:lnR w="12700" cap="flat" cmpd="sng" algn="ctr">
                      <a:solidFill>
                        <a:srgbClr val="C2C0B9"/>
                      </a:solidFill>
                      <a:prstDash val="solid"/>
                      <a:round/>
                      <a:headEnd type="none" w="med" len="med"/>
                      <a:tailEnd type="none" w="med" len="med"/>
                    </a:lnR>
                    <a:lnT w="12700" cap="flat" cmpd="sng" algn="ctr">
                      <a:solidFill>
                        <a:srgbClr val="B0BEC3"/>
                      </a:solidFill>
                      <a:prstDash val="solid"/>
                      <a:round/>
                      <a:headEnd type="none" w="med" len="med"/>
                      <a:tailEnd type="none" w="med" len="med"/>
                    </a:lnT>
                    <a:lnB w="12700" cap="flat" cmpd="sng" algn="ctr">
                      <a:solidFill>
                        <a:srgbClr val="C2C0B9"/>
                      </a:solidFill>
                      <a:prstDash val="solid"/>
                      <a:round/>
                      <a:headEnd type="none" w="med" len="med"/>
                      <a:tailEnd type="none" w="med" len="med"/>
                    </a:lnB>
                  </a:tcPr>
                </a:tc>
                <a:extLst>
                  <a:ext uri="{0D108BD9-81ED-4DB2-BD59-A6C34878D82A}">
                    <a16:rowId xmlns:a16="http://schemas.microsoft.com/office/drawing/2014/main" val="10002"/>
                  </a:ext>
                </a:extLst>
              </a:tr>
              <a:tr h="410210">
                <a:tc>
                  <a:txBody>
                    <a:bodyPr/>
                    <a:lstStyle/>
                    <a:p>
                      <a:pPr marL="0" indent="0">
                        <a:lnSpc>
                          <a:spcPts val="2100"/>
                        </a:lnSpc>
                        <a:buNone/>
                      </a:pPr>
                      <a:r>
                        <a:rPr lang="en-US" sz="1500" dirty="0">
                          <a:solidFill>
                            <a:srgbClr val="16202A"/>
                          </a:solidFill>
                          <a:latin typeface="IBM Plex Sans" pitchFamily="34" charset="0"/>
                          <a:ea typeface="IBM Plex Sans" pitchFamily="34" charset="-122"/>
                          <a:cs typeface="IBM Plex Sans" pitchFamily="34" charset="-120"/>
                        </a:rPr>
                        <a:t>3</a:t>
                      </a:r>
                      <a:endParaRPr lang="en-US" sz="1500" dirty="0">
                        <a:latin typeface="IBM Plex Sans" charset="0"/>
                        <a:ea typeface="IBM Plex Sans" charset="0"/>
                        <a:cs typeface="IBM Plex Sans" charset="0"/>
                      </a:endParaRPr>
                    </a:p>
                  </a:txBody>
                  <a:tcPr marL="66675" marR="66675" marT="66675" marB="66675">
                    <a:lnL w="12700" cap="flat" cmpd="sng" algn="ctr">
                      <a:solidFill>
                        <a:srgbClr val="C2C0B9"/>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C2C0B9"/>
                      </a:solidFill>
                      <a:prstDash val="solid"/>
                      <a:round/>
                      <a:headEnd type="none" w="med" len="med"/>
                      <a:tailEnd type="none" w="med" len="med"/>
                    </a:lnT>
                    <a:lnB w="12700" cap="flat" cmpd="sng" algn="ctr">
                      <a:solidFill>
                        <a:srgbClr val="C8C7C4"/>
                      </a:solidFill>
                      <a:prstDash val="solid"/>
                      <a:round/>
                      <a:headEnd type="none" w="med" len="med"/>
                      <a:tailEnd type="none" w="med" len="med"/>
                    </a:lnB>
                    <a:solidFill>
                      <a:srgbClr val="FBFAF6"/>
                    </a:solidFill>
                  </a:tcPr>
                </a:tc>
                <a:tc>
                  <a:txBody>
                    <a:bodyPr/>
                    <a:lstStyle/>
                    <a:p>
                      <a:pPr marL="0" indent="0">
                        <a:lnSpc>
                          <a:spcPts val="2100"/>
                        </a:lnSpc>
                        <a:buNone/>
                      </a:pPr>
                      <a:r>
                        <a:rPr lang="en-US" sz="1500" dirty="0">
                          <a:solidFill>
                            <a:srgbClr val="16202A"/>
                          </a:solidFill>
                          <a:latin typeface="IBM Plex Sans" pitchFamily="34" charset="0"/>
                          <a:ea typeface="IBM Plex Sans" pitchFamily="34" charset="-122"/>
                          <a:cs typeface="IBM Plex Sans" pitchFamily="34" charset="-120"/>
                        </a:rPr>
                        <a:t>26, tick 12,800</a:t>
                      </a:r>
                      <a:endParaRPr lang="en-US" sz="1500" dirty="0">
                        <a:latin typeface="IBM Plex Sans" charset="0"/>
                        <a:ea typeface="IBM Plex Sans" charset="0"/>
                        <a:cs typeface="IBM Plex Sans" charset="0"/>
                      </a:endParaRPr>
                    </a:p>
                  </a:txBody>
                  <a:tcPr marL="66675" marR="66675" marT="66675" marB="66675">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C2C0B9"/>
                      </a:solidFill>
                      <a:prstDash val="solid"/>
                      <a:round/>
                      <a:headEnd type="none" w="med" len="med"/>
                      <a:tailEnd type="none" w="med" len="med"/>
                    </a:lnT>
                    <a:lnB w="12700" cap="flat" cmpd="sng" algn="ctr">
                      <a:solidFill>
                        <a:srgbClr val="C8C7C4"/>
                      </a:solidFill>
                      <a:prstDash val="solid"/>
                      <a:round/>
                      <a:headEnd type="none" w="med" len="med"/>
                      <a:tailEnd type="none" w="med" len="med"/>
                    </a:lnB>
                    <a:solidFill>
                      <a:srgbClr val="FBFAF6"/>
                    </a:solidFill>
                  </a:tcPr>
                </a:tc>
                <a:tc>
                  <a:txBody>
                    <a:bodyPr/>
                    <a:lstStyle/>
                    <a:p>
                      <a:pPr marL="0" indent="0">
                        <a:lnSpc>
                          <a:spcPts val="2100"/>
                        </a:lnSpc>
                        <a:buNone/>
                      </a:pPr>
                      <a:r>
                        <a:rPr lang="en-US" sz="1500" dirty="0">
                          <a:solidFill>
                            <a:srgbClr val="16202A"/>
                          </a:solidFill>
                          <a:latin typeface="IBM Plex Sans" pitchFamily="34" charset="0"/>
                          <a:ea typeface="IBM Plex Sans" pitchFamily="34" charset="-122"/>
                          <a:cs typeface="IBM Plex Sans" pitchFamily="34" charset="-120"/>
                        </a:rPr>
                        <a:t>67, tick 9,600</a:t>
                      </a:r>
                      <a:endParaRPr lang="en-US" sz="1500" dirty="0">
                        <a:latin typeface="IBM Plex Sans" charset="0"/>
                        <a:ea typeface="IBM Plex Sans" charset="0"/>
                        <a:cs typeface="IBM Plex Sans" charset="0"/>
                      </a:endParaRPr>
                    </a:p>
                  </a:txBody>
                  <a:tcPr marL="66675" marR="66675" marT="66675" marB="66675">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C2C0B9"/>
                      </a:solidFill>
                      <a:prstDash val="solid"/>
                      <a:round/>
                      <a:headEnd type="none" w="med" len="med"/>
                      <a:tailEnd type="none" w="med" len="med"/>
                    </a:lnT>
                    <a:lnB w="12700" cap="flat" cmpd="sng" algn="ctr">
                      <a:solidFill>
                        <a:srgbClr val="C8C7C4"/>
                      </a:solidFill>
                      <a:prstDash val="solid"/>
                      <a:round/>
                      <a:headEnd type="none" w="med" len="med"/>
                      <a:tailEnd type="none" w="med" len="med"/>
                    </a:lnB>
                    <a:solidFill>
                      <a:srgbClr val="FBFAF6"/>
                    </a:solidFill>
                  </a:tcPr>
                </a:tc>
                <a:tc>
                  <a:txBody>
                    <a:bodyPr/>
                    <a:lstStyle/>
                    <a:p>
                      <a:pPr marL="0" indent="0">
                        <a:lnSpc>
                          <a:spcPts val="2100"/>
                        </a:lnSpc>
                        <a:buNone/>
                      </a:pPr>
                      <a:r>
                        <a:rPr lang="en-US" sz="1500" dirty="0">
                          <a:solidFill>
                            <a:srgbClr val="16202A"/>
                          </a:solidFill>
                          <a:latin typeface="IBM Plex Sans" pitchFamily="34" charset="0"/>
                          <a:ea typeface="IBM Plex Sans" pitchFamily="34" charset="-122"/>
                          <a:cs typeface="IBM Plex Sans" pitchFamily="34" charset="-120"/>
                        </a:rPr>
                        <a:t>67, extinct at 94,400</a:t>
                      </a:r>
                      <a:endParaRPr lang="en-US" sz="1500" dirty="0">
                        <a:latin typeface="IBM Plex Sans" charset="0"/>
                        <a:ea typeface="IBM Plex Sans" charset="0"/>
                        <a:cs typeface="IBM Plex Sans" charset="0"/>
                      </a:endParaRPr>
                    </a:p>
                  </a:txBody>
                  <a:tcPr marL="66675" marR="66675" marT="66675" marB="66675">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C2C0B9"/>
                      </a:solidFill>
                      <a:prstDash val="solid"/>
                      <a:round/>
                      <a:headEnd type="none" w="med" len="med"/>
                      <a:tailEnd type="none" w="med" len="med"/>
                    </a:lnT>
                    <a:lnB w="12700" cap="flat" cmpd="sng" algn="ctr">
                      <a:solidFill>
                        <a:srgbClr val="C8C7C4"/>
                      </a:solidFill>
                      <a:prstDash val="solid"/>
                      <a:round/>
                      <a:headEnd type="none" w="med" len="med"/>
                      <a:tailEnd type="none" w="med" len="med"/>
                    </a:lnB>
                    <a:solidFill>
                      <a:srgbClr val="FBFAF6"/>
                    </a:solidFill>
                  </a:tcPr>
                </a:tc>
                <a:tc>
                  <a:txBody>
                    <a:bodyPr/>
                    <a:lstStyle/>
                    <a:p>
                      <a:pPr marL="0" indent="0" algn="r">
                        <a:lnSpc>
                          <a:spcPts val="2100"/>
                        </a:lnSpc>
                        <a:buNone/>
                      </a:pPr>
                      <a:r>
                        <a:rPr lang="en-US" sz="1500" dirty="0">
                          <a:solidFill>
                            <a:srgbClr val="16202A"/>
                          </a:solidFill>
                          <a:latin typeface="IBM Plex Sans" pitchFamily="34" charset="0"/>
                          <a:ea typeface="IBM Plex Sans" pitchFamily="34" charset="-122"/>
                          <a:cs typeface="IBM Plex Sans" pitchFamily="34" charset="-120"/>
                        </a:rPr>
                        <a:t>1.20</a:t>
                      </a:r>
                      <a:endParaRPr lang="en-US" sz="1500" dirty="0">
                        <a:latin typeface="IBM Plex Sans" charset="0"/>
                        <a:ea typeface="IBM Plex Sans" charset="0"/>
                        <a:cs typeface="IBM Plex Sans" charset="0"/>
                      </a:endParaRPr>
                    </a:p>
                  </a:txBody>
                  <a:tcPr marL="66675" marR="66675" marT="66675" marB="66675">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C2C0B9"/>
                      </a:solidFill>
                      <a:prstDash val="solid"/>
                      <a:round/>
                      <a:headEnd type="none" w="med" len="med"/>
                      <a:tailEnd type="none" w="med" len="med"/>
                    </a:lnT>
                    <a:lnB w="12700" cap="flat" cmpd="sng" algn="ctr">
                      <a:solidFill>
                        <a:srgbClr val="C8C7C4"/>
                      </a:solidFill>
                      <a:prstDash val="solid"/>
                      <a:round/>
                      <a:headEnd type="none" w="med" len="med"/>
                      <a:tailEnd type="none" w="med" len="med"/>
                    </a:lnB>
                    <a:solidFill>
                      <a:srgbClr val="FBFAF6"/>
                    </a:solidFill>
                  </a:tcPr>
                </a:tc>
                <a:extLst>
                  <a:ext uri="{0D108BD9-81ED-4DB2-BD59-A6C34878D82A}">
                    <a16:rowId xmlns:a16="http://schemas.microsoft.com/office/drawing/2014/main" val="10003"/>
                  </a:ext>
                </a:extLst>
              </a:tr>
              <a:tr h="410210">
                <a:tc>
                  <a:txBody>
                    <a:bodyPr/>
                    <a:lstStyle/>
                    <a:p>
                      <a:pPr marL="0" indent="0">
                        <a:lnSpc>
                          <a:spcPts val="2100"/>
                        </a:lnSpc>
                        <a:buNone/>
                      </a:pPr>
                      <a:r>
                        <a:rPr lang="en-US" sz="1500" dirty="0">
                          <a:solidFill>
                            <a:srgbClr val="16202A"/>
                          </a:solidFill>
                          <a:latin typeface="IBM Plex Sans" pitchFamily="34" charset="0"/>
                          <a:ea typeface="IBM Plex Sans" pitchFamily="34" charset="-122"/>
                          <a:cs typeface="IBM Plex Sans" pitchFamily="34" charset="-120"/>
                        </a:rPr>
                        <a:t>4</a:t>
                      </a:r>
                      <a:endParaRPr lang="en-US" sz="1500" dirty="0">
                        <a:latin typeface="IBM Plex Sans" charset="0"/>
                        <a:ea typeface="IBM Plex Sans" charset="0"/>
                        <a:cs typeface="IBM Plex Sans" charset="0"/>
                      </a:endParaRPr>
                    </a:p>
                  </a:txBody>
                  <a:tcPr marL="66675" marR="66675" marT="66675" marB="66675">
                    <a:lnL w="12700" cap="flat" cmpd="sng" algn="ctr">
                      <a:solidFill>
                        <a:srgbClr val="C2C0B9"/>
                      </a:solidFill>
                      <a:prstDash val="solid"/>
                      <a:round/>
                      <a:headEnd type="none" w="med" len="med"/>
                      <a:tailEnd type="none" w="med" len="med"/>
                    </a:lnL>
                    <a:lnR w="12700" cap="flat" cmpd="sng" algn="ctr">
                      <a:solidFill>
                        <a:srgbClr val="C2C0B9"/>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C2C0B9"/>
                      </a:solidFill>
                      <a:prstDash val="solid"/>
                      <a:round/>
                      <a:headEnd type="none" w="med" len="med"/>
                      <a:tailEnd type="none" w="med" len="med"/>
                    </a:lnB>
                  </a:tcPr>
                </a:tc>
                <a:tc>
                  <a:txBody>
                    <a:bodyPr/>
                    <a:lstStyle/>
                    <a:p>
                      <a:pPr marL="0" indent="0">
                        <a:lnSpc>
                          <a:spcPts val="2100"/>
                        </a:lnSpc>
                        <a:buNone/>
                      </a:pPr>
                      <a:r>
                        <a:rPr lang="en-US" sz="1500" dirty="0">
                          <a:solidFill>
                            <a:srgbClr val="16202A"/>
                          </a:solidFill>
                          <a:latin typeface="IBM Plex Sans" pitchFamily="34" charset="0"/>
                          <a:ea typeface="IBM Plex Sans" pitchFamily="34" charset="-122"/>
                          <a:cs typeface="IBM Plex Sans" pitchFamily="34" charset="-120"/>
                        </a:rPr>
                        <a:t>26, tick 5,900</a:t>
                      </a:r>
                      <a:endParaRPr lang="en-US" sz="1500" dirty="0">
                        <a:latin typeface="IBM Plex Sans" charset="0"/>
                        <a:ea typeface="IBM Plex Sans" charset="0"/>
                        <a:cs typeface="IBM Plex Sans" charset="0"/>
                      </a:endParaRPr>
                    </a:p>
                  </a:txBody>
                  <a:tcPr marL="66675" marR="66675" marT="66675" marB="66675">
                    <a:lnL w="12700" cap="flat" cmpd="sng" algn="ctr">
                      <a:solidFill>
                        <a:srgbClr val="C2C0B9"/>
                      </a:solidFill>
                      <a:prstDash val="solid"/>
                      <a:round/>
                      <a:headEnd type="none" w="med" len="med"/>
                      <a:tailEnd type="none" w="med" len="med"/>
                    </a:lnL>
                    <a:lnR w="12700" cap="flat" cmpd="sng" algn="ctr">
                      <a:solidFill>
                        <a:srgbClr val="C2C0B9"/>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C2C0B9"/>
                      </a:solidFill>
                      <a:prstDash val="solid"/>
                      <a:round/>
                      <a:headEnd type="none" w="med" len="med"/>
                      <a:tailEnd type="none" w="med" len="med"/>
                    </a:lnB>
                  </a:tcPr>
                </a:tc>
                <a:tc>
                  <a:txBody>
                    <a:bodyPr/>
                    <a:lstStyle/>
                    <a:p>
                      <a:pPr marL="0" indent="0">
                        <a:lnSpc>
                          <a:spcPts val="2100"/>
                        </a:lnSpc>
                        <a:buNone/>
                      </a:pPr>
                      <a:r>
                        <a:rPr lang="en-US" sz="1500" dirty="0">
                          <a:solidFill>
                            <a:srgbClr val="16202A"/>
                          </a:solidFill>
                          <a:latin typeface="IBM Plex Sans" pitchFamily="34" charset="0"/>
                          <a:ea typeface="IBM Plex Sans" pitchFamily="34" charset="-122"/>
                          <a:cs typeface="IBM Plex Sans" pitchFamily="34" charset="-120"/>
                        </a:rPr>
                        <a:t>27, tick 5,100</a:t>
                      </a:r>
                      <a:endParaRPr lang="en-US" sz="1500" dirty="0">
                        <a:latin typeface="IBM Plex Sans" charset="0"/>
                        <a:ea typeface="IBM Plex Sans" charset="0"/>
                        <a:cs typeface="IBM Plex Sans" charset="0"/>
                      </a:endParaRPr>
                    </a:p>
                  </a:txBody>
                  <a:tcPr marL="66675" marR="66675" marT="66675" marB="66675">
                    <a:lnL w="12700" cap="flat" cmpd="sng" algn="ctr">
                      <a:solidFill>
                        <a:srgbClr val="C2C0B9"/>
                      </a:solidFill>
                      <a:prstDash val="solid"/>
                      <a:round/>
                      <a:headEnd type="none" w="med" len="med"/>
                      <a:tailEnd type="none" w="med" len="med"/>
                    </a:lnL>
                    <a:lnR w="12700" cap="flat" cmpd="sng" algn="ctr">
                      <a:solidFill>
                        <a:srgbClr val="C2C0B9"/>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C2C0B9"/>
                      </a:solidFill>
                      <a:prstDash val="solid"/>
                      <a:round/>
                      <a:headEnd type="none" w="med" len="med"/>
                      <a:tailEnd type="none" w="med" len="med"/>
                    </a:lnB>
                  </a:tcPr>
                </a:tc>
                <a:tc>
                  <a:txBody>
                    <a:bodyPr/>
                    <a:lstStyle/>
                    <a:p>
                      <a:pPr marL="0" indent="0">
                        <a:lnSpc>
                          <a:spcPts val="2100"/>
                        </a:lnSpc>
                        <a:buNone/>
                      </a:pPr>
                      <a:r>
                        <a:rPr lang="en-US" sz="1500" dirty="0">
                          <a:solidFill>
                            <a:srgbClr val="16202A"/>
                          </a:solidFill>
                          <a:latin typeface="IBM Plex Sans" pitchFamily="34" charset="0"/>
                          <a:ea typeface="IBM Plex Sans" pitchFamily="34" charset="-122"/>
                          <a:cs typeface="IBM Plex Sans" pitchFamily="34" charset="-120"/>
                        </a:rPr>
                        <a:t>136, extinct at 55,900</a:t>
                      </a:r>
                      <a:endParaRPr lang="en-US" sz="1500" dirty="0">
                        <a:latin typeface="IBM Plex Sans" charset="0"/>
                        <a:ea typeface="IBM Plex Sans" charset="0"/>
                        <a:cs typeface="IBM Plex Sans" charset="0"/>
                      </a:endParaRPr>
                    </a:p>
                  </a:txBody>
                  <a:tcPr marL="66675" marR="66675" marT="66675" marB="66675">
                    <a:lnL w="12700" cap="flat" cmpd="sng" algn="ctr">
                      <a:solidFill>
                        <a:srgbClr val="C2C0B9"/>
                      </a:solidFill>
                      <a:prstDash val="solid"/>
                      <a:round/>
                      <a:headEnd type="none" w="med" len="med"/>
                      <a:tailEnd type="none" w="med" len="med"/>
                    </a:lnL>
                    <a:lnR w="12700" cap="flat" cmpd="sng" algn="ctr">
                      <a:solidFill>
                        <a:srgbClr val="C2C0B9"/>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C2C0B9"/>
                      </a:solidFill>
                      <a:prstDash val="solid"/>
                      <a:round/>
                      <a:headEnd type="none" w="med" len="med"/>
                      <a:tailEnd type="none" w="med" len="med"/>
                    </a:lnB>
                  </a:tcPr>
                </a:tc>
                <a:tc>
                  <a:txBody>
                    <a:bodyPr/>
                    <a:lstStyle/>
                    <a:p>
                      <a:pPr marL="0" indent="0" algn="r">
                        <a:lnSpc>
                          <a:spcPts val="2100"/>
                        </a:lnSpc>
                        <a:buNone/>
                      </a:pPr>
                      <a:r>
                        <a:rPr lang="en-US" sz="1500" dirty="0">
                          <a:solidFill>
                            <a:srgbClr val="16202A"/>
                          </a:solidFill>
                          <a:latin typeface="IBM Plex Sans" pitchFamily="34" charset="0"/>
                          <a:ea typeface="IBM Plex Sans" pitchFamily="34" charset="-122"/>
                          <a:cs typeface="IBM Plex Sans" pitchFamily="34" charset="-120"/>
                        </a:rPr>
                        <a:t>1.00</a:t>
                      </a:r>
                      <a:endParaRPr lang="en-US" sz="1500" dirty="0">
                        <a:latin typeface="IBM Plex Sans" charset="0"/>
                        <a:ea typeface="IBM Plex Sans" charset="0"/>
                        <a:cs typeface="IBM Plex Sans" charset="0"/>
                      </a:endParaRPr>
                    </a:p>
                  </a:txBody>
                  <a:tcPr marL="66675" marR="66675" marT="66675" marB="66675">
                    <a:lnL w="12700" cap="flat" cmpd="sng" algn="ctr">
                      <a:solidFill>
                        <a:srgbClr val="C2C0B9"/>
                      </a:solidFill>
                      <a:prstDash val="solid"/>
                      <a:round/>
                      <a:headEnd type="none" w="med" len="med"/>
                      <a:tailEnd type="none" w="med" len="med"/>
                    </a:lnL>
                    <a:lnR w="12700" cap="flat" cmpd="sng" algn="ctr">
                      <a:solidFill>
                        <a:srgbClr val="C2C0B9"/>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C2C0B9"/>
                      </a:solidFill>
                      <a:prstDash val="solid"/>
                      <a:round/>
                      <a:headEnd type="none" w="med" len="med"/>
                      <a:tailEnd type="none" w="med" len="med"/>
                    </a:lnB>
                  </a:tcPr>
                </a:tc>
                <a:extLst>
                  <a:ext uri="{0D108BD9-81ED-4DB2-BD59-A6C34878D82A}">
                    <a16:rowId xmlns:a16="http://schemas.microsoft.com/office/drawing/2014/main" val="10004"/>
                  </a:ext>
                </a:extLst>
              </a:tr>
              <a:tr h="410210">
                <a:tc>
                  <a:txBody>
                    <a:bodyPr/>
                    <a:lstStyle/>
                    <a:p>
                      <a:pPr marL="0" indent="0">
                        <a:lnSpc>
                          <a:spcPts val="2100"/>
                        </a:lnSpc>
                        <a:buNone/>
                      </a:pPr>
                      <a:r>
                        <a:rPr lang="en-US" sz="1500" dirty="0">
                          <a:solidFill>
                            <a:srgbClr val="16202A"/>
                          </a:solidFill>
                          <a:latin typeface="IBM Plex Sans" pitchFamily="34" charset="0"/>
                          <a:ea typeface="IBM Plex Sans" pitchFamily="34" charset="-122"/>
                          <a:cs typeface="IBM Plex Sans" pitchFamily="34" charset="-120"/>
                        </a:rPr>
                        <a:t>5</a:t>
                      </a:r>
                      <a:endParaRPr lang="en-US" sz="1500" dirty="0">
                        <a:latin typeface="IBM Plex Sans" charset="0"/>
                        <a:ea typeface="IBM Plex Sans" charset="0"/>
                        <a:cs typeface="IBM Plex Sans" charset="0"/>
                      </a:endParaRPr>
                    </a:p>
                  </a:txBody>
                  <a:tcPr marL="66675" marR="66675" marT="66675" marB="66675">
                    <a:lnL w="12700" cap="flat" cmpd="sng" algn="ctr">
                      <a:solidFill>
                        <a:srgbClr val="C2C0B9"/>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C2C0B9"/>
                      </a:solidFill>
                      <a:prstDash val="solid"/>
                      <a:round/>
                      <a:headEnd type="none" w="med" len="med"/>
                      <a:tailEnd type="none" w="med" len="med"/>
                    </a:lnT>
                    <a:lnB w="12700" cap="flat" cmpd="sng" algn="ctr">
                      <a:solidFill>
                        <a:srgbClr val="C8C7C4"/>
                      </a:solidFill>
                      <a:prstDash val="solid"/>
                      <a:round/>
                      <a:headEnd type="none" w="med" len="med"/>
                      <a:tailEnd type="none" w="med" len="med"/>
                    </a:lnB>
                    <a:solidFill>
                      <a:srgbClr val="FBFAF6"/>
                    </a:solidFill>
                  </a:tcPr>
                </a:tc>
                <a:tc>
                  <a:txBody>
                    <a:bodyPr/>
                    <a:lstStyle/>
                    <a:p>
                      <a:pPr marL="0" indent="0">
                        <a:lnSpc>
                          <a:spcPts val="2100"/>
                        </a:lnSpc>
                        <a:buNone/>
                      </a:pPr>
                      <a:r>
                        <a:rPr lang="en-US" sz="1500" dirty="0">
                          <a:solidFill>
                            <a:srgbClr val="16202A"/>
                          </a:solidFill>
                          <a:latin typeface="IBM Plex Sans" pitchFamily="34" charset="0"/>
                          <a:ea typeface="IBM Plex Sans" pitchFamily="34" charset="-122"/>
                          <a:cs typeface="IBM Plex Sans" pitchFamily="34" charset="-120"/>
                        </a:rPr>
                        <a:t>26, tick 3,600</a:t>
                      </a:r>
                      <a:endParaRPr lang="en-US" sz="1500" dirty="0">
                        <a:latin typeface="IBM Plex Sans" charset="0"/>
                        <a:ea typeface="IBM Plex Sans" charset="0"/>
                        <a:cs typeface="IBM Plex Sans" charset="0"/>
                      </a:endParaRPr>
                    </a:p>
                  </a:txBody>
                  <a:tcPr marL="66675" marR="66675" marT="66675" marB="66675">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C2C0B9"/>
                      </a:solidFill>
                      <a:prstDash val="solid"/>
                      <a:round/>
                      <a:headEnd type="none" w="med" len="med"/>
                      <a:tailEnd type="none" w="med" len="med"/>
                    </a:lnT>
                    <a:lnB w="12700" cap="flat" cmpd="sng" algn="ctr">
                      <a:solidFill>
                        <a:srgbClr val="C8C7C4"/>
                      </a:solidFill>
                      <a:prstDash val="solid"/>
                      <a:round/>
                      <a:headEnd type="none" w="med" len="med"/>
                      <a:tailEnd type="none" w="med" len="med"/>
                    </a:lnB>
                    <a:solidFill>
                      <a:srgbClr val="FBFAF6"/>
                    </a:solidFill>
                  </a:tcPr>
                </a:tc>
                <a:tc>
                  <a:txBody>
                    <a:bodyPr/>
                    <a:lstStyle/>
                    <a:p>
                      <a:pPr marL="0" indent="0">
                        <a:lnSpc>
                          <a:spcPts val="2100"/>
                        </a:lnSpc>
                        <a:buNone/>
                      </a:pPr>
                      <a:r>
                        <a:rPr lang="en-US" sz="1500" dirty="0">
                          <a:solidFill>
                            <a:srgbClr val="16202A"/>
                          </a:solidFill>
                          <a:latin typeface="IBM Plex Sans" pitchFamily="34" charset="0"/>
                          <a:ea typeface="IBM Plex Sans" pitchFamily="34" charset="-122"/>
                          <a:cs typeface="IBM Plex Sans" pitchFamily="34" charset="-120"/>
                        </a:rPr>
                        <a:t>31, tick 17,300</a:t>
                      </a:r>
                      <a:endParaRPr lang="en-US" sz="1500" dirty="0">
                        <a:latin typeface="IBM Plex Sans" charset="0"/>
                        <a:ea typeface="IBM Plex Sans" charset="0"/>
                        <a:cs typeface="IBM Plex Sans" charset="0"/>
                      </a:endParaRPr>
                    </a:p>
                  </a:txBody>
                  <a:tcPr marL="66675" marR="66675" marT="66675" marB="66675">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C2C0B9"/>
                      </a:solidFill>
                      <a:prstDash val="solid"/>
                      <a:round/>
                      <a:headEnd type="none" w="med" len="med"/>
                      <a:tailEnd type="none" w="med" len="med"/>
                    </a:lnT>
                    <a:lnB w="12700" cap="flat" cmpd="sng" algn="ctr">
                      <a:solidFill>
                        <a:srgbClr val="C8C7C4"/>
                      </a:solidFill>
                      <a:prstDash val="solid"/>
                      <a:round/>
                      <a:headEnd type="none" w="med" len="med"/>
                      <a:tailEnd type="none" w="med" len="med"/>
                    </a:lnB>
                    <a:solidFill>
                      <a:srgbClr val="FBFAF6"/>
                    </a:solidFill>
                  </a:tcPr>
                </a:tc>
                <a:tc>
                  <a:txBody>
                    <a:bodyPr/>
                    <a:lstStyle/>
                    <a:p>
                      <a:pPr marL="0" indent="0">
                        <a:lnSpc>
                          <a:spcPts val="2100"/>
                        </a:lnSpc>
                        <a:buNone/>
                      </a:pPr>
                      <a:r>
                        <a:rPr lang="en-US" sz="1500" dirty="0">
                          <a:solidFill>
                            <a:srgbClr val="16202A"/>
                          </a:solidFill>
                          <a:latin typeface="IBM Plex Sans" pitchFamily="34" charset="0"/>
                          <a:ea typeface="IBM Plex Sans" pitchFamily="34" charset="-122"/>
                          <a:cs typeface="IBM Plex Sans" pitchFamily="34" charset="-120"/>
                        </a:rPr>
                        <a:t>121, extinct at 18,200</a:t>
                      </a:r>
                      <a:endParaRPr lang="en-US" sz="1500" dirty="0">
                        <a:latin typeface="IBM Plex Sans" charset="0"/>
                        <a:ea typeface="IBM Plex Sans" charset="0"/>
                        <a:cs typeface="IBM Plex Sans" charset="0"/>
                      </a:endParaRPr>
                    </a:p>
                  </a:txBody>
                  <a:tcPr marL="66675" marR="66675" marT="66675" marB="66675">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C2C0B9"/>
                      </a:solidFill>
                      <a:prstDash val="solid"/>
                      <a:round/>
                      <a:headEnd type="none" w="med" len="med"/>
                      <a:tailEnd type="none" w="med" len="med"/>
                    </a:lnT>
                    <a:lnB w="12700" cap="flat" cmpd="sng" algn="ctr">
                      <a:solidFill>
                        <a:srgbClr val="C8C7C4"/>
                      </a:solidFill>
                      <a:prstDash val="solid"/>
                      <a:round/>
                      <a:headEnd type="none" w="med" len="med"/>
                      <a:tailEnd type="none" w="med" len="med"/>
                    </a:lnB>
                    <a:solidFill>
                      <a:srgbClr val="FBFAF6"/>
                    </a:solidFill>
                  </a:tcPr>
                </a:tc>
                <a:tc>
                  <a:txBody>
                    <a:bodyPr/>
                    <a:lstStyle/>
                    <a:p>
                      <a:pPr marL="0" indent="0" algn="r">
                        <a:lnSpc>
                          <a:spcPts val="2100"/>
                        </a:lnSpc>
                        <a:buNone/>
                      </a:pPr>
                      <a:r>
                        <a:rPr lang="en-US" sz="1500" dirty="0">
                          <a:solidFill>
                            <a:srgbClr val="16202A"/>
                          </a:solidFill>
                          <a:latin typeface="IBM Plex Sans" pitchFamily="34" charset="0"/>
                          <a:ea typeface="IBM Plex Sans" pitchFamily="34" charset="-122"/>
                          <a:cs typeface="IBM Plex Sans" pitchFamily="34" charset="-120"/>
                        </a:rPr>
                        <a:t>1.03</a:t>
                      </a:r>
                      <a:endParaRPr lang="en-US" sz="1500" dirty="0">
                        <a:latin typeface="IBM Plex Sans" charset="0"/>
                        <a:ea typeface="IBM Plex Sans" charset="0"/>
                        <a:cs typeface="IBM Plex Sans" charset="0"/>
                      </a:endParaRPr>
                    </a:p>
                  </a:txBody>
                  <a:tcPr marL="66675" marR="66675" marT="66675" marB="66675">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C2C0B9"/>
                      </a:solidFill>
                      <a:prstDash val="solid"/>
                      <a:round/>
                      <a:headEnd type="none" w="med" len="med"/>
                      <a:tailEnd type="none" w="med" len="med"/>
                    </a:lnT>
                    <a:lnB w="12700" cap="flat" cmpd="sng" algn="ctr">
                      <a:solidFill>
                        <a:srgbClr val="C8C7C4"/>
                      </a:solidFill>
                      <a:prstDash val="solid"/>
                      <a:round/>
                      <a:headEnd type="none" w="med" len="med"/>
                      <a:tailEnd type="none" w="med" len="med"/>
                    </a:lnB>
                    <a:solidFill>
                      <a:srgbClr val="FBFAF6"/>
                    </a:solidFill>
                  </a:tcPr>
                </a:tc>
                <a:extLst>
                  <a:ext uri="{0D108BD9-81ED-4DB2-BD59-A6C34878D82A}">
                    <a16:rowId xmlns:a16="http://schemas.microsoft.com/office/drawing/2014/main" val="10005"/>
                  </a:ext>
                </a:extLst>
              </a:tr>
            </a:tbl>
          </a:graphicData>
        </a:graphic>
      </p:graphicFrame>
      <p:sp>
        <p:nvSpPr>
          <p:cNvPr id="5" name="Text 2"/>
          <p:cNvSpPr/>
          <p:nvPr/>
        </p:nvSpPr>
        <p:spPr>
          <a:xfrm>
            <a:off x="812800" y="4518664"/>
            <a:ext cx="3505708" cy="52324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6202A"/>
                </a:solidFill>
                <a:latin typeface="IBM Plex Sans" pitchFamily="34" charset="0"/>
                <a:ea typeface="IBM Plex Sans" pitchFamily="34" charset="-122"/>
                <a:cs typeface="IBM Plex Sans" pitchFamily="34" charset="-120"/>
              </a:rPr>
              <a:t>Leopards:</a:t>
            </a:r>
            <a:r>
              <a:rPr lang="en-US" sz="1400" dirty="0">
                <a:solidFill>
                  <a:srgbClr val="4A5563"/>
                </a:solidFill>
                <a:latin typeface="IBM Plex Sans" pitchFamily="34" charset="0"/>
                <a:ea typeface="IBM Plex Sans" pitchFamily="34" charset="-122"/>
                <a:cs typeface="IBM Plex Sans" pitchFamily="34" charset="-120"/>
              </a:rPr>
              <a:t> boom then bust in 5 of 5.</a:t>
            </a:r>
            <a:endParaRPr lang="en-US" sz="1400" dirty="0"/>
          </a:p>
        </p:txBody>
      </p:sp>
      <p:sp>
        <p:nvSpPr>
          <p:cNvPr id="6" name="Text 3"/>
          <p:cNvSpPr/>
          <p:nvPr/>
        </p:nvSpPr>
        <p:spPr>
          <a:xfrm>
            <a:off x="4394200" y="4518664"/>
            <a:ext cx="3505708" cy="52324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6202A"/>
                </a:solidFill>
                <a:latin typeface="IBM Plex Sans" pitchFamily="34" charset="0"/>
                <a:ea typeface="IBM Plex Sans" pitchFamily="34" charset="-122"/>
                <a:cs typeface="IBM Plex Sans" pitchFamily="34" charset="-120"/>
              </a:rPr>
              <a:t>Rhinos:</a:t>
            </a:r>
            <a:r>
              <a:rPr lang="en-US" sz="1400" dirty="0">
                <a:solidFill>
                  <a:srgbClr val="4A5563"/>
                </a:solidFill>
                <a:latin typeface="IBM Plex Sans" pitchFamily="34" charset="0"/>
                <a:ea typeface="IBM Plex Sans" pitchFamily="34" charset="-122"/>
                <a:cs typeface="IBM Plex Sans" pitchFamily="34" charset="-120"/>
              </a:rPr>
              <a:t> died out in 5 of 5, mostly of old age.</a:t>
            </a:r>
            <a:endParaRPr lang="en-US" sz="1400" dirty="0"/>
          </a:p>
        </p:txBody>
      </p:sp>
      <p:sp>
        <p:nvSpPr>
          <p:cNvPr id="7" name="Text 4"/>
          <p:cNvSpPr/>
          <p:nvPr/>
        </p:nvSpPr>
        <p:spPr>
          <a:xfrm>
            <a:off x="7975600" y="4518664"/>
            <a:ext cx="3505708" cy="52324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6202A"/>
                </a:solidFill>
                <a:latin typeface="IBM Plex Sans" pitchFamily="34" charset="0"/>
                <a:ea typeface="IBM Plex Sans" pitchFamily="34" charset="-122"/>
                <a:cs typeface="IBM Plex Sans" pitchFamily="34" charset="-120"/>
              </a:rPr>
              <a:t>Zebras:</a:t>
            </a:r>
            <a:r>
              <a:rPr lang="en-US" sz="1400" dirty="0">
                <a:solidFill>
                  <a:srgbClr val="4A5563"/>
                </a:solidFill>
                <a:latin typeface="IBM Plex Sans" pitchFamily="34" charset="0"/>
                <a:ea typeface="IBM Plex Sans" pitchFamily="34" charset="-122"/>
                <a:cs typeface="IBM Plex Sans" pitchFamily="34" charset="-120"/>
              </a:rPr>
              <a:t> survived in 1 of 5 (highlighted).</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3F0E8"/>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540"/>
          </a:xfrm>
          <a:prstGeom prst="rect">
            <a:avLst/>
          </a:prstGeom>
          <a:noFill/>
          <a:ln/>
        </p:spPr>
        <p:txBody>
          <a:bodyPr wrap="square" lIns="0" tIns="0" rIns="0" bIns="0" rtlCol="0" anchor="t">
            <a:normAutofit/>
          </a:bodyPr>
          <a:lstStyle/>
          <a:p>
            <a:pPr marL="0" indent="0" algn="l">
              <a:lnSpc>
                <a:spcPts val="1820"/>
              </a:lnSpc>
              <a:buNone/>
            </a:pPr>
            <a:r>
              <a:rPr lang="en-US" sz="1300" b="1" kern="0" spc="150" dirty="0">
                <a:solidFill>
                  <a:srgbClr val="1C6E8C"/>
                </a:solidFill>
                <a:latin typeface="IBM Plex Sans" pitchFamily="34" charset="0"/>
                <a:ea typeface="IBM Plex Sans" pitchFamily="34" charset="-122"/>
                <a:cs typeface="IBM Plex Sans" pitchFamily="34" charset="-120"/>
              </a:rPr>
              <a:t>AFTER · SEED 1 · ADAPTATION</a:t>
            </a:r>
            <a:endParaRPr lang="en-US" sz="1300" dirty="0"/>
          </a:p>
        </p:txBody>
      </p:sp>
      <p:sp>
        <p:nvSpPr>
          <p:cNvPr id="3" name="Text 1"/>
          <p:cNvSpPr>
            <a:spLocks noGrp="1"/>
          </p:cNvSpPr>
          <p:nvPr>
            <p:ph type="title"/>
          </p:nvPr>
        </p:nvSpPr>
        <p:spPr>
          <a:xfrm>
            <a:off x="812800" y="1120142"/>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6202A"/>
                </a:solidFill>
                <a:latin typeface="Space Grotesk" pitchFamily="34" charset="0"/>
                <a:ea typeface="Space Grotesk" pitchFamily="34" charset="-122"/>
                <a:cs typeface="Space Grotesk" pitchFamily="34" charset="-120"/>
              </a:rPr>
              <a:t>The second mouth spread, and the herd held</a:t>
            </a:r>
            <a:endParaRPr lang="en-US" sz="3000" dirty="0"/>
          </a:p>
        </p:txBody>
      </p:sp>
      <p:sp>
        <p:nvSpPr>
          <p:cNvPr id="4" name="Shape 2"/>
          <p:cNvSpPr/>
          <p:nvPr/>
        </p:nvSpPr>
        <p:spPr>
          <a:xfrm>
            <a:off x="815975" y="1833246"/>
            <a:ext cx="171450" cy="31750"/>
          </a:xfrm>
          <a:prstGeom prst="rect">
            <a:avLst/>
          </a:prstGeom>
          <a:solidFill>
            <a:srgbClr val="F2F2F2"/>
          </a:solidFill>
          <a:ln w="6350">
            <a:solidFill>
              <a:srgbClr val="6A7380"/>
            </a:solidFill>
            <a:prstDash val="solid"/>
          </a:ln>
        </p:spPr>
        <p:txBody>
          <a:bodyPr/>
          <a:lstStyle/>
          <a:p>
            <a:endParaRPr lang="en-ZA"/>
          </a:p>
        </p:txBody>
      </p:sp>
      <p:sp>
        <p:nvSpPr>
          <p:cNvPr id="5" name="Text 3"/>
          <p:cNvSpPr/>
          <p:nvPr/>
        </p:nvSpPr>
        <p:spPr>
          <a:xfrm>
            <a:off x="1054100" y="1742442"/>
            <a:ext cx="564737"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3"/>
                </a:solidFill>
                <a:latin typeface="IBM Plex Sans" pitchFamily="34" charset="0"/>
                <a:ea typeface="IBM Plex Sans" pitchFamily="34" charset="-122"/>
                <a:cs typeface="IBM Plex Sans" pitchFamily="34" charset="-120"/>
              </a:rPr>
              <a:t>Zebras</a:t>
            </a:r>
            <a:endParaRPr lang="en-US" sz="1200" dirty="0"/>
          </a:p>
        </p:txBody>
      </p:sp>
      <p:sp>
        <p:nvSpPr>
          <p:cNvPr id="6" name="Shape 4"/>
          <p:cNvSpPr/>
          <p:nvPr/>
        </p:nvSpPr>
        <p:spPr>
          <a:xfrm>
            <a:off x="1727914" y="1830071"/>
            <a:ext cx="177800" cy="38100"/>
          </a:xfrm>
          <a:prstGeom prst="rect">
            <a:avLst/>
          </a:prstGeom>
          <a:solidFill>
            <a:srgbClr val="DEB14D"/>
          </a:solidFill>
          <a:ln/>
        </p:spPr>
        <p:txBody>
          <a:bodyPr/>
          <a:lstStyle/>
          <a:p>
            <a:endParaRPr lang="en-ZA"/>
          </a:p>
        </p:txBody>
      </p:sp>
      <p:sp>
        <p:nvSpPr>
          <p:cNvPr id="7" name="Text 5"/>
          <p:cNvSpPr/>
          <p:nvPr/>
        </p:nvSpPr>
        <p:spPr>
          <a:xfrm>
            <a:off x="1969214" y="1742442"/>
            <a:ext cx="56207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3"/>
                </a:solidFill>
                <a:latin typeface="IBM Plex Sans" pitchFamily="34" charset="0"/>
                <a:ea typeface="IBM Plex Sans" pitchFamily="34" charset="-122"/>
                <a:cs typeface="IBM Plex Sans" pitchFamily="34" charset="-120"/>
              </a:rPr>
              <a:t>Rhinos</a:t>
            </a:r>
            <a:endParaRPr lang="en-US" sz="1200" dirty="0"/>
          </a:p>
        </p:txBody>
      </p:sp>
      <p:sp>
        <p:nvSpPr>
          <p:cNvPr id="8" name="Shape 6"/>
          <p:cNvSpPr/>
          <p:nvPr/>
        </p:nvSpPr>
        <p:spPr>
          <a:xfrm>
            <a:off x="2640806" y="1830071"/>
            <a:ext cx="177800" cy="38100"/>
          </a:xfrm>
          <a:prstGeom prst="rect">
            <a:avLst/>
          </a:prstGeom>
          <a:solidFill>
            <a:srgbClr val="F82380"/>
          </a:solidFill>
          <a:ln/>
        </p:spPr>
        <p:txBody>
          <a:bodyPr/>
          <a:lstStyle/>
          <a:p>
            <a:endParaRPr lang="en-ZA"/>
          </a:p>
        </p:txBody>
      </p:sp>
      <p:sp>
        <p:nvSpPr>
          <p:cNvPr id="9" name="Text 7"/>
          <p:cNvSpPr/>
          <p:nvPr/>
        </p:nvSpPr>
        <p:spPr>
          <a:xfrm>
            <a:off x="2882106" y="1742442"/>
            <a:ext cx="757523"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3"/>
                </a:solidFill>
                <a:latin typeface="IBM Plex Sans" pitchFamily="34" charset="0"/>
                <a:ea typeface="IBM Plex Sans" pitchFamily="34" charset="-122"/>
                <a:cs typeface="IBM Plex Sans" pitchFamily="34" charset="-120"/>
              </a:rPr>
              <a:t>Leopards</a:t>
            </a:r>
            <a:endParaRPr lang="en-US" sz="1200" dirty="0"/>
          </a:p>
        </p:txBody>
      </p:sp>
      <p:sp>
        <p:nvSpPr>
          <p:cNvPr id="10" name="Shape 8"/>
          <p:cNvSpPr/>
          <p:nvPr/>
        </p:nvSpPr>
        <p:spPr>
          <a:xfrm>
            <a:off x="3716576" y="1830071"/>
            <a:ext cx="177800" cy="38100"/>
          </a:xfrm>
          <a:prstGeom prst="rect">
            <a:avLst/>
          </a:prstGeom>
          <a:solidFill>
            <a:srgbClr val="60D4FF"/>
          </a:solidFill>
          <a:ln/>
        </p:spPr>
        <p:txBody>
          <a:bodyPr/>
          <a:lstStyle/>
          <a:p>
            <a:endParaRPr lang="en-ZA"/>
          </a:p>
        </p:txBody>
      </p:sp>
      <p:sp>
        <p:nvSpPr>
          <p:cNvPr id="11" name="Text 9"/>
          <p:cNvSpPr/>
          <p:nvPr/>
        </p:nvSpPr>
        <p:spPr>
          <a:xfrm>
            <a:off x="3957876" y="1742442"/>
            <a:ext cx="2336864"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3"/>
                </a:solidFill>
                <a:latin typeface="IBM Plex Sans" pitchFamily="34" charset="0"/>
                <a:ea typeface="IBM Plex Sans" pitchFamily="34" charset="-122"/>
                <a:cs typeface="IBM Plex Sans" pitchFamily="34" charset="-120"/>
              </a:rPr>
              <a:t>Mouths per zebra (right axis)</a:t>
            </a:r>
            <a:endParaRPr lang="en-US" sz="1200" dirty="0"/>
          </a:p>
        </p:txBody>
      </p:sp>
      <p:sp>
        <p:nvSpPr>
          <p:cNvPr id="12" name="Text 10"/>
          <p:cNvSpPr/>
          <p:nvPr/>
        </p:nvSpPr>
        <p:spPr>
          <a:xfrm>
            <a:off x="762000" y="1981200"/>
            <a:ext cx="508000" cy="177800"/>
          </a:xfrm>
          <a:prstGeom prst="rect">
            <a:avLst/>
          </a:prstGeom>
          <a:noFill/>
          <a:ln/>
        </p:spPr>
        <p:txBody>
          <a:bodyPr wrap="square" lIns="0" tIns="0" rIns="0" bIns="0" rtlCol="0" anchor="t">
            <a:normAutofit/>
          </a:bodyPr>
          <a:lstStyle/>
          <a:p>
            <a:pPr marL="0" indent="0" algn="r">
              <a:lnSpc>
                <a:spcPts val="1200"/>
              </a:lnSpc>
              <a:buNone/>
            </a:pPr>
            <a:r>
              <a:rPr lang="en-US" sz="1200" dirty="0">
                <a:solidFill>
                  <a:srgbClr val="5C6672"/>
                </a:solidFill>
                <a:latin typeface="IBM Plex Sans" pitchFamily="34" charset="0"/>
                <a:ea typeface="IBM Plex Sans" pitchFamily="34" charset="-122"/>
                <a:cs typeface="IBM Plex Sans" pitchFamily="34" charset="-120"/>
              </a:rPr>
              <a:t>300</a:t>
            </a:r>
            <a:endParaRPr lang="en-US" sz="1200" dirty="0"/>
          </a:p>
        </p:txBody>
      </p:sp>
      <p:sp>
        <p:nvSpPr>
          <p:cNvPr id="13" name="Text 11"/>
          <p:cNvSpPr/>
          <p:nvPr/>
        </p:nvSpPr>
        <p:spPr>
          <a:xfrm>
            <a:off x="762000" y="2997200"/>
            <a:ext cx="508000" cy="177800"/>
          </a:xfrm>
          <a:prstGeom prst="rect">
            <a:avLst/>
          </a:prstGeom>
          <a:noFill/>
          <a:ln/>
        </p:spPr>
        <p:txBody>
          <a:bodyPr wrap="square" lIns="0" tIns="0" rIns="0" bIns="0" rtlCol="0" anchor="t">
            <a:normAutofit/>
          </a:bodyPr>
          <a:lstStyle/>
          <a:p>
            <a:pPr marL="0" indent="0" algn="r">
              <a:lnSpc>
                <a:spcPts val="1200"/>
              </a:lnSpc>
              <a:buNone/>
            </a:pPr>
            <a:r>
              <a:rPr lang="en-US" sz="1200" dirty="0">
                <a:solidFill>
                  <a:srgbClr val="5C6672"/>
                </a:solidFill>
                <a:latin typeface="IBM Plex Sans" pitchFamily="34" charset="0"/>
                <a:ea typeface="IBM Plex Sans" pitchFamily="34" charset="-122"/>
                <a:cs typeface="IBM Plex Sans" pitchFamily="34" charset="-120"/>
              </a:rPr>
              <a:t>200</a:t>
            </a:r>
            <a:endParaRPr lang="en-US" sz="1200" dirty="0"/>
          </a:p>
        </p:txBody>
      </p:sp>
      <p:sp>
        <p:nvSpPr>
          <p:cNvPr id="14" name="Text 12"/>
          <p:cNvSpPr/>
          <p:nvPr/>
        </p:nvSpPr>
        <p:spPr>
          <a:xfrm>
            <a:off x="762000" y="4013200"/>
            <a:ext cx="508000" cy="177800"/>
          </a:xfrm>
          <a:prstGeom prst="rect">
            <a:avLst/>
          </a:prstGeom>
          <a:noFill/>
          <a:ln/>
        </p:spPr>
        <p:txBody>
          <a:bodyPr wrap="square" lIns="0" tIns="0" rIns="0" bIns="0" rtlCol="0" anchor="t">
            <a:normAutofit/>
          </a:bodyPr>
          <a:lstStyle/>
          <a:p>
            <a:pPr marL="0" indent="0" algn="r">
              <a:lnSpc>
                <a:spcPts val="1200"/>
              </a:lnSpc>
              <a:buNone/>
            </a:pPr>
            <a:r>
              <a:rPr lang="en-US" sz="1200" dirty="0">
                <a:solidFill>
                  <a:srgbClr val="5C6672"/>
                </a:solidFill>
                <a:latin typeface="IBM Plex Sans" pitchFamily="34" charset="0"/>
                <a:ea typeface="IBM Plex Sans" pitchFamily="34" charset="-122"/>
                <a:cs typeface="IBM Plex Sans" pitchFamily="34" charset="-120"/>
              </a:rPr>
              <a:t>100</a:t>
            </a:r>
            <a:endParaRPr lang="en-US" sz="1200" dirty="0"/>
          </a:p>
        </p:txBody>
      </p:sp>
      <p:sp>
        <p:nvSpPr>
          <p:cNvPr id="15" name="Text 13"/>
          <p:cNvSpPr/>
          <p:nvPr/>
        </p:nvSpPr>
        <p:spPr>
          <a:xfrm>
            <a:off x="762000" y="5029200"/>
            <a:ext cx="508000" cy="177800"/>
          </a:xfrm>
          <a:prstGeom prst="rect">
            <a:avLst/>
          </a:prstGeom>
          <a:noFill/>
          <a:ln/>
        </p:spPr>
        <p:txBody>
          <a:bodyPr wrap="square" lIns="0" tIns="0" rIns="0" bIns="0" rtlCol="0" anchor="t">
            <a:normAutofit/>
          </a:bodyPr>
          <a:lstStyle/>
          <a:p>
            <a:pPr marL="0" indent="0" algn="r">
              <a:lnSpc>
                <a:spcPts val="1200"/>
              </a:lnSpc>
              <a:buNone/>
            </a:pPr>
            <a:r>
              <a:rPr lang="en-US" sz="1200" dirty="0">
                <a:solidFill>
                  <a:srgbClr val="5C6672"/>
                </a:solidFill>
                <a:latin typeface="IBM Plex Sans" pitchFamily="34" charset="0"/>
                <a:ea typeface="IBM Plex Sans" pitchFamily="34" charset="-122"/>
                <a:cs typeface="IBM Plex Sans" pitchFamily="34" charset="-120"/>
              </a:rPr>
              <a:t>0</a:t>
            </a:r>
            <a:endParaRPr lang="en-US" sz="1200" dirty="0"/>
          </a:p>
        </p:txBody>
      </p:sp>
      <p:pic>
        <p:nvPicPr>
          <p:cNvPr id="16" name="Image 0" descr="Line chart, modified engine full design seed 1, ticks 0 to 100,000. Leopards peak at 35 near tick 900 and are extinct by 4,400. Rhinos peak at 80 and are extinct by 12,600. Zebras grow to a peak of 290 and 199 are alive at tick 100,000. Mouths per zebra rise from 1.0 to 1.99 by tick 33,100, then drift back down."/>
          <p:cNvPicPr>
            <a:picLocks noChangeAspect="1"/>
          </p:cNvPicPr>
          <p:nvPr/>
        </p:nvPicPr>
        <p:blipFill>
          <a:blip r:embed="rId3"/>
          <a:srcRect/>
          <a:stretch/>
        </p:blipFill>
        <p:spPr>
          <a:xfrm>
            <a:off x="1346200" y="2057400"/>
            <a:ext cx="6350000" cy="3048000"/>
          </a:xfrm>
          <a:prstGeom prst="rect">
            <a:avLst/>
          </a:prstGeom>
        </p:spPr>
      </p:pic>
      <p:sp>
        <p:nvSpPr>
          <p:cNvPr id="17" name="Text 14"/>
          <p:cNvSpPr/>
          <p:nvPr/>
        </p:nvSpPr>
        <p:spPr>
          <a:xfrm>
            <a:off x="1346200" y="5181600"/>
            <a:ext cx="14224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C6672"/>
                </a:solidFill>
                <a:latin typeface="IBM Plex Sans" pitchFamily="34" charset="0"/>
                <a:ea typeface="IBM Plex Sans" pitchFamily="34" charset="-122"/>
                <a:cs typeface="IBM Plex Sans" pitchFamily="34" charset="-120"/>
              </a:rPr>
              <a:t>0</a:t>
            </a:r>
            <a:endParaRPr lang="en-US" sz="1200" dirty="0"/>
          </a:p>
        </p:txBody>
      </p:sp>
      <p:sp>
        <p:nvSpPr>
          <p:cNvPr id="18" name="Text 15"/>
          <p:cNvSpPr/>
          <p:nvPr/>
        </p:nvSpPr>
        <p:spPr>
          <a:xfrm>
            <a:off x="2626916" y="5181600"/>
            <a:ext cx="315849"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C6672"/>
                </a:solidFill>
                <a:latin typeface="IBM Plex Sans" pitchFamily="34" charset="0"/>
                <a:ea typeface="IBM Plex Sans" pitchFamily="34" charset="-122"/>
                <a:cs typeface="IBM Plex Sans" pitchFamily="34" charset="-120"/>
              </a:rPr>
              <a:t>25k</a:t>
            </a:r>
            <a:endParaRPr lang="en-US" sz="1200" dirty="0"/>
          </a:p>
        </p:txBody>
      </p:sp>
      <p:sp>
        <p:nvSpPr>
          <p:cNvPr id="19" name="Text 16"/>
          <p:cNvSpPr/>
          <p:nvPr/>
        </p:nvSpPr>
        <p:spPr>
          <a:xfrm>
            <a:off x="4079399" y="5181600"/>
            <a:ext cx="315849"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C6672"/>
                </a:solidFill>
                <a:latin typeface="IBM Plex Sans" pitchFamily="34" charset="0"/>
                <a:ea typeface="IBM Plex Sans" pitchFamily="34" charset="-122"/>
                <a:cs typeface="IBM Plex Sans" pitchFamily="34" charset="-120"/>
              </a:rPr>
              <a:t>50k</a:t>
            </a:r>
            <a:endParaRPr lang="en-US" sz="1200" dirty="0"/>
          </a:p>
        </p:txBody>
      </p:sp>
      <p:sp>
        <p:nvSpPr>
          <p:cNvPr id="20" name="Text 17"/>
          <p:cNvSpPr/>
          <p:nvPr/>
        </p:nvSpPr>
        <p:spPr>
          <a:xfrm>
            <a:off x="5531803" y="5181600"/>
            <a:ext cx="315849"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C6672"/>
                </a:solidFill>
                <a:latin typeface="IBM Plex Sans" pitchFamily="34" charset="0"/>
                <a:ea typeface="IBM Plex Sans" pitchFamily="34" charset="-122"/>
                <a:cs typeface="IBM Plex Sans" pitchFamily="34" charset="-120"/>
              </a:rPr>
              <a:t>75k</a:t>
            </a:r>
            <a:endParaRPr lang="en-US" sz="1200" dirty="0"/>
          </a:p>
        </p:txBody>
      </p:sp>
      <p:sp>
        <p:nvSpPr>
          <p:cNvPr id="21" name="Text 18"/>
          <p:cNvSpPr/>
          <p:nvPr/>
        </p:nvSpPr>
        <p:spPr>
          <a:xfrm>
            <a:off x="6841903" y="5181600"/>
            <a:ext cx="854297"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C6672"/>
                </a:solidFill>
                <a:latin typeface="IBM Plex Sans" pitchFamily="34" charset="0"/>
                <a:ea typeface="IBM Plex Sans" pitchFamily="34" charset="-122"/>
                <a:cs typeface="IBM Plex Sans" pitchFamily="34" charset="-120"/>
              </a:rPr>
              <a:t>100k ticks</a:t>
            </a:r>
            <a:endParaRPr lang="en-US" sz="1200" dirty="0"/>
          </a:p>
        </p:txBody>
      </p:sp>
      <p:sp>
        <p:nvSpPr>
          <p:cNvPr id="22" name="Text 19"/>
          <p:cNvSpPr/>
          <p:nvPr/>
        </p:nvSpPr>
        <p:spPr>
          <a:xfrm>
            <a:off x="7772400" y="1981200"/>
            <a:ext cx="508000" cy="177800"/>
          </a:xfrm>
          <a:prstGeom prst="rect">
            <a:avLst/>
          </a:prstGeom>
          <a:noFill/>
          <a:ln/>
        </p:spPr>
        <p:txBody>
          <a:bodyPr wrap="square" lIns="0" tIns="0" rIns="0" bIns="0" rtlCol="0" anchor="t">
            <a:normAutofit/>
          </a:bodyPr>
          <a:lstStyle/>
          <a:p>
            <a:pPr marL="0" indent="0" algn="l">
              <a:lnSpc>
                <a:spcPts val="1200"/>
              </a:lnSpc>
              <a:buNone/>
            </a:pPr>
            <a:r>
              <a:rPr lang="en-US" sz="1200" dirty="0">
                <a:solidFill>
                  <a:srgbClr val="1C6E8C"/>
                </a:solidFill>
                <a:latin typeface="IBM Plex Sans" pitchFamily="34" charset="0"/>
                <a:ea typeface="IBM Plex Sans" pitchFamily="34" charset="-122"/>
                <a:cs typeface="IBM Plex Sans" pitchFamily="34" charset="-120"/>
              </a:rPr>
              <a:t>3</a:t>
            </a:r>
            <a:endParaRPr lang="en-US" sz="1200" dirty="0"/>
          </a:p>
        </p:txBody>
      </p:sp>
      <p:sp>
        <p:nvSpPr>
          <p:cNvPr id="23" name="Text 20"/>
          <p:cNvSpPr/>
          <p:nvPr/>
        </p:nvSpPr>
        <p:spPr>
          <a:xfrm>
            <a:off x="7772400" y="2997200"/>
            <a:ext cx="508000" cy="177800"/>
          </a:xfrm>
          <a:prstGeom prst="rect">
            <a:avLst/>
          </a:prstGeom>
          <a:noFill/>
          <a:ln/>
        </p:spPr>
        <p:txBody>
          <a:bodyPr wrap="square" lIns="0" tIns="0" rIns="0" bIns="0" rtlCol="0" anchor="t">
            <a:normAutofit/>
          </a:bodyPr>
          <a:lstStyle/>
          <a:p>
            <a:pPr marL="0" indent="0" algn="l">
              <a:lnSpc>
                <a:spcPts val="1200"/>
              </a:lnSpc>
              <a:buNone/>
            </a:pPr>
            <a:r>
              <a:rPr lang="en-US" sz="1200" dirty="0">
                <a:solidFill>
                  <a:srgbClr val="1C6E8C"/>
                </a:solidFill>
                <a:latin typeface="IBM Plex Sans" pitchFamily="34" charset="0"/>
                <a:ea typeface="IBM Plex Sans" pitchFamily="34" charset="-122"/>
                <a:cs typeface="IBM Plex Sans" pitchFamily="34" charset="-120"/>
              </a:rPr>
              <a:t>2</a:t>
            </a:r>
            <a:endParaRPr lang="en-US" sz="1200" dirty="0"/>
          </a:p>
        </p:txBody>
      </p:sp>
      <p:sp>
        <p:nvSpPr>
          <p:cNvPr id="24" name="Text 21"/>
          <p:cNvSpPr/>
          <p:nvPr/>
        </p:nvSpPr>
        <p:spPr>
          <a:xfrm>
            <a:off x="7772400" y="4013200"/>
            <a:ext cx="508000" cy="177800"/>
          </a:xfrm>
          <a:prstGeom prst="rect">
            <a:avLst/>
          </a:prstGeom>
          <a:noFill/>
          <a:ln/>
        </p:spPr>
        <p:txBody>
          <a:bodyPr wrap="square" lIns="0" tIns="0" rIns="0" bIns="0" rtlCol="0" anchor="t">
            <a:normAutofit/>
          </a:bodyPr>
          <a:lstStyle/>
          <a:p>
            <a:pPr marL="0" indent="0" algn="l">
              <a:lnSpc>
                <a:spcPts val="1200"/>
              </a:lnSpc>
              <a:buNone/>
            </a:pPr>
            <a:r>
              <a:rPr lang="en-US" sz="1200" dirty="0">
                <a:solidFill>
                  <a:srgbClr val="1C6E8C"/>
                </a:solidFill>
                <a:latin typeface="IBM Plex Sans" pitchFamily="34" charset="0"/>
                <a:ea typeface="IBM Plex Sans" pitchFamily="34" charset="-122"/>
                <a:cs typeface="IBM Plex Sans" pitchFamily="34" charset="-120"/>
              </a:rPr>
              <a:t>1</a:t>
            </a:r>
            <a:endParaRPr lang="en-US" sz="1200" dirty="0"/>
          </a:p>
        </p:txBody>
      </p:sp>
      <p:sp>
        <p:nvSpPr>
          <p:cNvPr id="25" name="Text 22"/>
          <p:cNvSpPr/>
          <p:nvPr/>
        </p:nvSpPr>
        <p:spPr>
          <a:xfrm>
            <a:off x="7772400" y="5029200"/>
            <a:ext cx="508000" cy="177800"/>
          </a:xfrm>
          <a:prstGeom prst="rect">
            <a:avLst/>
          </a:prstGeom>
          <a:noFill/>
          <a:ln/>
        </p:spPr>
        <p:txBody>
          <a:bodyPr wrap="square" lIns="0" tIns="0" rIns="0" bIns="0" rtlCol="0" anchor="t">
            <a:normAutofit/>
          </a:bodyPr>
          <a:lstStyle/>
          <a:p>
            <a:pPr marL="0" indent="0" algn="l">
              <a:lnSpc>
                <a:spcPts val="1200"/>
              </a:lnSpc>
              <a:buNone/>
            </a:pPr>
            <a:r>
              <a:rPr lang="en-US" sz="1200" dirty="0">
                <a:solidFill>
                  <a:srgbClr val="1C6E8C"/>
                </a:solidFill>
                <a:latin typeface="IBM Plex Sans" pitchFamily="34" charset="0"/>
                <a:ea typeface="IBM Plex Sans" pitchFamily="34" charset="-122"/>
                <a:cs typeface="IBM Plex Sans" pitchFamily="34" charset="-120"/>
              </a:rPr>
              <a:t>0</a:t>
            </a:r>
            <a:endParaRPr lang="en-US" sz="1200" dirty="0"/>
          </a:p>
        </p:txBody>
      </p:sp>
      <p:sp>
        <p:nvSpPr>
          <p:cNvPr id="26" name="Text 23"/>
          <p:cNvSpPr/>
          <p:nvPr/>
        </p:nvSpPr>
        <p:spPr>
          <a:xfrm>
            <a:off x="8483600" y="1793242"/>
            <a:ext cx="2982468" cy="416560"/>
          </a:xfrm>
          <a:prstGeom prst="rect">
            <a:avLst/>
          </a:prstGeom>
          <a:noFill/>
          <a:ln/>
        </p:spPr>
        <p:txBody>
          <a:bodyPr wrap="square" lIns="0" tIns="0" rIns="0" bIns="0" rtlCol="0" anchor="t">
            <a:normAutofit/>
          </a:bodyPr>
          <a:lstStyle/>
          <a:p>
            <a:pPr marL="0" indent="0" algn="l">
              <a:lnSpc>
                <a:spcPts val="3080"/>
              </a:lnSpc>
              <a:buNone/>
            </a:pPr>
            <a:r>
              <a:rPr lang="en-US" sz="2800" b="1" dirty="0">
                <a:solidFill>
                  <a:srgbClr val="1C6E8C"/>
                </a:solidFill>
                <a:latin typeface="Space Grotesk" pitchFamily="34" charset="0"/>
                <a:ea typeface="Space Grotesk" pitchFamily="34" charset="-122"/>
                <a:cs typeface="Space Grotesk" pitchFamily="34" charset="-120"/>
              </a:rPr>
              <a:t>1.0 → 1.99</a:t>
            </a:r>
            <a:endParaRPr lang="en-US" sz="2800" dirty="0"/>
          </a:p>
        </p:txBody>
      </p:sp>
      <p:sp>
        <p:nvSpPr>
          <p:cNvPr id="27" name="Text 24"/>
          <p:cNvSpPr/>
          <p:nvPr/>
        </p:nvSpPr>
        <p:spPr>
          <a:xfrm>
            <a:off x="8483600" y="2209800"/>
            <a:ext cx="2982468" cy="25654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5C6672"/>
                </a:solidFill>
                <a:latin typeface="IBM Plex Sans" pitchFamily="34" charset="0"/>
                <a:ea typeface="IBM Plex Sans" pitchFamily="34" charset="-122"/>
                <a:cs typeface="IBM Plex Sans" pitchFamily="34" charset="-120"/>
              </a:rPr>
              <a:t>mouths per zebra by tick 33,100</a:t>
            </a:r>
            <a:endParaRPr lang="en-US" sz="1300" dirty="0"/>
          </a:p>
        </p:txBody>
      </p:sp>
      <p:sp>
        <p:nvSpPr>
          <p:cNvPr id="28" name="Text 25"/>
          <p:cNvSpPr/>
          <p:nvPr/>
        </p:nvSpPr>
        <p:spPr>
          <a:xfrm>
            <a:off x="8483600" y="2618742"/>
            <a:ext cx="2982468" cy="416560"/>
          </a:xfrm>
          <a:prstGeom prst="rect">
            <a:avLst/>
          </a:prstGeom>
          <a:noFill/>
          <a:ln/>
        </p:spPr>
        <p:txBody>
          <a:bodyPr wrap="square" lIns="0" tIns="0" rIns="0" bIns="0" rtlCol="0" anchor="t">
            <a:normAutofit/>
          </a:bodyPr>
          <a:lstStyle/>
          <a:p>
            <a:pPr marL="0" indent="0" algn="l">
              <a:lnSpc>
                <a:spcPts val="3080"/>
              </a:lnSpc>
              <a:buNone/>
            </a:pPr>
            <a:r>
              <a:rPr lang="en-US" sz="2800" b="1" dirty="0">
                <a:solidFill>
                  <a:srgbClr val="16202A"/>
                </a:solidFill>
                <a:latin typeface="Space Grotesk" pitchFamily="34" charset="0"/>
                <a:ea typeface="Space Grotesk" pitchFamily="34" charset="-122"/>
                <a:cs typeface="Space Grotesk" pitchFamily="34" charset="-120"/>
              </a:rPr>
              <a:t>290 peak</a:t>
            </a:r>
            <a:endParaRPr lang="en-US" sz="2800" dirty="0"/>
          </a:p>
        </p:txBody>
      </p:sp>
      <p:sp>
        <p:nvSpPr>
          <p:cNvPr id="29" name="Text 26"/>
          <p:cNvSpPr/>
          <p:nvPr/>
        </p:nvSpPr>
        <p:spPr>
          <a:xfrm>
            <a:off x="8483600" y="3035300"/>
            <a:ext cx="2982468" cy="25654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5C6672"/>
                </a:solidFill>
                <a:latin typeface="IBM Plex Sans" pitchFamily="34" charset="0"/>
                <a:ea typeface="IBM Plex Sans" pitchFamily="34" charset="-122"/>
                <a:cs typeface="IBM Plex Sans" pitchFamily="34" charset="-120"/>
              </a:rPr>
              <a:t>199 zebras still alive at 100,000</a:t>
            </a:r>
            <a:endParaRPr lang="en-US" sz="1300" dirty="0"/>
          </a:p>
        </p:txBody>
      </p:sp>
      <p:sp>
        <p:nvSpPr>
          <p:cNvPr id="30" name="Text 27"/>
          <p:cNvSpPr/>
          <p:nvPr/>
        </p:nvSpPr>
        <p:spPr>
          <a:xfrm>
            <a:off x="8483600" y="3444242"/>
            <a:ext cx="2982468" cy="416560"/>
          </a:xfrm>
          <a:prstGeom prst="rect">
            <a:avLst/>
          </a:prstGeom>
          <a:noFill/>
          <a:ln/>
        </p:spPr>
        <p:txBody>
          <a:bodyPr wrap="square" lIns="0" tIns="0" rIns="0" bIns="0" rtlCol="0" anchor="t">
            <a:normAutofit/>
          </a:bodyPr>
          <a:lstStyle/>
          <a:p>
            <a:pPr marL="0" indent="0" algn="l">
              <a:lnSpc>
                <a:spcPts val="3080"/>
              </a:lnSpc>
              <a:buNone/>
            </a:pPr>
            <a:r>
              <a:rPr lang="en-US" sz="2800" b="1" dirty="0">
                <a:solidFill>
                  <a:srgbClr val="C2185B"/>
                </a:solidFill>
                <a:latin typeface="Space Grotesk" pitchFamily="34" charset="0"/>
                <a:ea typeface="Space Grotesk" pitchFamily="34" charset="-122"/>
                <a:cs typeface="Space Grotesk" pitchFamily="34" charset="-120"/>
              </a:rPr>
              <a:t>4,400</a:t>
            </a:r>
            <a:endParaRPr lang="en-US" sz="2800" dirty="0"/>
          </a:p>
        </p:txBody>
      </p:sp>
      <p:sp>
        <p:nvSpPr>
          <p:cNvPr id="31" name="Text 28"/>
          <p:cNvSpPr/>
          <p:nvPr/>
        </p:nvSpPr>
        <p:spPr>
          <a:xfrm>
            <a:off x="8483600" y="3860800"/>
            <a:ext cx="2982468" cy="25654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5C6672"/>
                </a:solidFill>
                <a:latin typeface="IBM Plex Sans" pitchFamily="34" charset="0"/>
                <a:ea typeface="IBM Plex Sans" pitchFamily="34" charset="-122"/>
                <a:cs typeface="IBM Plex Sans" pitchFamily="34" charset="-120"/>
              </a:rPr>
              <a:t>leopards extinct after a peak of 35</a:t>
            </a:r>
            <a:endParaRPr lang="en-US" sz="1300" dirty="0"/>
          </a:p>
        </p:txBody>
      </p:sp>
      <p:sp>
        <p:nvSpPr>
          <p:cNvPr id="32" name="Text 29"/>
          <p:cNvSpPr/>
          <p:nvPr/>
        </p:nvSpPr>
        <p:spPr>
          <a:xfrm>
            <a:off x="8483600" y="4269742"/>
            <a:ext cx="2982468" cy="416560"/>
          </a:xfrm>
          <a:prstGeom prst="rect">
            <a:avLst/>
          </a:prstGeom>
          <a:noFill/>
          <a:ln/>
        </p:spPr>
        <p:txBody>
          <a:bodyPr wrap="square" lIns="0" tIns="0" rIns="0" bIns="0" rtlCol="0" anchor="t">
            <a:normAutofit/>
          </a:bodyPr>
          <a:lstStyle/>
          <a:p>
            <a:pPr marL="0" indent="0" algn="l">
              <a:lnSpc>
                <a:spcPts val="3080"/>
              </a:lnSpc>
              <a:buNone/>
            </a:pPr>
            <a:r>
              <a:rPr lang="en-US" sz="2800" b="1" dirty="0">
                <a:solidFill>
                  <a:srgbClr val="1E8A44"/>
                </a:solidFill>
                <a:latin typeface="Space Grotesk" pitchFamily="34" charset="0"/>
                <a:ea typeface="Space Grotesk" pitchFamily="34" charset="-122"/>
                <a:cs typeface="Space Grotesk" pitchFamily="34" charset="-120"/>
              </a:rPr>
              <a:t>No crash</a:t>
            </a:r>
            <a:endParaRPr lang="en-US" sz="2800" dirty="0"/>
          </a:p>
        </p:txBody>
      </p:sp>
      <p:sp>
        <p:nvSpPr>
          <p:cNvPr id="33" name="Text 30"/>
          <p:cNvSpPr/>
          <p:nvPr/>
        </p:nvSpPr>
        <p:spPr>
          <a:xfrm>
            <a:off x="8483600" y="4686300"/>
            <a:ext cx="2982468" cy="25654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5C6672"/>
                </a:solidFill>
                <a:latin typeface="IBM Plex Sans" pitchFamily="34" charset="0"/>
                <a:ea typeface="IBM Plex Sans" pitchFamily="34" charset="-122"/>
                <a:cs typeface="IBM Plex Sans" pitchFamily="34" charset="-120"/>
              </a:rPr>
              <a:t>grass stayed near 1,000 plants</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3F0E8"/>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540"/>
          </a:xfrm>
          <a:prstGeom prst="rect">
            <a:avLst/>
          </a:prstGeom>
          <a:noFill/>
          <a:ln/>
        </p:spPr>
        <p:txBody>
          <a:bodyPr wrap="square" lIns="0" tIns="0" rIns="0" bIns="0" rtlCol="0" anchor="t">
            <a:normAutofit/>
          </a:bodyPr>
          <a:lstStyle/>
          <a:p>
            <a:pPr marL="0" indent="0" algn="l">
              <a:lnSpc>
                <a:spcPts val="1820"/>
              </a:lnSpc>
              <a:buNone/>
            </a:pPr>
            <a:r>
              <a:rPr lang="en-US" sz="1300" b="1" kern="0" spc="150" dirty="0">
                <a:solidFill>
                  <a:srgbClr val="1C6E8C"/>
                </a:solidFill>
                <a:latin typeface="IBM Plex Sans" pitchFamily="34" charset="0"/>
                <a:ea typeface="IBM Plex Sans" pitchFamily="34" charset="-122"/>
                <a:cs typeface="IBM Plex Sans" pitchFamily="34" charset="-120"/>
              </a:rPr>
              <a:t>AFTER · SEED 4 · FAILURE TO ADAPT</a:t>
            </a:r>
            <a:endParaRPr lang="en-US" sz="1300" dirty="0"/>
          </a:p>
        </p:txBody>
      </p:sp>
      <p:sp>
        <p:nvSpPr>
          <p:cNvPr id="3" name="Text 1"/>
          <p:cNvSpPr>
            <a:spLocks noGrp="1"/>
          </p:cNvSpPr>
          <p:nvPr>
            <p:ph type="title"/>
          </p:nvPr>
        </p:nvSpPr>
        <p:spPr>
          <a:xfrm>
            <a:off x="812800" y="1120142"/>
            <a:ext cx="11379200"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6202A"/>
                </a:solidFill>
                <a:latin typeface="Space Grotesk" pitchFamily="34" charset="0"/>
                <a:ea typeface="Space Grotesk" pitchFamily="34" charset="-122"/>
                <a:cs typeface="Space Grotesk" pitchFamily="34" charset="-120"/>
              </a:rPr>
              <a:t>No trait spread, and the herd faded with food all around</a:t>
            </a:r>
            <a:endParaRPr lang="en-US" sz="3000" dirty="0"/>
          </a:p>
        </p:txBody>
      </p:sp>
      <p:sp>
        <p:nvSpPr>
          <p:cNvPr id="4" name="Shape 2"/>
          <p:cNvSpPr/>
          <p:nvPr/>
        </p:nvSpPr>
        <p:spPr>
          <a:xfrm>
            <a:off x="815975" y="1833252"/>
            <a:ext cx="171450" cy="31750"/>
          </a:xfrm>
          <a:prstGeom prst="rect">
            <a:avLst/>
          </a:prstGeom>
          <a:solidFill>
            <a:srgbClr val="F2F2F2"/>
          </a:solidFill>
          <a:ln w="6350">
            <a:solidFill>
              <a:srgbClr val="6A7380"/>
            </a:solidFill>
            <a:prstDash val="solid"/>
          </a:ln>
        </p:spPr>
        <p:txBody>
          <a:bodyPr/>
          <a:lstStyle/>
          <a:p>
            <a:endParaRPr lang="en-ZA"/>
          </a:p>
        </p:txBody>
      </p:sp>
      <p:sp>
        <p:nvSpPr>
          <p:cNvPr id="5" name="Text 3"/>
          <p:cNvSpPr/>
          <p:nvPr/>
        </p:nvSpPr>
        <p:spPr>
          <a:xfrm>
            <a:off x="1054100" y="1742442"/>
            <a:ext cx="564737"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3"/>
                </a:solidFill>
                <a:latin typeface="IBM Plex Sans" pitchFamily="34" charset="0"/>
                <a:ea typeface="IBM Plex Sans" pitchFamily="34" charset="-122"/>
                <a:cs typeface="IBM Plex Sans" pitchFamily="34" charset="-120"/>
              </a:rPr>
              <a:t>Zebras</a:t>
            </a:r>
            <a:endParaRPr lang="en-US" sz="1200" dirty="0"/>
          </a:p>
        </p:txBody>
      </p:sp>
      <p:sp>
        <p:nvSpPr>
          <p:cNvPr id="6" name="Shape 4"/>
          <p:cNvSpPr/>
          <p:nvPr/>
        </p:nvSpPr>
        <p:spPr>
          <a:xfrm>
            <a:off x="1727914" y="1830077"/>
            <a:ext cx="177800" cy="38100"/>
          </a:xfrm>
          <a:prstGeom prst="rect">
            <a:avLst/>
          </a:prstGeom>
          <a:solidFill>
            <a:srgbClr val="DEB14D"/>
          </a:solidFill>
          <a:ln/>
        </p:spPr>
        <p:txBody>
          <a:bodyPr/>
          <a:lstStyle/>
          <a:p>
            <a:endParaRPr lang="en-ZA"/>
          </a:p>
        </p:txBody>
      </p:sp>
      <p:sp>
        <p:nvSpPr>
          <p:cNvPr id="7" name="Text 5"/>
          <p:cNvSpPr/>
          <p:nvPr/>
        </p:nvSpPr>
        <p:spPr>
          <a:xfrm>
            <a:off x="1969214" y="1742442"/>
            <a:ext cx="56207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3"/>
                </a:solidFill>
                <a:latin typeface="IBM Plex Sans" pitchFamily="34" charset="0"/>
                <a:ea typeface="IBM Plex Sans" pitchFamily="34" charset="-122"/>
                <a:cs typeface="IBM Plex Sans" pitchFamily="34" charset="-120"/>
              </a:rPr>
              <a:t>Rhinos</a:t>
            </a:r>
            <a:endParaRPr lang="en-US" sz="1200" dirty="0"/>
          </a:p>
        </p:txBody>
      </p:sp>
      <p:sp>
        <p:nvSpPr>
          <p:cNvPr id="8" name="Shape 6"/>
          <p:cNvSpPr/>
          <p:nvPr/>
        </p:nvSpPr>
        <p:spPr>
          <a:xfrm>
            <a:off x="2640806" y="1830077"/>
            <a:ext cx="177800" cy="38100"/>
          </a:xfrm>
          <a:prstGeom prst="rect">
            <a:avLst/>
          </a:prstGeom>
          <a:solidFill>
            <a:srgbClr val="F82380"/>
          </a:solidFill>
          <a:ln/>
        </p:spPr>
        <p:txBody>
          <a:bodyPr/>
          <a:lstStyle/>
          <a:p>
            <a:endParaRPr lang="en-ZA"/>
          </a:p>
        </p:txBody>
      </p:sp>
      <p:sp>
        <p:nvSpPr>
          <p:cNvPr id="9" name="Text 7"/>
          <p:cNvSpPr/>
          <p:nvPr/>
        </p:nvSpPr>
        <p:spPr>
          <a:xfrm>
            <a:off x="2882106" y="1742442"/>
            <a:ext cx="757523"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3"/>
                </a:solidFill>
                <a:latin typeface="IBM Plex Sans" pitchFamily="34" charset="0"/>
                <a:ea typeface="IBM Plex Sans" pitchFamily="34" charset="-122"/>
                <a:cs typeface="IBM Plex Sans" pitchFamily="34" charset="-120"/>
              </a:rPr>
              <a:t>Leopards</a:t>
            </a:r>
            <a:endParaRPr lang="en-US" sz="1200" dirty="0"/>
          </a:p>
        </p:txBody>
      </p:sp>
      <p:sp>
        <p:nvSpPr>
          <p:cNvPr id="10" name="Shape 8"/>
          <p:cNvSpPr/>
          <p:nvPr/>
        </p:nvSpPr>
        <p:spPr>
          <a:xfrm>
            <a:off x="3716576" y="1830077"/>
            <a:ext cx="177800" cy="38100"/>
          </a:xfrm>
          <a:prstGeom prst="rect">
            <a:avLst/>
          </a:prstGeom>
          <a:solidFill>
            <a:srgbClr val="60D4FF"/>
          </a:solidFill>
          <a:ln/>
        </p:spPr>
        <p:txBody>
          <a:bodyPr/>
          <a:lstStyle/>
          <a:p>
            <a:endParaRPr lang="en-ZA"/>
          </a:p>
        </p:txBody>
      </p:sp>
      <p:sp>
        <p:nvSpPr>
          <p:cNvPr id="11" name="Text 9"/>
          <p:cNvSpPr/>
          <p:nvPr/>
        </p:nvSpPr>
        <p:spPr>
          <a:xfrm>
            <a:off x="3957876" y="1742442"/>
            <a:ext cx="2336864"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3"/>
                </a:solidFill>
                <a:latin typeface="IBM Plex Sans" pitchFamily="34" charset="0"/>
                <a:ea typeface="IBM Plex Sans" pitchFamily="34" charset="-122"/>
                <a:cs typeface="IBM Plex Sans" pitchFamily="34" charset="-120"/>
              </a:rPr>
              <a:t>Mouths per zebra (right axis)</a:t>
            </a:r>
            <a:endParaRPr lang="en-US" sz="1200" dirty="0"/>
          </a:p>
        </p:txBody>
      </p:sp>
      <p:sp>
        <p:nvSpPr>
          <p:cNvPr id="12" name="Text 10"/>
          <p:cNvSpPr/>
          <p:nvPr/>
        </p:nvSpPr>
        <p:spPr>
          <a:xfrm>
            <a:off x="762000" y="1981200"/>
            <a:ext cx="508000" cy="177800"/>
          </a:xfrm>
          <a:prstGeom prst="rect">
            <a:avLst/>
          </a:prstGeom>
          <a:noFill/>
          <a:ln/>
        </p:spPr>
        <p:txBody>
          <a:bodyPr wrap="square" lIns="0" tIns="0" rIns="0" bIns="0" rtlCol="0" anchor="t">
            <a:normAutofit/>
          </a:bodyPr>
          <a:lstStyle/>
          <a:p>
            <a:pPr marL="0" indent="0" algn="r">
              <a:lnSpc>
                <a:spcPts val="1200"/>
              </a:lnSpc>
              <a:buNone/>
            </a:pPr>
            <a:r>
              <a:rPr lang="en-US" sz="1200" dirty="0">
                <a:solidFill>
                  <a:srgbClr val="5C6672"/>
                </a:solidFill>
                <a:latin typeface="IBM Plex Sans" pitchFamily="34" charset="0"/>
                <a:ea typeface="IBM Plex Sans" pitchFamily="34" charset="-122"/>
                <a:cs typeface="IBM Plex Sans" pitchFamily="34" charset="-120"/>
              </a:rPr>
              <a:t>300</a:t>
            </a:r>
            <a:endParaRPr lang="en-US" sz="1200" dirty="0"/>
          </a:p>
        </p:txBody>
      </p:sp>
      <p:sp>
        <p:nvSpPr>
          <p:cNvPr id="13" name="Text 11"/>
          <p:cNvSpPr/>
          <p:nvPr/>
        </p:nvSpPr>
        <p:spPr>
          <a:xfrm>
            <a:off x="762000" y="2997200"/>
            <a:ext cx="508000" cy="177800"/>
          </a:xfrm>
          <a:prstGeom prst="rect">
            <a:avLst/>
          </a:prstGeom>
          <a:noFill/>
          <a:ln/>
        </p:spPr>
        <p:txBody>
          <a:bodyPr wrap="square" lIns="0" tIns="0" rIns="0" bIns="0" rtlCol="0" anchor="t">
            <a:normAutofit/>
          </a:bodyPr>
          <a:lstStyle/>
          <a:p>
            <a:pPr marL="0" indent="0" algn="r">
              <a:lnSpc>
                <a:spcPts val="1200"/>
              </a:lnSpc>
              <a:buNone/>
            </a:pPr>
            <a:r>
              <a:rPr lang="en-US" sz="1200" dirty="0">
                <a:solidFill>
                  <a:srgbClr val="5C6672"/>
                </a:solidFill>
                <a:latin typeface="IBM Plex Sans" pitchFamily="34" charset="0"/>
                <a:ea typeface="IBM Plex Sans" pitchFamily="34" charset="-122"/>
                <a:cs typeface="IBM Plex Sans" pitchFamily="34" charset="-120"/>
              </a:rPr>
              <a:t>200</a:t>
            </a:r>
            <a:endParaRPr lang="en-US" sz="1200" dirty="0"/>
          </a:p>
        </p:txBody>
      </p:sp>
      <p:sp>
        <p:nvSpPr>
          <p:cNvPr id="14" name="Text 12"/>
          <p:cNvSpPr/>
          <p:nvPr/>
        </p:nvSpPr>
        <p:spPr>
          <a:xfrm>
            <a:off x="762000" y="4013200"/>
            <a:ext cx="508000" cy="177800"/>
          </a:xfrm>
          <a:prstGeom prst="rect">
            <a:avLst/>
          </a:prstGeom>
          <a:noFill/>
          <a:ln/>
        </p:spPr>
        <p:txBody>
          <a:bodyPr wrap="square" lIns="0" tIns="0" rIns="0" bIns="0" rtlCol="0" anchor="t">
            <a:normAutofit/>
          </a:bodyPr>
          <a:lstStyle/>
          <a:p>
            <a:pPr marL="0" indent="0" algn="r">
              <a:lnSpc>
                <a:spcPts val="1200"/>
              </a:lnSpc>
              <a:buNone/>
            </a:pPr>
            <a:r>
              <a:rPr lang="en-US" sz="1200" dirty="0">
                <a:solidFill>
                  <a:srgbClr val="5C6672"/>
                </a:solidFill>
                <a:latin typeface="IBM Plex Sans" pitchFamily="34" charset="0"/>
                <a:ea typeface="IBM Plex Sans" pitchFamily="34" charset="-122"/>
                <a:cs typeface="IBM Plex Sans" pitchFamily="34" charset="-120"/>
              </a:rPr>
              <a:t>100</a:t>
            </a:r>
            <a:endParaRPr lang="en-US" sz="1200" dirty="0"/>
          </a:p>
        </p:txBody>
      </p:sp>
      <p:sp>
        <p:nvSpPr>
          <p:cNvPr id="15" name="Text 13"/>
          <p:cNvSpPr/>
          <p:nvPr/>
        </p:nvSpPr>
        <p:spPr>
          <a:xfrm>
            <a:off x="762000" y="5029200"/>
            <a:ext cx="508000" cy="177800"/>
          </a:xfrm>
          <a:prstGeom prst="rect">
            <a:avLst/>
          </a:prstGeom>
          <a:noFill/>
          <a:ln/>
        </p:spPr>
        <p:txBody>
          <a:bodyPr wrap="square" lIns="0" tIns="0" rIns="0" bIns="0" rtlCol="0" anchor="t">
            <a:normAutofit/>
          </a:bodyPr>
          <a:lstStyle/>
          <a:p>
            <a:pPr marL="0" indent="0" algn="r">
              <a:lnSpc>
                <a:spcPts val="1200"/>
              </a:lnSpc>
              <a:buNone/>
            </a:pPr>
            <a:r>
              <a:rPr lang="en-US" sz="1200" dirty="0">
                <a:solidFill>
                  <a:srgbClr val="5C6672"/>
                </a:solidFill>
                <a:latin typeface="IBM Plex Sans" pitchFamily="34" charset="0"/>
                <a:ea typeface="IBM Plex Sans" pitchFamily="34" charset="-122"/>
                <a:cs typeface="IBM Plex Sans" pitchFamily="34" charset="-120"/>
              </a:rPr>
              <a:t>0</a:t>
            </a:r>
            <a:endParaRPr lang="en-US" sz="1200" dirty="0"/>
          </a:p>
        </p:txBody>
      </p:sp>
      <p:pic>
        <p:nvPicPr>
          <p:cNvPr id="16" name="Image 0" descr="Line chart, modified engine full design seed 4, ticks 0 to 100,000. Leopards peak at 26 and die out early. Rhinos peak at 27 and are extinct by 5,100. Zebras peak at 136 near tick 7,200 then decline slowly to extinction at tick 55,900. Mouths per zebra stay flat at 1.0 the whole time."/>
          <p:cNvPicPr>
            <a:picLocks noChangeAspect="1"/>
          </p:cNvPicPr>
          <p:nvPr/>
        </p:nvPicPr>
        <p:blipFill>
          <a:blip r:embed="rId3"/>
          <a:srcRect/>
          <a:stretch/>
        </p:blipFill>
        <p:spPr>
          <a:xfrm>
            <a:off x="1346200" y="2057400"/>
            <a:ext cx="6350000" cy="3048000"/>
          </a:xfrm>
          <a:prstGeom prst="rect">
            <a:avLst/>
          </a:prstGeom>
        </p:spPr>
      </p:pic>
      <p:sp>
        <p:nvSpPr>
          <p:cNvPr id="17" name="Text 14"/>
          <p:cNvSpPr/>
          <p:nvPr/>
        </p:nvSpPr>
        <p:spPr>
          <a:xfrm>
            <a:off x="1346200" y="5181600"/>
            <a:ext cx="14224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C6672"/>
                </a:solidFill>
                <a:latin typeface="IBM Plex Sans" pitchFamily="34" charset="0"/>
                <a:ea typeface="IBM Plex Sans" pitchFamily="34" charset="-122"/>
                <a:cs typeface="IBM Plex Sans" pitchFamily="34" charset="-120"/>
              </a:rPr>
              <a:t>0</a:t>
            </a:r>
            <a:endParaRPr lang="en-US" sz="1200" dirty="0"/>
          </a:p>
        </p:txBody>
      </p:sp>
      <p:sp>
        <p:nvSpPr>
          <p:cNvPr id="18" name="Text 15"/>
          <p:cNvSpPr/>
          <p:nvPr/>
        </p:nvSpPr>
        <p:spPr>
          <a:xfrm>
            <a:off x="2626916" y="5181600"/>
            <a:ext cx="315849"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C6672"/>
                </a:solidFill>
                <a:latin typeface="IBM Plex Sans" pitchFamily="34" charset="0"/>
                <a:ea typeface="IBM Plex Sans" pitchFamily="34" charset="-122"/>
                <a:cs typeface="IBM Plex Sans" pitchFamily="34" charset="-120"/>
              </a:rPr>
              <a:t>25k</a:t>
            </a:r>
            <a:endParaRPr lang="en-US" sz="1200" dirty="0"/>
          </a:p>
        </p:txBody>
      </p:sp>
      <p:sp>
        <p:nvSpPr>
          <p:cNvPr id="19" name="Text 16"/>
          <p:cNvSpPr/>
          <p:nvPr/>
        </p:nvSpPr>
        <p:spPr>
          <a:xfrm>
            <a:off x="4079399" y="5181600"/>
            <a:ext cx="315849"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C6672"/>
                </a:solidFill>
                <a:latin typeface="IBM Plex Sans" pitchFamily="34" charset="0"/>
                <a:ea typeface="IBM Plex Sans" pitchFamily="34" charset="-122"/>
                <a:cs typeface="IBM Plex Sans" pitchFamily="34" charset="-120"/>
              </a:rPr>
              <a:t>50k</a:t>
            </a:r>
            <a:endParaRPr lang="en-US" sz="1200" dirty="0"/>
          </a:p>
        </p:txBody>
      </p:sp>
      <p:sp>
        <p:nvSpPr>
          <p:cNvPr id="20" name="Text 17"/>
          <p:cNvSpPr/>
          <p:nvPr/>
        </p:nvSpPr>
        <p:spPr>
          <a:xfrm>
            <a:off x="5531803" y="5181600"/>
            <a:ext cx="315849"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C6672"/>
                </a:solidFill>
                <a:latin typeface="IBM Plex Sans" pitchFamily="34" charset="0"/>
                <a:ea typeface="IBM Plex Sans" pitchFamily="34" charset="-122"/>
                <a:cs typeface="IBM Plex Sans" pitchFamily="34" charset="-120"/>
              </a:rPr>
              <a:t>75k</a:t>
            </a:r>
            <a:endParaRPr lang="en-US" sz="1200" dirty="0"/>
          </a:p>
        </p:txBody>
      </p:sp>
      <p:sp>
        <p:nvSpPr>
          <p:cNvPr id="21" name="Text 18"/>
          <p:cNvSpPr/>
          <p:nvPr/>
        </p:nvSpPr>
        <p:spPr>
          <a:xfrm>
            <a:off x="6841903" y="5181600"/>
            <a:ext cx="854297"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C6672"/>
                </a:solidFill>
                <a:latin typeface="IBM Plex Sans" pitchFamily="34" charset="0"/>
                <a:ea typeface="IBM Plex Sans" pitchFamily="34" charset="-122"/>
                <a:cs typeface="IBM Plex Sans" pitchFamily="34" charset="-120"/>
              </a:rPr>
              <a:t>100k ticks</a:t>
            </a:r>
            <a:endParaRPr lang="en-US" sz="1200" dirty="0"/>
          </a:p>
        </p:txBody>
      </p:sp>
      <p:sp>
        <p:nvSpPr>
          <p:cNvPr id="22" name="Text 19"/>
          <p:cNvSpPr/>
          <p:nvPr/>
        </p:nvSpPr>
        <p:spPr>
          <a:xfrm>
            <a:off x="7772400" y="1981200"/>
            <a:ext cx="508000" cy="177800"/>
          </a:xfrm>
          <a:prstGeom prst="rect">
            <a:avLst/>
          </a:prstGeom>
          <a:noFill/>
          <a:ln/>
        </p:spPr>
        <p:txBody>
          <a:bodyPr wrap="square" lIns="0" tIns="0" rIns="0" bIns="0" rtlCol="0" anchor="t">
            <a:normAutofit/>
          </a:bodyPr>
          <a:lstStyle/>
          <a:p>
            <a:pPr marL="0" indent="0" algn="l">
              <a:lnSpc>
                <a:spcPts val="1200"/>
              </a:lnSpc>
              <a:buNone/>
            </a:pPr>
            <a:r>
              <a:rPr lang="en-US" sz="1200" dirty="0">
                <a:solidFill>
                  <a:srgbClr val="1C6E8C"/>
                </a:solidFill>
                <a:latin typeface="IBM Plex Sans" pitchFamily="34" charset="0"/>
                <a:ea typeface="IBM Plex Sans" pitchFamily="34" charset="-122"/>
                <a:cs typeface="IBM Plex Sans" pitchFamily="34" charset="-120"/>
              </a:rPr>
              <a:t>3</a:t>
            </a:r>
            <a:endParaRPr lang="en-US" sz="1200" dirty="0"/>
          </a:p>
        </p:txBody>
      </p:sp>
      <p:sp>
        <p:nvSpPr>
          <p:cNvPr id="23" name="Text 20"/>
          <p:cNvSpPr/>
          <p:nvPr/>
        </p:nvSpPr>
        <p:spPr>
          <a:xfrm>
            <a:off x="7772400" y="2997200"/>
            <a:ext cx="508000" cy="177800"/>
          </a:xfrm>
          <a:prstGeom prst="rect">
            <a:avLst/>
          </a:prstGeom>
          <a:noFill/>
          <a:ln/>
        </p:spPr>
        <p:txBody>
          <a:bodyPr wrap="square" lIns="0" tIns="0" rIns="0" bIns="0" rtlCol="0" anchor="t">
            <a:normAutofit/>
          </a:bodyPr>
          <a:lstStyle/>
          <a:p>
            <a:pPr marL="0" indent="0" algn="l">
              <a:lnSpc>
                <a:spcPts val="1200"/>
              </a:lnSpc>
              <a:buNone/>
            </a:pPr>
            <a:r>
              <a:rPr lang="en-US" sz="1200" dirty="0">
                <a:solidFill>
                  <a:srgbClr val="1C6E8C"/>
                </a:solidFill>
                <a:latin typeface="IBM Plex Sans" pitchFamily="34" charset="0"/>
                <a:ea typeface="IBM Plex Sans" pitchFamily="34" charset="-122"/>
                <a:cs typeface="IBM Plex Sans" pitchFamily="34" charset="-120"/>
              </a:rPr>
              <a:t>2</a:t>
            </a:r>
            <a:endParaRPr lang="en-US" sz="1200" dirty="0"/>
          </a:p>
        </p:txBody>
      </p:sp>
      <p:sp>
        <p:nvSpPr>
          <p:cNvPr id="24" name="Text 21"/>
          <p:cNvSpPr/>
          <p:nvPr/>
        </p:nvSpPr>
        <p:spPr>
          <a:xfrm>
            <a:off x="7772400" y="4013200"/>
            <a:ext cx="508000" cy="177800"/>
          </a:xfrm>
          <a:prstGeom prst="rect">
            <a:avLst/>
          </a:prstGeom>
          <a:noFill/>
          <a:ln/>
        </p:spPr>
        <p:txBody>
          <a:bodyPr wrap="square" lIns="0" tIns="0" rIns="0" bIns="0" rtlCol="0" anchor="t">
            <a:normAutofit/>
          </a:bodyPr>
          <a:lstStyle/>
          <a:p>
            <a:pPr marL="0" indent="0" algn="l">
              <a:lnSpc>
                <a:spcPts val="1200"/>
              </a:lnSpc>
              <a:buNone/>
            </a:pPr>
            <a:r>
              <a:rPr lang="en-US" sz="1200" dirty="0">
                <a:solidFill>
                  <a:srgbClr val="1C6E8C"/>
                </a:solidFill>
                <a:latin typeface="IBM Plex Sans" pitchFamily="34" charset="0"/>
                <a:ea typeface="IBM Plex Sans" pitchFamily="34" charset="-122"/>
                <a:cs typeface="IBM Plex Sans" pitchFamily="34" charset="-120"/>
              </a:rPr>
              <a:t>1</a:t>
            </a:r>
            <a:endParaRPr lang="en-US" sz="1200" dirty="0"/>
          </a:p>
        </p:txBody>
      </p:sp>
      <p:sp>
        <p:nvSpPr>
          <p:cNvPr id="25" name="Text 22"/>
          <p:cNvSpPr/>
          <p:nvPr/>
        </p:nvSpPr>
        <p:spPr>
          <a:xfrm>
            <a:off x="7772400" y="5029200"/>
            <a:ext cx="508000" cy="177800"/>
          </a:xfrm>
          <a:prstGeom prst="rect">
            <a:avLst/>
          </a:prstGeom>
          <a:noFill/>
          <a:ln/>
        </p:spPr>
        <p:txBody>
          <a:bodyPr wrap="square" lIns="0" tIns="0" rIns="0" bIns="0" rtlCol="0" anchor="t">
            <a:normAutofit/>
          </a:bodyPr>
          <a:lstStyle/>
          <a:p>
            <a:pPr marL="0" indent="0" algn="l">
              <a:lnSpc>
                <a:spcPts val="1200"/>
              </a:lnSpc>
              <a:buNone/>
            </a:pPr>
            <a:r>
              <a:rPr lang="en-US" sz="1200" dirty="0">
                <a:solidFill>
                  <a:srgbClr val="1C6E8C"/>
                </a:solidFill>
                <a:latin typeface="IBM Plex Sans" pitchFamily="34" charset="0"/>
                <a:ea typeface="IBM Plex Sans" pitchFamily="34" charset="-122"/>
                <a:cs typeface="IBM Plex Sans" pitchFamily="34" charset="-120"/>
              </a:rPr>
              <a:t>0</a:t>
            </a:r>
            <a:endParaRPr lang="en-US" sz="1200" dirty="0"/>
          </a:p>
        </p:txBody>
      </p:sp>
      <p:sp>
        <p:nvSpPr>
          <p:cNvPr id="26" name="Text 23"/>
          <p:cNvSpPr/>
          <p:nvPr/>
        </p:nvSpPr>
        <p:spPr>
          <a:xfrm>
            <a:off x="8483600" y="1793242"/>
            <a:ext cx="2982468" cy="416560"/>
          </a:xfrm>
          <a:prstGeom prst="rect">
            <a:avLst/>
          </a:prstGeom>
          <a:noFill/>
          <a:ln/>
        </p:spPr>
        <p:txBody>
          <a:bodyPr wrap="square" lIns="0" tIns="0" rIns="0" bIns="0" rtlCol="0" anchor="t">
            <a:normAutofit/>
          </a:bodyPr>
          <a:lstStyle/>
          <a:p>
            <a:pPr marL="0" indent="0" algn="l">
              <a:lnSpc>
                <a:spcPts val="3080"/>
              </a:lnSpc>
              <a:buNone/>
            </a:pPr>
            <a:r>
              <a:rPr lang="en-US" sz="2800" b="1" dirty="0">
                <a:solidFill>
                  <a:srgbClr val="1C6E8C"/>
                </a:solidFill>
                <a:latin typeface="Space Grotesk" pitchFamily="34" charset="0"/>
                <a:ea typeface="Space Grotesk" pitchFamily="34" charset="-122"/>
                <a:cs typeface="Space Grotesk" pitchFamily="34" charset="-120"/>
              </a:rPr>
              <a:t>1.00</a:t>
            </a:r>
            <a:endParaRPr lang="en-US" sz="2800" dirty="0"/>
          </a:p>
        </p:txBody>
      </p:sp>
      <p:sp>
        <p:nvSpPr>
          <p:cNvPr id="27" name="Text 24"/>
          <p:cNvSpPr/>
          <p:nvPr/>
        </p:nvSpPr>
        <p:spPr>
          <a:xfrm>
            <a:off x="8483600" y="2209800"/>
            <a:ext cx="2982468" cy="25654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5C6672"/>
                </a:solidFill>
                <a:latin typeface="IBM Plex Sans" pitchFamily="34" charset="0"/>
                <a:ea typeface="IBM Plex Sans" pitchFamily="34" charset="-122"/>
                <a:cs typeface="IBM Plex Sans" pitchFamily="34" charset="-120"/>
              </a:rPr>
              <a:t>mouths per zebra, never changed</a:t>
            </a:r>
            <a:endParaRPr lang="en-US" sz="1300" dirty="0"/>
          </a:p>
        </p:txBody>
      </p:sp>
      <p:sp>
        <p:nvSpPr>
          <p:cNvPr id="28" name="Text 25"/>
          <p:cNvSpPr/>
          <p:nvPr/>
        </p:nvSpPr>
        <p:spPr>
          <a:xfrm>
            <a:off x="8483600" y="2618742"/>
            <a:ext cx="2982468" cy="416560"/>
          </a:xfrm>
          <a:prstGeom prst="rect">
            <a:avLst/>
          </a:prstGeom>
          <a:noFill/>
          <a:ln/>
        </p:spPr>
        <p:txBody>
          <a:bodyPr wrap="square" lIns="0" tIns="0" rIns="0" bIns="0" rtlCol="0" anchor="t">
            <a:normAutofit/>
          </a:bodyPr>
          <a:lstStyle/>
          <a:p>
            <a:pPr marL="0" indent="0" algn="l">
              <a:lnSpc>
                <a:spcPts val="3080"/>
              </a:lnSpc>
              <a:buNone/>
            </a:pPr>
            <a:r>
              <a:rPr lang="en-US" sz="2800" b="1" dirty="0">
                <a:solidFill>
                  <a:srgbClr val="16202A"/>
                </a:solidFill>
                <a:latin typeface="Space Grotesk" pitchFamily="34" charset="0"/>
                <a:ea typeface="Space Grotesk" pitchFamily="34" charset="-122"/>
                <a:cs typeface="Space Grotesk" pitchFamily="34" charset="-120"/>
              </a:rPr>
              <a:t>55,900</a:t>
            </a:r>
            <a:endParaRPr lang="en-US" sz="2800" dirty="0"/>
          </a:p>
        </p:txBody>
      </p:sp>
      <p:sp>
        <p:nvSpPr>
          <p:cNvPr id="29" name="Text 26"/>
          <p:cNvSpPr/>
          <p:nvPr/>
        </p:nvSpPr>
        <p:spPr>
          <a:xfrm>
            <a:off x="8483600" y="3035300"/>
            <a:ext cx="2982468" cy="4876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5C6672"/>
                </a:solidFill>
                <a:latin typeface="IBM Plex Sans" pitchFamily="34" charset="0"/>
                <a:ea typeface="IBM Plex Sans" pitchFamily="34" charset="-122"/>
                <a:cs typeface="IBM Plex Sans" pitchFamily="34" charset="-120"/>
              </a:rPr>
              <a:t>zebras extinct (dashed line) after a peak of 136</a:t>
            </a:r>
            <a:endParaRPr lang="en-US" sz="1300" dirty="0"/>
          </a:p>
        </p:txBody>
      </p:sp>
      <p:sp>
        <p:nvSpPr>
          <p:cNvPr id="30" name="Text 27"/>
          <p:cNvSpPr/>
          <p:nvPr/>
        </p:nvSpPr>
        <p:spPr>
          <a:xfrm>
            <a:off x="8483600" y="3675385"/>
            <a:ext cx="2982468" cy="416560"/>
          </a:xfrm>
          <a:prstGeom prst="rect">
            <a:avLst/>
          </a:prstGeom>
          <a:noFill/>
          <a:ln/>
        </p:spPr>
        <p:txBody>
          <a:bodyPr wrap="square" lIns="0" tIns="0" rIns="0" bIns="0" rtlCol="0" anchor="t">
            <a:normAutofit/>
          </a:bodyPr>
          <a:lstStyle/>
          <a:p>
            <a:pPr marL="0" indent="0" algn="l">
              <a:lnSpc>
                <a:spcPts val="3080"/>
              </a:lnSpc>
              <a:buNone/>
            </a:pPr>
            <a:r>
              <a:rPr lang="en-US" sz="2800" b="1" dirty="0">
                <a:solidFill>
                  <a:srgbClr val="1E8A44"/>
                </a:solidFill>
                <a:latin typeface="Space Grotesk" pitchFamily="34" charset="0"/>
                <a:ea typeface="Space Grotesk" pitchFamily="34" charset="-122"/>
                <a:cs typeface="Space Grotesk" pitchFamily="34" charset="-120"/>
              </a:rPr>
              <a:t>947 plants</a:t>
            </a:r>
            <a:endParaRPr lang="en-US" sz="2800" dirty="0"/>
          </a:p>
        </p:txBody>
      </p:sp>
      <p:sp>
        <p:nvSpPr>
          <p:cNvPr id="31" name="Text 28"/>
          <p:cNvSpPr/>
          <p:nvPr/>
        </p:nvSpPr>
        <p:spPr>
          <a:xfrm>
            <a:off x="8483600" y="4091942"/>
            <a:ext cx="2982468" cy="4876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5C6672"/>
                </a:solidFill>
                <a:latin typeface="IBM Plex Sans" pitchFamily="34" charset="0"/>
                <a:ea typeface="IBM Plex Sans" pitchFamily="34" charset="-122"/>
                <a:cs typeface="IBM Plex Sans" pitchFamily="34" charset="-120"/>
              </a:rPr>
              <a:t>grass and bushes still alive at tick 40,000</a:t>
            </a:r>
            <a:endParaRPr lang="en-US" sz="1300" dirty="0"/>
          </a:p>
        </p:txBody>
      </p:sp>
      <p:sp>
        <p:nvSpPr>
          <p:cNvPr id="32" name="Text 29"/>
          <p:cNvSpPr/>
          <p:nvPr/>
        </p:nvSpPr>
        <p:spPr>
          <a:xfrm>
            <a:off x="8483600" y="4732027"/>
            <a:ext cx="2982468" cy="416560"/>
          </a:xfrm>
          <a:prstGeom prst="rect">
            <a:avLst/>
          </a:prstGeom>
          <a:noFill/>
          <a:ln/>
        </p:spPr>
        <p:txBody>
          <a:bodyPr wrap="square" lIns="0" tIns="0" rIns="0" bIns="0" rtlCol="0" anchor="t">
            <a:normAutofit/>
          </a:bodyPr>
          <a:lstStyle/>
          <a:p>
            <a:pPr marL="0" indent="0" algn="l">
              <a:lnSpc>
                <a:spcPts val="3080"/>
              </a:lnSpc>
              <a:buNone/>
            </a:pPr>
            <a:r>
              <a:rPr lang="en-US" sz="2800" b="1" dirty="0">
                <a:solidFill>
                  <a:srgbClr val="8A5A0B"/>
                </a:solidFill>
                <a:latin typeface="Space Grotesk" pitchFamily="34" charset="0"/>
                <a:ea typeface="Space Grotesk" pitchFamily="34" charset="-122"/>
                <a:cs typeface="Space Grotesk" pitchFamily="34" charset="-120"/>
              </a:rPr>
              <a:t>Old age</a:t>
            </a:r>
            <a:endParaRPr lang="en-US" sz="2800" dirty="0"/>
          </a:p>
        </p:txBody>
      </p:sp>
      <p:sp>
        <p:nvSpPr>
          <p:cNvPr id="33" name="Text 30"/>
          <p:cNvSpPr/>
          <p:nvPr/>
        </p:nvSpPr>
        <p:spPr>
          <a:xfrm>
            <a:off x="8483600" y="5148585"/>
            <a:ext cx="2982468" cy="4876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5C6672"/>
                </a:solidFill>
                <a:latin typeface="IBM Plex Sans" pitchFamily="34" charset="0"/>
                <a:ea typeface="IBM Plex Sans" pitchFamily="34" charset="-122"/>
                <a:cs typeface="IBM Plex Sans" pitchFamily="34" charset="-120"/>
              </a:rPr>
              <a:t>main cause of zebra deaths, not starvation</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3F0E8"/>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540"/>
          </a:xfrm>
          <a:prstGeom prst="rect">
            <a:avLst/>
          </a:prstGeom>
          <a:noFill/>
          <a:ln/>
        </p:spPr>
        <p:txBody>
          <a:bodyPr wrap="square" lIns="0" tIns="0" rIns="0" bIns="0" rtlCol="0" anchor="t">
            <a:normAutofit/>
          </a:bodyPr>
          <a:lstStyle/>
          <a:p>
            <a:pPr marL="0" indent="0" algn="l">
              <a:lnSpc>
                <a:spcPts val="1820"/>
              </a:lnSpc>
              <a:buNone/>
            </a:pPr>
            <a:r>
              <a:rPr lang="en-US" sz="1300" b="1" kern="0" spc="150" dirty="0">
                <a:solidFill>
                  <a:srgbClr val="8A5A0B"/>
                </a:solidFill>
                <a:latin typeface="IBM Plex Sans" pitchFamily="34" charset="0"/>
                <a:ea typeface="IBM Plex Sans" pitchFamily="34" charset="-122"/>
                <a:cs typeface="IBM Plex Sans" pitchFamily="34" charset="-120"/>
              </a:rPr>
              <a:t>EFFECTS ON BEHAVIOUR</a:t>
            </a:r>
            <a:endParaRPr lang="en-US" sz="1300" dirty="0"/>
          </a:p>
        </p:txBody>
      </p:sp>
      <p:sp>
        <p:nvSpPr>
          <p:cNvPr id="3" name="Text 1"/>
          <p:cNvSpPr>
            <a:spLocks noGrp="1"/>
          </p:cNvSpPr>
          <p:nvPr>
            <p:ph type="title"/>
          </p:nvPr>
        </p:nvSpPr>
        <p:spPr>
          <a:xfrm>
            <a:off x="812800" y="1120142"/>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6202A"/>
                </a:solidFill>
                <a:latin typeface="Space Grotesk" pitchFamily="34" charset="0"/>
                <a:ea typeface="Space Grotesk" pitchFamily="34" charset="-122"/>
                <a:cs typeface="Space Grotesk" pitchFamily="34" charset="-120"/>
              </a:rPr>
              <a:t>What each species did, before and after</a:t>
            </a:r>
            <a:endParaRPr lang="en-US" sz="30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2960" y="1803402"/>
          <a:ext cx="10556240" cy="2913380"/>
        </p:xfrm>
        <a:graphic>
          <a:graphicData uri="http://schemas.openxmlformats.org/drawingml/2006/table">
            <a:tbl>
              <a:tblPr/>
              <a:tblGrid>
                <a:gridCol w="1477874">
                  <a:extLst>
                    <a:ext uri="{9D8B030D-6E8A-4147-A177-3AD203B41FA5}">
                      <a16:colId xmlns:a16="http://schemas.microsoft.com/office/drawing/2014/main" val="20000"/>
                    </a:ext>
                  </a:extLst>
                </a:gridCol>
                <a:gridCol w="4011371">
                  <a:extLst>
                    <a:ext uri="{9D8B030D-6E8A-4147-A177-3AD203B41FA5}">
                      <a16:colId xmlns:a16="http://schemas.microsoft.com/office/drawing/2014/main" val="20001"/>
                    </a:ext>
                  </a:extLst>
                </a:gridCol>
                <a:gridCol w="5066995">
                  <a:extLst>
                    <a:ext uri="{9D8B030D-6E8A-4147-A177-3AD203B41FA5}">
                      <a16:colId xmlns:a16="http://schemas.microsoft.com/office/drawing/2014/main" val="20002"/>
                    </a:ext>
                  </a:extLst>
                </a:gridCol>
              </a:tblGrid>
              <a:tr h="383540">
                <a:tc>
                  <a:txBody>
                    <a:bodyPr/>
                    <a:lstStyle/>
                    <a:p>
                      <a:pPr marL="0" indent="0">
                        <a:lnSpc>
                          <a:spcPts val="1960"/>
                        </a:lnSpc>
                        <a:buNone/>
                      </a:pPr>
                      <a:r>
                        <a:rPr lang="en-US" sz="1400" b="1" dirty="0">
                          <a:solidFill>
                            <a:srgbClr val="F3F0E8"/>
                          </a:solidFill>
                          <a:latin typeface="IBM Plex Sans" pitchFamily="34" charset="0"/>
                          <a:ea typeface="IBM Plex Sans" pitchFamily="34" charset="-122"/>
                          <a:cs typeface="IBM Plex Sans" pitchFamily="34" charset="-120"/>
                        </a:rPr>
                        <a:t>Species</a:t>
                      </a:r>
                      <a:endParaRPr lang="en-US" sz="1400" dirty="0">
                        <a:latin typeface="IBM Plex Sans" charset="0"/>
                        <a:ea typeface="IBM Plex Sans" charset="0"/>
                        <a:cs typeface="IBM Plex Sans" charset="0"/>
                      </a:endParaRPr>
                    </a:p>
                  </a:txBody>
                  <a:tcPr marL="62230" marR="62230" marT="62230" marB="62230">
                    <a:lnL w="12700" cap="flat" cmpd="sng" algn="ctr">
                      <a:solidFill>
                        <a:srgbClr val="C2C0B9"/>
                      </a:solidFill>
                      <a:prstDash val="solid"/>
                      <a:round/>
                      <a:headEnd type="none" w="med" len="med"/>
                      <a:tailEnd type="none" w="med" len="med"/>
                    </a:lnL>
                    <a:lnR w="12700" cap="flat" cmpd="sng" algn="ctr">
                      <a:solidFill>
                        <a:srgbClr val="161D25"/>
                      </a:solidFill>
                      <a:prstDash val="solid"/>
                      <a:round/>
                      <a:headEnd type="none" w="med" len="med"/>
                      <a:tailEnd type="none" w="med" len="med"/>
                    </a:lnR>
                    <a:lnT w="12700" cap="flat" cmpd="sng" algn="ctr">
                      <a:solidFill>
                        <a:srgbClr val="C2C0B9"/>
                      </a:solidFill>
                      <a:prstDash val="solid"/>
                      <a:round/>
                      <a:headEnd type="none" w="med" len="med"/>
                      <a:tailEnd type="none" w="med" len="med"/>
                    </a:lnT>
                    <a:lnB w="12700" cap="flat" cmpd="sng" algn="ctr">
                      <a:solidFill>
                        <a:srgbClr val="161D25"/>
                      </a:solidFill>
                      <a:prstDash val="solid"/>
                      <a:round/>
                      <a:headEnd type="none" w="med" len="med"/>
                      <a:tailEnd type="none" w="med" len="med"/>
                    </a:lnB>
                    <a:solidFill>
                      <a:srgbClr val="16202A"/>
                    </a:solidFill>
                  </a:tcPr>
                </a:tc>
                <a:tc>
                  <a:txBody>
                    <a:bodyPr/>
                    <a:lstStyle/>
                    <a:p>
                      <a:pPr marL="0" indent="0">
                        <a:lnSpc>
                          <a:spcPts val="1960"/>
                        </a:lnSpc>
                        <a:buNone/>
                      </a:pPr>
                      <a:r>
                        <a:rPr lang="en-US" sz="1400" b="1" dirty="0">
                          <a:solidFill>
                            <a:srgbClr val="DEB14D"/>
                          </a:solidFill>
                          <a:latin typeface="IBM Plex Sans" pitchFamily="34" charset="0"/>
                          <a:ea typeface="IBM Plex Sans" pitchFamily="34" charset="-122"/>
                          <a:cs typeface="IBM Plex Sans" pitchFamily="34" charset="-120"/>
                        </a:rPr>
                        <a:t>Before (base engine)</a:t>
                      </a:r>
                      <a:endParaRPr lang="en-US" sz="1400" dirty="0">
                        <a:latin typeface="IBM Plex Sans" charset="0"/>
                        <a:ea typeface="IBM Plex Sans" charset="0"/>
                        <a:cs typeface="IBM Plex Sans" charset="0"/>
                      </a:endParaRPr>
                    </a:p>
                  </a:txBody>
                  <a:tcPr marL="62230" marR="62230" marT="62230" marB="62230">
                    <a:lnL w="12700" cap="flat" cmpd="sng" algn="ctr">
                      <a:solidFill>
                        <a:srgbClr val="161D25"/>
                      </a:solidFill>
                      <a:prstDash val="solid"/>
                      <a:round/>
                      <a:headEnd type="none" w="med" len="med"/>
                      <a:tailEnd type="none" w="med" len="med"/>
                    </a:lnL>
                    <a:lnR w="12700" cap="flat" cmpd="sng" algn="ctr">
                      <a:solidFill>
                        <a:srgbClr val="161D25"/>
                      </a:solidFill>
                      <a:prstDash val="solid"/>
                      <a:round/>
                      <a:headEnd type="none" w="med" len="med"/>
                      <a:tailEnd type="none" w="med" len="med"/>
                    </a:lnR>
                    <a:lnT w="12700" cap="flat" cmpd="sng" algn="ctr">
                      <a:solidFill>
                        <a:srgbClr val="C2C0B9"/>
                      </a:solidFill>
                      <a:prstDash val="solid"/>
                      <a:round/>
                      <a:headEnd type="none" w="med" len="med"/>
                      <a:tailEnd type="none" w="med" len="med"/>
                    </a:lnT>
                    <a:lnB w="12700" cap="flat" cmpd="sng" algn="ctr">
                      <a:solidFill>
                        <a:srgbClr val="161D25"/>
                      </a:solidFill>
                      <a:prstDash val="solid"/>
                      <a:round/>
                      <a:headEnd type="none" w="med" len="med"/>
                      <a:tailEnd type="none" w="med" len="med"/>
                    </a:lnB>
                    <a:solidFill>
                      <a:srgbClr val="16202A"/>
                    </a:solidFill>
                  </a:tcPr>
                </a:tc>
                <a:tc>
                  <a:txBody>
                    <a:bodyPr/>
                    <a:lstStyle/>
                    <a:p>
                      <a:pPr marL="0" indent="0">
                        <a:lnSpc>
                          <a:spcPts val="1960"/>
                        </a:lnSpc>
                        <a:buNone/>
                      </a:pPr>
                      <a:r>
                        <a:rPr lang="en-US" sz="1400" b="1" dirty="0">
                          <a:solidFill>
                            <a:srgbClr val="60D4FF"/>
                          </a:solidFill>
                          <a:latin typeface="IBM Plex Sans" pitchFamily="34" charset="0"/>
                          <a:ea typeface="IBM Plex Sans" pitchFamily="34" charset="-122"/>
                          <a:cs typeface="IBM Plex Sans" pitchFamily="34" charset="-120"/>
                        </a:rPr>
                        <a:t>After (savanna engine)</a:t>
                      </a:r>
                      <a:endParaRPr lang="en-US" sz="1400" dirty="0">
                        <a:latin typeface="IBM Plex Sans" charset="0"/>
                        <a:ea typeface="IBM Plex Sans" charset="0"/>
                        <a:cs typeface="IBM Plex Sans" charset="0"/>
                      </a:endParaRPr>
                    </a:p>
                  </a:txBody>
                  <a:tcPr marL="62230" marR="62230" marT="62230" marB="62230">
                    <a:lnL w="12700" cap="flat" cmpd="sng" algn="ctr">
                      <a:solidFill>
                        <a:srgbClr val="161D25"/>
                      </a:solidFill>
                      <a:prstDash val="solid"/>
                      <a:round/>
                      <a:headEnd type="none" w="med" len="med"/>
                      <a:tailEnd type="none" w="med" len="med"/>
                    </a:lnL>
                    <a:lnR w="12700" cap="flat" cmpd="sng" algn="ctr">
                      <a:solidFill>
                        <a:srgbClr val="161D25"/>
                      </a:solidFill>
                      <a:prstDash val="solid"/>
                      <a:round/>
                      <a:headEnd type="none" w="med" len="med"/>
                      <a:tailEnd type="none" w="med" len="med"/>
                    </a:lnR>
                    <a:lnT w="12700" cap="flat" cmpd="sng" algn="ctr">
                      <a:solidFill>
                        <a:srgbClr val="C2C0B9"/>
                      </a:solidFill>
                      <a:prstDash val="solid"/>
                      <a:round/>
                      <a:headEnd type="none" w="med" len="med"/>
                      <a:tailEnd type="none" w="med" len="med"/>
                    </a:lnT>
                    <a:lnB w="12700" cap="flat" cmpd="sng" algn="ctr">
                      <a:solidFill>
                        <a:srgbClr val="161D25"/>
                      </a:solidFill>
                      <a:prstDash val="solid"/>
                      <a:round/>
                      <a:headEnd type="none" w="med" len="med"/>
                      <a:tailEnd type="none" w="med" len="med"/>
                    </a:lnB>
                    <a:solidFill>
                      <a:srgbClr val="16202A"/>
                    </a:solidFill>
                  </a:tcPr>
                </a:tc>
                <a:extLst>
                  <a:ext uri="{0D108BD9-81ED-4DB2-BD59-A6C34878D82A}">
                    <a16:rowId xmlns:a16="http://schemas.microsoft.com/office/drawing/2014/main" val="10000"/>
                  </a:ext>
                </a:extLst>
              </a:tr>
              <a:tr h="632460">
                <a:tc>
                  <a:txBody>
                    <a:bodyPr/>
                    <a:lstStyle/>
                    <a:p>
                      <a:pPr marL="0" indent="0">
                        <a:lnSpc>
                          <a:spcPts val="1960"/>
                        </a:lnSpc>
                        <a:buNone/>
                      </a:pPr>
                      <a:r>
                        <a:rPr lang="en-US" sz="1400" dirty="0">
                          <a:solidFill>
                            <a:srgbClr val="16202A"/>
                          </a:solidFill>
                          <a:latin typeface="IBM Plex Sans" pitchFamily="34" charset="0"/>
                          <a:ea typeface="IBM Plex Sans" pitchFamily="34" charset="-122"/>
                          <a:cs typeface="IBM Plex Sans" pitchFamily="34" charset="-120"/>
                        </a:rPr>
                        <a:t>Zebras</a:t>
                      </a:r>
                      <a:endParaRPr lang="en-US" sz="1400" dirty="0">
                        <a:latin typeface="IBM Plex Sans" charset="0"/>
                        <a:ea typeface="IBM Plex Sans" charset="0"/>
                        <a:cs typeface="IBM Plex Sans" charset="0"/>
                      </a:endParaRPr>
                    </a:p>
                  </a:txBody>
                  <a:tcPr marL="62230" marR="62230" marT="62230" marB="62230">
                    <a:lnL w="12700" cap="flat" cmpd="sng" algn="ctr">
                      <a:solidFill>
                        <a:srgbClr val="C2C0B9"/>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161D25"/>
                      </a:solidFill>
                      <a:prstDash val="solid"/>
                      <a:round/>
                      <a:headEnd type="none" w="med" len="med"/>
                      <a:tailEnd type="none" w="med" len="med"/>
                    </a:lnT>
                    <a:lnB w="12700" cap="flat" cmpd="sng" algn="ctr">
                      <a:solidFill>
                        <a:srgbClr val="C8C7C4"/>
                      </a:solidFill>
                      <a:prstDash val="solid"/>
                      <a:round/>
                      <a:headEnd type="none" w="med" len="med"/>
                      <a:tailEnd type="none" w="med" len="med"/>
                    </a:lnB>
                    <a:solidFill>
                      <a:srgbClr val="FBFAF6"/>
                    </a:solidFill>
                  </a:tcPr>
                </a:tc>
                <a:tc>
                  <a:txBody>
                    <a:bodyPr/>
                    <a:lstStyle/>
                    <a:p>
                      <a:pPr marL="0" indent="0">
                        <a:lnSpc>
                          <a:spcPts val="1960"/>
                        </a:lnSpc>
                        <a:buNone/>
                      </a:pPr>
                      <a:r>
                        <a:rPr lang="en-US" sz="1400" dirty="0">
                          <a:solidFill>
                            <a:srgbClr val="16202A"/>
                          </a:solidFill>
                          <a:latin typeface="IBM Plex Sans" pitchFamily="34" charset="0"/>
                          <a:ea typeface="IBM Plex Sans" pitchFamily="34" charset="-122"/>
                          <a:cs typeface="IBM Plex Sans" pitchFamily="34" charset="-120"/>
                        </a:rPr>
                        <a:t>Evolved killer cells that ate plants as food, boomed, then destroyed every plant</a:t>
                      </a:r>
                      <a:endParaRPr lang="en-US" sz="1400" dirty="0">
                        <a:latin typeface="IBM Plex Sans" charset="0"/>
                        <a:ea typeface="IBM Plex Sans" charset="0"/>
                        <a:cs typeface="IBM Plex Sans" charset="0"/>
                      </a:endParaRPr>
                    </a:p>
                  </a:txBody>
                  <a:tcPr marL="62230" marR="62230" marT="62230" marB="62230">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161D25"/>
                      </a:solidFill>
                      <a:prstDash val="solid"/>
                      <a:round/>
                      <a:headEnd type="none" w="med" len="med"/>
                      <a:tailEnd type="none" w="med" len="med"/>
                    </a:lnT>
                    <a:lnB w="12700" cap="flat" cmpd="sng" algn="ctr">
                      <a:solidFill>
                        <a:srgbClr val="C8C7C4"/>
                      </a:solidFill>
                      <a:prstDash val="solid"/>
                      <a:round/>
                      <a:headEnd type="none" w="med" len="med"/>
                      <a:tailEnd type="none" w="med" len="med"/>
                    </a:lnB>
                    <a:solidFill>
                      <a:srgbClr val="FBFAF6"/>
                    </a:solidFill>
                  </a:tcPr>
                </a:tc>
                <a:tc>
                  <a:txBody>
                    <a:bodyPr/>
                    <a:lstStyle/>
                    <a:p>
                      <a:pPr marL="0" indent="0">
                        <a:lnSpc>
                          <a:spcPts val="1960"/>
                        </a:lnSpc>
                        <a:buNone/>
                      </a:pPr>
                      <a:r>
                        <a:rPr lang="en-US" sz="1400" dirty="0">
                          <a:solidFill>
                            <a:srgbClr val="16202A"/>
                          </a:solidFill>
                          <a:latin typeface="IBM Plex Sans" pitchFamily="34" charset="0"/>
                          <a:ea typeface="IBM Plex Sans" pitchFamily="34" charset="-122"/>
                          <a:cs typeface="IBM Plex Sans" pitchFamily="34" charset="-120"/>
                        </a:rPr>
                        <a:t>Grazed; in surviving lineages swapped defences for a second mouth: eyes 2.0 → 0.49, stripes 2.0 → 0.02, kick 1 → 0</a:t>
                      </a:r>
                      <a:endParaRPr lang="en-US" sz="1400" dirty="0">
                        <a:latin typeface="IBM Plex Sans" charset="0"/>
                        <a:ea typeface="IBM Plex Sans" charset="0"/>
                        <a:cs typeface="IBM Plex Sans" charset="0"/>
                      </a:endParaRPr>
                    </a:p>
                  </a:txBody>
                  <a:tcPr marL="62230" marR="62230" marT="62230" marB="62230">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161D25"/>
                      </a:solidFill>
                      <a:prstDash val="solid"/>
                      <a:round/>
                      <a:headEnd type="none" w="med" len="med"/>
                      <a:tailEnd type="none" w="med" len="med"/>
                    </a:lnT>
                    <a:lnB w="12700" cap="flat" cmpd="sng" algn="ctr">
                      <a:solidFill>
                        <a:srgbClr val="C8C7C4"/>
                      </a:solidFill>
                      <a:prstDash val="solid"/>
                      <a:round/>
                      <a:headEnd type="none" w="med" len="med"/>
                      <a:tailEnd type="none" w="med" len="med"/>
                    </a:lnB>
                    <a:solidFill>
                      <a:srgbClr val="FBFAF6"/>
                    </a:solidFill>
                  </a:tcPr>
                </a:tc>
                <a:extLst>
                  <a:ext uri="{0D108BD9-81ED-4DB2-BD59-A6C34878D82A}">
                    <a16:rowId xmlns:a16="http://schemas.microsoft.com/office/drawing/2014/main" val="10001"/>
                  </a:ext>
                </a:extLst>
              </a:tr>
              <a:tr h="632460">
                <a:tc>
                  <a:txBody>
                    <a:bodyPr/>
                    <a:lstStyle/>
                    <a:p>
                      <a:pPr marL="0" indent="0">
                        <a:lnSpc>
                          <a:spcPts val="1960"/>
                        </a:lnSpc>
                        <a:buNone/>
                      </a:pPr>
                      <a:r>
                        <a:rPr lang="en-US" sz="1400" dirty="0">
                          <a:solidFill>
                            <a:srgbClr val="16202A"/>
                          </a:solidFill>
                          <a:latin typeface="IBM Plex Sans" pitchFamily="34" charset="0"/>
                          <a:ea typeface="IBM Plex Sans" pitchFamily="34" charset="-122"/>
                          <a:cs typeface="IBM Plex Sans" pitchFamily="34" charset="-120"/>
                        </a:rPr>
                        <a:t>Rhinos</a:t>
                      </a:r>
                      <a:endParaRPr lang="en-US" sz="1400" dirty="0">
                        <a:latin typeface="IBM Plex Sans" charset="0"/>
                        <a:ea typeface="IBM Plex Sans" charset="0"/>
                        <a:cs typeface="IBM Plex Sans" charset="0"/>
                      </a:endParaRPr>
                    </a:p>
                  </a:txBody>
                  <a:tcPr marL="62230" marR="62230" marT="62230" marB="62230">
                    <a:lnL w="12700" cap="flat" cmpd="sng" algn="ctr">
                      <a:solidFill>
                        <a:srgbClr val="C2C0B9"/>
                      </a:solidFill>
                      <a:prstDash val="solid"/>
                      <a:round/>
                      <a:headEnd type="none" w="med" len="med"/>
                      <a:tailEnd type="none" w="med" len="med"/>
                    </a:lnL>
                    <a:lnR w="12700" cap="flat" cmpd="sng" algn="ctr">
                      <a:solidFill>
                        <a:srgbClr val="C2C0B9"/>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C2C0B9"/>
                      </a:solidFill>
                      <a:prstDash val="solid"/>
                      <a:round/>
                      <a:headEnd type="none" w="med" len="med"/>
                      <a:tailEnd type="none" w="med" len="med"/>
                    </a:lnB>
                  </a:tcPr>
                </a:tc>
                <a:tc>
                  <a:txBody>
                    <a:bodyPr/>
                    <a:lstStyle/>
                    <a:p>
                      <a:pPr marL="0" indent="0">
                        <a:lnSpc>
                          <a:spcPts val="1960"/>
                        </a:lnSpc>
                        <a:buNone/>
                      </a:pPr>
                      <a:r>
                        <a:rPr lang="en-US" sz="1400" dirty="0">
                          <a:solidFill>
                            <a:srgbClr val="16202A"/>
                          </a:solidFill>
                          <a:latin typeface="IBM Plex Sans" pitchFamily="34" charset="0"/>
                          <a:ea typeface="IBM Plex Sans" pitchFamily="34" charset="-122"/>
                          <a:cs typeface="IBM Plex Sans" pitchFamily="34" charset="-120"/>
                        </a:rPr>
                        <a:t>Died out in every condition; in one harsh seed evolved killers and met all four criteria</a:t>
                      </a:r>
                      <a:endParaRPr lang="en-US" sz="1400" dirty="0">
                        <a:latin typeface="IBM Plex Sans" charset="0"/>
                        <a:ea typeface="IBM Plex Sans" charset="0"/>
                        <a:cs typeface="IBM Plex Sans" charset="0"/>
                      </a:endParaRPr>
                    </a:p>
                  </a:txBody>
                  <a:tcPr marL="62230" marR="62230" marT="62230" marB="62230">
                    <a:lnL w="12700" cap="flat" cmpd="sng" algn="ctr">
                      <a:solidFill>
                        <a:srgbClr val="C2C0B9"/>
                      </a:solidFill>
                      <a:prstDash val="solid"/>
                      <a:round/>
                      <a:headEnd type="none" w="med" len="med"/>
                      <a:tailEnd type="none" w="med" len="med"/>
                    </a:lnL>
                    <a:lnR w="12700" cap="flat" cmpd="sng" algn="ctr">
                      <a:solidFill>
                        <a:srgbClr val="C2C0B9"/>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C2C0B9"/>
                      </a:solidFill>
                      <a:prstDash val="solid"/>
                      <a:round/>
                      <a:headEnd type="none" w="med" len="med"/>
                      <a:tailEnd type="none" w="med" len="med"/>
                    </a:lnB>
                  </a:tcPr>
                </a:tc>
                <a:tc>
                  <a:txBody>
                    <a:bodyPr/>
                    <a:lstStyle/>
                    <a:p>
                      <a:pPr marL="0" indent="0">
                        <a:lnSpc>
                          <a:spcPts val="1960"/>
                        </a:lnSpc>
                        <a:buNone/>
                      </a:pPr>
                      <a:r>
                        <a:rPr lang="en-US" sz="1400" dirty="0">
                          <a:solidFill>
                            <a:srgbClr val="16202A"/>
                          </a:solidFill>
                          <a:latin typeface="IBM Plex Sans" pitchFamily="34" charset="0"/>
                          <a:ea typeface="IBM Plex Sans" pitchFamily="34" charset="-122"/>
                          <a:cs typeface="IBM Plex Sans" pitchFamily="34" charset="-120"/>
                        </a:rPr>
                        <a:t>Rose to 27–80, then aged out: 16 food per calf was too slow to replace themselves</a:t>
                      </a:r>
                      <a:endParaRPr lang="en-US" sz="1400" dirty="0">
                        <a:latin typeface="IBM Plex Sans" charset="0"/>
                        <a:ea typeface="IBM Plex Sans" charset="0"/>
                        <a:cs typeface="IBM Plex Sans" charset="0"/>
                      </a:endParaRPr>
                    </a:p>
                  </a:txBody>
                  <a:tcPr marL="62230" marR="62230" marT="62230" marB="62230">
                    <a:lnL w="12700" cap="flat" cmpd="sng" algn="ctr">
                      <a:solidFill>
                        <a:srgbClr val="C2C0B9"/>
                      </a:solidFill>
                      <a:prstDash val="solid"/>
                      <a:round/>
                      <a:headEnd type="none" w="med" len="med"/>
                      <a:tailEnd type="none" w="med" len="med"/>
                    </a:lnL>
                    <a:lnR w="12700" cap="flat" cmpd="sng" algn="ctr">
                      <a:solidFill>
                        <a:srgbClr val="C2C0B9"/>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C2C0B9"/>
                      </a:solidFill>
                      <a:prstDash val="solid"/>
                      <a:round/>
                      <a:headEnd type="none" w="med" len="med"/>
                      <a:tailEnd type="none" w="med" len="med"/>
                    </a:lnB>
                  </a:tcPr>
                </a:tc>
                <a:extLst>
                  <a:ext uri="{0D108BD9-81ED-4DB2-BD59-A6C34878D82A}">
                    <a16:rowId xmlns:a16="http://schemas.microsoft.com/office/drawing/2014/main" val="10002"/>
                  </a:ext>
                </a:extLst>
              </a:tr>
              <a:tr h="632460">
                <a:tc>
                  <a:txBody>
                    <a:bodyPr/>
                    <a:lstStyle/>
                    <a:p>
                      <a:pPr marL="0" indent="0">
                        <a:lnSpc>
                          <a:spcPts val="1960"/>
                        </a:lnSpc>
                        <a:buNone/>
                      </a:pPr>
                      <a:r>
                        <a:rPr lang="en-US" sz="1400" dirty="0">
                          <a:solidFill>
                            <a:srgbClr val="16202A"/>
                          </a:solidFill>
                          <a:latin typeface="IBM Plex Sans" pitchFamily="34" charset="0"/>
                          <a:ea typeface="IBM Plex Sans" pitchFamily="34" charset="-122"/>
                          <a:cs typeface="IBM Plex Sans" pitchFamily="34" charset="-120"/>
                        </a:rPr>
                        <a:t>Leopards</a:t>
                      </a:r>
                      <a:endParaRPr lang="en-US" sz="1400" dirty="0">
                        <a:latin typeface="IBM Plex Sans" charset="0"/>
                        <a:ea typeface="IBM Plex Sans" charset="0"/>
                        <a:cs typeface="IBM Plex Sans" charset="0"/>
                      </a:endParaRPr>
                    </a:p>
                  </a:txBody>
                  <a:tcPr marL="62230" marR="62230" marT="62230" marB="62230">
                    <a:lnL w="12700" cap="flat" cmpd="sng" algn="ctr">
                      <a:solidFill>
                        <a:srgbClr val="C2C0B9"/>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C2C0B9"/>
                      </a:solidFill>
                      <a:prstDash val="solid"/>
                      <a:round/>
                      <a:headEnd type="none" w="med" len="med"/>
                      <a:tailEnd type="none" w="med" len="med"/>
                    </a:lnT>
                    <a:lnB w="12700" cap="flat" cmpd="sng" algn="ctr">
                      <a:solidFill>
                        <a:srgbClr val="C8C7C4"/>
                      </a:solidFill>
                      <a:prstDash val="solid"/>
                      <a:round/>
                      <a:headEnd type="none" w="med" len="med"/>
                      <a:tailEnd type="none" w="med" len="med"/>
                    </a:lnB>
                    <a:solidFill>
                      <a:srgbClr val="FBFAF6"/>
                    </a:solidFill>
                  </a:tcPr>
                </a:tc>
                <a:tc>
                  <a:txBody>
                    <a:bodyPr/>
                    <a:lstStyle/>
                    <a:p>
                      <a:pPr marL="0" indent="0">
                        <a:lnSpc>
                          <a:spcPts val="1960"/>
                        </a:lnSpc>
                        <a:buNone/>
                      </a:pPr>
                      <a:r>
                        <a:rPr lang="en-US" sz="1400" dirty="0">
                          <a:solidFill>
                            <a:srgbClr val="16202A"/>
                          </a:solidFill>
                          <a:latin typeface="IBM Plex Sans" pitchFamily="34" charset="0"/>
                          <a:ea typeface="IBM Plex Sans" pitchFamily="34" charset="-122"/>
                          <a:cs typeface="IBM Plex Sans" pitchFamily="34" charset="-120"/>
                        </a:rPr>
                        <a:t>Could eat plant food, so never tied to prey; boom then bust</a:t>
                      </a:r>
                      <a:endParaRPr lang="en-US" sz="1400" dirty="0">
                        <a:latin typeface="IBM Plex Sans" charset="0"/>
                        <a:ea typeface="IBM Plex Sans" charset="0"/>
                        <a:cs typeface="IBM Plex Sans" charset="0"/>
                      </a:endParaRPr>
                    </a:p>
                  </a:txBody>
                  <a:tcPr marL="62230" marR="62230" marT="62230" marB="62230">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C2C0B9"/>
                      </a:solidFill>
                      <a:prstDash val="solid"/>
                      <a:round/>
                      <a:headEnd type="none" w="med" len="med"/>
                      <a:tailEnd type="none" w="med" len="med"/>
                    </a:lnT>
                    <a:lnB w="12700" cap="flat" cmpd="sng" algn="ctr">
                      <a:solidFill>
                        <a:srgbClr val="C8C7C4"/>
                      </a:solidFill>
                      <a:prstDash val="solid"/>
                      <a:round/>
                      <a:headEnd type="none" w="med" len="med"/>
                      <a:tailEnd type="none" w="med" len="med"/>
                    </a:lnB>
                    <a:solidFill>
                      <a:srgbClr val="FBFAF6"/>
                    </a:solidFill>
                  </a:tcPr>
                </a:tc>
                <a:tc>
                  <a:txBody>
                    <a:bodyPr/>
                    <a:lstStyle/>
                    <a:p>
                      <a:pPr marL="0" indent="0">
                        <a:lnSpc>
                          <a:spcPts val="1960"/>
                        </a:lnSpc>
                        <a:buNone/>
                      </a:pPr>
                      <a:r>
                        <a:rPr lang="en-US" sz="1400" dirty="0">
                          <a:solidFill>
                            <a:srgbClr val="16202A"/>
                          </a:solidFill>
                          <a:latin typeface="IBM Plex Sans" pitchFamily="34" charset="0"/>
                          <a:ea typeface="IBM Plex Sans" pitchFamily="34" charset="-122"/>
                          <a:cs typeface="IBM Plex Sans" pitchFamily="34" charset="-120"/>
                        </a:rPr>
                        <a:t>Meat only: boomed from 16 to 26–35 on the herd, then aged out or were kicked to death</a:t>
                      </a:r>
                      <a:endParaRPr lang="en-US" sz="1400" dirty="0">
                        <a:latin typeface="IBM Plex Sans" charset="0"/>
                        <a:ea typeface="IBM Plex Sans" charset="0"/>
                        <a:cs typeface="IBM Plex Sans" charset="0"/>
                      </a:endParaRPr>
                    </a:p>
                  </a:txBody>
                  <a:tcPr marL="62230" marR="62230" marT="62230" marB="62230">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C2C0B9"/>
                      </a:solidFill>
                      <a:prstDash val="solid"/>
                      <a:round/>
                      <a:headEnd type="none" w="med" len="med"/>
                      <a:tailEnd type="none" w="med" len="med"/>
                    </a:lnT>
                    <a:lnB w="12700" cap="flat" cmpd="sng" algn="ctr">
                      <a:solidFill>
                        <a:srgbClr val="C8C7C4"/>
                      </a:solidFill>
                      <a:prstDash val="solid"/>
                      <a:round/>
                      <a:headEnd type="none" w="med" len="med"/>
                      <a:tailEnd type="none" w="med" len="med"/>
                    </a:lnB>
                    <a:solidFill>
                      <a:srgbClr val="FBFAF6"/>
                    </a:solidFill>
                  </a:tcPr>
                </a:tc>
                <a:extLst>
                  <a:ext uri="{0D108BD9-81ED-4DB2-BD59-A6C34878D82A}">
                    <a16:rowId xmlns:a16="http://schemas.microsoft.com/office/drawing/2014/main" val="10003"/>
                  </a:ext>
                </a:extLst>
              </a:tr>
              <a:tr h="632460">
                <a:tc>
                  <a:txBody>
                    <a:bodyPr/>
                    <a:lstStyle/>
                    <a:p>
                      <a:pPr marL="0" indent="0">
                        <a:lnSpc>
                          <a:spcPts val="1960"/>
                        </a:lnSpc>
                        <a:buNone/>
                      </a:pPr>
                      <a:r>
                        <a:rPr lang="en-US" sz="1400" dirty="0">
                          <a:solidFill>
                            <a:srgbClr val="16202A"/>
                          </a:solidFill>
                          <a:latin typeface="IBM Plex Sans" pitchFamily="34" charset="0"/>
                          <a:ea typeface="IBM Plex Sans" pitchFamily="34" charset="-122"/>
                          <a:cs typeface="IBM Plex Sans" pitchFamily="34" charset="-120"/>
                        </a:rPr>
                        <a:t>Plants</a:t>
                      </a:r>
                      <a:endParaRPr lang="en-US" sz="1400" dirty="0">
                        <a:latin typeface="IBM Plex Sans" charset="0"/>
                        <a:ea typeface="IBM Plex Sans" charset="0"/>
                        <a:cs typeface="IBM Plex Sans" charset="0"/>
                      </a:endParaRPr>
                    </a:p>
                  </a:txBody>
                  <a:tcPr marL="62230" marR="62230" marT="62230" marB="62230">
                    <a:lnL w="12700" cap="flat" cmpd="sng" algn="ctr">
                      <a:solidFill>
                        <a:srgbClr val="C2C0B9"/>
                      </a:solidFill>
                      <a:prstDash val="solid"/>
                      <a:round/>
                      <a:headEnd type="none" w="med" len="med"/>
                      <a:tailEnd type="none" w="med" len="med"/>
                    </a:lnL>
                    <a:lnR w="12700" cap="flat" cmpd="sng" algn="ctr">
                      <a:solidFill>
                        <a:srgbClr val="C2C0B9"/>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C2C0B9"/>
                      </a:solidFill>
                      <a:prstDash val="solid"/>
                      <a:round/>
                      <a:headEnd type="none" w="med" len="med"/>
                      <a:tailEnd type="none" w="med" len="med"/>
                    </a:lnB>
                  </a:tcPr>
                </a:tc>
                <a:tc>
                  <a:txBody>
                    <a:bodyPr/>
                    <a:lstStyle/>
                    <a:p>
                      <a:pPr marL="0" indent="0">
                        <a:lnSpc>
                          <a:spcPts val="1960"/>
                        </a:lnSpc>
                        <a:buNone/>
                      </a:pPr>
                      <a:r>
                        <a:rPr lang="en-US" sz="1400" dirty="0">
                          <a:solidFill>
                            <a:srgbClr val="16202A"/>
                          </a:solidFill>
                          <a:latin typeface="IBM Plex Sans" pitchFamily="34" charset="0"/>
                          <a:ea typeface="IBM Plex Sans" pitchFamily="34" charset="-122"/>
                          <a:cs typeface="IBM Plex Sans" pitchFamily="34" charset="-120"/>
                        </a:rPr>
                        <a:t>Only killer cells could remove them; otherwise could clog the map</a:t>
                      </a:r>
                      <a:endParaRPr lang="en-US" sz="1400" dirty="0">
                        <a:latin typeface="IBM Plex Sans" charset="0"/>
                        <a:ea typeface="IBM Plex Sans" charset="0"/>
                        <a:cs typeface="IBM Plex Sans" charset="0"/>
                      </a:endParaRPr>
                    </a:p>
                  </a:txBody>
                  <a:tcPr marL="62230" marR="62230" marT="62230" marB="62230">
                    <a:lnL w="12700" cap="flat" cmpd="sng" algn="ctr">
                      <a:solidFill>
                        <a:srgbClr val="C2C0B9"/>
                      </a:solidFill>
                      <a:prstDash val="solid"/>
                      <a:round/>
                      <a:headEnd type="none" w="med" len="med"/>
                      <a:tailEnd type="none" w="med" len="med"/>
                    </a:lnL>
                    <a:lnR w="12700" cap="flat" cmpd="sng" algn="ctr">
                      <a:solidFill>
                        <a:srgbClr val="C2C0B9"/>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C2C0B9"/>
                      </a:solidFill>
                      <a:prstDash val="solid"/>
                      <a:round/>
                      <a:headEnd type="none" w="med" len="med"/>
                      <a:tailEnd type="none" w="med" len="med"/>
                    </a:lnB>
                  </a:tcPr>
                </a:tc>
                <a:tc>
                  <a:txBody>
                    <a:bodyPr/>
                    <a:lstStyle/>
                    <a:p>
                      <a:pPr marL="0" indent="0">
                        <a:lnSpc>
                          <a:spcPts val="1960"/>
                        </a:lnSpc>
                        <a:buNone/>
                      </a:pPr>
                      <a:r>
                        <a:rPr lang="en-US" sz="1400" dirty="0">
                          <a:solidFill>
                            <a:srgbClr val="16202A"/>
                          </a:solidFill>
                          <a:latin typeface="IBM Plex Sans" pitchFamily="34" charset="0"/>
                          <a:ea typeface="IBM Plex Sans" pitchFamily="34" charset="-122"/>
                          <a:cs typeface="IBM Plex Sans" pitchFamily="34" charset="-120"/>
                        </a:rPr>
                        <a:t>Grass limited by soil water; bushes expanded where grass fell; fires small and patchy</a:t>
                      </a:r>
                      <a:endParaRPr lang="en-US" sz="1400" dirty="0">
                        <a:latin typeface="IBM Plex Sans" charset="0"/>
                        <a:ea typeface="IBM Plex Sans" charset="0"/>
                        <a:cs typeface="IBM Plex Sans" charset="0"/>
                      </a:endParaRPr>
                    </a:p>
                  </a:txBody>
                  <a:tcPr marL="62230" marR="62230" marT="62230" marB="62230">
                    <a:lnL w="12700" cap="flat" cmpd="sng" algn="ctr">
                      <a:solidFill>
                        <a:srgbClr val="C2C0B9"/>
                      </a:solidFill>
                      <a:prstDash val="solid"/>
                      <a:round/>
                      <a:headEnd type="none" w="med" len="med"/>
                      <a:tailEnd type="none" w="med" len="med"/>
                    </a:lnL>
                    <a:lnR w="12700" cap="flat" cmpd="sng" algn="ctr">
                      <a:solidFill>
                        <a:srgbClr val="C2C0B9"/>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C2C0B9"/>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3F0E8"/>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540"/>
          </a:xfrm>
          <a:prstGeom prst="rect">
            <a:avLst/>
          </a:prstGeom>
          <a:noFill/>
          <a:ln/>
        </p:spPr>
        <p:txBody>
          <a:bodyPr wrap="square" lIns="0" tIns="0" rIns="0" bIns="0" rtlCol="0" anchor="t">
            <a:normAutofit/>
          </a:bodyPr>
          <a:lstStyle/>
          <a:p>
            <a:pPr marL="0" indent="0" algn="l">
              <a:lnSpc>
                <a:spcPts val="1820"/>
              </a:lnSpc>
              <a:buNone/>
            </a:pPr>
            <a:r>
              <a:rPr lang="en-US" sz="1300" b="1" kern="0" spc="150" dirty="0">
                <a:solidFill>
                  <a:srgbClr val="8A5A0B"/>
                </a:solidFill>
                <a:latin typeface="IBM Plex Sans" pitchFamily="34" charset="0"/>
                <a:ea typeface="IBM Plex Sans" pitchFamily="34" charset="-122"/>
                <a:cs typeface="IBM Plex Sans" pitchFamily="34" charset="-120"/>
              </a:rPr>
              <a:t>EVOLUTION OVER TIME</a:t>
            </a:r>
            <a:endParaRPr lang="en-US" sz="1300" dirty="0"/>
          </a:p>
        </p:txBody>
      </p:sp>
      <p:sp>
        <p:nvSpPr>
          <p:cNvPr id="3" name="Text 1"/>
          <p:cNvSpPr>
            <a:spLocks noGrp="1"/>
          </p:cNvSpPr>
          <p:nvPr>
            <p:ph type="title"/>
          </p:nvPr>
        </p:nvSpPr>
        <p:spPr>
          <a:xfrm>
            <a:off x="812800" y="1120142"/>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6202A"/>
                </a:solidFill>
                <a:latin typeface="Space Grotesk" pitchFamily="34" charset="0"/>
                <a:ea typeface="Space Grotesk" pitchFamily="34" charset="-122"/>
                <a:cs typeface="Space Grotesk" pitchFamily="34" charset="-120"/>
              </a:rPr>
              <a:t>What sent lineages down different paths</a:t>
            </a:r>
            <a:endParaRPr lang="en-US" sz="3000" dirty="0"/>
          </a:p>
        </p:txBody>
      </p:sp>
      <p:sp>
        <p:nvSpPr>
          <p:cNvPr id="4" name="Shape 2"/>
          <p:cNvSpPr/>
          <p:nvPr/>
        </p:nvSpPr>
        <p:spPr>
          <a:xfrm>
            <a:off x="815975" y="1796417"/>
            <a:ext cx="5187950" cy="1558290"/>
          </a:xfrm>
          <a:prstGeom prst="roundRect">
            <a:avLst>
              <a:gd name="adj" fmla="val 6316"/>
            </a:avLst>
          </a:prstGeom>
          <a:solidFill>
            <a:srgbClr val="FBFAF6"/>
          </a:solidFill>
          <a:ln w="6350">
            <a:solidFill>
              <a:srgbClr val="DDD6C8"/>
            </a:solidFill>
            <a:prstDash val="solid"/>
          </a:ln>
        </p:spPr>
        <p:txBody>
          <a:bodyPr/>
          <a:lstStyle/>
          <a:p>
            <a:endParaRPr lang="en-ZA"/>
          </a:p>
        </p:txBody>
      </p:sp>
      <p:sp>
        <p:nvSpPr>
          <p:cNvPr id="5" name="Text 3"/>
          <p:cNvSpPr/>
          <p:nvPr/>
        </p:nvSpPr>
        <p:spPr>
          <a:xfrm>
            <a:off x="1046480" y="2026927"/>
            <a:ext cx="4868748" cy="29972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6202A"/>
                </a:solidFill>
                <a:latin typeface="Space Grotesk" pitchFamily="34" charset="0"/>
                <a:ea typeface="Space Grotesk" pitchFamily="34" charset="-122"/>
                <a:cs typeface="Space Grotesk" pitchFamily="34" charset="-120"/>
              </a:rPr>
              <a:t>Predators disappeared</a:t>
            </a:r>
            <a:endParaRPr lang="en-US" sz="1800" dirty="0"/>
          </a:p>
        </p:txBody>
      </p:sp>
      <p:sp>
        <p:nvSpPr>
          <p:cNvPr id="6" name="Text 4"/>
          <p:cNvSpPr/>
          <p:nvPr/>
        </p:nvSpPr>
        <p:spPr>
          <a:xfrm>
            <a:off x="1046480" y="2377442"/>
            <a:ext cx="4868748" cy="77216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3"/>
                </a:solidFill>
                <a:latin typeface="IBM Plex Sans" pitchFamily="34" charset="0"/>
                <a:ea typeface="IBM Plex Sans" pitchFamily="34" charset="-122"/>
                <a:cs typeface="IBM Plex Sans" pitchFamily="34" charset="-120"/>
              </a:rPr>
              <a:t>With leopards gone, zebras shed defences: eyes 2.0 → 0.49, stripes 2.0 → 0.02, kick 1 → 0, mouths → 2.0. In one run the body shrank from 8 to 4.3 cells.</a:t>
            </a:r>
            <a:endParaRPr lang="en-US" sz="1400" dirty="0"/>
          </a:p>
        </p:txBody>
      </p:sp>
      <p:sp>
        <p:nvSpPr>
          <p:cNvPr id="7" name="Shape 5"/>
          <p:cNvSpPr/>
          <p:nvPr/>
        </p:nvSpPr>
        <p:spPr>
          <a:xfrm>
            <a:off x="6188075" y="1796417"/>
            <a:ext cx="5187950" cy="1558290"/>
          </a:xfrm>
          <a:prstGeom prst="roundRect">
            <a:avLst>
              <a:gd name="adj" fmla="val 6316"/>
            </a:avLst>
          </a:prstGeom>
          <a:solidFill>
            <a:srgbClr val="FBFAF6"/>
          </a:solidFill>
          <a:ln w="6350">
            <a:solidFill>
              <a:srgbClr val="DDD6C8"/>
            </a:solidFill>
            <a:prstDash val="solid"/>
          </a:ln>
        </p:spPr>
        <p:txBody>
          <a:bodyPr/>
          <a:lstStyle/>
          <a:p>
            <a:endParaRPr lang="en-ZA"/>
          </a:p>
        </p:txBody>
      </p:sp>
      <p:sp>
        <p:nvSpPr>
          <p:cNvPr id="8" name="Text 6"/>
          <p:cNvSpPr/>
          <p:nvPr/>
        </p:nvSpPr>
        <p:spPr>
          <a:xfrm>
            <a:off x="6418580" y="2026927"/>
            <a:ext cx="4868748" cy="29972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6202A"/>
                </a:solidFill>
                <a:latin typeface="Space Grotesk" pitchFamily="34" charset="0"/>
                <a:ea typeface="Space Grotesk" pitchFamily="34" charset="-122"/>
                <a:cs typeface="Space Grotesk" pitchFamily="34" charset="-120"/>
              </a:rPr>
              <a:t>Chance in the same world</a:t>
            </a:r>
            <a:endParaRPr lang="en-US" sz="1800" dirty="0"/>
          </a:p>
        </p:txBody>
      </p:sp>
      <p:sp>
        <p:nvSpPr>
          <p:cNvPr id="9" name="Text 7"/>
          <p:cNvSpPr/>
          <p:nvPr/>
        </p:nvSpPr>
        <p:spPr>
          <a:xfrm>
            <a:off x="6418580" y="2377442"/>
            <a:ext cx="4868748" cy="77216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3"/>
                </a:solidFill>
                <a:latin typeface="IBM Plex Sans" pitchFamily="34" charset="0"/>
                <a:ea typeface="IBM Plex Sans" pitchFamily="34" charset="-122"/>
                <a:cs typeface="IBM Plex Sans" pitchFamily="34" charset="-120"/>
              </a:rPr>
              <a:t>Identical start, different seed: the second mouth spread in seed 1 (1.99) but not in seeds 2–5 (1.00–1.20). One lineage survived; the others faded.</a:t>
            </a:r>
            <a:endParaRPr lang="en-US" sz="1400" dirty="0"/>
          </a:p>
        </p:txBody>
      </p:sp>
      <p:sp>
        <p:nvSpPr>
          <p:cNvPr id="10" name="Shape 8"/>
          <p:cNvSpPr/>
          <p:nvPr/>
        </p:nvSpPr>
        <p:spPr>
          <a:xfrm>
            <a:off x="815975" y="3538860"/>
            <a:ext cx="5187950" cy="1548130"/>
          </a:xfrm>
          <a:prstGeom prst="roundRect">
            <a:avLst>
              <a:gd name="adj" fmla="val 6358"/>
            </a:avLst>
          </a:prstGeom>
          <a:solidFill>
            <a:srgbClr val="FBFAF6"/>
          </a:solidFill>
          <a:ln w="6350">
            <a:solidFill>
              <a:srgbClr val="DDD6C8"/>
            </a:solidFill>
            <a:prstDash val="solid"/>
          </a:ln>
        </p:spPr>
        <p:txBody>
          <a:bodyPr/>
          <a:lstStyle/>
          <a:p>
            <a:endParaRPr lang="en-ZA"/>
          </a:p>
        </p:txBody>
      </p:sp>
      <p:sp>
        <p:nvSpPr>
          <p:cNvPr id="11" name="Text 9"/>
          <p:cNvSpPr/>
          <p:nvPr/>
        </p:nvSpPr>
        <p:spPr>
          <a:xfrm>
            <a:off x="1046480" y="3769358"/>
            <a:ext cx="4868748" cy="29972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6202A"/>
                </a:solidFill>
                <a:latin typeface="Space Grotesk" pitchFamily="34" charset="0"/>
                <a:ea typeface="Space Grotesk" pitchFamily="34" charset="-122"/>
                <a:cs typeface="Space Grotesk" pitchFamily="34" charset="-120"/>
              </a:rPr>
              <a:t>Environment</a:t>
            </a:r>
            <a:endParaRPr lang="en-US" sz="1800" dirty="0"/>
          </a:p>
        </p:txBody>
      </p:sp>
      <p:sp>
        <p:nvSpPr>
          <p:cNvPr id="12" name="Text 10"/>
          <p:cNvSpPr/>
          <p:nvPr/>
        </p:nvSpPr>
        <p:spPr>
          <a:xfrm>
            <a:off x="1046480" y="4119885"/>
            <a:ext cx="4868748"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3"/>
                </a:solidFill>
                <a:latin typeface="IBM Plex Sans" pitchFamily="34" charset="0"/>
                <a:ea typeface="IBM Plex Sans" pitchFamily="34" charset="-122"/>
                <a:cs typeface="IBM Plex Sans" pitchFamily="34" charset="-120"/>
              </a:rPr>
              <a:t>Drought pushed mouths up to 2.8; better bush food 2.10; high rain 1.70. Low mutation kept zebras at 1.01.</a:t>
            </a:r>
            <a:endParaRPr lang="en-US" sz="1400" dirty="0"/>
          </a:p>
        </p:txBody>
      </p:sp>
      <p:sp>
        <p:nvSpPr>
          <p:cNvPr id="13" name="Shape 11"/>
          <p:cNvSpPr/>
          <p:nvPr/>
        </p:nvSpPr>
        <p:spPr>
          <a:xfrm>
            <a:off x="6184900" y="3535685"/>
            <a:ext cx="5194300" cy="1554480"/>
          </a:xfrm>
          <a:prstGeom prst="roundRect">
            <a:avLst>
              <a:gd name="adj" fmla="val 6536"/>
            </a:avLst>
          </a:prstGeom>
          <a:solidFill>
            <a:srgbClr val="16202A"/>
          </a:solidFill>
          <a:ln/>
        </p:spPr>
        <p:txBody>
          <a:bodyPr/>
          <a:lstStyle/>
          <a:p>
            <a:endParaRPr lang="en-ZA"/>
          </a:p>
        </p:txBody>
      </p:sp>
      <p:sp>
        <p:nvSpPr>
          <p:cNvPr id="14" name="Text 12"/>
          <p:cNvSpPr/>
          <p:nvPr/>
        </p:nvSpPr>
        <p:spPr>
          <a:xfrm>
            <a:off x="6413500" y="3764285"/>
            <a:ext cx="4879213" cy="29972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DEB14D"/>
                </a:solidFill>
                <a:latin typeface="Space Grotesk" pitchFamily="34" charset="0"/>
                <a:ea typeface="Space Grotesk" pitchFamily="34" charset="-122"/>
                <a:cs typeface="Space Grotesk" pitchFamily="34" charset="-120"/>
              </a:rPr>
              <a:t>Rules of the world</a:t>
            </a:r>
            <a:endParaRPr lang="en-US" sz="1800" dirty="0"/>
          </a:p>
        </p:txBody>
      </p:sp>
      <p:sp>
        <p:nvSpPr>
          <p:cNvPr id="15" name="Text 13"/>
          <p:cNvSpPr/>
          <p:nvPr/>
        </p:nvSpPr>
        <p:spPr>
          <a:xfrm>
            <a:off x="6413500" y="4114800"/>
            <a:ext cx="4879213" cy="77216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D5DCE2"/>
                </a:solidFill>
                <a:latin typeface="IBM Plex Sans" pitchFamily="34" charset="0"/>
                <a:ea typeface="IBM Plex Sans" pitchFamily="34" charset="-122"/>
                <a:cs typeface="IBM Plex Sans" pitchFamily="34" charset="-120"/>
              </a:rPr>
              <a:t>Before, killing a plant paid a meal, so killer cells spread (0 → 70%). After, that route was closed, so grazing traits spread instead.</a:t>
            </a:r>
            <a:endParaRPr lang="en-US" sz="1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3F0E8"/>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540"/>
          </a:xfrm>
          <a:prstGeom prst="rect">
            <a:avLst/>
          </a:prstGeom>
          <a:noFill/>
          <a:ln/>
        </p:spPr>
        <p:txBody>
          <a:bodyPr wrap="square" lIns="0" tIns="0" rIns="0" bIns="0" rtlCol="0" anchor="t">
            <a:normAutofit/>
          </a:bodyPr>
          <a:lstStyle/>
          <a:p>
            <a:pPr marL="0" indent="0" algn="l">
              <a:lnSpc>
                <a:spcPts val="1820"/>
              </a:lnSpc>
              <a:buNone/>
            </a:pPr>
            <a:r>
              <a:rPr lang="en-US" sz="1300" b="1" kern="0" spc="150" dirty="0">
                <a:solidFill>
                  <a:srgbClr val="8A5A0B"/>
                </a:solidFill>
                <a:latin typeface="IBM Plex Sans" pitchFamily="34" charset="0"/>
                <a:ea typeface="IBM Plex Sans" pitchFamily="34" charset="-122"/>
                <a:cs typeface="IBM Plex Sans" pitchFamily="34" charset="-120"/>
              </a:rPr>
              <a:t>ECOLOGICAL NICHE</a:t>
            </a:r>
            <a:endParaRPr lang="en-US" sz="1300" dirty="0"/>
          </a:p>
        </p:txBody>
      </p:sp>
      <p:sp>
        <p:nvSpPr>
          <p:cNvPr id="3" name="Text 1"/>
          <p:cNvSpPr>
            <a:spLocks noGrp="1"/>
          </p:cNvSpPr>
          <p:nvPr>
            <p:ph type="title"/>
          </p:nvPr>
        </p:nvSpPr>
        <p:spPr>
          <a:xfrm>
            <a:off x="812800" y="1120142"/>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6202A"/>
                </a:solidFill>
                <a:latin typeface="Space Grotesk" pitchFamily="34" charset="0"/>
                <a:ea typeface="Space Grotesk" pitchFamily="34" charset="-122"/>
                <a:cs typeface="Space Grotesk" pitchFamily="34" charset="-120"/>
              </a:rPr>
              <a:t>Niches only appeared once the world had structure</a:t>
            </a:r>
            <a:endParaRPr lang="en-US" sz="30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2960" y="1778002"/>
          <a:ext cx="10556240" cy="2708910"/>
        </p:xfrm>
        <a:graphic>
          <a:graphicData uri="http://schemas.openxmlformats.org/drawingml/2006/table">
            <a:tbl>
              <a:tblPr/>
              <a:tblGrid>
                <a:gridCol w="1372311">
                  <a:extLst>
                    <a:ext uri="{9D8B030D-6E8A-4147-A177-3AD203B41FA5}">
                      <a16:colId xmlns:a16="http://schemas.microsoft.com/office/drawing/2014/main" val="20000"/>
                    </a:ext>
                  </a:extLst>
                </a:gridCol>
                <a:gridCol w="2850185">
                  <a:extLst>
                    <a:ext uri="{9D8B030D-6E8A-4147-A177-3AD203B41FA5}">
                      <a16:colId xmlns:a16="http://schemas.microsoft.com/office/drawing/2014/main" val="20001"/>
                    </a:ext>
                  </a:extLst>
                </a:gridCol>
                <a:gridCol w="3166872">
                  <a:extLst>
                    <a:ext uri="{9D8B030D-6E8A-4147-A177-3AD203B41FA5}">
                      <a16:colId xmlns:a16="http://schemas.microsoft.com/office/drawing/2014/main" val="20002"/>
                    </a:ext>
                  </a:extLst>
                </a:gridCol>
                <a:gridCol w="3166872">
                  <a:extLst>
                    <a:ext uri="{9D8B030D-6E8A-4147-A177-3AD203B41FA5}">
                      <a16:colId xmlns:a16="http://schemas.microsoft.com/office/drawing/2014/main" val="20003"/>
                    </a:ext>
                  </a:extLst>
                </a:gridCol>
              </a:tblGrid>
              <a:tr h="356870">
                <a:tc>
                  <a:txBody>
                    <a:bodyPr/>
                    <a:lstStyle/>
                    <a:p>
                      <a:pPr marL="0" indent="0">
                        <a:lnSpc>
                          <a:spcPts val="1820"/>
                        </a:lnSpc>
                        <a:buNone/>
                      </a:pPr>
                      <a:r>
                        <a:rPr lang="en-US" sz="1300" b="1" dirty="0">
                          <a:solidFill>
                            <a:srgbClr val="F3F0E8"/>
                          </a:solidFill>
                          <a:latin typeface="IBM Plex Sans" pitchFamily="34" charset="0"/>
                          <a:ea typeface="IBM Plex Sans" pitchFamily="34" charset="-122"/>
                          <a:cs typeface="IBM Plex Sans" pitchFamily="34" charset="-120"/>
                        </a:rPr>
                        <a:t>Species</a:t>
                      </a:r>
                      <a:endParaRPr lang="en-US" sz="1300" dirty="0">
                        <a:latin typeface="IBM Plex Sans" charset="0"/>
                        <a:ea typeface="IBM Plex Sans" charset="0"/>
                        <a:cs typeface="IBM Plex Sans" charset="0"/>
                      </a:endParaRPr>
                    </a:p>
                  </a:txBody>
                  <a:tcPr marL="57785" marR="57785" marT="57785" marB="57785">
                    <a:lnL w="12700" cap="flat" cmpd="sng" algn="ctr">
                      <a:solidFill>
                        <a:srgbClr val="C2C0B9"/>
                      </a:solidFill>
                      <a:prstDash val="solid"/>
                      <a:round/>
                      <a:headEnd type="none" w="med" len="med"/>
                      <a:tailEnd type="none" w="med" len="med"/>
                    </a:lnL>
                    <a:lnR w="12700" cap="flat" cmpd="sng" algn="ctr">
                      <a:solidFill>
                        <a:srgbClr val="161D25"/>
                      </a:solidFill>
                      <a:prstDash val="solid"/>
                      <a:round/>
                      <a:headEnd type="none" w="med" len="med"/>
                      <a:tailEnd type="none" w="med" len="med"/>
                    </a:lnR>
                    <a:lnT w="12700" cap="flat" cmpd="sng" algn="ctr">
                      <a:solidFill>
                        <a:srgbClr val="C2C0B9"/>
                      </a:solidFill>
                      <a:prstDash val="solid"/>
                      <a:round/>
                      <a:headEnd type="none" w="med" len="med"/>
                      <a:tailEnd type="none" w="med" len="med"/>
                    </a:lnT>
                    <a:lnB w="12700" cap="flat" cmpd="sng" algn="ctr">
                      <a:solidFill>
                        <a:srgbClr val="161D25"/>
                      </a:solidFill>
                      <a:prstDash val="solid"/>
                      <a:round/>
                      <a:headEnd type="none" w="med" len="med"/>
                      <a:tailEnd type="none" w="med" len="med"/>
                    </a:lnB>
                    <a:solidFill>
                      <a:srgbClr val="16202A"/>
                    </a:solidFill>
                  </a:tcPr>
                </a:tc>
                <a:tc>
                  <a:txBody>
                    <a:bodyPr/>
                    <a:lstStyle/>
                    <a:p>
                      <a:pPr marL="0" indent="0">
                        <a:lnSpc>
                          <a:spcPts val="1820"/>
                        </a:lnSpc>
                        <a:buNone/>
                      </a:pPr>
                      <a:r>
                        <a:rPr lang="en-US" sz="1300" b="1" dirty="0">
                          <a:solidFill>
                            <a:srgbClr val="DEB14D"/>
                          </a:solidFill>
                          <a:latin typeface="IBM Plex Sans" pitchFamily="34" charset="0"/>
                          <a:ea typeface="IBM Plex Sans" pitchFamily="34" charset="-122"/>
                          <a:cs typeface="IBM Plex Sans" pitchFamily="34" charset="-120"/>
                        </a:rPr>
                        <a:t>Before</a:t>
                      </a:r>
                      <a:endParaRPr lang="en-US" sz="1300" dirty="0">
                        <a:latin typeface="IBM Plex Sans" charset="0"/>
                        <a:ea typeface="IBM Plex Sans" charset="0"/>
                        <a:cs typeface="IBM Plex Sans" charset="0"/>
                      </a:endParaRPr>
                    </a:p>
                  </a:txBody>
                  <a:tcPr marL="57785" marR="57785" marT="57785" marB="57785">
                    <a:lnL w="12700" cap="flat" cmpd="sng" algn="ctr">
                      <a:solidFill>
                        <a:srgbClr val="161D25"/>
                      </a:solidFill>
                      <a:prstDash val="solid"/>
                      <a:round/>
                      <a:headEnd type="none" w="med" len="med"/>
                      <a:tailEnd type="none" w="med" len="med"/>
                    </a:lnL>
                    <a:lnR w="12700" cap="flat" cmpd="sng" algn="ctr">
                      <a:solidFill>
                        <a:srgbClr val="161D25"/>
                      </a:solidFill>
                      <a:prstDash val="solid"/>
                      <a:round/>
                      <a:headEnd type="none" w="med" len="med"/>
                      <a:tailEnd type="none" w="med" len="med"/>
                    </a:lnR>
                    <a:lnT w="12700" cap="flat" cmpd="sng" algn="ctr">
                      <a:solidFill>
                        <a:srgbClr val="C2C0B9"/>
                      </a:solidFill>
                      <a:prstDash val="solid"/>
                      <a:round/>
                      <a:headEnd type="none" w="med" len="med"/>
                      <a:tailEnd type="none" w="med" len="med"/>
                    </a:lnT>
                    <a:lnB w="12700" cap="flat" cmpd="sng" algn="ctr">
                      <a:solidFill>
                        <a:srgbClr val="161D25"/>
                      </a:solidFill>
                      <a:prstDash val="solid"/>
                      <a:round/>
                      <a:headEnd type="none" w="med" len="med"/>
                      <a:tailEnd type="none" w="med" len="med"/>
                    </a:lnB>
                    <a:solidFill>
                      <a:srgbClr val="16202A"/>
                    </a:solidFill>
                  </a:tcPr>
                </a:tc>
                <a:tc>
                  <a:txBody>
                    <a:bodyPr/>
                    <a:lstStyle/>
                    <a:p>
                      <a:pPr marL="0" indent="0">
                        <a:lnSpc>
                          <a:spcPts val="1820"/>
                        </a:lnSpc>
                        <a:buNone/>
                      </a:pPr>
                      <a:r>
                        <a:rPr lang="en-US" sz="1300" b="1" dirty="0">
                          <a:solidFill>
                            <a:srgbClr val="60D4FF"/>
                          </a:solidFill>
                          <a:latin typeface="IBM Plex Sans" pitchFamily="34" charset="0"/>
                          <a:ea typeface="IBM Plex Sans" pitchFamily="34" charset="-122"/>
                          <a:cs typeface="IBM Plex Sans" pitchFamily="34" charset="-120"/>
                        </a:rPr>
                        <a:t>After</a:t>
                      </a:r>
                      <a:endParaRPr lang="en-US" sz="1300" dirty="0">
                        <a:latin typeface="IBM Plex Sans" charset="0"/>
                        <a:ea typeface="IBM Plex Sans" charset="0"/>
                        <a:cs typeface="IBM Plex Sans" charset="0"/>
                      </a:endParaRPr>
                    </a:p>
                  </a:txBody>
                  <a:tcPr marL="57785" marR="57785" marT="57785" marB="57785">
                    <a:lnL w="12700" cap="flat" cmpd="sng" algn="ctr">
                      <a:solidFill>
                        <a:srgbClr val="161D25"/>
                      </a:solidFill>
                      <a:prstDash val="solid"/>
                      <a:round/>
                      <a:headEnd type="none" w="med" len="med"/>
                      <a:tailEnd type="none" w="med" len="med"/>
                    </a:lnL>
                    <a:lnR w="12700" cap="flat" cmpd="sng" algn="ctr">
                      <a:solidFill>
                        <a:srgbClr val="161D25"/>
                      </a:solidFill>
                      <a:prstDash val="solid"/>
                      <a:round/>
                      <a:headEnd type="none" w="med" len="med"/>
                      <a:tailEnd type="none" w="med" len="med"/>
                    </a:lnR>
                    <a:lnT w="12700" cap="flat" cmpd="sng" algn="ctr">
                      <a:solidFill>
                        <a:srgbClr val="C2C0B9"/>
                      </a:solidFill>
                      <a:prstDash val="solid"/>
                      <a:round/>
                      <a:headEnd type="none" w="med" len="med"/>
                      <a:tailEnd type="none" w="med" len="med"/>
                    </a:lnT>
                    <a:lnB w="12700" cap="flat" cmpd="sng" algn="ctr">
                      <a:solidFill>
                        <a:srgbClr val="161D25"/>
                      </a:solidFill>
                      <a:prstDash val="solid"/>
                      <a:round/>
                      <a:headEnd type="none" w="med" len="med"/>
                      <a:tailEnd type="none" w="med" len="med"/>
                    </a:lnB>
                    <a:solidFill>
                      <a:srgbClr val="16202A"/>
                    </a:solidFill>
                  </a:tcPr>
                </a:tc>
                <a:tc>
                  <a:txBody>
                    <a:bodyPr/>
                    <a:lstStyle/>
                    <a:p>
                      <a:pPr marL="0" indent="0">
                        <a:lnSpc>
                          <a:spcPts val="1820"/>
                        </a:lnSpc>
                        <a:buNone/>
                      </a:pPr>
                      <a:r>
                        <a:rPr lang="en-US" sz="1300" b="1" dirty="0">
                          <a:solidFill>
                            <a:srgbClr val="F3F0E8"/>
                          </a:solidFill>
                          <a:latin typeface="IBM Plex Sans" pitchFamily="34" charset="0"/>
                          <a:ea typeface="IBM Plex Sans" pitchFamily="34" charset="-122"/>
                          <a:cs typeface="IBM Plex Sans" pitchFamily="34" charset="-120"/>
                        </a:rPr>
                        <a:t>Change the environment…</a:t>
                      </a:r>
                      <a:endParaRPr lang="en-US" sz="1300" dirty="0">
                        <a:latin typeface="IBM Plex Sans" charset="0"/>
                        <a:ea typeface="IBM Plex Sans" charset="0"/>
                        <a:cs typeface="IBM Plex Sans" charset="0"/>
                      </a:endParaRPr>
                    </a:p>
                  </a:txBody>
                  <a:tcPr marL="57785" marR="57785" marT="57785" marB="57785">
                    <a:lnL w="12700" cap="flat" cmpd="sng" algn="ctr">
                      <a:solidFill>
                        <a:srgbClr val="161D25"/>
                      </a:solidFill>
                      <a:prstDash val="solid"/>
                      <a:round/>
                      <a:headEnd type="none" w="med" len="med"/>
                      <a:tailEnd type="none" w="med" len="med"/>
                    </a:lnL>
                    <a:lnR w="12700" cap="flat" cmpd="sng" algn="ctr">
                      <a:solidFill>
                        <a:srgbClr val="161D25"/>
                      </a:solidFill>
                      <a:prstDash val="solid"/>
                      <a:round/>
                      <a:headEnd type="none" w="med" len="med"/>
                      <a:tailEnd type="none" w="med" len="med"/>
                    </a:lnR>
                    <a:lnT w="12700" cap="flat" cmpd="sng" algn="ctr">
                      <a:solidFill>
                        <a:srgbClr val="C2C0B9"/>
                      </a:solidFill>
                      <a:prstDash val="solid"/>
                      <a:round/>
                      <a:headEnd type="none" w="med" len="med"/>
                      <a:tailEnd type="none" w="med" len="med"/>
                    </a:lnT>
                    <a:lnB w="12700" cap="flat" cmpd="sng" algn="ctr">
                      <a:solidFill>
                        <a:srgbClr val="161D25"/>
                      </a:solidFill>
                      <a:prstDash val="solid"/>
                      <a:round/>
                      <a:headEnd type="none" w="med" len="med"/>
                      <a:tailEnd type="none" w="med" len="med"/>
                    </a:lnB>
                    <a:solidFill>
                      <a:srgbClr val="16202A"/>
                    </a:solidFill>
                  </a:tcPr>
                </a:tc>
                <a:extLst>
                  <a:ext uri="{0D108BD9-81ED-4DB2-BD59-A6C34878D82A}">
                    <a16:rowId xmlns:a16="http://schemas.microsoft.com/office/drawing/2014/main" val="10000"/>
                  </a:ext>
                </a:extLst>
              </a:tr>
              <a:tr h="588010">
                <a:tc>
                  <a:txBody>
                    <a:bodyPr/>
                    <a:lstStyle/>
                    <a:p>
                      <a:pPr marL="0" indent="0">
                        <a:lnSpc>
                          <a:spcPts val="1820"/>
                        </a:lnSpc>
                        <a:buNone/>
                      </a:pPr>
                      <a:r>
                        <a:rPr lang="en-US" sz="1300" dirty="0">
                          <a:solidFill>
                            <a:srgbClr val="16202A"/>
                          </a:solidFill>
                          <a:latin typeface="IBM Plex Sans" pitchFamily="34" charset="0"/>
                          <a:ea typeface="IBM Plex Sans" pitchFamily="34" charset="-122"/>
                          <a:cs typeface="IBM Plex Sans" pitchFamily="34" charset="-120"/>
                        </a:rPr>
                        <a:t>Zebra</a:t>
                      </a:r>
                      <a:endParaRPr lang="en-US" sz="1300" dirty="0">
                        <a:latin typeface="IBM Plex Sans" charset="0"/>
                        <a:ea typeface="IBM Plex Sans" charset="0"/>
                        <a:cs typeface="IBM Plex Sans" charset="0"/>
                      </a:endParaRPr>
                    </a:p>
                  </a:txBody>
                  <a:tcPr marL="57785" marR="57785" marT="57785" marB="57785">
                    <a:lnL w="12700" cap="flat" cmpd="sng" algn="ctr">
                      <a:solidFill>
                        <a:srgbClr val="C2C0B9"/>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161D25"/>
                      </a:solidFill>
                      <a:prstDash val="solid"/>
                      <a:round/>
                      <a:headEnd type="none" w="med" len="med"/>
                      <a:tailEnd type="none" w="med" len="med"/>
                    </a:lnT>
                    <a:lnB w="12700" cap="flat" cmpd="sng" algn="ctr">
                      <a:solidFill>
                        <a:srgbClr val="C8C7C4"/>
                      </a:solidFill>
                      <a:prstDash val="solid"/>
                      <a:round/>
                      <a:headEnd type="none" w="med" len="med"/>
                      <a:tailEnd type="none" w="med" len="med"/>
                    </a:lnB>
                    <a:solidFill>
                      <a:srgbClr val="FBFAF6"/>
                    </a:solidFill>
                  </a:tcPr>
                </a:tc>
                <a:tc>
                  <a:txBody>
                    <a:bodyPr/>
                    <a:lstStyle/>
                    <a:p>
                      <a:pPr marL="0" indent="0">
                        <a:lnSpc>
                          <a:spcPts val="1820"/>
                        </a:lnSpc>
                        <a:buNone/>
                      </a:pPr>
                      <a:r>
                        <a:rPr lang="en-US" sz="1300" dirty="0">
                          <a:solidFill>
                            <a:srgbClr val="16202A"/>
                          </a:solidFill>
                          <a:latin typeface="IBM Plex Sans" pitchFamily="34" charset="0"/>
                          <a:ea typeface="IBM Plex Sans" pitchFamily="34" charset="-122"/>
                          <a:cs typeface="IBM Plex Sans" pitchFamily="34" charset="-120"/>
                        </a:rPr>
                        <a:t>Generalist grazer</a:t>
                      </a:r>
                      <a:endParaRPr lang="en-US" sz="1300" dirty="0">
                        <a:latin typeface="IBM Plex Sans" charset="0"/>
                        <a:ea typeface="IBM Plex Sans" charset="0"/>
                        <a:cs typeface="IBM Plex Sans" charset="0"/>
                      </a:endParaRPr>
                    </a:p>
                  </a:txBody>
                  <a:tcPr marL="57785" marR="57785" marT="57785" marB="57785">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161D25"/>
                      </a:solidFill>
                      <a:prstDash val="solid"/>
                      <a:round/>
                      <a:headEnd type="none" w="med" len="med"/>
                      <a:tailEnd type="none" w="med" len="med"/>
                    </a:lnT>
                    <a:lnB w="12700" cap="flat" cmpd="sng" algn="ctr">
                      <a:solidFill>
                        <a:srgbClr val="C8C7C4"/>
                      </a:solidFill>
                      <a:prstDash val="solid"/>
                      <a:round/>
                      <a:headEnd type="none" w="med" len="med"/>
                      <a:tailEnd type="none" w="med" len="med"/>
                    </a:lnB>
                    <a:solidFill>
                      <a:srgbClr val="FBFAF6"/>
                    </a:solidFill>
                  </a:tcPr>
                </a:tc>
                <a:tc>
                  <a:txBody>
                    <a:bodyPr/>
                    <a:lstStyle/>
                    <a:p>
                      <a:pPr marL="0" indent="0">
                        <a:lnSpc>
                          <a:spcPts val="1820"/>
                        </a:lnSpc>
                        <a:buNone/>
                      </a:pPr>
                      <a:r>
                        <a:rPr lang="en-US" sz="1300" dirty="0">
                          <a:solidFill>
                            <a:srgbClr val="16202A"/>
                          </a:solidFill>
                          <a:latin typeface="IBM Plex Sans" pitchFamily="34" charset="0"/>
                          <a:ea typeface="IBM Plex Sans" pitchFamily="34" charset="-122"/>
                          <a:cs typeface="IBM Plex Sans" pitchFamily="34" charset="-120"/>
                        </a:rPr>
                        <a:t>Herd grazer on open grass; wet riverbank as refuge</a:t>
                      </a:r>
                      <a:endParaRPr lang="en-US" sz="1300" dirty="0">
                        <a:latin typeface="IBM Plex Sans" charset="0"/>
                        <a:ea typeface="IBM Plex Sans" charset="0"/>
                        <a:cs typeface="IBM Plex Sans" charset="0"/>
                      </a:endParaRPr>
                    </a:p>
                  </a:txBody>
                  <a:tcPr marL="57785" marR="57785" marT="57785" marB="57785">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161D25"/>
                      </a:solidFill>
                      <a:prstDash val="solid"/>
                      <a:round/>
                      <a:headEnd type="none" w="med" len="med"/>
                      <a:tailEnd type="none" w="med" len="med"/>
                    </a:lnT>
                    <a:lnB w="12700" cap="flat" cmpd="sng" algn="ctr">
                      <a:solidFill>
                        <a:srgbClr val="C8C7C4"/>
                      </a:solidFill>
                      <a:prstDash val="solid"/>
                      <a:round/>
                      <a:headEnd type="none" w="med" len="med"/>
                      <a:tailEnd type="none" w="med" len="med"/>
                    </a:lnB>
                    <a:solidFill>
                      <a:srgbClr val="FBFAF6"/>
                    </a:solidFill>
                  </a:tcPr>
                </a:tc>
                <a:tc>
                  <a:txBody>
                    <a:bodyPr/>
                    <a:lstStyle/>
                    <a:p>
                      <a:pPr marL="0" indent="0">
                        <a:lnSpc>
                          <a:spcPts val="1820"/>
                        </a:lnSpc>
                        <a:buNone/>
                      </a:pPr>
                      <a:r>
                        <a:rPr lang="en-US" sz="1300" dirty="0">
                          <a:solidFill>
                            <a:srgbClr val="16202A"/>
                          </a:solidFill>
                          <a:latin typeface="IBM Plex Sans" pitchFamily="34" charset="0"/>
                          <a:ea typeface="IBM Plex Sans" pitchFamily="34" charset="-122"/>
                          <a:cs typeface="IBM Plex Sans" pitchFamily="34" charset="-120"/>
                        </a:rPr>
                        <a:t>No river or no soil water: 0 of 3 lineages survive</a:t>
                      </a:r>
                      <a:endParaRPr lang="en-US" sz="1300" dirty="0">
                        <a:latin typeface="IBM Plex Sans" charset="0"/>
                        <a:ea typeface="IBM Plex Sans" charset="0"/>
                        <a:cs typeface="IBM Plex Sans" charset="0"/>
                      </a:endParaRPr>
                    </a:p>
                  </a:txBody>
                  <a:tcPr marL="57785" marR="57785" marT="57785" marB="57785">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161D25"/>
                      </a:solidFill>
                      <a:prstDash val="solid"/>
                      <a:round/>
                      <a:headEnd type="none" w="med" len="med"/>
                      <a:tailEnd type="none" w="med" len="med"/>
                    </a:lnT>
                    <a:lnB w="12700" cap="flat" cmpd="sng" algn="ctr">
                      <a:solidFill>
                        <a:srgbClr val="C8C7C4"/>
                      </a:solidFill>
                      <a:prstDash val="solid"/>
                      <a:round/>
                      <a:headEnd type="none" w="med" len="med"/>
                      <a:tailEnd type="none" w="med" len="med"/>
                    </a:lnB>
                    <a:solidFill>
                      <a:srgbClr val="FBFAF6"/>
                    </a:solidFill>
                  </a:tcPr>
                </a:tc>
                <a:extLst>
                  <a:ext uri="{0D108BD9-81ED-4DB2-BD59-A6C34878D82A}">
                    <a16:rowId xmlns:a16="http://schemas.microsoft.com/office/drawing/2014/main" val="10001"/>
                  </a:ext>
                </a:extLst>
              </a:tr>
              <a:tr h="588010">
                <a:tc>
                  <a:txBody>
                    <a:bodyPr/>
                    <a:lstStyle/>
                    <a:p>
                      <a:pPr marL="0" indent="0">
                        <a:lnSpc>
                          <a:spcPts val="1820"/>
                        </a:lnSpc>
                        <a:buNone/>
                      </a:pPr>
                      <a:r>
                        <a:rPr lang="en-US" sz="1300" dirty="0">
                          <a:solidFill>
                            <a:srgbClr val="16202A"/>
                          </a:solidFill>
                          <a:latin typeface="IBM Plex Sans" pitchFamily="34" charset="0"/>
                          <a:ea typeface="IBM Plex Sans" pitchFamily="34" charset="-122"/>
                          <a:cs typeface="IBM Plex Sans" pitchFamily="34" charset="-120"/>
                        </a:rPr>
                        <a:t>Rhino</a:t>
                      </a:r>
                      <a:endParaRPr lang="en-US" sz="1300" dirty="0">
                        <a:latin typeface="IBM Plex Sans" charset="0"/>
                        <a:ea typeface="IBM Plex Sans" charset="0"/>
                        <a:cs typeface="IBM Plex Sans" charset="0"/>
                      </a:endParaRPr>
                    </a:p>
                  </a:txBody>
                  <a:tcPr marL="57785" marR="57785" marT="57785" marB="57785">
                    <a:lnL w="12700" cap="flat" cmpd="sng" algn="ctr">
                      <a:solidFill>
                        <a:srgbClr val="C2C0B9"/>
                      </a:solidFill>
                      <a:prstDash val="solid"/>
                      <a:round/>
                      <a:headEnd type="none" w="med" len="med"/>
                      <a:tailEnd type="none" w="med" len="med"/>
                    </a:lnL>
                    <a:lnR w="12700" cap="flat" cmpd="sng" algn="ctr">
                      <a:solidFill>
                        <a:srgbClr val="C2C0B9"/>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C2C0B9"/>
                      </a:solidFill>
                      <a:prstDash val="solid"/>
                      <a:round/>
                      <a:headEnd type="none" w="med" len="med"/>
                      <a:tailEnd type="none" w="med" len="med"/>
                    </a:lnB>
                  </a:tcPr>
                </a:tc>
                <a:tc>
                  <a:txBody>
                    <a:bodyPr/>
                    <a:lstStyle/>
                    <a:p>
                      <a:pPr marL="0" indent="0">
                        <a:lnSpc>
                          <a:spcPts val="1820"/>
                        </a:lnSpc>
                        <a:buNone/>
                      </a:pPr>
                      <a:r>
                        <a:rPr lang="en-US" sz="1300" dirty="0">
                          <a:solidFill>
                            <a:srgbClr val="16202A"/>
                          </a:solidFill>
                          <a:latin typeface="IBM Plex Sans" pitchFamily="34" charset="0"/>
                          <a:ea typeface="IBM Plex Sans" pitchFamily="34" charset="-122"/>
                          <a:cs typeface="IBM Plex Sans" pitchFamily="34" charset="-120"/>
                        </a:rPr>
                        <a:t>Grazer, hunted by leopards</a:t>
                      </a:r>
                      <a:endParaRPr lang="en-US" sz="1300" dirty="0">
                        <a:latin typeface="IBM Plex Sans" charset="0"/>
                        <a:ea typeface="IBM Plex Sans" charset="0"/>
                        <a:cs typeface="IBM Plex Sans" charset="0"/>
                      </a:endParaRPr>
                    </a:p>
                  </a:txBody>
                  <a:tcPr marL="57785" marR="57785" marT="57785" marB="57785">
                    <a:lnL w="12700" cap="flat" cmpd="sng" algn="ctr">
                      <a:solidFill>
                        <a:srgbClr val="C2C0B9"/>
                      </a:solidFill>
                      <a:prstDash val="solid"/>
                      <a:round/>
                      <a:headEnd type="none" w="med" len="med"/>
                      <a:tailEnd type="none" w="med" len="med"/>
                    </a:lnL>
                    <a:lnR w="12700" cap="flat" cmpd="sng" algn="ctr">
                      <a:solidFill>
                        <a:srgbClr val="C2C0B9"/>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C2C0B9"/>
                      </a:solidFill>
                      <a:prstDash val="solid"/>
                      <a:round/>
                      <a:headEnd type="none" w="med" len="med"/>
                      <a:tailEnd type="none" w="med" len="med"/>
                    </a:lnB>
                  </a:tcPr>
                </a:tc>
                <a:tc>
                  <a:txBody>
                    <a:bodyPr/>
                    <a:lstStyle/>
                    <a:p>
                      <a:pPr marL="0" indent="0">
                        <a:lnSpc>
                          <a:spcPts val="1820"/>
                        </a:lnSpc>
                        <a:buNone/>
                      </a:pPr>
                      <a:r>
                        <a:rPr lang="en-US" sz="1300" dirty="0">
                          <a:solidFill>
                            <a:srgbClr val="16202A"/>
                          </a:solidFill>
                          <a:latin typeface="IBM Plex Sans" pitchFamily="34" charset="0"/>
                          <a:ea typeface="IBM Plex Sans" pitchFamily="34" charset="-122"/>
                          <a:cs typeface="IBM Plex Sans" pitchFamily="34" charset="-120"/>
                        </a:rPr>
                        <a:t>Slow armoured grazer; the only animal that wades the river</a:t>
                      </a:r>
                      <a:endParaRPr lang="en-US" sz="1300" dirty="0">
                        <a:latin typeface="IBM Plex Sans" charset="0"/>
                        <a:ea typeface="IBM Plex Sans" charset="0"/>
                        <a:cs typeface="IBM Plex Sans" charset="0"/>
                      </a:endParaRPr>
                    </a:p>
                  </a:txBody>
                  <a:tcPr marL="57785" marR="57785" marT="57785" marB="57785">
                    <a:lnL w="12700" cap="flat" cmpd="sng" algn="ctr">
                      <a:solidFill>
                        <a:srgbClr val="C2C0B9"/>
                      </a:solidFill>
                      <a:prstDash val="solid"/>
                      <a:round/>
                      <a:headEnd type="none" w="med" len="med"/>
                      <a:tailEnd type="none" w="med" len="med"/>
                    </a:lnL>
                    <a:lnR w="12700" cap="flat" cmpd="sng" algn="ctr">
                      <a:solidFill>
                        <a:srgbClr val="C2C0B9"/>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C2C0B9"/>
                      </a:solidFill>
                      <a:prstDash val="solid"/>
                      <a:round/>
                      <a:headEnd type="none" w="med" len="med"/>
                      <a:tailEnd type="none" w="med" len="med"/>
                    </a:lnB>
                  </a:tcPr>
                </a:tc>
                <a:tc>
                  <a:txBody>
                    <a:bodyPr/>
                    <a:lstStyle/>
                    <a:p>
                      <a:pPr marL="0" indent="0">
                        <a:lnSpc>
                          <a:spcPts val="1820"/>
                        </a:lnSpc>
                        <a:buNone/>
                      </a:pPr>
                      <a:r>
                        <a:rPr lang="en-US" sz="1300" dirty="0">
                          <a:solidFill>
                            <a:srgbClr val="16202A"/>
                          </a:solidFill>
                          <a:latin typeface="IBM Plex Sans" pitchFamily="34" charset="0"/>
                          <a:ea typeface="IBM Plex Sans" pitchFamily="34" charset="-122"/>
                          <a:cs typeface="IBM Plex Sans" pitchFamily="34" charset="-120"/>
                        </a:rPr>
                        <a:t>Scarce food: survived in 1 of 3 seeds</a:t>
                      </a:r>
                      <a:endParaRPr lang="en-US" sz="1300" dirty="0">
                        <a:latin typeface="IBM Plex Sans" charset="0"/>
                        <a:ea typeface="IBM Plex Sans" charset="0"/>
                        <a:cs typeface="IBM Plex Sans" charset="0"/>
                      </a:endParaRPr>
                    </a:p>
                  </a:txBody>
                  <a:tcPr marL="57785" marR="57785" marT="57785" marB="57785">
                    <a:lnL w="12700" cap="flat" cmpd="sng" algn="ctr">
                      <a:solidFill>
                        <a:srgbClr val="C2C0B9"/>
                      </a:solidFill>
                      <a:prstDash val="solid"/>
                      <a:round/>
                      <a:headEnd type="none" w="med" len="med"/>
                      <a:tailEnd type="none" w="med" len="med"/>
                    </a:lnL>
                    <a:lnR w="12700" cap="flat" cmpd="sng" algn="ctr">
                      <a:solidFill>
                        <a:srgbClr val="C2C0B9"/>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C2C0B9"/>
                      </a:solidFill>
                      <a:prstDash val="solid"/>
                      <a:round/>
                      <a:headEnd type="none" w="med" len="med"/>
                      <a:tailEnd type="none" w="med" len="med"/>
                    </a:lnB>
                  </a:tcPr>
                </a:tc>
                <a:extLst>
                  <a:ext uri="{0D108BD9-81ED-4DB2-BD59-A6C34878D82A}">
                    <a16:rowId xmlns:a16="http://schemas.microsoft.com/office/drawing/2014/main" val="10002"/>
                  </a:ext>
                </a:extLst>
              </a:tr>
              <a:tr h="588010">
                <a:tc>
                  <a:txBody>
                    <a:bodyPr/>
                    <a:lstStyle/>
                    <a:p>
                      <a:pPr marL="0" indent="0">
                        <a:lnSpc>
                          <a:spcPts val="1820"/>
                        </a:lnSpc>
                        <a:buNone/>
                      </a:pPr>
                      <a:r>
                        <a:rPr lang="en-US" sz="1300" dirty="0">
                          <a:solidFill>
                            <a:srgbClr val="16202A"/>
                          </a:solidFill>
                          <a:latin typeface="IBM Plex Sans" pitchFamily="34" charset="0"/>
                          <a:ea typeface="IBM Plex Sans" pitchFamily="34" charset="-122"/>
                          <a:cs typeface="IBM Plex Sans" pitchFamily="34" charset="-120"/>
                        </a:rPr>
                        <a:t>Leopard</a:t>
                      </a:r>
                      <a:endParaRPr lang="en-US" sz="1300" dirty="0">
                        <a:latin typeface="IBM Plex Sans" charset="0"/>
                        <a:ea typeface="IBM Plex Sans" charset="0"/>
                        <a:cs typeface="IBM Plex Sans" charset="0"/>
                      </a:endParaRPr>
                    </a:p>
                  </a:txBody>
                  <a:tcPr marL="57785" marR="57785" marT="57785" marB="57785">
                    <a:lnL w="12700" cap="flat" cmpd="sng" algn="ctr">
                      <a:solidFill>
                        <a:srgbClr val="C2C0B9"/>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C2C0B9"/>
                      </a:solidFill>
                      <a:prstDash val="solid"/>
                      <a:round/>
                      <a:headEnd type="none" w="med" len="med"/>
                      <a:tailEnd type="none" w="med" len="med"/>
                    </a:lnT>
                    <a:lnB w="12700" cap="flat" cmpd="sng" algn="ctr">
                      <a:solidFill>
                        <a:srgbClr val="C8C7C4"/>
                      </a:solidFill>
                      <a:prstDash val="solid"/>
                      <a:round/>
                      <a:headEnd type="none" w="med" len="med"/>
                      <a:tailEnd type="none" w="med" len="med"/>
                    </a:lnB>
                    <a:solidFill>
                      <a:srgbClr val="FBFAF6"/>
                    </a:solidFill>
                  </a:tcPr>
                </a:tc>
                <a:tc>
                  <a:txBody>
                    <a:bodyPr/>
                    <a:lstStyle/>
                    <a:p>
                      <a:pPr marL="0" indent="0">
                        <a:lnSpc>
                          <a:spcPts val="1820"/>
                        </a:lnSpc>
                        <a:buNone/>
                      </a:pPr>
                      <a:r>
                        <a:rPr lang="en-US" sz="1300" dirty="0">
                          <a:solidFill>
                            <a:srgbClr val="16202A"/>
                          </a:solidFill>
                          <a:latin typeface="IBM Plex Sans" pitchFamily="34" charset="0"/>
                          <a:ea typeface="IBM Plex Sans" pitchFamily="34" charset="-122"/>
                          <a:cs typeface="IBM Plex Sans" pitchFamily="34" charset="-120"/>
                        </a:rPr>
                        <a:t>Hunter that could also eat plant food</a:t>
                      </a:r>
                      <a:endParaRPr lang="en-US" sz="1300" dirty="0">
                        <a:latin typeface="IBM Plex Sans" charset="0"/>
                        <a:ea typeface="IBM Plex Sans" charset="0"/>
                        <a:cs typeface="IBM Plex Sans" charset="0"/>
                      </a:endParaRPr>
                    </a:p>
                  </a:txBody>
                  <a:tcPr marL="57785" marR="57785" marT="57785" marB="57785">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C2C0B9"/>
                      </a:solidFill>
                      <a:prstDash val="solid"/>
                      <a:round/>
                      <a:headEnd type="none" w="med" len="med"/>
                      <a:tailEnd type="none" w="med" len="med"/>
                    </a:lnT>
                    <a:lnB w="12700" cap="flat" cmpd="sng" algn="ctr">
                      <a:solidFill>
                        <a:srgbClr val="C8C7C4"/>
                      </a:solidFill>
                      <a:prstDash val="solid"/>
                      <a:round/>
                      <a:headEnd type="none" w="med" len="med"/>
                      <a:tailEnd type="none" w="med" len="med"/>
                    </a:lnB>
                    <a:solidFill>
                      <a:srgbClr val="FBFAF6"/>
                    </a:solidFill>
                  </a:tcPr>
                </a:tc>
                <a:tc>
                  <a:txBody>
                    <a:bodyPr/>
                    <a:lstStyle/>
                    <a:p>
                      <a:pPr marL="0" indent="0">
                        <a:lnSpc>
                          <a:spcPts val="1820"/>
                        </a:lnSpc>
                        <a:buNone/>
                      </a:pPr>
                      <a:r>
                        <a:rPr lang="en-US" sz="1300" dirty="0">
                          <a:solidFill>
                            <a:srgbClr val="16202A"/>
                          </a:solidFill>
                          <a:latin typeface="IBM Plex Sans" pitchFamily="34" charset="0"/>
                          <a:ea typeface="IBM Plex Sans" pitchFamily="34" charset="-122"/>
                          <a:cs typeface="IBM Plex Sans" pitchFamily="34" charset="-120"/>
                        </a:rPr>
                        <a:t>Meat-only ambush hunter, caching near trees</a:t>
                      </a:r>
                      <a:endParaRPr lang="en-US" sz="1300" dirty="0">
                        <a:latin typeface="IBM Plex Sans" charset="0"/>
                        <a:ea typeface="IBM Plex Sans" charset="0"/>
                        <a:cs typeface="IBM Plex Sans" charset="0"/>
                      </a:endParaRPr>
                    </a:p>
                  </a:txBody>
                  <a:tcPr marL="57785" marR="57785" marT="57785" marB="57785">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C2C0B9"/>
                      </a:solidFill>
                      <a:prstDash val="solid"/>
                      <a:round/>
                      <a:headEnd type="none" w="med" len="med"/>
                      <a:tailEnd type="none" w="med" len="med"/>
                    </a:lnT>
                    <a:lnB w="12700" cap="flat" cmpd="sng" algn="ctr">
                      <a:solidFill>
                        <a:srgbClr val="C8C7C4"/>
                      </a:solidFill>
                      <a:prstDash val="solid"/>
                      <a:round/>
                      <a:headEnd type="none" w="med" len="med"/>
                      <a:tailEnd type="none" w="med" len="med"/>
                    </a:lnB>
                    <a:solidFill>
                      <a:srgbClr val="FBFAF6"/>
                    </a:solidFill>
                  </a:tcPr>
                </a:tc>
                <a:tc>
                  <a:txBody>
                    <a:bodyPr/>
                    <a:lstStyle/>
                    <a:p>
                      <a:pPr marL="0" indent="0">
                        <a:lnSpc>
                          <a:spcPts val="1820"/>
                        </a:lnSpc>
                        <a:buNone/>
                      </a:pPr>
                      <a:r>
                        <a:rPr lang="en-US" sz="1300" dirty="0">
                          <a:solidFill>
                            <a:srgbClr val="16202A"/>
                          </a:solidFill>
                          <a:latin typeface="IBM Plex Sans" pitchFamily="34" charset="0"/>
                          <a:ea typeface="IBM Plex Sans" pitchFamily="34" charset="-122"/>
                          <a:cs typeface="IBM Plex Sans" pitchFamily="34" charset="-120"/>
                        </a:rPr>
                        <a:t>No trees: cached anywhere, peaked at 110, persisted once</a:t>
                      </a:r>
                      <a:endParaRPr lang="en-US" sz="1300" dirty="0">
                        <a:latin typeface="IBM Plex Sans" charset="0"/>
                        <a:ea typeface="IBM Plex Sans" charset="0"/>
                        <a:cs typeface="IBM Plex Sans" charset="0"/>
                      </a:endParaRPr>
                    </a:p>
                  </a:txBody>
                  <a:tcPr marL="57785" marR="57785" marT="57785" marB="57785">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C2C0B9"/>
                      </a:solidFill>
                      <a:prstDash val="solid"/>
                      <a:round/>
                      <a:headEnd type="none" w="med" len="med"/>
                      <a:tailEnd type="none" w="med" len="med"/>
                    </a:lnT>
                    <a:lnB w="12700" cap="flat" cmpd="sng" algn="ctr">
                      <a:solidFill>
                        <a:srgbClr val="C8C7C4"/>
                      </a:solidFill>
                      <a:prstDash val="solid"/>
                      <a:round/>
                      <a:headEnd type="none" w="med" len="med"/>
                      <a:tailEnd type="none" w="med" len="med"/>
                    </a:lnB>
                    <a:solidFill>
                      <a:srgbClr val="FBFAF6"/>
                    </a:solidFill>
                  </a:tcPr>
                </a:tc>
                <a:extLst>
                  <a:ext uri="{0D108BD9-81ED-4DB2-BD59-A6C34878D82A}">
                    <a16:rowId xmlns:a16="http://schemas.microsoft.com/office/drawing/2014/main" val="10003"/>
                  </a:ext>
                </a:extLst>
              </a:tr>
              <a:tr h="588010">
                <a:tc>
                  <a:txBody>
                    <a:bodyPr/>
                    <a:lstStyle/>
                    <a:p>
                      <a:pPr marL="0" indent="0">
                        <a:lnSpc>
                          <a:spcPts val="1820"/>
                        </a:lnSpc>
                        <a:buNone/>
                      </a:pPr>
                      <a:r>
                        <a:rPr lang="en-US" sz="1300" dirty="0">
                          <a:solidFill>
                            <a:srgbClr val="16202A"/>
                          </a:solidFill>
                          <a:latin typeface="IBM Plex Sans" pitchFamily="34" charset="0"/>
                          <a:ea typeface="IBM Plex Sans" pitchFamily="34" charset="-122"/>
                          <a:cs typeface="IBM Plex Sans" pitchFamily="34" charset="-120"/>
                        </a:rPr>
                        <a:t>Grass / bush</a:t>
                      </a:r>
                      <a:endParaRPr lang="en-US" sz="1300" dirty="0">
                        <a:latin typeface="IBM Plex Sans" charset="0"/>
                        <a:ea typeface="IBM Plex Sans" charset="0"/>
                        <a:cs typeface="IBM Plex Sans" charset="0"/>
                      </a:endParaRPr>
                    </a:p>
                  </a:txBody>
                  <a:tcPr marL="57785" marR="57785" marT="57785" marB="57785">
                    <a:lnL w="12700" cap="flat" cmpd="sng" algn="ctr">
                      <a:solidFill>
                        <a:srgbClr val="C2C0B9"/>
                      </a:solidFill>
                      <a:prstDash val="solid"/>
                      <a:round/>
                      <a:headEnd type="none" w="med" len="med"/>
                      <a:tailEnd type="none" w="med" len="med"/>
                    </a:lnL>
                    <a:lnR w="12700" cap="flat" cmpd="sng" algn="ctr">
                      <a:solidFill>
                        <a:srgbClr val="C2C0B9"/>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C2C0B9"/>
                      </a:solidFill>
                      <a:prstDash val="solid"/>
                      <a:round/>
                      <a:headEnd type="none" w="med" len="med"/>
                      <a:tailEnd type="none" w="med" len="med"/>
                    </a:lnB>
                  </a:tcPr>
                </a:tc>
                <a:tc>
                  <a:txBody>
                    <a:bodyPr/>
                    <a:lstStyle/>
                    <a:p>
                      <a:pPr marL="0" indent="0">
                        <a:lnSpc>
                          <a:spcPts val="1820"/>
                        </a:lnSpc>
                        <a:buNone/>
                      </a:pPr>
                      <a:r>
                        <a:rPr lang="en-US" sz="1300" dirty="0">
                          <a:solidFill>
                            <a:srgbClr val="16202A"/>
                          </a:solidFill>
                          <a:latin typeface="IBM Plex Sans" pitchFamily="34" charset="0"/>
                          <a:ea typeface="IBM Plex Sans" pitchFamily="34" charset="-122"/>
                          <a:cs typeface="IBM Plex Sans" pitchFamily="34" charset="-120"/>
                        </a:rPr>
                        <a:t>Same food, same role</a:t>
                      </a:r>
                      <a:endParaRPr lang="en-US" sz="1300" dirty="0">
                        <a:latin typeface="IBM Plex Sans" charset="0"/>
                        <a:ea typeface="IBM Plex Sans" charset="0"/>
                        <a:cs typeface="IBM Plex Sans" charset="0"/>
                      </a:endParaRPr>
                    </a:p>
                  </a:txBody>
                  <a:tcPr marL="57785" marR="57785" marT="57785" marB="57785">
                    <a:lnL w="12700" cap="flat" cmpd="sng" algn="ctr">
                      <a:solidFill>
                        <a:srgbClr val="C2C0B9"/>
                      </a:solidFill>
                      <a:prstDash val="solid"/>
                      <a:round/>
                      <a:headEnd type="none" w="med" len="med"/>
                      <a:tailEnd type="none" w="med" len="med"/>
                    </a:lnL>
                    <a:lnR w="12700" cap="flat" cmpd="sng" algn="ctr">
                      <a:solidFill>
                        <a:srgbClr val="C2C0B9"/>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C2C0B9"/>
                      </a:solidFill>
                      <a:prstDash val="solid"/>
                      <a:round/>
                      <a:headEnd type="none" w="med" len="med"/>
                      <a:tailEnd type="none" w="med" len="med"/>
                    </a:lnB>
                  </a:tcPr>
                </a:tc>
                <a:tc>
                  <a:txBody>
                    <a:bodyPr/>
                    <a:lstStyle/>
                    <a:p>
                      <a:pPr marL="0" indent="0">
                        <a:lnSpc>
                          <a:spcPts val="1820"/>
                        </a:lnSpc>
                        <a:buNone/>
                      </a:pPr>
                      <a:r>
                        <a:rPr lang="en-US" sz="1300" dirty="0">
                          <a:solidFill>
                            <a:srgbClr val="16202A"/>
                          </a:solidFill>
                          <a:latin typeface="IBM Plex Sans" pitchFamily="34" charset="0"/>
                          <a:ea typeface="IBM Plex Sans" pitchFamily="34" charset="-122"/>
                          <a:cs typeface="IBM Plex Sans" pitchFamily="34" charset="-120"/>
                        </a:rPr>
                        <a:t>Grass: thirsty, fast. Bush: deep roots, takes over dry ground</a:t>
                      </a:r>
                      <a:endParaRPr lang="en-US" sz="1300" dirty="0">
                        <a:latin typeface="IBM Plex Sans" charset="0"/>
                        <a:ea typeface="IBM Plex Sans" charset="0"/>
                        <a:cs typeface="IBM Plex Sans" charset="0"/>
                      </a:endParaRPr>
                    </a:p>
                  </a:txBody>
                  <a:tcPr marL="57785" marR="57785" marT="57785" marB="57785">
                    <a:lnL w="12700" cap="flat" cmpd="sng" algn="ctr">
                      <a:solidFill>
                        <a:srgbClr val="C2C0B9"/>
                      </a:solidFill>
                      <a:prstDash val="solid"/>
                      <a:round/>
                      <a:headEnd type="none" w="med" len="med"/>
                      <a:tailEnd type="none" w="med" len="med"/>
                    </a:lnL>
                    <a:lnR w="12700" cap="flat" cmpd="sng" algn="ctr">
                      <a:solidFill>
                        <a:srgbClr val="C2C0B9"/>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C2C0B9"/>
                      </a:solidFill>
                      <a:prstDash val="solid"/>
                      <a:round/>
                      <a:headEnd type="none" w="med" len="med"/>
                      <a:tailEnd type="none" w="med" len="med"/>
                    </a:lnB>
                  </a:tcPr>
                </a:tc>
                <a:tc>
                  <a:txBody>
                    <a:bodyPr/>
                    <a:lstStyle/>
                    <a:p>
                      <a:pPr marL="0" indent="0">
                        <a:lnSpc>
                          <a:spcPts val="1820"/>
                        </a:lnSpc>
                        <a:buNone/>
                      </a:pPr>
                      <a:r>
                        <a:rPr lang="en-US" sz="1300" dirty="0">
                          <a:solidFill>
                            <a:srgbClr val="16202A"/>
                          </a:solidFill>
                          <a:latin typeface="IBM Plex Sans" pitchFamily="34" charset="0"/>
                          <a:ea typeface="IBM Plex Sans" pitchFamily="34" charset="-122"/>
                          <a:cs typeface="IBM Plex Sans" pitchFamily="34" charset="-120"/>
                        </a:rPr>
                        <a:t>No soil water: grass spreads unchecked</a:t>
                      </a:r>
                      <a:endParaRPr lang="en-US" sz="1300" dirty="0">
                        <a:latin typeface="IBM Plex Sans" charset="0"/>
                        <a:ea typeface="IBM Plex Sans" charset="0"/>
                        <a:cs typeface="IBM Plex Sans" charset="0"/>
                      </a:endParaRPr>
                    </a:p>
                  </a:txBody>
                  <a:tcPr marL="57785" marR="57785" marT="57785" marB="57785">
                    <a:lnL w="12700" cap="flat" cmpd="sng" algn="ctr">
                      <a:solidFill>
                        <a:srgbClr val="C2C0B9"/>
                      </a:solidFill>
                      <a:prstDash val="solid"/>
                      <a:round/>
                      <a:headEnd type="none" w="med" len="med"/>
                      <a:tailEnd type="none" w="med" len="med"/>
                    </a:lnL>
                    <a:lnR w="12700" cap="flat" cmpd="sng" algn="ctr">
                      <a:solidFill>
                        <a:srgbClr val="C2C0B9"/>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C2C0B9"/>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3F0E8"/>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540"/>
          </a:xfrm>
          <a:prstGeom prst="rect">
            <a:avLst/>
          </a:prstGeom>
          <a:noFill/>
          <a:ln/>
        </p:spPr>
        <p:txBody>
          <a:bodyPr wrap="square" lIns="0" tIns="0" rIns="0" bIns="0" rtlCol="0" anchor="t">
            <a:normAutofit/>
          </a:bodyPr>
          <a:lstStyle/>
          <a:p>
            <a:pPr marL="0" indent="0" algn="l">
              <a:lnSpc>
                <a:spcPts val="1820"/>
              </a:lnSpc>
              <a:buNone/>
            </a:pPr>
            <a:r>
              <a:rPr lang="en-US" sz="1300" b="1" kern="0" spc="150" dirty="0">
                <a:solidFill>
                  <a:srgbClr val="1C6E8C"/>
                </a:solidFill>
                <a:latin typeface="IBM Plex Sans" pitchFamily="34" charset="0"/>
                <a:ea typeface="IBM Plex Sans" pitchFamily="34" charset="-122"/>
                <a:cs typeface="IBM Plex Sans" pitchFamily="34" charset="-120"/>
              </a:rPr>
              <a:t>AFTER · SWITCHING ONE FEATURE OFF AT A TIME</a:t>
            </a:r>
            <a:endParaRPr lang="en-US" sz="1300" dirty="0"/>
          </a:p>
        </p:txBody>
      </p:sp>
      <p:sp>
        <p:nvSpPr>
          <p:cNvPr id="3" name="Text 1"/>
          <p:cNvSpPr>
            <a:spLocks noGrp="1"/>
          </p:cNvSpPr>
          <p:nvPr>
            <p:ph type="title"/>
          </p:nvPr>
        </p:nvSpPr>
        <p:spPr>
          <a:xfrm>
            <a:off x="812800" y="1120142"/>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6202A"/>
                </a:solidFill>
                <a:latin typeface="Space Grotesk" pitchFamily="34" charset="0"/>
                <a:ea typeface="Space Grotesk" pitchFamily="34" charset="-122"/>
                <a:cs typeface="Space Grotesk" pitchFamily="34" charset="-120"/>
              </a:rPr>
              <a:t>The environment mattered as much as the traits</a:t>
            </a:r>
            <a:endParaRPr lang="en-US" sz="30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2960" y="1778002"/>
          <a:ext cx="10556240" cy="3317240"/>
        </p:xfrm>
        <a:graphic>
          <a:graphicData uri="http://schemas.openxmlformats.org/drawingml/2006/table">
            <a:tbl>
              <a:tblPr/>
              <a:tblGrid>
                <a:gridCol w="2955747">
                  <a:extLst>
                    <a:ext uri="{9D8B030D-6E8A-4147-A177-3AD203B41FA5}">
                      <a16:colId xmlns:a16="http://schemas.microsoft.com/office/drawing/2014/main" val="20000"/>
                    </a:ext>
                  </a:extLst>
                </a:gridCol>
                <a:gridCol w="2322373">
                  <a:extLst>
                    <a:ext uri="{9D8B030D-6E8A-4147-A177-3AD203B41FA5}">
                      <a16:colId xmlns:a16="http://schemas.microsoft.com/office/drawing/2014/main" val="20001"/>
                    </a:ext>
                  </a:extLst>
                </a:gridCol>
                <a:gridCol w="5278120">
                  <a:extLst>
                    <a:ext uri="{9D8B030D-6E8A-4147-A177-3AD203B41FA5}">
                      <a16:colId xmlns:a16="http://schemas.microsoft.com/office/drawing/2014/main" val="20002"/>
                    </a:ext>
                  </a:extLst>
                </a:gridCol>
              </a:tblGrid>
              <a:tr h="632460">
                <a:tc>
                  <a:txBody>
                    <a:bodyPr/>
                    <a:lstStyle/>
                    <a:p>
                      <a:pPr marL="0" indent="0">
                        <a:lnSpc>
                          <a:spcPts val="1960"/>
                        </a:lnSpc>
                        <a:buNone/>
                      </a:pPr>
                      <a:r>
                        <a:rPr lang="en-US" sz="1400" b="1" dirty="0">
                          <a:solidFill>
                            <a:srgbClr val="F3F0E8"/>
                          </a:solidFill>
                          <a:latin typeface="IBM Plex Sans" pitchFamily="34" charset="0"/>
                          <a:ea typeface="IBM Plex Sans" pitchFamily="34" charset="-122"/>
                          <a:cs typeface="IBM Plex Sans" pitchFamily="34" charset="-120"/>
                        </a:rPr>
                        <a:t>Condition</a:t>
                      </a:r>
                      <a:endParaRPr lang="en-US" sz="1400" dirty="0">
                        <a:latin typeface="IBM Plex Sans" charset="0"/>
                        <a:ea typeface="IBM Plex Sans" charset="0"/>
                        <a:cs typeface="IBM Plex Sans" charset="0"/>
                      </a:endParaRPr>
                    </a:p>
                  </a:txBody>
                  <a:tcPr marL="62230" marR="62230" marT="62230" marB="62230">
                    <a:lnL w="12700" cap="flat" cmpd="sng" algn="ctr">
                      <a:solidFill>
                        <a:srgbClr val="C2C0B9"/>
                      </a:solidFill>
                      <a:prstDash val="solid"/>
                      <a:round/>
                      <a:headEnd type="none" w="med" len="med"/>
                      <a:tailEnd type="none" w="med" len="med"/>
                    </a:lnL>
                    <a:lnR w="12700" cap="flat" cmpd="sng" algn="ctr">
                      <a:solidFill>
                        <a:srgbClr val="161D25"/>
                      </a:solidFill>
                      <a:prstDash val="solid"/>
                      <a:round/>
                      <a:headEnd type="none" w="med" len="med"/>
                      <a:tailEnd type="none" w="med" len="med"/>
                    </a:lnR>
                    <a:lnT w="12700" cap="flat" cmpd="sng" algn="ctr">
                      <a:solidFill>
                        <a:srgbClr val="C2C0B9"/>
                      </a:solidFill>
                      <a:prstDash val="solid"/>
                      <a:round/>
                      <a:headEnd type="none" w="med" len="med"/>
                      <a:tailEnd type="none" w="med" len="med"/>
                    </a:lnT>
                    <a:lnB w="12700" cap="flat" cmpd="sng" algn="ctr">
                      <a:solidFill>
                        <a:srgbClr val="161D25"/>
                      </a:solidFill>
                      <a:prstDash val="solid"/>
                      <a:round/>
                      <a:headEnd type="none" w="med" len="med"/>
                      <a:tailEnd type="none" w="med" len="med"/>
                    </a:lnB>
                    <a:solidFill>
                      <a:srgbClr val="16202A"/>
                    </a:solidFill>
                  </a:tcPr>
                </a:tc>
                <a:tc>
                  <a:txBody>
                    <a:bodyPr/>
                    <a:lstStyle/>
                    <a:p>
                      <a:pPr marL="0" indent="0">
                        <a:lnSpc>
                          <a:spcPts val="1960"/>
                        </a:lnSpc>
                        <a:buNone/>
                      </a:pPr>
                      <a:r>
                        <a:rPr lang="en-US" sz="1400" b="1" dirty="0">
                          <a:solidFill>
                            <a:srgbClr val="F3F0E8"/>
                          </a:solidFill>
                          <a:latin typeface="IBM Plex Sans" pitchFamily="34" charset="0"/>
                          <a:ea typeface="IBM Plex Sans" pitchFamily="34" charset="-122"/>
                          <a:cs typeface="IBM Plex Sans" pitchFamily="34" charset="-120"/>
                        </a:rPr>
                        <a:t>Zebra lineages alive at 40k</a:t>
                      </a:r>
                      <a:endParaRPr lang="en-US" sz="1400" dirty="0">
                        <a:latin typeface="IBM Plex Sans" charset="0"/>
                        <a:ea typeface="IBM Plex Sans" charset="0"/>
                        <a:cs typeface="IBM Plex Sans" charset="0"/>
                      </a:endParaRPr>
                    </a:p>
                  </a:txBody>
                  <a:tcPr marL="62230" marR="62230" marT="62230" marB="62230">
                    <a:lnL w="12700" cap="flat" cmpd="sng" algn="ctr">
                      <a:solidFill>
                        <a:srgbClr val="161D25"/>
                      </a:solidFill>
                      <a:prstDash val="solid"/>
                      <a:round/>
                      <a:headEnd type="none" w="med" len="med"/>
                      <a:tailEnd type="none" w="med" len="med"/>
                    </a:lnL>
                    <a:lnR w="12700" cap="flat" cmpd="sng" algn="ctr">
                      <a:solidFill>
                        <a:srgbClr val="161D25"/>
                      </a:solidFill>
                      <a:prstDash val="solid"/>
                      <a:round/>
                      <a:headEnd type="none" w="med" len="med"/>
                      <a:tailEnd type="none" w="med" len="med"/>
                    </a:lnR>
                    <a:lnT w="12700" cap="flat" cmpd="sng" algn="ctr">
                      <a:solidFill>
                        <a:srgbClr val="C2C0B9"/>
                      </a:solidFill>
                      <a:prstDash val="solid"/>
                      <a:round/>
                      <a:headEnd type="none" w="med" len="med"/>
                      <a:tailEnd type="none" w="med" len="med"/>
                    </a:lnT>
                    <a:lnB w="12700" cap="flat" cmpd="sng" algn="ctr">
                      <a:solidFill>
                        <a:srgbClr val="161D25"/>
                      </a:solidFill>
                      <a:prstDash val="solid"/>
                      <a:round/>
                      <a:headEnd type="none" w="med" len="med"/>
                      <a:tailEnd type="none" w="med" len="med"/>
                    </a:lnB>
                    <a:solidFill>
                      <a:srgbClr val="16202A"/>
                    </a:solidFill>
                  </a:tcPr>
                </a:tc>
                <a:tc>
                  <a:txBody>
                    <a:bodyPr/>
                    <a:lstStyle/>
                    <a:p>
                      <a:pPr marL="0" indent="0">
                        <a:lnSpc>
                          <a:spcPts val="1960"/>
                        </a:lnSpc>
                        <a:buNone/>
                      </a:pPr>
                      <a:r>
                        <a:rPr lang="en-US" sz="1400" b="1" dirty="0">
                          <a:solidFill>
                            <a:srgbClr val="F3F0E8"/>
                          </a:solidFill>
                          <a:latin typeface="IBM Plex Sans" pitchFamily="34" charset="0"/>
                          <a:ea typeface="IBM Plex Sans" pitchFamily="34" charset="-122"/>
                          <a:cs typeface="IBM Plex Sans" pitchFamily="34" charset="-120"/>
                        </a:rPr>
                        <a:t>Reading</a:t>
                      </a:r>
                      <a:endParaRPr lang="en-US" sz="1400" dirty="0">
                        <a:latin typeface="IBM Plex Sans" charset="0"/>
                        <a:ea typeface="IBM Plex Sans" charset="0"/>
                        <a:cs typeface="IBM Plex Sans" charset="0"/>
                      </a:endParaRPr>
                    </a:p>
                  </a:txBody>
                  <a:tcPr marL="62230" marR="62230" marT="62230" marB="62230">
                    <a:lnL w="12700" cap="flat" cmpd="sng" algn="ctr">
                      <a:solidFill>
                        <a:srgbClr val="161D25"/>
                      </a:solidFill>
                      <a:prstDash val="solid"/>
                      <a:round/>
                      <a:headEnd type="none" w="med" len="med"/>
                      <a:tailEnd type="none" w="med" len="med"/>
                    </a:lnL>
                    <a:lnR w="12700" cap="flat" cmpd="sng" algn="ctr">
                      <a:solidFill>
                        <a:srgbClr val="161D25"/>
                      </a:solidFill>
                      <a:prstDash val="solid"/>
                      <a:round/>
                      <a:headEnd type="none" w="med" len="med"/>
                      <a:tailEnd type="none" w="med" len="med"/>
                    </a:lnR>
                    <a:lnT w="12700" cap="flat" cmpd="sng" algn="ctr">
                      <a:solidFill>
                        <a:srgbClr val="C2C0B9"/>
                      </a:solidFill>
                      <a:prstDash val="solid"/>
                      <a:round/>
                      <a:headEnd type="none" w="med" len="med"/>
                      <a:tailEnd type="none" w="med" len="med"/>
                    </a:lnT>
                    <a:lnB w="12700" cap="flat" cmpd="sng" algn="ctr">
                      <a:solidFill>
                        <a:srgbClr val="161D25"/>
                      </a:solidFill>
                      <a:prstDash val="solid"/>
                      <a:round/>
                      <a:headEnd type="none" w="med" len="med"/>
                      <a:tailEnd type="none" w="med" len="med"/>
                    </a:lnB>
                    <a:solidFill>
                      <a:srgbClr val="16202A"/>
                    </a:solidFill>
                  </a:tcPr>
                </a:tc>
                <a:extLst>
                  <a:ext uri="{0D108BD9-81ED-4DB2-BD59-A6C34878D82A}">
                    <a16:rowId xmlns:a16="http://schemas.microsoft.com/office/drawing/2014/main" val="10000"/>
                  </a:ext>
                </a:extLst>
              </a:tr>
              <a:tr h="383540">
                <a:tc>
                  <a:txBody>
                    <a:bodyPr/>
                    <a:lstStyle/>
                    <a:p>
                      <a:pPr marL="0" indent="0">
                        <a:lnSpc>
                          <a:spcPts val="1960"/>
                        </a:lnSpc>
                        <a:buNone/>
                      </a:pPr>
                      <a:r>
                        <a:rPr lang="en-US" sz="1400" dirty="0">
                          <a:solidFill>
                            <a:srgbClr val="16202A"/>
                          </a:solidFill>
                          <a:latin typeface="IBM Plex Sans" pitchFamily="34" charset="0"/>
                          <a:ea typeface="IBM Plex Sans" pitchFamily="34" charset="-122"/>
                          <a:cs typeface="IBM Plex Sans" pitchFamily="34" charset="-120"/>
                        </a:rPr>
                        <a:t>Full design</a:t>
                      </a:r>
                      <a:endParaRPr lang="en-US" sz="1400" dirty="0">
                        <a:latin typeface="IBM Plex Sans" charset="0"/>
                        <a:ea typeface="IBM Plex Sans" charset="0"/>
                        <a:cs typeface="IBM Plex Sans" charset="0"/>
                      </a:endParaRPr>
                    </a:p>
                  </a:txBody>
                  <a:tcPr marL="62230" marR="62230" marT="62230" marB="62230">
                    <a:lnL w="12700" cap="flat" cmpd="sng" algn="ctr">
                      <a:solidFill>
                        <a:srgbClr val="C2C0B9"/>
                      </a:solidFill>
                      <a:prstDash val="solid"/>
                      <a:round/>
                      <a:headEnd type="none" w="med" len="med"/>
                      <a:tailEnd type="none" w="med" len="med"/>
                    </a:lnL>
                    <a:lnR w="12700" cap="flat" cmpd="sng" algn="ctr">
                      <a:solidFill>
                        <a:srgbClr val="B0BEC3"/>
                      </a:solidFill>
                      <a:prstDash val="solid"/>
                      <a:round/>
                      <a:headEnd type="none" w="med" len="med"/>
                      <a:tailEnd type="none" w="med" len="med"/>
                    </a:lnR>
                    <a:lnT w="12700" cap="flat" cmpd="sng" algn="ctr">
                      <a:solidFill>
                        <a:srgbClr val="161D25"/>
                      </a:solidFill>
                      <a:prstDash val="solid"/>
                      <a:round/>
                      <a:headEnd type="none" w="med" len="med"/>
                      <a:tailEnd type="none" w="med" len="med"/>
                    </a:lnT>
                    <a:lnB w="12700" cap="flat" cmpd="sng" algn="ctr">
                      <a:solidFill>
                        <a:srgbClr val="B0BEC3"/>
                      </a:solidFill>
                      <a:prstDash val="solid"/>
                      <a:round/>
                      <a:headEnd type="none" w="med" len="med"/>
                      <a:tailEnd type="none" w="med" len="med"/>
                    </a:lnB>
                    <a:solidFill>
                      <a:srgbClr val="DCEEF4"/>
                    </a:solidFill>
                  </a:tcPr>
                </a:tc>
                <a:tc>
                  <a:txBody>
                    <a:bodyPr/>
                    <a:lstStyle/>
                    <a:p>
                      <a:pPr marL="0" indent="0">
                        <a:lnSpc>
                          <a:spcPts val="1960"/>
                        </a:lnSpc>
                        <a:buNone/>
                      </a:pPr>
                      <a:r>
                        <a:rPr lang="en-US" sz="1400" dirty="0">
                          <a:solidFill>
                            <a:srgbClr val="16202A"/>
                          </a:solidFill>
                          <a:latin typeface="IBM Plex Sans" pitchFamily="34" charset="0"/>
                          <a:ea typeface="IBM Plex Sans" pitchFamily="34" charset="-122"/>
                          <a:cs typeface="IBM Plex Sans" pitchFamily="34" charset="-120"/>
                        </a:rPr>
                        <a:t>4 of 5</a:t>
                      </a:r>
                      <a:endParaRPr lang="en-US" sz="1400" dirty="0">
                        <a:latin typeface="IBM Plex Sans" charset="0"/>
                        <a:ea typeface="IBM Plex Sans" charset="0"/>
                        <a:cs typeface="IBM Plex Sans" charset="0"/>
                      </a:endParaRPr>
                    </a:p>
                  </a:txBody>
                  <a:tcPr marL="62230" marR="62230" marT="62230" marB="62230">
                    <a:lnL w="12700" cap="flat" cmpd="sng" algn="ctr">
                      <a:solidFill>
                        <a:srgbClr val="B0BEC3"/>
                      </a:solidFill>
                      <a:prstDash val="solid"/>
                      <a:round/>
                      <a:headEnd type="none" w="med" len="med"/>
                      <a:tailEnd type="none" w="med" len="med"/>
                    </a:lnL>
                    <a:lnR w="12700" cap="flat" cmpd="sng" algn="ctr">
                      <a:solidFill>
                        <a:srgbClr val="B0BEC3"/>
                      </a:solidFill>
                      <a:prstDash val="solid"/>
                      <a:round/>
                      <a:headEnd type="none" w="med" len="med"/>
                      <a:tailEnd type="none" w="med" len="med"/>
                    </a:lnR>
                    <a:lnT w="12700" cap="flat" cmpd="sng" algn="ctr">
                      <a:solidFill>
                        <a:srgbClr val="161D25"/>
                      </a:solidFill>
                      <a:prstDash val="solid"/>
                      <a:round/>
                      <a:headEnd type="none" w="med" len="med"/>
                      <a:tailEnd type="none" w="med" len="med"/>
                    </a:lnT>
                    <a:lnB w="12700" cap="flat" cmpd="sng" algn="ctr">
                      <a:solidFill>
                        <a:srgbClr val="B0BEC3"/>
                      </a:solidFill>
                      <a:prstDash val="solid"/>
                      <a:round/>
                      <a:headEnd type="none" w="med" len="med"/>
                      <a:tailEnd type="none" w="med" len="med"/>
                    </a:lnB>
                    <a:solidFill>
                      <a:srgbClr val="DCEEF4"/>
                    </a:solidFill>
                  </a:tcPr>
                </a:tc>
                <a:tc>
                  <a:txBody>
                    <a:bodyPr/>
                    <a:lstStyle/>
                    <a:p>
                      <a:pPr marL="0" indent="0">
                        <a:lnSpc>
                          <a:spcPts val="1960"/>
                        </a:lnSpc>
                        <a:buNone/>
                      </a:pPr>
                      <a:r>
                        <a:rPr lang="en-US" sz="1400" dirty="0">
                          <a:solidFill>
                            <a:srgbClr val="16202A"/>
                          </a:solidFill>
                          <a:latin typeface="IBM Plex Sans" pitchFamily="34" charset="0"/>
                          <a:ea typeface="IBM Plex Sans" pitchFamily="34" charset="-122"/>
                          <a:cs typeface="IBM Plex Sans" pitchFamily="34" charset="-120"/>
                        </a:rPr>
                        <a:t>Reference</a:t>
                      </a:r>
                      <a:endParaRPr lang="en-US" sz="1400" dirty="0">
                        <a:latin typeface="IBM Plex Sans" charset="0"/>
                        <a:ea typeface="IBM Plex Sans" charset="0"/>
                        <a:cs typeface="IBM Plex Sans" charset="0"/>
                      </a:endParaRPr>
                    </a:p>
                  </a:txBody>
                  <a:tcPr marL="62230" marR="62230" marT="62230" marB="62230">
                    <a:lnL w="12700" cap="flat" cmpd="sng" algn="ctr">
                      <a:solidFill>
                        <a:srgbClr val="B0BEC3"/>
                      </a:solidFill>
                      <a:prstDash val="solid"/>
                      <a:round/>
                      <a:headEnd type="none" w="med" len="med"/>
                      <a:tailEnd type="none" w="med" len="med"/>
                    </a:lnL>
                    <a:lnR w="12700" cap="flat" cmpd="sng" algn="ctr">
                      <a:solidFill>
                        <a:srgbClr val="B0BEC3"/>
                      </a:solidFill>
                      <a:prstDash val="solid"/>
                      <a:round/>
                      <a:headEnd type="none" w="med" len="med"/>
                      <a:tailEnd type="none" w="med" len="med"/>
                    </a:lnR>
                    <a:lnT w="12700" cap="flat" cmpd="sng" algn="ctr">
                      <a:solidFill>
                        <a:srgbClr val="161D25"/>
                      </a:solidFill>
                      <a:prstDash val="solid"/>
                      <a:round/>
                      <a:headEnd type="none" w="med" len="med"/>
                      <a:tailEnd type="none" w="med" len="med"/>
                    </a:lnT>
                    <a:lnB w="12700" cap="flat" cmpd="sng" algn="ctr">
                      <a:solidFill>
                        <a:srgbClr val="B0BEC3"/>
                      </a:solidFill>
                      <a:prstDash val="solid"/>
                      <a:round/>
                      <a:headEnd type="none" w="med" len="med"/>
                      <a:tailEnd type="none" w="med" len="med"/>
                    </a:lnB>
                    <a:solidFill>
                      <a:srgbClr val="DCEEF4"/>
                    </a:solidFill>
                  </a:tcPr>
                </a:tc>
                <a:extLst>
                  <a:ext uri="{0D108BD9-81ED-4DB2-BD59-A6C34878D82A}">
                    <a16:rowId xmlns:a16="http://schemas.microsoft.com/office/drawing/2014/main" val="10001"/>
                  </a:ext>
                </a:extLst>
              </a:tr>
              <a:tr h="383540">
                <a:tc>
                  <a:txBody>
                    <a:bodyPr/>
                    <a:lstStyle/>
                    <a:p>
                      <a:pPr marL="0" indent="0">
                        <a:lnSpc>
                          <a:spcPts val="1960"/>
                        </a:lnSpc>
                        <a:buNone/>
                      </a:pPr>
                      <a:r>
                        <a:rPr lang="en-US" sz="1400" dirty="0">
                          <a:solidFill>
                            <a:srgbClr val="16202A"/>
                          </a:solidFill>
                          <a:latin typeface="IBM Plex Sans" pitchFamily="34" charset="0"/>
                          <a:ea typeface="IBM Plex Sans" pitchFamily="34" charset="-122"/>
                          <a:cs typeface="IBM Plex Sans" pitchFamily="34" charset="-120"/>
                        </a:rPr>
                        <a:t>No river</a:t>
                      </a:r>
                      <a:endParaRPr lang="en-US" sz="1400" dirty="0">
                        <a:latin typeface="IBM Plex Sans" charset="0"/>
                        <a:ea typeface="IBM Plex Sans" charset="0"/>
                        <a:cs typeface="IBM Plex Sans" charset="0"/>
                      </a:endParaRPr>
                    </a:p>
                  </a:txBody>
                  <a:tcPr marL="62230" marR="62230" marT="62230" marB="62230">
                    <a:lnL w="12700" cap="flat" cmpd="sng" algn="ctr">
                      <a:solidFill>
                        <a:srgbClr val="C2C0B9"/>
                      </a:solidFill>
                      <a:prstDash val="solid"/>
                      <a:round/>
                      <a:headEnd type="none" w="med" len="med"/>
                      <a:tailEnd type="none" w="med" len="med"/>
                    </a:lnL>
                    <a:lnR w="12700" cap="flat" cmpd="sng" algn="ctr">
                      <a:solidFill>
                        <a:srgbClr val="C2C0B9"/>
                      </a:solidFill>
                      <a:prstDash val="solid"/>
                      <a:round/>
                      <a:headEnd type="none" w="med" len="med"/>
                      <a:tailEnd type="none" w="med" len="med"/>
                    </a:lnR>
                    <a:lnT w="12700" cap="flat" cmpd="sng" algn="ctr">
                      <a:solidFill>
                        <a:srgbClr val="B0BEC3"/>
                      </a:solidFill>
                      <a:prstDash val="solid"/>
                      <a:round/>
                      <a:headEnd type="none" w="med" len="med"/>
                      <a:tailEnd type="none" w="med" len="med"/>
                    </a:lnT>
                    <a:lnB w="12700" cap="flat" cmpd="sng" algn="ctr">
                      <a:solidFill>
                        <a:srgbClr val="C2C0B9"/>
                      </a:solidFill>
                      <a:prstDash val="solid"/>
                      <a:round/>
                      <a:headEnd type="none" w="med" len="med"/>
                      <a:tailEnd type="none" w="med" len="med"/>
                    </a:lnB>
                  </a:tcPr>
                </a:tc>
                <a:tc>
                  <a:txBody>
                    <a:bodyPr/>
                    <a:lstStyle/>
                    <a:p>
                      <a:pPr marL="0" indent="0">
                        <a:lnSpc>
                          <a:spcPts val="1960"/>
                        </a:lnSpc>
                        <a:buNone/>
                      </a:pPr>
                      <a:r>
                        <a:rPr lang="en-US" sz="1400" dirty="0">
                          <a:solidFill>
                            <a:srgbClr val="16202A"/>
                          </a:solidFill>
                          <a:latin typeface="IBM Plex Sans" pitchFamily="34" charset="0"/>
                          <a:ea typeface="IBM Plex Sans" pitchFamily="34" charset="-122"/>
                          <a:cs typeface="IBM Plex Sans" pitchFamily="34" charset="-120"/>
                        </a:rPr>
                        <a:t>0 of 3</a:t>
                      </a:r>
                      <a:endParaRPr lang="en-US" sz="1400" dirty="0">
                        <a:latin typeface="IBM Plex Sans" charset="0"/>
                        <a:ea typeface="IBM Plex Sans" charset="0"/>
                        <a:cs typeface="IBM Plex Sans" charset="0"/>
                      </a:endParaRPr>
                    </a:p>
                  </a:txBody>
                  <a:tcPr marL="62230" marR="62230" marT="62230" marB="62230">
                    <a:lnL w="12700" cap="flat" cmpd="sng" algn="ctr">
                      <a:solidFill>
                        <a:srgbClr val="C2C0B9"/>
                      </a:solidFill>
                      <a:prstDash val="solid"/>
                      <a:round/>
                      <a:headEnd type="none" w="med" len="med"/>
                      <a:tailEnd type="none" w="med" len="med"/>
                    </a:lnL>
                    <a:lnR w="12700" cap="flat" cmpd="sng" algn="ctr">
                      <a:solidFill>
                        <a:srgbClr val="C2C0B9"/>
                      </a:solidFill>
                      <a:prstDash val="solid"/>
                      <a:round/>
                      <a:headEnd type="none" w="med" len="med"/>
                      <a:tailEnd type="none" w="med" len="med"/>
                    </a:lnR>
                    <a:lnT w="12700" cap="flat" cmpd="sng" algn="ctr">
                      <a:solidFill>
                        <a:srgbClr val="B0BEC3"/>
                      </a:solidFill>
                      <a:prstDash val="solid"/>
                      <a:round/>
                      <a:headEnd type="none" w="med" len="med"/>
                      <a:tailEnd type="none" w="med" len="med"/>
                    </a:lnT>
                    <a:lnB w="12700" cap="flat" cmpd="sng" algn="ctr">
                      <a:solidFill>
                        <a:srgbClr val="C2C0B9"/>
                      </a:solidFill>
                      <a:prstDash val="solid"/>
                      <a:round/>
                      <a:headEnd type="none" w="med" len="med"/>
                      <a:tailEnd type="none" w="med" len="med"/>
                    </a:lnB>
                  </a:tcPr>
                </a:tc>
                <a:tc>
                  <a:txBody>
                    <a:bodyPr/>
                    <a:lstStyle/>
                    <a:p>
                      <a:pPr marL="0" indent="0">
                        <a:lnSpc>
                          <a:spcPts val="1960"/>
                        </a:lnSpc>
                        <a:buNone/>
                      </a:pPr>
                      <a:r>
                        <a:rPr lang="en-US" sz="1400" dirty="0">
                          <a:solidFill>
                            <a:srgbClr val="16202A"/>
                          </a:solidFill>
                          <a:latin typeface="IBM Plex Sans" pitchFamily="34" charset="0"/>
                          <a:ea typeface="IBM Plex Sans" pitchFamily="34" charset="-122"/>
                          <a:cs typeface="IBM Plex Sans" pitchFamily="34" charset="-120"/>
                        </a:rPr>
                        <a:t>The riverbank refuge kept zebras going</a:t>
                      </a:r>
                      <a:endParaRPr lang="en-US" sz="1400" dirty="0">
                        <a:latin typeface="IBM Plex Sans" charset="0"/>
                        <a:ea typeface="IBM Plex Sans" charset="0"/>
                        <a:cs typeface="IBM Plex Sans" charset="0"/>
                      </a:endParaRPr>
                    </a:p>
                  </a:txBody>
                  <a:tcPr marL="62230" marR="62230" marT="62230" marB="62230">
                    <a:lnL w="12700" cap="flat" cmpd="sng" algn="ctr">
                      <a:solidFill>
                        <a:srgbClr val="C2C0B9"/>
                      </a:solidFill>
                      <a:prstDash val="solid"/>
                      <a:round/>
                      <a:headEnd type="none" w="med" len="med"/>
                      <a:tailEnd type="none" w="med" len="med"/>
                    </a:lnL>
                    <a:lnR w="12700" cap="flat" cmpd="sng" algn="ctr">
                      <a:solidFill>
                        <a:srgbClr val="C2C0B9"/>
                      </a:solidFill>
                      <a:prstDash val="solid"/>
                      <a:round/>
                      <a:headEnd type="none" w="med" len="med"/>
                      <a:tailEnd type="none" w="med" len="med"/>
                    </a:lnR>
                    <a:lnT w="12700" cap="flat" cmpd="sng" algn="ctr">
                      <a:solidFill>
                        <a:srgbClr val="B0BEC3"/>
                      </a:solidFill>
                      <a:prstDash val="solid"/>
                      <a:round/>
                      <a:headEnd type="none" w="med" len="med"/>
                      <a:tailEnd type="none" w="med" len="med"/>
                    </a:lnT>
                    <a:lnB w="12700" cap="flat" cmpd="sng" algn="ctr">
                      <a:solidFill>
                        <a:srgbClr val="C2C0B9"/>
                      </a:solidFill>
                      <a:prstDash val="solid"/>
                      <a:round/>
                      <a:headEnd type="none" w="med" len="med"/>
                      <a:tailEnd type="none" w="med" len="med"/>
                    </a:lnB>
                  </a:tcPr>
                </a:tc>
                <a:extLst>
                  <a:ext uri="{0D108BD9-81ED-4DB2-BD59-A6C34878D82A}">
                    <a16:rowId xmlns:a16="http://schemas.microsoft.com/office/drawing/2014/main" val="10002"/>
                  </a:ext>
                </a:extLst>
              </a:tr>
              <a:tr h="383540">
                <a:tc>
                  <a:txBody>
                    <a:bodyPr/>
                    <a:lstStyle/>
                    <a:p>
                      <a:pPr marL="0" indent="0">
                        <a:lnSpc>
                          <a:spcPts val="1960"/>
                        </a:lnSpc>
                        <a:buNone/>
                      </a:pPr>
                      <a:r>
                        <a:rPr lang="en-US" sz="1400" dirty="0">
                          <a:solidFill>
                            <a:srgbClr val="16202A"/>
                          </a:solidFill>
                          <a:latin typeface="IBM Plex Sans" pitchFamily="34" charset="0"/>
                          <a:ea typeface="IBM Plex Sans" pitchFamily="34" charset="-122"/>
                          <a:cs typeface="IBM Plex Sans" pitchFamily="34" charset="-120"/>
                        </a:rPr>
                        <a:t>No soil water</a:t>
                      </a:r>
                      <a:endParaRPr lang="en-US" sz="1400" dirty="0">
                        <a:latin typeface="IBM Plex Sans" charset="0"/>
                        <a:ea typeface="IBM Plex Sans" charset="0"/>
                        <a:cs typeface="IBM Plex Sans" charset="0"/>
                      </a:endParaRPr>
                    </a:p>
                  </a:txBody>
                  <a:tcPr marL="62230" marR="62230" marT="62230" marB="62230">
                    <a:lnL w="12700" cap="flat" cmpd="sng" algn="ctr">
                      <a:solidFill>
                        <a:srgbClr val="C2C0B9"/>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C2C0B9"/>
                      </a:solidFill>
                      <a:prstDash val="solid"/>
                      <a:round/>
                      <a:headEnd type="none" w="med" len="med"/>
                      <a:tailEnd type="none" w="med" len="med"/>
                    </a:lnT>
                    <a:lnB w="12700" cap="flat" cmpd="sng" algn="ctr">
                      <a:solidFill>
                        <a:srgbClr val="C8C7C4"/>
                      </a:solidFill>
                      <a:prstDash val="solid"/>
                      <a:round/>
                      <a:headEnd type="none" w="med" len="med"/>
                      <a:tailEnd type="none" w="med" len="med"/>
                    </a:lnB>
                    <a:solidFill>
                      <a:srgbClr val="FBFAF6"/>
                    </a:solidFill>
                  </a:tcPr>
                </a:tc>
                <a:tc>
                  <a:txBody>
                    <a:bodyPr/>
                    <a:lstStyle/>
                    <a:p>
                      <a:pPr marL="0" indent="0">
                        <a:lnSpc>
                          <a:spcPts val="1960"/>
                        </a:lnSpc>
                        <a:buNone/>
                      </a:pPr>
                      <a:r>
                        <a:rPr lang="en-US" sz="1400" dirty="0">
                          <a:solidFill>
                            <a:srgbClr val="16202A"/>
                          </a:solidFill>
                          <a:latin typeface="IBM Plex Sans" pitchFamily="34" charset="0"/>
                          <a:ea typeface="IBM Plex Sans" pitchFamily="34" charset="-122"/>
                          <a:cs typeface="IBM Plex Sans" pitchFamily="34" charset="-120"/>
                        </a:rPr>
                        <a:t>0 of 3</a:t>
                      </a:r>
                      <a:endParaRPr lang="en-US" sz="1400" dirty="0">
                        <a:latin typeface="IBM Plex Sans" charset="0"/>
                        <a:ea typeface="IBM Plex Sans" charset="0"/>
                        <a:cs typeface="IBM Plex Sans" charset="0"/>
                      </a:endParaRPr>
                    </a:p>
                  </a:txBody>
                  <a:tcPr marL="62230" marR="62230" marT="62230" marB="62230">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C2C0B9"/>
                      </a:solidFill>
                      <a:prstDash val="solid"/>
                      <a:round/>
                      <a:headEnd type="none" w="med" len="med"/>
                      <a:tailEnd type="none" w="med" len="med"/>
                    </a:lnT>
                    <a:lnB w="12700" cap="flat" cmpd="sng" algn="ctr">
                      <a:solidFill>
                        <a:srgbClr val="C8C7C4"/>
                      </a:solidFill>
                      <a:prstDash val="solid"/>
                      <a:round/>
                      <a:headEnd type="none" w="med" len="med"/>
                      <a:tailEnd type="none" w="med" len="med"/>
                    </a:lnB>
                    <a:solidFill>
                      <a:srgbClr val="FBFAF6"/>
                    </a:solidFill>
                  </a:tcPr>
                </a:tc>
                <a:tc>
                  <a:txBody>
                    <a:bodyPr/>
                    <a:lstStyle/>
                    <a:p>
                      <a:pPr marL="0" indent="0">
                        <a:lnSpc>
                          <a:spcPts val="1960"/>
                        </a:lnSpc>
                        <a:buNone/>
                      </a:pPr>
                      <a:r>
                        <a:rPr lang="en-US" sz="1400" dirty="0">
                          <a:solidFill>
                            <a:srgbClr val="16202A"/>
                          </a:solidFill>
                          <a:latin typeface="IBM Plex Sans" pitchFamily="34" charset="0"/>
                          <a:ea typeface="IBM Plex Sans" pitchFamily="34" charset="-122"/>
                          <a:cs typeface="IBM Plex Sans" pitchFamily="34" charset="-120"/>
                        </a:rPr>
                        <a:t>Water limits matter; exact cause not isolated</a:t>
                      </a:r>
                      <a:endParaRPr lang="en-US" sz="1400" dirty="0">
                        <a:latin typeface="IBM Plex Sans" charset="0"/>
                        <a:ea typeface="IBM Plex Sans" charset="0"/>
                        <a:cs typeface="IBM Plex Sans" charset="0"/>
                      </a:endParaRPr>
                    </a:p>
                  </a:txBody>
                  <a:tcPr marL="62230" marR="62230" marT="62230" marB="62230">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C2C0B9"/>
                      </a:solidFill>
                      <a:prstDash val="solid"/>
                      <a:round/>
                      <a:headEnd type="none" w="med" len="med"/>
                      <a:tailEnd type="none" w="med" len="med"/>
                    </a:lnT>
                    <a:lnB w="12700" cap="flat" cmpd="sng" algn="ctr">
                      <a:solidFill>
                        <a:srgbClr val="C8C7C4"/>
                      </a:solidFill>
                      <a:prstDash val="solid"/>
                      <a:round/>
                      <a:headEnd type="none" w="med" len="med"/>
                      <a:tailEnd type="none" w="med" len="med"/>
                    </a:lnB>
                    <a:solidFill>
                      <a:srgbClr val="FBFAF6"/>
                    </a:solidFill>
                  </a:tcPr>
                </a:tc>
                <a:extLst>
                  <a:ext uri="{0D108BD9-81ED-4DB2-BD59-A6C34878D82A}">
                    <a16:rowId xmlns:a16="http://schemas.microsoft.com/office/drawing/2014/main" val="10003"/>
                  </a:ext>
                </a:extLst>
              </a:tr>
              <a:tr h="383540">
                <a:tc>
                  <a:txBody>
                    <a:bodyPr/>
                    <a:lstStyle/>
                    <a:p>
                      <a:pPr marL="0" indent="0">
                        <a:lnSpc>
                          <a:spcPts val="1960"/>
                        </a:lnSpc>
                        <a:buNone/>
                      </a:pPr>
                      <a:r>
                        <a:rPr lang="en-US" sz="1400" dirty="0">
                          <a:solidFill>
                            <a:srgbClr val="16202A"/>
                          </a:solidFill>
                          <a:latin typeface="IBM Plex Sans" pitchFamily="34" charset="0"/>
                          <a:ea typeface="IBM Plex Sans" pitchFamily="34" charset="-122"/>
                          <a:cs typeface="IBM Plex Sans" pitchFamily="34" charset="-120"/>
                        </a:rPr>
                        <a:t>No stripes / weak camouflage</a:t>
                      </a:r>
                      <a:endParaRPr lang="en-US" sz="1400" dirty="0">
                        <a:latin typeface="IBM Plex Sans" charset="0"/>
                        <a:ea typeface="IBM Plex Sans" charset="0"/>
                        <a:cs typeface="IBM Plex Sans" charset="0"/>
                      </a:endParaRPr>
                    </a:p>
                  </a:txBody>
                  <a:tcPr marL="62230" marR="62230" marT="62230" marB="62230">
                    <a:lnL w="12700" cap="flat" cmpd="sng" algn="ctr">
                      <a:solidFill>
                        <a:srgbClr val="C2C0B9"/>
                      </a:solidFill>
                      <a:prstDash val="solid"/>
                      <a:round/>
                      <a:headEnd type="none" w="med" len="med"/>
                      <a:tailEnd type="none" w="med" len="med"/>
                    </a:lnL>
                    <a:lnR w="12700" cap="flat" cmpd="sng" algn="ctr">
                      <a:solidFill>
                        <a:srgbClr val="C2C0B9"/>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C2C0B9"/>
                      </a:solidFill>
                      <a:prstDash val="solid"/>
                      <a:round/>
                      <a:headEnd type="none" w="med" len="med"/>
                      <a:tailEnd type="none" w="med" len="med"/>
                    </a:lnB>
                  </a:tcPr>
                </a:tc>
                <a:tc>
                  <a:txBody>
                    <a:bodyPr/>
                    <a:lstStyle/>
                    <a:p>
                      <a:pPr marL="0" indent="0">
                        <a:lnSpc>
                          <a:spcPts val="1960"/>
                        </a:lnSpc>
                        <a:buNone/>
                      </a:pPr>
                      <a:r>
                        <a:rPr lang="en-US" sz="1400" dirty="0">
                          <a:solidFill>
                            <a:srgbClr val="16202A"/>
                          </a:solidFill>
                          <a:latin typeface="IBM Plex Sans" pitchFamily="34" charset="0"/>
                          <a:ea typeface="IBM Plex Sans" pitchFamily="34" charset="-122"/>
                          <a:cs typeface="IBM Plex Sans" pitchFamily="34" charset="-120"/>
                        </a:rPr>
                        <a:t>1 of 3 / 0 of 3</a:t>
                      </a:r>
                      <a:endParaRPr lang="en-US" sz="1400" dirty="0">
                        <a:latin typeface="IBM Plex Sans" charset="0"/>
                        <a:ea typeface="IBM Plex Sans" charset="0"/>
                        <a:cs typeface="IBM Plex Sans" charset="0"/>
                      </a:endParaRPr>
                    </a:p>
                  </a:txBody>
                  <a:tcPr marL="62230" marR="62230" marT="62230" marB="62230">
                    <a:lnL w="12700" cap="flat" cmpd="sng" algn="ctr">
                      <a:solidFill>
                        <a:srgbClr val="C2C0B9"/>
                      </a:solidFill>
                      <a:prstDash val="solid"/>
                      <a:round/>
                      <a:headEnd type="none" w="med" len="med"/>
                      <a:tailEnd type="none" w="med" len="med"/>
                    </a:lnL>
                    <a:lnR w="12700" cap="flat" cmpd="sng" algn="ctr">
                      <a:solidFill>
                        <a:srgbClr val="C2C0B9"/>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C2C0B9"/>
                      </a:solidFill>
                      <a:prstDash val="solid"/>
                      <a:round/>
                      <a:headEnd type="none" w="med" len="med"/>
                      <a:tailEnd type="none" w="med" len="med"/>
                    </a:lnB>
                  </a:tcPr>
                </a:tc>
                <a:tc>
                  <a:txBody>
                    <a:bodyPr/>
                    <a:lstStyle/>
                    <a:p>
                      <a:pPr marL="0" indent="0">
                        <a:lnSpc>
                          <a:spcPts val="1960"/>
                        </a:lnSpc>
                        <a:buNone/>
                      </a:pPr>
                      <a:r>
                        <a:rPr lang="en-US" sz="1400" dirty="0">
                          <a:solidFill>
                            <a:srgbClr val="16202A"/>
                          </a:solidFill>
                          <a:latin typeface="IBM Plex Sans" pitchFamily="34" charset="0"/>
                          <a:ea typeface="IBM Plex Sans" pitchFamily="34" charset="-122"/>
                          <a:cs typeface="IBM Plex Sans" pitchFamily="34" charset="-120"/>
                        </a:rPr>
                        <a:t>Herd camouflage protects zebras</a:t>
                      </a:r>
                      <a:endParaRPr lang="en-US" sz="1400" dirty="0">
                        <a:latin typeface="IBM Plex Sans" charset="0"/>
                        <a:ea typeface="IBM Plex Sans" charset="0"/>
                        <a:cs typeface="IBM Plex Sans" charset="0"/>
                      </a:endParaRPr>
                    </a:p>
                  </a:txBody>
                  <a:tcPr marL="62230" marR="62230" marT="62230" marB="62230">
                    <a:lnL w="12700" cap="flat" cmpd="sng" algn="ctr">
                      <a:solidFill>
                        <a:srgbClr val="C2C0B9"/>
                      </a:solidFill>
                      <a:prstDash val="solid"/>
                      <a:round/>
                      <a:headEnd type="none" w="med" len="med"/>
                      <a:tailEnd type="none" w="med" len="med"/>
                    </a:lnL>
                    <a:lnR w="12700" cap="flat" cmpd="sng" algn="ctr">
                      <a:solidFill>
                        <a:srgbClr val="C2C0B9"/>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C2C0B9"/>
                      </a:solidFill>
                      <a:prstDash val="solid"/>
                      <a:round/>
                      <a:headEnd type="none" w="med" len="med"/>
                      <a:tailEnd type="none" w="med" len="med"/>
                    </a:lnB>
                  </a:tcPr>
                </a:tc>
                <a:extLst>
                  <a:ext uri="{0D108BD9-81ED-4DB2-BD59-A6C34878D82A}">
                    <a16:rowId xmlns:a16="http://schemas.microsoft.com/office/drawing/2014/main" val="10004"/>
                  </a:ext>
                </a:extLst>
              </a:tr>
              <a:tr h="383540">
                <a:tc>
                  <a:txBody>
                    <a:bodyPr/>
                    <a:lstStyle/>
                    <a:p>
                      <a:pPr marL="0" indent="0">
                        <a:lnSpc>
                          <a:spcPts val="1960"/>
                        </a:lnSpc>
                        <a:buNone/>
                      </a:pPr>
                      <a:r>
                        <a:rPr lang="en-US" sz="1400" dirty="0">
                          <a:solidFill>
                            <a:srgbClr val="16202A"/>
                          </a:solidFill>
                          <a:latin typeface="IBM Plex Sans" pitchFamily="34" charset="0"/>
                          <a:ea typeface="IBM Plex Sans" pitchFamily="34" charset="-122"/>
                          <a:cs typeface="IBM Plex Sans" pitchFamily="34" charset="-120"/>
                        </a:rPr>
                        <a:t>Mouth cap (1 mouth only)</a:t>
                      </a:r>
                      <a:endParaRPr lang="en-US" sz="1400" dirty="0">
                        <a:latin typeface="IBM Plex Sans" charset="0"/>
                        <a:ea typeface="IBM Plex Sans" charset="0"/>
                        <a:cs typeface="IBM Plex Sans" charset="0"/>
                      </a:endParaRPr>
                    </a:p>
                  </a:txBody>
                  <a:tcPr marL="62230" marR="62230" marT="62230" marB="62230">
                    <a:lnL w="12700" cap="flat" cmpd="sng" algn="ctr">
                      <a:solidFill>
                        <a:srgbClr val="C2C0B9"/>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C2C0B9"/>
                      </a:solidFill>
                      <a:prstDash val="solid"/>
                      <a:round/>
                      <a:headEnd type="none" w="med" len="med"/>
                      <a:tailEnd type="none" w="med" len="med"/>
                    </a:lnT>
                    <a:lnB w="12700" cap="flat" cmpd="sng" algn="ctr">
                      <a:solidFill>
                        <a:srgbClr val="C8C7C4"/>
                      </a:solidFill>
                      <a:prstDash val="solid"/>
                      <a:round/>
                      <a:headEnd type="none" w="med" len="med"/>
                      <a:tailEnd type="none" w="med" len="med"/>
                    </a:lnB>
                    <a:solidFill>
                      <a:srgbClr val="FBFAF6"/>
                    </a:solidFill>
                  </a:tcPr>
                </a:tc>
                <a:tc>
                  <a:txBody>
                    <a:bodyPr/>
                    <a:lstStyle/>
                    <a:p>
                      <a:pPr marL="0" indent="0">
                        <a:lnSpc>
                          <a:spcPts val="1960"/>
                        </a:lnSpc>
                        <a:buNone/>
                      </a:pPr>
                      <a:r>
                        <a:rPr lang="en-US" sz="1400" dirty="0">
                          <a:solidFill>
                            <a:srgbClr val="16202A"/>
                          </a:solidFill>
                          <a:latin typeface="IBM Plex Sans" pitchFamily="34" charset="0"/>
                          <a:ea typeface="IBM Plex Sans" pitchFamily="34" charset="-122"/>
                          <a:cs typeface="IBM Plex Sans" pitchFamily="34" charset="-120"/>
                        </a:rPr>
                        <a:t>1 of 3</a:t>
                      </a:r>
                      <a:endParaRPr lang="en-US" sz="1400" dirty="0">
                        <a:latin typeface="IBM Plex Sans" charset="0"/>
                        <a:ea typeface="IBM Plex Sans" charset="0"/>
                        <a:cs typeface="IBM Plex Sans" charset="0"/>
                      </a:endParaRPr>
                    </a:p>
                  </a:txBody>
                  <a:tcPr marL="62230" marR="62230" marT="62230" marB="62230">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C2C0B9"/>
                      </a:solidFill>
                      <a:prstDash val="solid"/>
                      <a:round/>
                      <a:headEnd type="none" w="med" len="med"/>
                      <a:tailEnd type="none" w="med" len="med"/>
                    </a:lnT>
                    <a:lnB w="12700" cap="flat" cmpd="sng" algn="ctr">
                      <a:solidFill>
                        <a:srgbClr val="C8C7C4"/>
                      </a:solidFill>
                      <a:prstDash val="solid"/>
                      <a:round/>
                      <a:headEnd type="none" w="med" len="med"/>
                      <a:tailEnd type="none" w="med" len="med"/>
                    </a:lnB>
                    <a:solidFill>
                      <a:srgbClr val="FBFAF6"/>
                    </a:solidFill>
                  </a:tcPr>
                </a:tc>
                <a:tc>
                  <a:txBody>
                    <a:bodyPr/>
                    <a:lstStyle/>
                    <a:p>
                      <a:pPr marL="0" indent="0">
                        <a:lnSpc>
                          <a:spcPts val="1960"/>
                        </a:lnSpc>
                        <a:buNone/>
                      </a:pPr>
                      <a:r>
                        <a:rPr lang="en-US" sz="1400" dirty="0">
                          <a:solidFill>
                            <a:srgbClr val="16202A"/>
                          </a:solidFill>
                          <a:latin typeface="IBM Plex Sans" pitchFamily="34" charset="0"/>
                          <a:ea typeface="IBM Plex Sans" pitchFamily="34" charset="-122"/>
                          <a:cs typeface="IBM Plex Sans" pitchFamily="34" charset="-120"/>
                        </a:rPr>
                        <a:t>The extra mouth is adaptive, not suicidal</a:t>
                      </a:r>
                      <a:endParaRPr lang="en-US" sz="1400" dirty="0">
                        <a:latin typeface="IBM Plex Sans" charset="0"/>
                        <a:ea typeface="IBM Plex Sans" charset="0"/>
                        <a:cs typeface="IBM Plex Sans" charset="0"/>
                      </a:endParaRPr>
                    </a:p>
                  </a:txBody>
                  <a:tcPr marL="62230" marR="62230" marT="62230" marB="62230">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C2C0B9"/>
                      </a:solidFill>
                      <a:prstDash val="solid"/>
                      <a:round/>
                      <a:headEnd type="none" w="med" len="med"/>
                      <a:tailEnd type="none" w="med" len="med"/>
                    </a:lnT>
                    <a:lnB w="12700" cap="flat" cmpd="sng" algn="ctr">
                      <a:solidFill>
                        <a:srgbClr val="C8C7C4"/>
                      </a:solidFill>
                      <a:prstDash val="solid"/>
                      <a:round/>
                      <a:headEnd type="none" w="med" len="med"/>
                      <a:tailEnd type="none" w="med" len="med"/>
                    </a:lnB>
                    <a:solidFill>
                      <a:srgbClr val="FBFAF6"/>
                    </a:solidFill>
                  </a:tcPr>
                </a:tc>
                <a:extLst>
                  <a:ext uri="{0D108BD9-81ED-4DB2-BD59-A6C34878D82A}">
                    <a16:rowId xmlns:a16="http://schemas.microsoft.com/office/drawing/2014/main" val="10005"/>
                  </a:ext>
                </a:extLst>
              </a:tr>
              <a:tr h="383540">
                <a:tc>
                  <a:txBody>
                    <a:bodyPr/>
                    <a:lstStyle/>
                    <a:p>
                      <a:pPr marL="0" indent="0">
                        <a:lnSpc>
                          <a:spcPts val="1960"/>
                        </a:lnSpc>
                        <a:buNone/>
                      </a:pPr>
                      <a:r>
                        <a:rPr lang="en-US" sz="1400" dirty="0">
                          <a:solidFill>
                            <a:srgbClr val="16202A"/>
                          </a:solidFill>
                          <a:latin typeface="IBM Plex Sans" pitchFamily="34" charset="0"/>
                          <a:ea typeface="IBM Plex Sans" pitchFamily="34" charset="-122"/>
                          <a:cs typeface="IBM Plex Sans" pitchFamily="34" charset="-120"/>
                        </a:rPr>
                        <a:t>No cache</a:t>
                      </a:r>
                      <a:endParaRPr lang="en-US" sz="1400" dirty="0">
                        <a:latin typeface="IBM Plex Sans" charset="0"/>
                        <a:ea typeface="IBM Plex Sans" charset="0"/>
                        <a:cs typeface="IBM Plex Sans" charset="0"/>
                      </a:endParaRPr>
                    </a:p>
                  </a:txBody>
                  <a:tcPr marL="62230" marR="62230" marT="62230" marB="62230">
                    <a:lnL w="12700" cap="flat" cmpd="sng" algn="ctr">
                      <a:solidFill>
                        <a:srgbClr val="C2C0B9"/>
                      </a:solidFill>
                      <a:prstDash val="solid"/>
                      <a:round/>
                      <a:headEnd type="none" w="med" len="med"/>
                      <a:tailEnd type="none" w="med" len="med"/>
                    </a:lnL>
                    <a:lnR w="12700" cap="flat" cmpd="sng" algn="ctr">
                      <a:solidFill>
                        <a:srgbClr val="C2C0B9"/>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C2C0B9"/>
                      </a:solidFill>
                      <a:prstDash val="solid"/>
                      <a:round/>
                      <a:headEnd type="none" w="med" len="med"/>
                      <a:tailEnd type="none" w="med" len="med"/>
                    </a:lnB>
                  </a:tcPr>
                </a:tc>
                <a:tc>
                  <a:txBody>
                    <a:bodyPr/>
                    <a:lstStyle/>
                    <a:p>
                      <a:pPr marL="0" indent="0">
                        <a:lnSpc>
                          <a:spcPts val="1960"/>
                        </a:lnSpc>
                        <a:buNone/>
                      </a:pPr>
                      <a:r>
                        <a:rPr lang="en-US" sz="1400" dirty="0">
                          <a:solidFill>
                            <a:srgbClr val="16202A"/>
                          </a:solidFill>
                          <a:latin typeface="IBM Plex Sans" pitchFamily="34" charset="0"/>
                          <a:ea typeface="IBM Plex Sans" pitchFamily="34" charset="-122"/>
                          <a:cs typeface="IBM Plex Sans" pitchFamily="34" charset="-120"/>
                        </a:rPr>
                        <a:t>3 of 3</a:t>
                      </a:r>
                      <a:endParaRPr lang="en-US" sz="1400" dirty="0">
                        <a:latin typeface="IBM Plex Sans" charset="0"/>
                        <a:ea typeface="IBM Plex Sans" charset="0"/>
                        <a:cs typeface="IBM Plex Sans" charset="0"/>
                      </a:endParaRPr>
                    </a:p>
                  </a:txBody>
                  <a:tcPr marL="62230" marR="62230" marT="62230" marB="62230">
                    <a:lnL w="12700" cap="flat" cmpd="sng" algn="ctr">
                      <a:solidFill>
                        <a:srgbClr val="C2C0B9"/>
                      </a:solidFill>
                      <a:prstDash val="solid"/>
                      <a:round/>
                      <a:headEnd type="none" w="med" len="med"/>
                      <a:tailEnd type="none" w="med" len="med"/>
                    </a:lnL>
                    <a:lnR w="12700" cap="flat" cmpd="sng" algn="ctr">
                      <a:solidFill>
                        <a:srgbClr val="C2C0B9"/>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C2C0B9"/>
                      </a:solidFill>
                      <a:prstDash val="solid"/>
                      <a:round/>
                      <a:headEnd type="none" w="med" len="med"/>
                      <a:tailEnd type="none" w="med" len="med"/>
                    </a:lnB>
                  </a:tcPr>
                </a:tc>
                <a:tc>
                  <a:txBody>
                    <a:bodyPr/>
                    <a:lstStyle/>
                    <a:p>
                      <a:pPr marL="0" indent="0">
                        <a:lnSpc>
                          <a:spcPts val="1960"/>
                        </a:lnSpc>
                        <a:buNone/>
                      </a:pPr>
                      <a:r>
                        <a:rPr lang="en-US" sz="1400" dirty="0">
                          <a:solidFill>
                            <a:srgbClr val="16202A"/>
                          </a:solidFill>
                          <a:latin typeface="IBM Plex Sans" pitchFamily="34" charset="0"/>
                          <a:ea typeface="IBM Plex Sans" pitchFamily="34" charset="-122"/>
                          <a:cs typeface="IBM Plex Sans" pitchFamily="34" charset="-120"/>
                        </a:rPr>
                        <a:t>Leopards die sooner, so fewer zebras are eaten</a:t>
                      </a:r>
                      <a:endParaRPr lang="en-US" sz="1400" dirty="0">
                        <a:latin typeface="IBM Plex Sans" charset="0"/>
                        <a:ea typeface="IBM Plex Sans" charset="0"/>
                        <a:cs typeface="IBM Plex Sans" charset="0"/>
                      </a:endParaRPr>
                    </a:p>
                  </a:txBody>
                  <a:tcPr marL="62230" marR="62230" marT="62230" marB="62230">
                    <a:lnL w="12700" cap="flat" cmpd="sng" algn="ctr">
                      <a:solidFill>
                        <a:srgbClr val="C2C0B9"/>
                      </a:solidFill>
                      <a:prstDash val="solid"/>
                      <a:round/>
                      <a:headEnd type="none" w="med" len="med"/>
                      <a:tailEnd type="none" w="med" len="med"/>
                    </a:lnL>
                    <a:lnR w="12700" cap="flat" cmpd="sng" algn="ctr">
                      <a:solidFill>
                        <a:srgbClr val="C2C0B9"/>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C2C0B9"/>
                      </a:solidFill>
                      <a:prstDash val="solid"/>
                      <a:round/>
                      <a:headEnd type="none" w="med" len="med"/>
                      <a:tailEnd type="none" w="med" len="med"/>
                    </a:lnB>
                  </a:tcPr>
                </a:tc>
                <a:extLst>
                  <a:ext uri="{0D108BD9-81ED-4DB2-BD59-A6C34878D82A}">
                    <a16:rowId xmlns:a16="http://schemas.microsoft.com/office/drawing/2014/main" val="10006"/>
                  </a:ext>
                </a:extLst>
              </a:tr>
              <a:tr h="383540">
                <a:tc>
                  <a:txBody>
                    <a:bodyPr/>
                    <a:lstStyle/>
                    <a:p>
                      <a:pPr marL="0" indent="0">
                        <a:lnSpc>
                          <a:spcPts val="1960"/>
                        </a:lnSpc>
                        <a:buNone/>
                      </a:pPr>
                      <a:r>
                        <a:rPr lang="en-US" sz="1400" dirty="0">
                          <a:solidFill>
                            <a:srgbClr val="16202A"/>
                          </a:solidFill>
                          <a:latin typeface="IBM Plex Sans" pitchFamily="34" charset="0"/>
                          <a:ea typeface="IBM Plex Sans" pitchFamily="34" charset="-122"/>
                          <a:cs typeface="IBM Plex Sans" pitchFamily="34" charset="-120"/>
                        </a:rPr>
                        <a:t>Harsh hunger</a:t>
                      </a:r>
                      <a:endParaRPr lang="en-US" sz="1400" dirty="0">
                        <a:latin typeface="IBM Plex Sans" charset="0"/>
                        <a:ea typeface="IBM Plex Sans" charset="0"/>
                        <a:cs typeface="IBM Plex Sans" charset="0"/>
                      </a:endParaRPr>
                    </a:p>
                  </a:txBody>
                  <a:tcPr marL="62230" marR="62230" marT="62230" marB="62230">
                    <a:lnL w="12700" cap="flat" cmpd="sng" algn="ctr">
                      <a:solidFill>
                        <a:srgbClr val="C2C0B9"/>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C2C0B9"/>
                      </a:solidFill>
                      <a:prstDash val="solid"/>
                      <a:round/>
                      <a:headEnd type="none" w="med" len="med"/>
                      <a:tailEnd type="none" w="med" len="med"/>
                    </a:lnT>
                    <a:lnB w="12700" cap="flat" cmpd="sng" algn="ctr">
                      <a:solidFill>
                        <a:srgbClr val="C8C7C4"/>
                      </a:solidFill>
                      <a:prstDash val="solid"/>
                      <a:round/>
                      <a:headEnd type="none" w="med" len="med"/>
                      <a:tailEnd type="none" w="med" len="med"/>
                    </a:lnB>
                    <a:solidFill>
                      <a:srgbClr val="FBFAF6"/>
                    </a:solidFill>
                  </a:tcPr>
                </a:tc>
                <a:tc>
                  <a:txBody>
                    <a:bodyPr/>
                    <a:lstStyle/>
                    <a:p>
                      <a:pPr marL="0" indent="0">
                        <a:lnSpc>
                          <a:spcPts val="1960"/>
                        </a:lnSpc>
                        <a:buNone/>
                      </a:pPr>
                      <a:r>
                        <a:rPr lang="en-US" sz="1400" dirty="0">
                          <a:solidFill>
                            <a:srgbClr val="16202A"/>
                          </a:solidFill>
                          <a:latin typeface="IBM Plex Sans" pitchFamily="34" charset="0"/>
                          <a:ea typeface="IBM Plex Sans" pitchFamily="34" charset="-122"/>
                          <a:cs typeface="IBM Plex Sans" pitchFamily="34" charset="-120"/>
                        </a:rPr>
                        <a:t>0 of 3</a:t>
                      </a:r>
                      <a:endParaRPr lang="en-US" sz="1400" dirty="0">
                        <a:latin typeface="IBM Plex Sans" charset="0"/>
                        <a:ea typeface="IBM Plex Sans" charset="0"/>
                        <a:cs typeface="IBM Plex Sans" charset="0"/>
                      </a:endParaRPr>
                    </a:p>
                  </a:txBody>
                  <a:tcPr marL="62230" marR="62230" marT="62230" marB="62230">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C2C0B9"/>
                      </a:solidFill>
                      <a:prstDash val="solid"/>
                      <a:round/>
                      <a:headEnd type="none" w="med" len="med"/>
                      <a:tailEnd type="none" w="med" len="med"/>
                    </a:lnT>
                    <a:lnB w="12700" cap="flat" cmpd="sng" algn="ctr">
                      <a:solidFill>
                        <a:srgbClr val="C8C7C4"/>
                      </a:solidFill>
                      <a:prstDash val="solid"/>
                      <a:round/>
                      <a:headEnd type="none" w="med" len="med"/>
                      <a:tailEnd type="none" w="med" len="med"/>
                    </a:lnB>
                    <a:solidFill>
                      <a:srgbClr val="FBFAF6"/>
                    </a:solidFill>
                  </a:tcPr>
                </a:tc>
                <a:tc>
                  <a:txBody>
                    <a:bodyPr/>
                    <a:lstStyle/>
                    <a:p>
                      <a:pPr marL="0" indent="0">
                        <a:lnSpc>
                          <a:spcPts val="1960"/>
                        </a:lnSpc>
                        <a:buNone/>
                      </a:pPr>
                      <a:r>
                        <a:rPr lang="en-US" sz="1400" dirty="0">
                          <a:solidFill>
                            <a:srgbClr val="16202A"/>
                          </a:solidFill>
                          <a:latin typeface="IBM Plex Sans" pitchFamily="34" charset="0"/>
                          <a:ea typeface="IBM Plex Sans" pitchFamily="34" charset="-122"/>
                          <a:cs typeface="IBM Plex Sans" pitchFamily="34" charset="-120"/>
                        </a:rPr>
                        <a:t>Energy stress kills grazers and predators alike</a:t>
                      </a:r>
                      <a:endParaRPr lang="en-US" sz="1400" dirty="0">
                        <a:latin typeface="IBM Plex Sans" charset="0"/>
                        <a:ea typeface="IBM Plex Sans" charset="0"/>
                        <a:cs typeface="IBM Plex Sans" charset="0"/>
                      </a:endParaRPr>
                    </a:p>
                  </a:txBody>
                  <a:tcPr marL="62230" marR="62230" marT="62230" marB="62230">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C2C0B9"/>
                      </a:solidFill>
                      <a:prstDash val="solid"/>
                      <a:round/>
                      <a:headEnd type="none" w="med" len="med"/>
                      <a:tailEnd type="none" w="med" len="med"/>
                    </a:lnT>
                    <a:lnB w="12700" cap="flat" cmpd="sng" algn="ctr">
                      <a:solidFill>
                        <a:srgbClr val="C8C7C4"/>
                      </a:solidFill>
                      <a:prstDash val="solid"/>
                      <a:round/>
                      <a:headEnd type="none" w="med" len="med"/>
                      <a:tailEnd type="none" w="med" len="med"/>
                    </a:lnB>
                    <a:solidFill>
                      <a:srgbClr val="FBFAF6"/>
                    </a:solidFill>
                  </a:tcPr>
                </a:tc>
                <a:extLst>
                  <a:ext uri="{0D108BD9-81ED-4DB2-BD59-A6C34878D82A}">
                    <a16:rowId xmlns:a16="http://schemas.microsoft.com/office/drawing/2014/main" val="10007"/>
                  </a:ext>
                </a:extLst>
              </a:tr>
            </a:tbl>
          </a:graphicData>
        </a:graphic>
      </p:graphicFrame>
      <p:sp>
        <p:nvSpPr>
          <p:cNvPr id="5" name="Text 2"/>
          <p:cNvSpPr/>
          <p:nvPr/>
        </p:nvSpPr>
        <p:spPr>
          <a:xfrm>
            <a:off x="812800" y="5323842"/>
            <a:ext cx="10883392"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3"/>
                </a:solidFill>
                <a:latin typeface="IBM Plex Sans" pitchFamily="34" charset="0"/>
                <a:ea typeface="IBM Plex Sans" pitchFamily="34" charset="-122"/>
                <a:cs typeface="IBM Plex Sans" pitchFamily="34" charset="-120"/>
              </a:rPr>
              <a:t>With 3 seeds, a one-seed difference is noise. We only read 0 of 3 or 3 of 3 as a clear signal.</a:t>
            </a:r>
            <a:endParaRPr lang="en-US" sz="1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3F0E8"/>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540"/>
          </a:xfrm>
          <a:prstGeom prst="rect">
            <a:avLst/>
          </a:prstGeom>
          <a:noFill/>
          <a:ln/>
        </p:spPr>
        <p:txBody>
          <a:bodyPr wrap="square" lIns="0" tIns="0" rIns="0" bIns="0" rtlCol="0" anchor="t">
            <a:normAutofit/>
          </a:bodyPr>
          <a:lstStyle/>
          <a:p>
            <a:pPr marL="0" indent="0" algn="l">
              <a:lnSpc>
                <a:spcPts val="1820"/>
              </a:lnSpc>
              <a:buNone/>
            </a:pPr>
            <a:r>
              <a:rPr lang="en-US" sz="1300" b="1" kern="0" spc="150" dirty="0">
                <a:solidFill>
                  <a:srgbClr val="1C6E8C"/>
                </a:solidFill>
                <a:latin typeface="IBM Plex Sans" pitchFamily="34" charset="0"/>
                <a:ea typeface="IBM Plex Sans" pitchFamily="34" charset="-122"/>
                <a:cs typeface="IBM Plex Sans" pitchFamily="34" charset="-120"/>
              </a:rPr>
              <a:t>AFTER · 18 FOLLOW-UP RUNS</a:t>
            </a:r>
            <a:endParaRPr lang="en-US" sz="1300" dirty="0"/>
          </a:p>
        </p:txBody>
      </p:sp>
      <p:sp>
        <p:nvSpPr>
          <p:cNvPr id="3" name="Text 1"/>
          <p:cNvSpPr>
            <a:spLocks noGrp="1"/>
          </p:cNvSpPr>
          <p:nvPr>
            <p:ph type="title"/>
          </p:nvPr>
        </p:nvSpPr>
        <p:spPr>
          <a:xfrm>
            <a:off x="812800" y="1120142"/>
            <a:ext cx="11379200"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6202A"/>
                </a:solidFill>
                <a:latin typeface="Space Grotesk" pitchFamily="34" charset="0"/>
                <a:ea typeface="Space Grotesk" pitchFamily="34" charset="-122"/>
                <a:cs typeface="Space Grotesk" pitchFamily="34" charset="-120"/>
              </a:rPr>
              <a:t>Longer, drier, more leopards, stronger fire: still no suicide</a:t>
            </a:r>
            <a:endParaRPr lang="en-US" sz="3000" dirty="0"/>
          </a:p>
        </p:txBody>
      </p:sp>
      <p:sp>
        <p:nvSpPr>
          <p:cNvPr id="4" name="Shape 2"/>
          <p:cNvSpPr/>
          <p:nvPr/>
        </p:nvSpPr>
        <p:spPr>
          <a:xfrm>
            <a:off x="815975" y="1796417"/>
            <a:ext cx="3397250" cy="2533650"/>
          </a:xfrm>
          <a:prstGeom prst="roundRect">
            <a:avLst>
              <a:gd name="adj" fmla="val 3885"/>
            </a:avLst>
          </a:prstGeom>
          <a:solidFill>
            <a:srgbClr val="FBFAF6"/>
          </a:solidFill>
          <a:ln w="6350">
            <a:solidFill>
              <a:srgbClr val="DDD6C8"/>
            </a:solidFill>
            <a:prstDash val="solid"/>
          </a:ln>
        </p:spPr>
        <p:txBody>
          <a:bodyPr/>
          <a:lstStyle/>
          <a:p>
            <a:endParaRPr lang="en-ZA"/>
          </a:p>
        </p:txBody>
      </p:sp>
      <p:sp>
        <p:nvSpPr>
          <p:cNvPr id="5" name="Text 3"/>
          <p:cNvSpPr/>
          <p:nvPr/>
        </p:nvSpPr>
        <p:spPr>
          <a:xfrm>
            <a:off x="1046480" y="2026927"/>
            <a:ext cx="3024327" cy="416560"/>
          </a:xfrm>
          <a:prstGeom prst="rect">
            <a:avLst/>
          </a:prstGeom>
          <a:noFill/>
          <a:ln/>
        </p:spPr>
        <p:txBody>
          <a:bodyPr wrap="square" lIns="0" tIns="0" rIns="0" bIns="0" rtlCol="0" anchor="t">
            <a:normAutofit/>
          </a:bodyPr>
          <a:lstStyle/>
          <a:p>
            <a:pPr marL="0" indent="0" algn="l">
              <a:lnSpc>
                <a:spcPts val="3080"/>
              </a:lnSpc>
              <a:buNone/>
            </a:pPr>
            <a:r>
              <a:rPr lang="en-US" sz="2800" b="1" dirty="0">
                <a:solidFill>
                  <a:srgbClr val="1C6E8C"/>
                </a:solidFill>
                <a:latin typeface="Space Grotesk" pitchFamily="34" charset="0"/>
                <a:ea typeface="Space Grotesk" pitchFamily="34" charset="-122"/>
                <a:cs typeface="Space Grotesk" pitchFamily="34" charset="-120"/>
              </a:rPr>
              <a:t>2.8 mouths</a:t>
            </a:r>
            <a:endParaRPr lang="en-US" sz="2800" dirty="0"/>
          </a:p>
        </p:txBody>
      </p:sp>
      <p:sp>
        <p:nvSpPr>
          <p:cNvPr id="6" name="Text 4"/>
          <p:cNvSpPr/>
          <p:nvPr/>
        </p:nvSpPr>
        <p:spPr>
          <a:xfrm>
            <a:off x="1046480" y="2506985"/>
            <a:ext cx="3024327" cy="28448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16202A"/>
                </a:solidFill>
                <a:latin typeface="Space Grotesk" pitchFamily="34" charset="0"/>
                <a:ea typeface="Space Grotesk" pitchFamily="34" charset="-122"/>
                <a:cs typeface="Space Grotesk" pitchFamily="34" charset="-120"/>
              </a:rPr>
              <a:t>Drought, 200k ticks</a:t>
            </a:r>
            <a:endParaRPr lang="en-US" sz="1700" dirty="0"/>
          </a:p>
        </p:txBody>
      </p:sp>
      <p:sp>
        <p:nvSpPr>
          <p:cNvPr id="7" name="Text 5"/>
          <p:cNvSpPr/>
          <p:nvPr/>
        </p:nvSpPr>
        <p:spPr>
          <a:xfrm>
            <a:off x="1046480" y="2854958"/>
            <a:ext cx="3024327" cy="127000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3"/>
                </a:solidFill>
                <a:latin typeface="IBM Plex Sans" pitchFamily="34" charset="0"/>
                <a:ea typeface="IBM Plex Sans" pitchFamily="34" charset="-122"/>
                <a:cs typeface="IBM Plex Sans" pitchFamily="34" charset="-120"/>
              </a:rPr>
              <a:t>Food fell, and zebras grew extra mouths in response. Food kept falling after the last zebra died: grass crowding caused the shortage, not grazing.</a:t>
            </a:r>
            <a:endParaRPr lang="en-US" sz="1400" dirty="0"/>
          </a:p>
        </p:txBody>
      </p:sp>
      <p:sp>
        <p:nvSpPr>
          <p:cNvPr id="8" name="Shape 6"/>
          <p:cNvSpPr/>
          <p:nvPr/>
        </p:nvSpPr>
        <p:spPr>
          <a:xfrm>
            <a:off x="4397375" y="1796417"/>
            <a:ext cx="3397250" cy="2533650"/>
          </a:xfrm>
          <a:prstGeom prst="roundRect">
            <a:avLst>
              <a:gd name="adj" fmla="val 3885"/>
            </a:avLst>
          </a:prstGeom>
          <a:solidFill>
            <a:srgbClr val="FBFAF6"/>
          </a:solidFill>
          <a:ln w="6350">
            <a:solidFill>
              <a:srgbClr val="DDD6C8"/>
            </a:solidFill>
            <a:prstDash val="solid"/>
          </a:ln>
        </p:spPr>
        <p:txBody>
          <a:bodyPr/>
          <a:lstStyle/>
          <a:p>
            <a:endParaRPr lang="en-ZA"/>
          </a:p>
        </p:txBody>
      </p:sp>
      <p:sp>
        <p:nvSpPr>
          <p:cNvPr id="9" name="Text 7"/>
          <p:cNvSpPr/>
          <p:nvPr/>
        </p:nvSpPr>
        <p:spPr>
          <a:xfrm>
            <a:off x="4627880" y="2026927"/>
            <a:ext cx="3024327" cy="416560"/>
          </a:xfrm>
          <a:prstGeom prst="rect">
            <a:avLst/>
          </a:prstGeom>
          <a:noFill/>
          <a:ln/>
        </p:spPr>
        <p:txBody>
          <a:bodyPr wrap="square" lIns="0" tIns="0" rIns="0" bIns="0" rtlCol="0" anchor="t">
            <a:normAutofit/>
          </a:bodyPr>
          <a:lstStyle/>
          <a:p>
            <a:pPr marL="0" indent="0" algn="l">
              <a:lnSpc>
                <a:spcPts val="3080"/>
              </a:lnSpc>
              <a:buNone/>
            </a:pPr>
            <a:r>
              <a:rPr lang="en-US" sz="2800" b="1" dirty="0">
                <a:solidFill>
                  <a:srgbClr val="1C6E8C"/>
                </a:solidFill>
                <a:latin typeface="Space Grotesk" pitchFamily="34" charset="0"/>
                <a:ea typeface="Space Grotesk" pitchFamily="34" charset="-122"/>
                <a:cs typeface="Space Grotesk" pitchFamily="34" charset="-120"/>
              </a:rPr>
              <a:t>1,300 ticks</a:t>
            </a:r>
            <a:endParaRPr lang="en-US" sz="2800" dirty="0"/>
          </a:p>
        </p:txBody>
      </p:sp>
      <p:sp>
        <p:nvSpPr>
          <p:cNvPr id="10" name="Text 8"/>
          <p:cNvSpPr/>
          <p:nvPr/>
        </p:nvSpPr>
        <p:spPr>
          <a:xfrm>
            <a:off x="4627880" y="2506985"/>
            <a:ext cx="3024327" cy="28448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16202A"/>
                </a:solidFill>
                <a:latin typeface="Space Grotesk" pitchFamily="34" charset="0"/>
                <a:ea typeface="Space Grotesk" pitchFamily="34" charset="-122"/>
                <a:cs typeface="Space Grotesk" pitchFamily="34" charset="-120"/>
              </a:rPr>
              <a:t>48 leopards</a:t>
            </a:r>
            <a:endParaRPr lang="en-US" sz="1700" dirty="0"/>
          </a:p>
        </p:txBody>
      </p:sp>
      <p:sp>
        <p:nvSpPr>
          <p:cNvPr id="11" name="Text 9"/>
          <p:cNvSpPr/>
          <p:nvPr/>
        </p:nvSpPr>
        <p:spPr>
          <a:xfrm>
            <a:off x="4627880" y="2854958"/>
            <a:ext cx="3024327" cy="102108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3"/>
                </a:solidFill>
                <a:latin typeface="IBM Plex Sans" pitchFamily="34" charset="0"/>
                <a:ea typeface="IBM Plex Sans" pitchFamily="34" charset="-122"/>
                <a:cs typeface="IBM Plex Sans" pitchFamily="34" charset="-120"/>
              </a:rPr>
              <a:t>The herd was eaten in about 1,300 ticks, then the leopards starved. Over-exploitation from starting numbers, not an evolved trait.</a:t>
            </a:r>
            <a:endParaRPr lang="en-US" sz="1400" dirty="0"/>
          </a:p>
        </p:txBody>
      </p:sp>
      <p:sp>
        <p:nvSpPr>
          <p:cNvPr id="12" name="Shape 10"/>
          <p:cNvSpPr/>
          <p:nvPr/>
        </p:nvSpPr>
        <p:spPr>
          <a:xfrm>
            <a:off x="7978775" y="1796417"/>
            <a:ext cx="3397250" cy="2533650"/>
          </a:xfrm>
          <a:prstGeom prst="roundRect">
            <a:avLst>
              <a:gd name="adj" fmla="val 3885"/>
            </a:avLst>
          </a:prstGeom>
          <a:solidFill>
            <a:srgbClr val="FBFAF6"/>
          </a:solidFill>
          <a:ln w="6350">
            <a:solidFill>
              <a:srgbClr val="DDD6C8"/>
            </a:solidFill>
            <a:prstDash val="solid"/>
          </a:ln>
        </p:spPr>
        <p:txBody>
          <a:bodyPr/>
          <a:lstStyle/>
          <a:p>
            <a:endParaRPr lang="en-ZA"/>
          </a:p>
        </p:txBody>
      </p:sp>
      <p:sp>
        <p:nvSpPr>
          <p:cNvPr id="13" name="Text 11"/>
          <p:cNvSpPr/>
          <p:nvPr/>
        </p:nvSpPr>
        <p:spPr>
          <a:xfrm>
            <a:off x="8209280" y="2026927"/>
            <a:ext cx="3024327" cy="416560"/>
          </a:xfrm>
          <a:prstGeom prst="rect">
            <a:avLst/>
          </a:prstGeom>
          <a:noFill/>
          <a:ln/>
        </p:spPr>
        <p:txBody>
          <a:bodyPr wrap="square" lIns="0" tIns="0" rIns="0" bIns="0" rtlCol="0" anchor="t">
            <a:normAutofit/>
          </a:bodyPr>
          <a:lstStyle/>
          <a:p>
            <a:pPr marL="0" indent="0" algn="l">
              <a:lnSpc>
                <a:spcPts val="3080"/>
              </a:lnSpc>
              <a:buNone/>
            </a:pPr>
            <a:r>
              <a:rPr lang="en-US" sz="2800" b="1" dirty="0">
                <a:solidFill>
                  <a:srgbClr val="1C6E8C"/>
                </a:solidFill>
                <a:latin typeface="Space Grotesk" pitchFamily="34" charset="0"/>
                <a:ea typeface="Space Grotesk" pitchFamily="34" charset="-122"/>
                <a:cs typeface="Space Grotesk" pitchFamily="34" charset="-120"/>
              </a:rPr>
              <a:t>160 cells</a:t>
            </a:r>
            <a:endParaRPr lang="en-US" sz="2800" dirty="0"/>
          </a:p>
        </p:txBody>
      </p:sp>
      <p:sp>
        <p:nvSpPr>
          <p:cNvPr id="14" name="Text 12"/>
          <p:cNvSpPr/>
          <p:nvPr/>
        </p:nvSpPr>
        <p:spPr>
          <a:xfrm>
            <a:off x="8209280" y="2506985"/>
            <a:ext cx="3024327" cy="28448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16202A"/>
                </a:solidFill>
                <a:latin typeface="Space Grotesk" pitchFamily="34" charset="0"/>
                <a:ea typeface="Space Grotesk" pitchFamily="34" charset="-122"/>
                <a:cs typeface="Space Grotesk" pitchFamily="34" charset="-120"/>
              </a:rPr>
              <a:t>10× fire chance</a:t>
            </a:r>
            <a:endParaRPr lang="en-US" sz="1700" dirty="0"/>
          </a:p>
        </p:txBody>
      </p:sp>
      <p:sp>
        <p:nvSpPr>
          <p:cNvPr id="15" name="Text 13"/>
          <p:cNvSpPr/>
          <p:nvPr/>
        </p:nvSpPr>
        <p:spPr>
          <a:xfrm>
            <a:off x="8209280" y="2854958"/>
            <a:ext cx="3024327" cy="102108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3"/>
                </a:solidFill>
                <a:latin typeface="IBM Plex Sans" pitchFamily="34" charset="0"/>
                <a:ea typeface="IBM Plex Sans" pitchFamily="34" charset="-122"/>
                <a:cs typeface="IBM Plex Sans" pitchFamily="34" charset="-120"/>
              </a:rPr>
              <a:t>Burning rose 2.6×, but no single fire passed 160 cells. Scattered plants on wet soil gave fire no connected fuel.</a:t>
            </a:r>
            <a:endParaRPr lang="en-US" sz="14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3F0E8"/>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540"/>
          </a:xfrm>
          <a:prstGeom prst="rect">
            <a:avLst/>
          </a:prstGeom>
          <a:noFill/>
          <a:ln/>
        </p:spPr>
        <p:txBody>
          <a:bodyPr wrap="square" lIns="0" tIns="0" rIns="0" bIns="0" rtlCol="0" anchor="t">
            <a:normAutofit/>
          </a:bodyPr>
          <a:lstStyle/>
          <a:p>
            <a:pPr marL="0" indent="0" algn="l">
              <a:lnSpc>
                <a:spcPts val="1820"/>
              </a:lnSpc>
              <a:buNone/>
            </a:pPr>
            <a:r>
              <a:rPr lang="en-US" sz="1300" b="1" kern="0" spc="150" dirty="0">
                <a:solidFill>
                  <a:srgbClr val="8A5A0B"/>
                </a:solidFill>
                <a:latin typeface="IBM Plex Sans" pitchFamily="34" charset="0"/>
                <a:ea typeface="IBM Plex Sans" pitchFamily="34" charset="-122"/>
                <a:cs typeface="IBM Plex Sans" pitchFamily="34" charset="-120"/>
              </a:rPr>
              <a:t>ANSWERS TO THE BRIEF</a:t>
            </a:r>
            <a:endParaRPr lang="en-US" sz="1300" dirty="0"/>
          </a:p>
        </p:txBody>
      </p:sp>
      <p:sp>
        <p:nvSpPr>
          <p:cNvPr id="3" name="Text 1"/>
          <p:cNvSpPr>
            <a:spLocks noGrp="1"/>
          </p:cNvSpPr>
          <p:nvPr>
            <p:ph type="title"/>
          </p:nvPr>
        </p:nvSpPr>
        <p:spPr>
          <a:xfrm>
            <a:off x="812800" y="1120142"/>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6202A"/>
                </a:solidFill>
                <a:latin typeface="Space Grotesk" pitchFamily="34" charset="0"/>
                <a:ea typeface="Space Grotesk" pitchFamily="34" charset="-122"/>
                <a:cs typeface="Space Grotesk" pitchFamily="34" charset="-120"/>
              </a:rPr>
              <a:t>The four questions, answered</a:t>
            </a:r>
            <a:endParaRPr lang="en-US" sz="3000" dirty="0"/>
          </a:p>
        </p:txBody>
      </p:sp>
      <p:sp>
        <p:nvSpPr>
          <p:cNvPr id="4" name="Shape 2"/>
          <p:cNvSpPr/>
          <p:nvPr/>
        </p:nvSpPr>
        <p:spPr>
          <a:xfrm>
            <a:off x="815975" y="1771017"/>
            <a:ext cx="5200650" cy="1410970"/>
          </a:xfrm>
          <a:prstGeom prst="roundRect">
            <a:avLst>
              <a:gd name="adj" fmla="val 6976"/>
            </a:avLst>
          </a:prstGeom>
          <a:solidFill>
            <a:srgbClr val="FBFAF6"/>
          </a:solidFill>
          <a:ln w="6350">
            <a:solidFill>
              <a:srgbClr val="DDD6C8"/>
            </a:solidFill>
            <a:prstDash val="solid"/>
          </a:ln>
        </p:spPr>
        <p:txBody>
          <a:bodyPr/>
          <a:lstStyle/>
          <a:p>
            <a:endParaRPr lang="en-ZA"/>
          </a:p>
        </p:txBody>
      </p:sp>
      <p:sp>
        <p:nvSpPr>
          <p:cNvPr id="5" name="Text 3"/>
          <p:cNvSpPr/>
          <p:nvPr/>
        </p:nvSpPr>
        <p:spPr>
          <a:xfrm>
            <a:off x="1021080" y="1976127"/>
            <a:ext cx="4934153"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8A5A0B"/>
                </a:solidFill>
                <a:latin typeface="Space Grotesk" pitchFamily="34" charset="0"/>
                <a:ea typeface="Space Grotesk" pitchFamily="34" charset="-122"/>
                <a:cs typeface="Space Grotesk" pitchFamily="34" charset="-120"/>
              </a:rPr>
              <a:t>1 · Did extinction occur?</a:t>
            </a:r>
            <a:endParaRPr lang="en-US" sz="1600" dirty="0"/>
          </a:p>
        </p:txBody>
      </p:sp>
      <p:sp>
        <p:nvSpPr>
          <p:cNvPr id="6" name="Text 4"/>
          <p:cNvSpPr/>
          <p:nvPr/>
        </p:nvSpPr>
        <p:spPr>
          <a:xfrm>
            <a:off x="1021080" y="2283458"/>
            <a:ext cx="4934153" cy="71882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6202A"/>
                </a:solidFill>
                <a:latin typeface="IBM Plex Sans" pitchFamily="34" charset="0"/>
                <a:ea typeface="IBM Plex Sans" pitchFamily="34" charset="-122"/>
                <a:cs typeface="IBM Plex Sans" pitchFamily="34" charset="-120"/>
              </a:rPr>
              <a:t>Yes, in almost every run.</a:t>
            </a:r>
            <a:r>
              <a:rPr lang="en-US" sz="1300" dirty="0">
                <a:solidFill>
                  <a:srgbClr val="4A5563"/>
                </a:solidFill>
                <a:latin typeface="IBM Plex Sans" pitchFamily="34" charset="0"/>
                <a:ea typeface="IBM Plex Sans" pitchFamily="34" charset="-122"/>
                <a:cs typeface="IBM Plex Sans" pitchFamily="34" charset="-120"/>
              </a:rPr>
              <a:t> Before: rhinos and leopards in every default run, zebras in 2 of 3. After: every leopard and rhino population, zebras in 4 of 5.</a:t>
            </a:r>
            <a:endParaRPr lang="en-US" sz="1300" dirty="0"/>
          </a:p>
        </p:txBody>
      </p:sp>
      <p:sp>
        <p:nvSpPr>
          <p:cNvPr id="7" name="Shape 5"/>
          <p:cNvSpPr/>
          <p:nvPr/>
        </p:nvSpPr>
        <p:spPr>
          <a:xfrm>
            <a:off x="6175375" y="1771017"/>
            <a:ext cx="5200650" cy="1410970"/>
          </a:xfrm>
          <a:prstGeom prst="roundRect">
            <a:avLst>
              <a:gd name="adj" fmla="val 6976"/>
            </a:avLst>
          </a:prstGeom>
          <a:solidFill>
            <a:srgbClr val="FBFAF6"/>
          </a:solidFill>
          <a:ln w="6350">
            <a:solidFill>
              <a:srgbClr val="DDD6C8"/>
            </a:solidFill>
            <a:prstDash val="solid"/>
          </a:ln>
        </p:spPr>
        <p:txBody>
          <a:bodyPr/>
          <a:lstStyle/>
          <a:p>
            <a:endParaRPr lang="en-ZA"/>
          </a:p>
        </p:txBody>
      </p:sp>
      <p:sp>
        <p:nvSpPr>
          <p:cNvPr id="8" name="Text 6"/>
          <p:cNvSpPr/>
          <p:nvPr/>
        </p:nvSpPr>
        <p:spPr>
          <a:xfrm>
            <a:off x="6380480" y="1976127"/>
            <a:ext cx="4934153"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8A5A0B"/>
                </a:solidFill>
                <a:latin typeface="Space Grotesk" pitchFamily="34" charset="0"/>
                <a:ea typeface="Space Grotesk" pitchFamily="34" charset="-122"/>
                <a:cs typeface="Space Grotesk" pitchFamily="34" charset="-120"/>
              </a:rPr>
              <a:t>2 · Mis-adaptation or failure?</a:t>
            </a:r>
            <a:endParaRPr lang="en-US" sz="1600" dirty="0"/>
          </a:p>
        </p:txBody>
      </p:sp>
      <p:sp>
        <p:nvSpPr>
          <p:cNvPr id="9" name="Text 7"/>
          <p:cNvSpPr/>
          <p:nvPr/>
        </p:nvSpPr>
        <p:spPr>
          <a:xfrm>
            <a:off x="6380480" y="2283458"/>
            <a:ext cx="4934153" cy="71882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6202A"/>
                </a:solidFill>
                <a:latin typeface="IBM Plex Sans" pitchFamily="34" charset="0"/>
                <a:ea typeface="IBM Plex Sans" pitchFamily="34" charset="-122"/>
                <a:cs typeface="IBM Plex Sans" pitchFamily="34" charset="-120"/>
              </a:rPr>
              <a:t>Both.</a:t>
            </a:r>
            <a:r>
              <a:rPr lang="en-US" sz="1300" dirty="0">
                <a:solidFill>
                  <a:srgbClr val="4A5563"/>
                </a:solidFill>
                <a:latin typeface="IBM Plex Sans" pitchFamily="34" charset="0"/>
                <a:ea typeface="IBM Plex Sans" pitchFamily="34" charset="-122"/>
                <a:cs typeface="IBM Plex Sans" pitchFamily="34" charset="-120"/>
              </a:rPr>
              <a:t> Mis-adaptation before: evolved plant-killing zebras (3 of 3) and rhinos (1 seed). Failure to adapt after: all rhinos, and zebras whose mouth trait never spread.</a:t>
            </a:r>
            <a:endParaRPr lang="en-US" sz="1300" dirty="0"/>
          </a:p>
        </p:txBody>
      </p:sp>
      <p:sp>
        <p:nvSpPr>
          <p:cNvPr id="10" name="Shape 8"/>
          <p:cNvSpPr/>
          <p:nvPr/>
        </p:nvSpPr>
        <p:spPr>
          <a:xfrm>
            <a:off x="815975" y="3340733"/>
            <a:ext cx="5200650" cy="1410970"/>
          </a:xfrm>
          <a:prstGeom prst="roundRect">
            <a:avLst>
              <a:gd name="adj" fmla="val 6976"/>
            </a:avLst>
          </a:prstGeom>
          <a:solidFill>
            <a:srgbClr val="FBFAF6"/>
          </a:solidFill>
          <a:ln w="6350">
            <a:solidFill>
              <a:srgbClr val="DDD6C8"/>
            </a:solidFill>
            <a:prstDash val="solid"/>
          </a:ln>
        </p:spPr>
        <p:txBody>
          <a:bodyPr/>
          <a:lstStyle/>
          <a:p>
            <a:endParaRPr lang="en-ZA"/>
          </a:p>
        </p:txBody>
      </p:sp>
      <p:sp>
        <p:nvSpPr>
          <p:cNvPr id="11" name="Text 9"/>
          <p:cNvSpPr/>
          <p:nvPr/>
        </p:nvSpPr>
        <p:spPr>
          <a:xfrm>
            <a:off x="1021080" y="3545842"/>
            <a:ext cx="4934153"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8A5A0B"/>
                </a:solidFill>
                <a:latin typeface="Space Grotesk" pitchFamily="34" charset="0"/>
                <a:ea typeface="Space Grotesk" pitchFamily="34" charset="-122"/>
                <a:cs typeface="Space Grotesk" pitchFamily="34" charset="-120"/>
              </a:rPr>
              <a:t>3 · Environment vs seeded species?</a:t>
            </a:r>
            <a:endParaRPr lang="en-US" sz="1600" dirty="0"/>
          </a:p>
        </p:txBody>
      </p:sp>
      <p:sp>
        <p:nvSpPr>
          <p:cNvPr id="12" name="Text 10"/>
          <p:cNvSpPr/>
          <p:nvPr/>
        </p:nvSpPr>
        <p:spPr>
          <a:xfrm>
            <a:off x="1021080" y="3853185"/>
            <a:ext cx="4934153" cy="71882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6202A"/>
                </a:solidFill>
                <a:latin typeface="IBM Plex Sans" pitchFamily="34" charset="0"/>
                <a:ea typeface="IBM Plex Sans" pitchFamily="34" charset="-122"/>
                <a:cs typeface="IBM Plex Sans" pitchFamily="34" charset="-120"/>
              </a:rPr>
              <a:t>Environment was as decisive.</a:t>
            </a:r>
            <a:r>
              <a:rPr lang="en-US" sz="1300" dirty="0">
                <a:solidFill>
                  <a:srgbClr val="4A5563"/>
                </a:solidFill>
                <a:latin typeface="IBM Plex Sans" pitchFamily="34" charset="0"/>
                <a:ea typeface="IBM Plex Sans" pitchFamily="34" charset="-122"/>
                <a:cs typeface="IBM Plex Sans" pitchFamily="34" charset="-120"/>
              </a:rPr>
              <a:t> The same zebras suicided before and adapted after. No river or no water: 0 of 3. Seeding 48 leopards: herd eaten in 1,300 ticks.</a:t>
            </a:r>
            <a:endParaRPr lang="en-US" sz="1300" dirty="0"/>
          </a:p>
        </p:txBody>
      </p:sp>
      <p:sp>
        <p:nvSpPr>
          <p:cNvPr id="13" name="Shape 11"/>
          <p:cNvSpPr/>
          <p:nvPr/>
        </p:nvSpPr>
        <p:spPr>
          <a:xfrm>
            <a:off x="6175375" y="3340733"/>
            <a:ext cx="5200650" cy="1410970"/>
          </a:xfrm>
          <a:prstGeom prst="roundRect">
            <a:avLst>
              <a:gd name="adj" fmla="val 6976"/>
            </a:avLst>
          </a:prstGeom>
          <a:solidFill>
            <a:srgbClr val="FBFAF6"/>
          </a:solidFill>
          <a:ln w="6350">
            <a:solidFill>
              <a:srgbClr val="DDD6C8"/>
            </a:solidFill>
            <a:prstDash val="solid"/>
          </a:ln>
        </p:spPr>
        <p:txBody>
          <a:bodyPr/>
          <a:lstStyle/>
          <a:p>
            <a:endParaRPr lang="en-ZA"/>
          </a:p>
        </p:txBody>
      </p:sp>
      <p:sp>
        <p:nvSpPr>
          <p:cNvPr id="14" name="Text 12"/>
          <p:cNvSpPr/>
          <p:nvPr/>
        </p:nvSpPr>
        <p:spPr>
          <a:xfrm>
            <a:off x="6380480" y="3545842"/>
            <a:ext cx="4934153"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8A5A0B"/>
                </a:solidFill>
                <a:latin typeface="Space Grotesk" pitchFamily="34" charset="0"/>
                <a:ea typeface="Space Grotesk" pitchFamily="34" charset="-122"/>
                <a:cs typeface="Space Grotesk" pitchFamily="34" charset="-120"/>
              </a:rPr>
              <a:t>4 · What was instrumental?</a:t>
            </a:r>
            <a:endParaRPr lang="en-US" sz="1600" dirty="0"/>
          </a:p>
        </p:txBody>
      </p:sp>
      <p:sp>
        <p:nvSpPr>
          <p:cNvPr id="15" name="Text 13"/>
          <p:cNvSpPr/>
          <p:nvPr/>
        </p:nvSpPr>
        <p:spPr>
          <a:xfrm>
            <a:off x="6380480" y="3853185"/>
            <a:ext cx="4934153" cy="71882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6202A"/>
                </a:solidFill>
                <a:latin typeface="IBM Plex Sans" pitchFamily="34" charset="0"/>
                <a:ea typeface="IBM Plex Sans" pitchFamily="34" charset="-122"/>
                <a:cs typeface="IBM Plex Sans" pitchFamily="34" charset="-120"/>
              </a:rPr>
              <a:t>Towards:</a:t>
            </a:r>
            <a:r>
              <a:rPr lang="en-US" sz="1300" dirty="0">
                <a:solidFill>
                  <a:srgbClr val="4A5563"/>
                </a:solidFill>
                <a:latin typeface="IBM Plex Sans" pitchFamily="34" charset="0"/>
                <a:ea typeface="IBM Plex Sans" pitchFamily="34" charset="-122"/>
                <a:cs typeface="IBM Plex Sans" pitchFamily="34" charset="-120"/>
              </a:rPr>
              <a:t> evolved killers, costly rhino armour, single-prey leopards, harsh hunger. </a:t>
            </a:r>
            <a:r>
              <a:rPr lang="en-US" sz="1300" b="1" dirty="0">
                <a:solidFill>
                  <a:srgbClr val="16202A"/>
                </a:solidFill>
                <a:latin typeface="IBM Plex Sans" pitchFamily="34" charset="0"/>
                <a:ea typeface="IBM Plex Sans" pitchFamily="34" charset="-122"/>
                <a:cs typeface="IBM Plex Sans" pitchFamily="34" charset="-120"/>
              </a:rPr>
              <a:t>Away:</a:t>
            </a:r>
            <a:r>
              <a:rPr lang="en-US" sz="1300" dirty="0">
                <a:solidFill>
                  <a:srgbClr val="4A5563"/>
                </a:solidFill>
                <a:latin typeface="IBM Plex Sans" pitchFamily="34" charset="0"/>
                <a:ea typeface="IBM Plex Sans" pitchFamily="34" charset="-122"/>
                <a:cs typeface="IBM Plex Sans" pitchFamily="34" charset="-120"/>
              </a:rPr>
              <a:t> river, soil water, stripes, the kick, the second mouth.</a:t>
            </a:r>
            <a:endParaRPr lang="en-US" sz="13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3F0E8"/>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540"/>
          </a:xfrm>
          <a:prstGeom prst="rect">
            <a:avLst/>
          </a:prstGeom>
          <a:noFill/>
          <a:ln/>
        </p:spPr>
        <p:txBody>
          <a:bodyPr wrap="square" lIns="0" tIns="0" rIns="0" bIns="0" rtlCol="0" anchor="t">
            <a:normAutofit/>
          </a:bodyPr>
          <a:lstStyle/>
          <a:p>
            <a:pPr marL="0" indent="0" algn="l">
              <a:lnSpc>
                <a:spcPts val="1820"/>
              </a:lnSpc>
              <a:buNone/>
            </a:pPr>
            <a:r>
              <a:rPr lang="en-US" sz="1300" b="1" kern="0" spc="150" dirty="0">
                <a:solidFill>
                  <a:srgbClr val="8A5A0B"/>
                </a:solidFill>
                <a:latin typeface="IBM Plex Sans" pitchFamily="34" charset="0"/>
                <a:ea typeface="IBM Plex Sans" pitchFamily="34" charset="-122"/>
                <a:cs typeface="IBM Plex Sans" pitchFamily="34" charset="-120"/>
              </a:rPr>
              <a:t>EVOLUTIONARY DEATH · BEFORE VS AFTER</a:t>
            </a:r>
            <a:endParaRPr lang="en-US" sz="1300" dirty="0"/>
          </a:p>
        </p:txBody>
      </p:sp>
      <p:sp>
        <p:nvSpPr>
          <p:cNvPr id="3" name="Text 1"/>
          <p:cNvSpPr>
            <a:spLocks noGrp="1"/>
          </p:cNvSpPr>
          <p:nvPr>
            <p:ph type="title"/>
          </p:nvPr>
        </p:nvSpPr>
        <p:spPr>
          <a:xfrm>
            <a:off x="812800" y="1120142"/>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6202A"/>
                </a:solidFill>
                <a:latin typeface="Space Grotesk" pitchFamily="34" charset="0"/>
                <a:ea typeface="Space Grotesk" pitchFamily="34" charset="-122"/>
                <a:cs typeface="Space Grotesk" pitchFamily="34" charset="-120"/>
              </a:rPr>
              <a:t>Our features made suicide possible but harder</a:t>
            </a:r>
            <a:endParaRPr lang="en-US" sz="3000" dirty="0"/>
          </a:p>
        </p:txBody>
      </p:sp>
      <p:sp>
        <p:nvSpPr>
          <p:cNvPr id="4" name="Shape 2"/>
          <p:cNvSpPr/>
          <p:nvPr/>
        </p:nvSpPr>
        <p:spPr>
          <a:xfrm>
            <a:off x="812800" y="1793242"/>
            <a:ext cx="5181600" cy="3467100"/>
          </a:xfrm>
          <a:prstGeom prst="roundRect">
            <a:avLst>
              <a:gd name="adj" fmla="val 2930"/>
            </a:avLst>
          </a:prstGeom>
          <a:solidFill>
            <a:srgbClr val="FBFAF6"/>
          </a:solidFill>
          <a:ln/>
          <a:effectLst>
            <a:outerShdw blurRad="63500" dist="12700" dir="5400000" algn="bl" rotWithShape="0">
              <a:srgbClr val="16202A">
                <a:alpha val="10000"/>
              </a:srgbClr>
            </a:outerShdw>
          </a:effectLst>
        </p:spPr>
        <p:txBody>
          <a:bodyPr/>
          <a:lstStyle/>
          <a:p>
            <a:endParaRPr lang="en-ZA"/>
          </a:p>
        </p:txBody>
      </p:sp>
      <p:sp>
        <p:nvSpPr>
          <p:cNvPr id="5" name="Shape 3"/>
          <p:cNvSpPr/>
          <p:nvPr/>
        </p:nvSpPr>
        <p:spPr>
          <a:xfrm>
            <a:off x="812800" y="1793242"/>
            <a:ext cx="5181600" cy="3467100"/>
          </a:xfrm>
          <a:custGeom>
            <a:avLst/>
            <a:gdLst/>
            <a:ahLst/>
            <a:cxnLst/>
            <a:rect l="l" t="t" r="r" b="b"/>
            <a:pathLst>
              <a:path w="5181600" h="3467100">
                <a:moveTo>
                  <a:pt x="0" y="101600"/>
                </a:moveTo>
                <a:lnTo>
                  <a:pt x="0" y="101600"/>
                </a:lnTo>
                <a:arcTo wR="101600" hR="101600" stAng="10800000" swAng="5400000"/>
                <a:lnTo>
                  <a:pt x="5080000" y="0"/>
                </a:lnTo>
                <a:arcTo wR="101600" hR="101600" stAng="16200000" swAng="5400000"/>
                <a:lnTo>
                  <a:pt x="5181600" y="101600"/>
                </a:lnTo>
                <a:arcTo wR="101600" hR="50800" stAng="0" swAng="-5400000"/>
                <a:lnTo>
                  <a:pt x="101600" y="50800"/>
                </a:lnTo>
                <a:arcTo wR="101600" hR="50800" stAng="16200000" swAng="-5400000"/>
                <a:close/>
              </a:path>
            </a:pathLst>
          </a:custGeom>
          <a:solidFill>
            <a:srgbClr val="DEB14D"/>
          </a:solidFill>
          <a:ln/>
        </p:spPr>
        <p:txBody>
          <a:bodyPr/>
          <a:lstStyle/>
          <a:p>
            <a:endParaRPr lang="en-ZA"/>
          </a:p>
        </p:txBody>
      </p:sp>
      <p:sp>
        <p:nvSpPr>
          <p:cNvPr id="6" name="Text 4"/>
          <p:cNvSpPr/>
          <p:nvPr/>
        </p:nvSpPr>
        <p:spPr>
          <a:xfrm>
            <a:off x="1092200" y="2123442"/>
            <a:ext cx="4761484"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8A5A0B"/>
                </a:solidFill>
                <a:latin typeface="Space Grotesk" pitchFamily="34" charset="0"/>
                <a:ea typeface="Space Grotesk" pitchFamily="34" charset="-122"/>
                <a:cs typeface="Space Grotesk" pitchFamily="34" charset="-120"/>
              </a:rPr>
              <a:t>Before</a:t>
            </a:r>
            <a:endParaRPr lang="en-US" sz="2000" dirty="0"/>
          </a:p>
        </p:txBody>
      </p:sp>
      <p:sp>
        <p:nvSpPr>
          <p:cNvPr id="7" name="Text 5"/>
          <p:cNvSpPr/>
          <p:nvPr/>
        </p:nvSpPr>
        <p:spPr>
          <a:xfrm>
            <a:off x="1092200" y="2567942"/>
            <a:ext cx="4761484" cy="8255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6202A"/>
                </a:solidFill>
                <a:latin typeface="IBM Plex Sans" pitchFamily="34" charset="0"/>
                <a:ea typeface="IBM Plex Sans" pitchFamily="34" charset="-122"/>
                <a:cs typeface="IBM Plex Sans" pitchFamily="34" charset="-120"/>
              </a:rPr>
              <a:t>Evolutionary suicide: yes.</a:t>
            </a:r>
            <a:r>
              <a:rPr lang="en-US" sz="1500" dirty="0">
                <a:solidFill>
                  <a:srgbClr val="4A5563"/>
                </a:solidFill>
                <a:latin typeface="IBM Plex Sans" pitchFamily="34" charset="0"/>
                <a:ea typeface="IBM Plex Sans" pitchFamily="34" charset="-122"/>
                <a:cs typeface="IBM Plex Sans" pitchFamily="34" charset="-120"/>
              </a:rPr>
              <a:t> Zebras in 3 of 3 plant-kill seeds, plus rhinos in one harsh seed. All four criteria met.</a:t>
            </a:r>
            <a:endParaRPr lang="en-US" sz="1500" dirty="0"/>
          </a:p>
        </p:txBody>
      </p:sp>
      <p:sp>
        <p:nvSpPr>
          <p:cNvPr id="8" name="Text 6"/>
          <p:cNvSpPr/>
          <p:nvPr/>
        </p:nvSpPr>
        <p:spPr>
          <a:xfrm>
            <a:off x="1092200" y="3507742"/>
            <a:ext cx="4761484" cy="8255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6202A"/>
                </a:solidFill>
                <a:latin typeface="IBM Plex Sans" pitchFamily="34" charset="0"/>
                <a:ea typeface="IBM Plex Sans" pitchFamily="34" charset="-122"/>
                <a:cs typeface="IBM Plex Sans" pitchFamily="34" charset="-120"/>
              </a:rPr>
              <a:t>Why:</a:t>
            </a:r>
            <a:r>
              <a:rPr lang="en-US" sz="1500" dirty="0">
                <a:solidFill>
                  <a:srgbClr val="4A5563"/>
                </a:solidFill>
                <a:latin typeface="IBM Plex Sans" pitchFamily="34" charset="0"/>
                <a:ea typeface="IBM Plex Sans" pitchFamily="34" charset="-122"/>
                <a:cs typeface="IBM Plex Sans" pitchFamily="34" charset="-120"/>
              </a:rPr>
              <a:t> a killer cell turned every plant into a meal, so the trait spread while wiping out the producers for good.</a:t>
            </a:r>
            <a:endParaRPr lang="en-US" sz="1500" dirty="0"/>
          </a:p>
        </p:txBody>
      </p:sp>
      <p:sp>
        <p:nvSpPr>
          <p:cNvPr id="9" name="Text 7"/>
          <p:cNvSpPr/>
          <p:nvPr/>
        </p:nvSpPr>
        <p:spPr>
          <a:xfrm>
            <a:off x="1092200" y="4447542"/>
            <a:ext cx="4761484" cy="5588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6202A"/>
                </a:solidFill>
                <a:latin typeface="IBM Plex Sans" pitchFamily="34" charset="0"/>
                <a:ea typeface="IBM Plex Sans" pitchFamily="34" charset="-122"/>
                <a:cs typeface="IBM Plex Sans" pitchFamily="34" charset="-120"/>
              </a:rPr>
              <a:t>Other deaths:</a:t>
            </a:r>
            <a:r>
              <a:rPr lang="en-US" sz="1500" dirty="0">
                <a:solidFill>
                  <a:srgbClr val="4A5563"/>
                </a:solidFill>
                <a:latin typeface="IBM Plex Sans" pitchFamily="34" charset="0"/>
                <a:ea typeface="IBM Plex Sans" pitchFamily="34" charset="-122"/>
                <a:cs typeface="IBM Plex Sans" pitchFamily="34" charset="-120"/>
              </a:rPr>
              <a:t> slow ageing-out, because nothing could starve.</a:t>
            </a:r>
            <a:endParaRPr lang="en-US" sz="1500" dirty="0"/>
          </a:p>
        </p:txBody>
      </p:sp>
      <p:sp>
        <p:nvSpPr>
          <p:cNvPr id="10" name="Shape 8"/>
          <p:cNvSpPr/>
          <p:nvPr/>
        </p:nvSpPr>
        <p:spPr>
          <a:xfrm>
            <a:off x="6197600" y="1793242"/>
            <a:ext cx="5181600" cy="3467100"/>
          </a:xfrm>
          <a:prstGeom prst="roundRect">
            <a:avLst>
              <a:gd name="adj" fmla="val 2930"/>
            </a:avLst>
          </a:prstGeom>
          <a:solidFill>
            <a:srgbClr val="FBFAF6"/>
          </a:solidFill>
          <a:ln/>
          <a:effectLst>
            <a:outerShdw blurRad="63500" dist="12700" dir="5400000" algn="bl" rotWithShape="0">
              <a:srgbClr val="16202A">
                <a:alpha val="10000"/>
              </a:srgbClr>
            </a:outerShdw>
          </a:effectLst>
        </p:spPr>
        <p:txBody>
          <a:bodyPr/>
          <a:lstStyle/>
          <a:p>
            <a:endParaRPr lang="en-ZA"/>
          </a:p>
        </p:txBody>
      </p:sp>
      <p:sp>
        <p:nvSpPr>
          <p:cNvPr id="11" name="Shape 9"/>
          <p:cNvSpPr/>
          <p:nvPr/>
        </p:nvSpPr>
        <p:spPr>
          <a:xfrm>
            <a:off x="6197600" y="1793242"/>
            <a:ext cx="5181600" cy="3467100"/>
          </a:xfrm>
          <a:custGeom>
            <a:avLst/>
            <a:gdLst/>
            <a:ahLst/>
            <a:cxnLst/>
            <a:rect l="l" t="t" r="r" b="b"/>
            <a:pathLst>
              <a:path w="5181600" h="3467100">
                <a:moveTo>
                  <a:pt x="0" y="101600"/>
                </a:moveTo>
                <a:lnTo>
                  <a:pt x="0" y="101600"/>
                </a:lnTo>
                <a:arcTo wR="101600" hR="101600" stAng="10800000" swAng="5400000"/>
                <a:lnTo>
                  <a:pt x="5080000" y="0"/>
                </a:lnTo>
                <a:arcTo wR="101600" hR="101600" stAng="16200000" swAng="5400000"/>
                <a:lnTo>
                  <a:pt x="5181600" y="101600"/>
                </a:lnTo>
                <a:arcTo wR="101600" hR="50800" stAng="0" swAng="-5400000"/>
                <a:lnTo>
                  <a:pt x="101600" y="50800"/>
                </a:lnTo>
                <a:arcTo wR="101600" hR="50800" stAng="16200000" swAng="-5400000"/>
                <a:close/>
              </a:path>
            </a:pathLst>
          </a:custGeom>
          <a:solidFill>
            <a:srgbClr val="60D4FF"/>
          </a:solidFill>
          <a:ln/>
        </p:spPr>
        <p:txBody>
          <a:bodyPr/>
          <a:lstStyle/>
          <a:p>
            <a:endParaRPr lang="en-ZA"/>
          </a:p>
        </p:txBody>
      </p:sp>
      <p:sp>
        <p:nvSpPr>
          <p:cNvPr id="12" name="Text 10"/>
          <p:cNvSpPr/>
          <p:nvPr/>
        </p:nvSpPr>
        <p:spPr>
          <a:xfrm>
            <a:off x="6477000" y="2123442"/>
            <a:ext cx="4761484"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1C6E8C"/>
                </a:solidFill>
                <a:latin typeface="Space Grotesk" pitchFamily="34" charset="0"/>
                <a:ea typeface="Space Grotesk" pitchFamily="34" charset="-122"/>
                <a:cs typeface="Space Grotesk" pitchFamily="34" charset="-120"/>
              </a:rPr>
              <a:t>After</a:t>
            </a:r>
            <a:endParaRPr lang="en-US" sz="2000" dirty="0"/>
          </a:p>
        </p:txBody>
      </p:sp>
      <p:sp>
        <p:nvSpPr>
          <p:cNvPr id="13" name="Text 11"/>
          <p:cNvSpPr/>
          <p:nvPr/>
        </p:nvSpPr>
        <p:spPr>
          <a:xfrm>
            <a:off x="6477000" y="2567942"/>
            <a:ext cx="4761484" cy="5588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6202A"/>
                </a:solidFill>
                <a:latin typeface="IBM Plex Sans" pitchFamily="34" charset="0"/>
                <a:ea typeface="IBM Plex Sans" pitchFamily="34" charset="-122"/>
                <a:cs typeface="IBM Plex Sans" pitchFamily="34" charset="-120"/>
              </a:rPr>
              <a:t>Evolutionary suicide: not observed</a:t>
            </a:r>
            <a:r>
              <a:rPr lang="en-US" sz="1500" dirty="0">
                <a:solidFill>
                  <a:srgbClr val="4A5563"/>
                </a:solidFill>
                <a:latin typeface="IBM Plex Sans" pitchFamily="34" charset="0"/>
                <a:ea typeface="IBM Plex Sans" pitchFamily="34" charset="-122"/>
                <a:cs typeface="IBM Plex Sans" pitchFamily="34" charset="-120"/>
              </a:rPr>
              <a:t> in 97 modified-engine runs.</a:t>
            </a:r>
            <a:endParaRPr lang="en-US" sz="1500" dirty="0"/>
          </a:p>
        </p:txBody>
      </p:sp>
      <p:sp>
        <p:nvSpPr>
          <p:cNvPr id="14" name="Text 12"/>
          <p:cNvSpPr/>
          <p:nvPr/>
        </p:nvSpPr>
        <p:spPr>
          <a:xfrm>
            <a:off x="6477000" y="3241042"/>
            <a:ext cx="4761484" cy="5588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6202A"/>
                </a:solidFill>
                <a:latin typeface="IBM Plex Sans" pitchFamily="34" charset="0"/>
                <a:ea typeface="IBM Plex Sans" pitchFamily="34" charset="-122"/>
                <a:cs typeface="IBM Plex Sans" pitchFamily="34" charset="-120"/>
              </a:rPr>
              <a:t>Instead:</a:t>
            </a:r>
            <a:r>
              <a:rPr lang="en-US" sz="1500" dirty="0">
                <a:solidFill>
                  <a:srgbClr val="4A5563"/>
                </a:solidFill>
                <a:latin typeface="IBM Plex Sans" pitchFamily="34" charset="0"/>
                <a:ea typeface="IBM Plex Sans" pitchFamily="34" charset="-122"/>
                <a:cs typeface="IBM Plex Sans" pitchFamily="34" charset="-120"/>
              </a:rPr>
              <a:t> failure to adapt (all rhinos; zebras where the mouth never spread) and leopard boom-bust.</a:t>
            </a:r>
            <a:endParaRPr lang="en-US" sz="1500" dirty="0"/>
          </a:p>
        </p:txBody>
      </p:sp>
      <p:sp>
        <p:nvSpPr>
          <p:cNvPr id="15" name="Text 13"/>
          <p:cNvSpPr/>
          <p:nvPr/>
        </p:nvSpPr>
        <p:spPr>
          <a:xfrm>
            <a:off x="6477000" y="3914142"/>
            <a:ext cx="4761484" cy="5588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6202A"/>
                </a:solidFill>
                <a:latin typeface="IBM Plex Sans" pitchFamily="34" charset="0"/>
                <a:ea typeface="IBM Plex Sans" pitchFamily="34" charset="-122"/>
                <a:cs typeface="IBM Plex Sans" pitchFamily="34" charset="-120"/>
              </a:rPr>
              <a:t>Why:</a:t>
            </a:r>
            <a:r>
              <a:rPr lang="en-US" sz="1500" dirty="0">
                <a:solidFill>
                  <a:srgbClr val="4A5563"/>
                </a:solidFill>
                <a:latin typeface="IBM Plex Sans" pitchFamily="34" charset="0"/>
                <a:ea typeface="IBM Plex Sans" pitchFamily="34" charset="-122"/>
                <a:cs typeface="IBM Plex Sans" pitchFamily="34" charset="-120"/>
              </a:rPr>
              <a:t> water-limited regrowth and the bush fallback kept the extra mouth from destroying its own food.</a:t>
            </a:r>
            <a:endParaRPr lang="en-US" sz="15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3F0E8"/>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540"/>
          </a:xfrm>
          <a:prstGeom prst="rect">
            <a:avLst/>
          </a:prstGeom>
          <a:noFill/>
          <a:ln/>
        </p:spPr>
        <p:txBody>
          <a:bodyPr wrap="square" lIns="0" tIns="0" rIns="0" bIns="0" rtlCol="0" anchor="t">
            <a:normAutofit/>
          </a:bodyPr>
          <a:lstStyle/>
          <a:p>
            <a:pPr marL="0" indent="0" algn="l">
              <a:lnSpc>
                <a:spcPts val="1820"/>
              </a:lnSpc>
              <a:buNone/>
            </a:pPr>
            <a:r>
              <a:rPr lang="en-US" sz="1300" b="1" kern="0" spc="150" dirty="0">
                <a:solidFill>
                  <a:srgbClr val="8A5A0B"/>
                </a:solidFill>
                <a:latin typeface="IBM Plex Sans" pitchFamily="34" charset="0"/>
                <a:ea typeface="IBM Plex Sans" pitchFamily="34" charset="-122"/>
                <a:cs typeface="IBM Plex Sans" pitchFamily="34" charset="-120"/>
              </a:rPr>
              <a:t>CODE INSPECTION</a:t>
            </a:r>
            <a:endParaRPr lang="en-US" sz="1300" dirty="0"/>
          </a:p>
        </p:txBody>
      </p:sp>
      <p:sp>
        <p:nvSpPr>
          <p:cNvPr id="3" name="Text 1"/>
          <p:cNvSpPr>
            <a:spLocks noGrp="1"/>
          </p:cNvSpPr>
          <p:nvPr>
            <p:ph type="title"/>
          </p:nvPr>
        </p:nvSpPr>
        <p:spPr>
          <a:xfrm>
            <a:off x="812800" y="1120142"/>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6202A"/>
                </a:solidFill>
                <a:latin typeface="Space Grotesk" pitchFamily="34" charset="0"/>
                <a:ea typeface="Space Grotesk" pitchFamily="34" charset="-122"/>
                <a:cs typeface="Space Grotesk" pitchFamily="34" charset="-120"/>
              </a:rPr>
              <a:t>No extinction or survival is hard-coded</a:t>
            </a:r>
            <a:endParaRPr lang="en-US" sz="3000" dirty="0"/>
          </a:p>
        </p:txBody>
      </p:sp>
      <p:sp>
        <p:nvSpPr>
          <p:cNvPr id="4" name="Shape 2"/>
          <p:cNvSpPr/>
          <p:nvPr/>
        </p:nvSpPr>
        <p:spPr>
          <a:xfrm>
            <a:off x="815975" y="1796417"/>
            <a:ext cx="5175250" cy="2145030"/>
          </a:xfrm>
          <a:prstGeom prst="roundRect">
            <a:avLst>
              <a:gd name="adj" fmla="val 4589"/>
            </a:avLst>
          </a:prstGeom>
          <a:solidFill>
            <a:srgbClr val="FBFAF6"/>
          </a:solidFill>
          <a:ln w="6350">
            <a:solidFill>
              <a:srgbClr val="DDD6C8"/>
            </a:solidFill>
            <a:prstDash val="solid"/>
          </a:ln>
        </p:spPr>
        <p:txBody>
          <a:bodyPr/>
          <a:lstStyle/>
          <a:p>
            <a:endParaRPr lang="en-ZA"/>
          </a:p>
        </p:txBody>
      </p:sp>
      <p:sp>
        <p:nvSpPr>
          <p:cNvPr id="5" name="Text 3"/>
          <p:cNvSpPr/>
          <p:nvPr/>
        </p:nvSpPr>
        <p:spPr>
          <a:xfrm>
            <a:off x="1071880" y="2052327"/>
            <a:ext cx="4803343" cy="29972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6202A"/>
                </a:solidFill>
                <a:latin typeface="Space Grotesk" pitchFamily="34" charset="0"/>
                <a:ea typeface="Space Grotesk" pitchFamily="34" charset="-122"/>
                <a:cs typeface="Space Grotesk" pitchFamily="34" charset="-120"/>
              </a:rPr>
              <a:t>Only three ways to die</a:t>
            </a:r>
            <a:endParaRPr lang="en-US" sz="1800" dirty="0"/>
          </a:p>
        </p:txBody>
      </p:sp>
      <p:sp>
        <p:nvSpPr>
          <p:cNvPr id="6" name="Text 4"/>
          <p:cNvSpPr/>
          <p:nvPr/>
        </p:nvSpPr>
        <p:spPr>
          <a:xfrm>
            <a:off x="1071880" y="2440942"/>
            <a:ext cx="4803343"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3"/>
                </a:solidFill>
                <a:latin typeface="IBM Plex Sans" pitchFamily="34" charset="0"/>
                <a:ea typeface="IBM Plex Sans" pitchFamily="34" charset="-122"/>
                <a:cs typeface="IBM Plex Sans" pitchFamily="34" charset="-120"/>
              </a:rPr>
              <a:t>Every organism follows the same rules in </a:t>
            </a:r>
            <a:r>
              <a:rPr lang="en-US" sz="1400" b="1" dirty="0">
                <a:solidFill>
                  <a:srgbClr val="16202A"/>
                </a:solidFill>
                <a:latin typeface="IBM Plex Sans" pitchFamily="34" charset="0"/>
                <a:ea typeface="IBM Plex Sans" pitchFamily="34" charset="-122"/>
                <a:cs typeface="IBM Plex Sans" pitchFamily="34" charset="-120"/>
              </a:rPr>
              <a:t>Organism.js</a:t>
            </a:r>
            <a:r>
              <a:rPr lang="en-US" sz="1400" dirty="0">
                <a:solidFill>
                  <a:srgbClr val="4A5563"/>
                </a:solidFill>
                <a:latin typeface="IBM Plex Sans" pitchFamily="34" charset="0"/>
                <a:ea typeface="IBM Plex Sans" pitchFamily="34" charset="-122"/>
                <a:cs typeface="IBM Plex Sans" pitchFamily="34" charset="-120"/>
              </a:rPr>
              <a:t>:</a:t>
            </a:r>
            <a:endParaRPr lang="en-US" sz="1400" dirty="0"/>
          </a:p>
        </p:txBody>
      </p:sp>
      <p:sp>
        <p:nvSpPr>
          <p:cNvPr id="7" name="Text 5"/>
          <p:cNvSpPr/>
          <p:nvPr/>
        </p:nvSpPr>
        <p:spPr>
          <a:xfrm>
            <a:off x="1150112" y="2804158"/>
            <a:ext cx="4717491" cy="772160"/>
          </a:xfrm>
          <a:prstGeom prst="rect">
            <a:avLst/>
          </a:prstGeom>
          <a:noFill/>
          <a:ln/>
        </p:spPr>
        <p:txBody>
          <a:bodyPr wrap="square" lIns="0" tIns="0" rIns="0" bIns="0" rtlCol="0" anchor="t">
            <a:normAutofit/>
          </a:bodyPr>
          <a:lstStyle/>
          <a:p>
            <a:pPr marL="175768" indent="-175768" algn="l">
              <a:lnSpc>
                <a:spcPts val="1960"/>
              </a:lnSpc>
              <a:buSzPct val="100000"/>
              <a:buChar char="•"/>
            </a:pPr>
            <a:r>
              <a:rPr lang="en-US" sz="1400" dirty="0">
                <a:solidFill>
                  <a:srgbClr val="4A5563"/>
                </a:solidFill>
                <a:latin typeface="IBM Plex Sans" pitchFamily="34" charset="0"/>
                <a:ea typeface="IBM Plex Sans" pitchFamily="34" charset="-122"/>
                <a:cs typeface="IBM Plex Sans" pitchFamily="34" charset="-120"/>
              </a:rPr>
              <a:t>Old age: lifetime passes its lifespan</a:t>
            </a:r>
            <a:endParaRPr lang="en-US" sz="1400" dirty="0"/>
          </a:p>
          <a:p>
            <a:pPr marL="175768" indent="-175768" algn="l">
              <a:lnSpc>
                <a:spcPts val="1960"/>
              </a:lnSpc>
              <a:buSzPct val="100000"/>
              <a:buChar char="•"/>
            </a:pPr>
            <a:r>
              <a:rPr lang="en-US" sz="1400" dirty="0">
                <a:solidFill>
                  <a:srgbClr val="4A5563"/>
                </a:solidFill>
                <a:latin typeface="IBM Plex Sans" pitchFamily="34" charset="0"/>
                <a:ea typeface="IBM Plex Sans" pitchFamily="34" charset="-122"/>
                <a:cs typeface="IBM Plex Sans" pitchFamily="34" charset="-120"/>
              </a:rPr>
              <a:t>Damage from other cells (bite, gore, kick, fire)</a:t>
            </a:r>
            <a:endParaRPr lang="en-US" sz="1400" dirty="0"/>
          </a:p>
          <a:p>
            <a:pPr marL="175768" indent="-175768" algn="l">
              <a:lnSpc>
                <a:spcPts val="1960"/>
              </a:lnSpc>
              <a:buSzPct val="100000"/>
              <a:buChar char="•"/>
            </a:pPr>
            <a:r>
              <a:rPr lang="en-US" sz="1400" dirty="0">
                <a:solidFill>
                  <a:srgbClr val="4A5563"/>
                </a:solidFill>
                <a:latin typeface="IBM Plex Sans" pitchFamily="34" charset="0"/>
                <a:ea typeface="IBM Plex Sans" pitchFamily="34" charset="-122"/>
                <a:cs typeface="IBM Plex Sans" pitchFamily="34" charset="-120"/>
              </a:rPr>
              <a:t>Hunger: too many missed food payments</a:t>
            </a:r>
            <a:endParaRPr lang="en-US" sz="1400" dirty="0"/>
          </a:p>
        </p:txBody>
      </p:sp>
      <p:sp>
        <p:nvSpPr>
          <p:cNvPr id="8" name="Shape 6"/>
          <p:cNvSpPr/>
          <p:nvPr/>
        </p:nvSpPr>
        <p:spPr>
          <a:xfrm>
            <a:off x="6200775" y="1796417"/>
            <a:ext cx="5175250" cy="2145030"/>
          </a:xfrm>
          <a:prstGeom prst="roundRect">
            <a:avLst>
              <a:gd name="adj" fmla="val 4589"/>
            </a:avLst>
          </a:prstGeom>
          <a:solidFill>
            <a:srgbClr val="FBFAF6"/>
          </a:solidFill>
          <a:ln w="6350">
            <a:solidFill>
              <a:srgbClr val="DDD6C8"/>
            </a:solidFill>
            <a:prstDash val="solid"/>
          </a:ln>
        </p:spPr>
        <p:txBody>
          <a:bodyPr/>
          <a:lstStyle/>
          <a:p>
            <a:endParaRPr lang="en-ZA"/>
          </a:p>
        </p:txBody>
      </p:sp>
      <p:sp>
        <p:nvSpPr>
          <p:cNvPr id="9" name="Text 7"/>
          <p:cNvSpPr/>
          <p:nvPr/>
        </p:nvSpPr>
        <p:spPr>
          <a:xfrm>
            <a:off x="6456680" y="2052327"/>
            <a:ext cx="4803343" cy="29972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6202A"/>
                </a:solidFill>
                <a:latin typeface="Space Grotesk" pitchFamily="34" charset="0"/>
                <a:ea typeface="Space Grotesk" pitchFamily="34" charset="-122"/>
                <a:cs typeface="Space Grotesk" pitchFamily="34" charset="-120"/>
              </a:rPr>
              <a:t>How you can check</a:t>
            </a:r>
            <a:endParaRPr lang="en-US" sz="1800" dirty="0"/>
          </a:p>
        </p:txBody>
      </p:sp>
      <p:sp>
        <p:nvSpPr>
          <p:cNvPr id="10" name="Text 8"/>
          <p:cNvSpPr/>
          <p:nvPr/>
        </p:nvSpPr>
        <p:spPr>
          <a:xfrm>
            <a:off x="6534912" y="2440942"/>
            <a:ext cx="4717491" cy="1270000"/>
          </a:xfrm>
          <a:prstGeom prst="rect">
            <a:avLst/>
          </a:prstGeom>
          <a:noFill/>
          <a:ln/>
        </p:spPr>
        <p:txBody>
          <a:bodyPr wrap="square" lIns="0" tIns="0" rIns="0" bIns="0" rtlCol="0" anchor="t">
            <a:normAutofit/>
          </a:bodyPr>
          <a:lstStyle/>
          <a:p>
            <a:pPr marL="175768" indent="-175768" algn="l">
              <a:lnSpc>
                <a:spcPts val="1960"/>
              </a:lnSpc>
              <a:buSzPct val="100000"/>
              <a:buChar char="•"/>
            </a:pPr>
            <a:r>
              <a:rPr lang="en-US" sz="1400" dirty="0">
                <a:solidFill>
                  <a:srgbClr val="4A5563"/>
                </a:solidFill>
                <a:latin typeface="IBM Plex Sans" pitchFamily="34" charset="0"/>
                <a:ea typeface="IBM Plex Sans" pitchFamily="34" charset="-122"/>
                <a:cs typeface="IBM Plex Sans" pitchFamily="34" charset="-120"/>
              </a:rPr>
              <a:t>World files only place organisms and set rules; no line sets a population</a:t>
            </a:r>
            <a:endParaRPr lang="en-US" sz="1400" dirty="0"/>
          </a:p>
          <a:p>
            <a:pPr marL="175768" indent="-175768" algn="l">
              <a:lnSpc>
                <a:spcPts val="1960"/>
              </a:lnSpc>
              <a:buSzPct val="100000"/>
              <a:buChar char="•"/>
            </a:pPr>
            <a:r>
              <a:rPr lang="en-US" sz="1400" dirty="0">
                <a:solidFill>
                  <a:srgbClr val="4A5563"/>
                </a:solidFill>
                <a:latin typeface="IBM Plex Sans" pitchFamily="34" charset="0"/>
                <a:ea typeface="IBM Plex Sans" pitchFamily="34" charset="-122"/>
                <a:cs typeface="IBM Plex Sans" pitchFamily="34" charset="-120"/>
              </a:rPr>
              <a:t>Every new setting defaults to off, so “before” is the original engine</a:t>
            </a:r>
            <a:endParaRPr lang="en-US" sz="1400" dirty="0"/>
          </a:p>
          <a:p>
            <a:pPr marL="175768" indent="-175768" algn="l">
              <a:lnSpc>
                <a:spcPts val="1960"/>
              </a:lnSpc>
              <a:buSzPct val="100000"/>
              <a:buChar char="•"/>
            </a:pPr>
            <a:r>
              <a:rPr lang="en-US" sz="1400" dirty="0">
                <a:solidFill>
                  <a:srgbClr val="4A5563"/>
                </a:solidFill>
                <a:latin typeface="IBM Plex Sans" pitchFamily="34" charset="0"/>
                <a:ea typeface="IBM Plex Sans" pitchFamily="34" charset="-122"/>
                <a:cs typeface="IBM Plex Sans" pitchFamily="34" charset="-120"/>
              </a:rPr>
              <a:t>Same condition, different seeds, different outcomes</a:t>
            </a:r>
            <a:endParaRPr lang="en-US" sz="1400" dirty="0"/>
          </a:p>
        </p:txBody>
      </p:sp>
      <p:sp>
        <p:nvSpPr>
          <p:cNvPr id="11" name="Text 9"/>
          <p:cNvSpPr/>
          <p:nvPr/>
        </p:nvSpPr>
        <p:spPr>
          <a:xfrm>
            <a:off x="812800" y="4198627"/>
            <a:ext cx="10883392"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3"/>
                </a:solidFill>
                <a:latin typeface="IBM Plex Sans" pitchFamily="34" charset="0"/>
                <a:ea typeface="IBM Plex Sans" pitchFamily="34" charset="-122"/>
                <a:cs typeface="IBM Plex Sans" pitchFamily="34" charset="-120"/>
              </a:rPr>
              <a:t>Rules were tuned in trial runs (e.g. leopard jaws, sprint limits), then frozen; every final run used the same rules.</a:t>
            </a:r>
            <a:endParaRPr lang="en-US" sz="14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3F0E8"/>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540"/>
          </a:xfrm>
          <a:prstGeom prst="rect">
            <a:avLst/>
          </a:prstGeom>
          <a:noFill/>
          <a:ln/>
        </p:spPr>
        <p:txBody>
          <a:bodyPr wrap="square" lIns="0" tIns="0" rIns="0" bIns="0" rtlCol="0" anchor="t">
            <a:normAutofit/>
          </a:bodyPr>
          <a:lstStyle/>
          <a:p>
            <a:pPr marL="0" indent="0" algn="l">
              <a:lnSpc>
                <a:spcPts val="1820"/>
              </a:lnSpc>
              <a:buNone/>
            </a:pPr>
            <a:r>
              <a:rPr lang="en-US" sz="1300" b="1" kern="0" spc="150" dirty="0">
                <a:solidFill>
                  <a:srgbClr val="8A5A0B"/>
                </a:solidFill>
                <a:latin typeface="IBM Plex Sans" pitchFamily="34" charset="0"/>
                <a:ea typeface="IBM Plex Sans" pitchFamily="34" charset="-122"/>
                <a:cs typeface="IBM Plex Sans" pitchFamily="34" charset="-120"/>
              </a:rPr>
              <a:t>WHAT WE LEARNT IN CLASS · LECTURE 9</a:t>
            </a:r>
            <a:endParaRPr lang="en-US" sz="1300" dirty="0"/>
          </a:p>
        </p:txBody>
      </p:sp>
      <p:sp>
        <p:nvSpPr>
          <p:cNvPr id="3" name="Text 1"/>
          <p:cNvSpPr>
            <a:spLocks noGrp="1"/>
          </p:cNvSpPr>
          <p:nvPr>
            <p:ph type="title"/>
          </p:nvPr>
        </p:nvSpPr>
        <p:spPr>
          <a:xfrm>
            <a:off x="812800" y="1120142"/>
            <a:ext cx="11379200"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6202A"/>
                </a:solidFill>
                <a:latin typeface="Space Grotesk" pitchFamily="34" charset="0"/>
                <a:ea typeface="Space Grotesk" pitchFamily="34" charset="-122"/>
                <a:cs typeface="Space Grotesk" pitchFamily="34" charset="-120"/>
              </a:rPr>
              <a:t>Co-evolution explains why the same trait helped or hurt</a:t>
            </a:r>
            <a:endParaRPr lang="en-US" sz="30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2960" y="1778002"/>
          <a:ext cx="10556240" cy="3296920"/>
        </p:xfrm>
        <a:graphic>
          <a:graphicData uri="http://schemas.openxmlformats.org/drawingml/2006/table">
            <a:tbl>
              <a:tblPr/>
              <a:tblGrid>
                <a:gridCol w="2322373">
                  <a:extLst>
                    <a:ext uri="{9D8B030D-6E8A-4147-A177-3AD203B41FA5}">
                      <a16:colId xmlns:a16="http://schemas.microsoft.com/office/drawing/2014/main" val="20000"/>
                    </a:ext>
                  </a:extLst>
                </a:gridCol>
                <a:gridCol w="3800246">
                  <a:extLst>
                    <a:ext uri="{9D8B030D-6E8A-4147-A177-3AD203B41FA5}">
                      <a16:colId xmlns:a16="http://schemas.microsoft.com/office/drawing/2014/main" val="20001"/>
                    </a:ext>
                  </a:extLst>
                </a:gridCol>
                <a:gridCol w="4433621">
                  <a:extLst>
                    <a:ext uri="{9D8B030D-6E8A-4147-A177-3AD203B41FA5}">
                      <a16:colId xmlns:a16="http://schemas.microsoft.com/office/drawing/2014/main" val="20002"/>
                    </a:ext>
                  </a:extLst>
                </a:gridCol>
              </a:tblGrid>
              <a:tr h="356870">
                <a:tc>
                  <a:txBody>
                    <a:bodyPr/>
                    <a:lstStyle/>
                    <a:p>
                      <a:pPr marL="0" indent="0">
                        <a:lnSpc>
                          <a:spcPts val="1820"/>
                        </a:lnSpc>
                        <a:buNone/>
                      </a:pPr>
                      <a:r>
                        <a:rPr lang="en-US" sz="1300" b="1" dirty="0">
                          <a:solidFill>
                            <a:srgbClr val="F3F0E8"/>
                          </a:solidFill>
                          <a:latin typeface="IBM Plex Sans" pitchFamily="34" charset="0"/>
                          <a:ea typeface="IBM Plex Sans" pitchFamily="34" charset="-122"/>
                          <a:cs typeface="IBM Plex Sans" pitchFamily="34" charset="-120"/>
                        </a:rPr>
                        <a:t>Lecture idea</a:t>
                      </a:r>
                      <a:endParaRPr lang="en-US" sz="1300" dirty="0">
                        <a:latin typeface="IBM Plex Sans" charset="0"/>
                        <a:ea typeface="IBM Plex Sans" charset="0"/>
                        <a:cs typeface="IBM Plex Sans" charset="0"/>
                      </a:endParaRPr>
                    </a:p>
                  </a:txBody>
                  <a:tcPr marL="57785" marR="57785" marT="57785" marB="57785">
                    <a:lnL w="12700" cap="flat" cmpd="sng" algn="ctr">
                      <a:solidFill>
                        <a:srgbClr val="C2C0B9"/>
                      </a:solidFill>
                      <a:prstDash val="solid"/>
                      <a:round/>
                      <a:headEnd type="none" w="med" len="med"/>
                      <a:tailEnd type="none" w="med" len="med"/>
                    </a:lnL>
                    <a:lnR w="12700" cap="flat" cmpd="sng" algn="ctr">
                      <a:solidFill>
                        <a:srgbClr val="161D25"/>
                      </a:solidFill>
                      <a:prstDash val="solid"/>
                      <a:round/>
                      <a:headEnd type="none" w="med" len="med"/>
                      <a:tailEnd type="none" w="med" len="med"/>
                    </a:lnR>
                    <a:lnT w="12700" cap="flat" cmpd="sng" algn="ctr">
                      <a:solidFill>
                        <a:srgbClr val="C2C0B9"/>
                      </a:solidFill>
                      <a:prstDash val="solid"/>
                      <a:round/>
                      <a:headEnd type="none" w="med" len="med"/>
                      <a:tailEnd type="none" w="med" len="med"/>
                    </a:lnT>
                    <a:lnB w="12700" cap="flat" cmpd="sng" algn="ctr">
                      <a:solidFill>
                        <a:srgbClr val="161D25"/>
                      </a:solidFill>
                      <a:prstDash val="solid"/>
                      <a:round/>
                      <a:headEnd type="none" w="med" len="med"/>
                      <a:tailEnd type="none" w="med" len="med"/>
                    </a:lnB>
                    <a:solidFill>
                      <a:srgbClr val="16202A"/>
                    </a:solidFill>
                  </a:tcPr>
                </a:tc>
                <a:tc>
                  <a:txBody>
                    <a:bodyPr/>
                    <a:lstStyle/>
                    <a:p>
                      <a:pPr marL="0" indent="0">
                        <a:lnSpc>
                          <a:spcPts val="1820"/>
                        </a:lnSpc>
                        <a:buNone/>
                      </a:pPr>
                      <a:r>
                        <a:rPr lang="en-US" sz="1300" b="1" dirty="0">
                          <a:solidFill>
                            <a:srgbClr val="F3F0E8"/>
                          </a:solidFill>
                          <a:latin typeface="IBM Plex Sans" pitchFamily="34" charset="0"/>
                          <a:ea typeface="IBM Plex Sans" pitchFamily="34" charset="-122"/>
                          <a:cs typeface="IBM Plex Sans" pitchFamily="34" charset="-120"/>
                        </a:rPr>
                        <a:t>What it says</a:t>
                      </a:r>
                      <a:endParaRPr lang="en-US" sz="1300" dirty="0">
                        <a:latin typeface="IBM Plex Sans" charset="0"/>
                        <a:ea typeface="IBM Plex Sans" charset="0"/>
                        <a:cs typeface="IBM Plex Sans" charset="0"/>
                      </a:endParaRPr>
                    </a:p>
                  </a:txBody>
                  <a:tcPr marL="57785" marR="57785" marT="57785" marB="57785">
                    <a:lnL w="12700" cap="flat" cmpd="sng" algn="ctr">
                      <a:solidFill>
                        <a:srgbClr val="161D25"/>
                      </a:solidFill>
                      <a:prstDash val="solid"/>
                      <a:round/>
                      <a:headEnd type="none" w="med" len="med"/>
                      <a:tailEnd type="none" w="med" len="med"/>
                    </a:lnL>
                    <a:lnR w="12700" cap="flat" cmpd="sng" algn="ctr">
                      <a:solidFill>
                        <a:srgbClr val="161D25"/>
                      </a:solidFill>
                      <a:prstDash val="solid"/>
                      <a:round/>
                      <a:headEnd type="none" w="med" len="med"/>
                      <a:tailEnd type="none" w="med" len="med"/>
                    </a:lnR>
                    <a:lnT w="12700" cap="flat" cmpd="sng" algn="ctr">
                      <a:solidFill>
                        <a:srgbClr val="C2C0B9"/>
                      </a:solidFill>
                      <a:prstDash val="solid"/>
                      <a:round/>
                      <a:headEnd type="none" w="med" len="med"/>
                      <a:tailEnd type="none" w="med" len="med"/>
                    </a:lnT>
                    <a:lnB w="12700" cap="flat" cmpd="sng" algn="ctr">
                      <a:solidFill>
                        <a:srgbClr val="161D25"/>
                      </a:solidFill>
                      <a:prstDash val="solid"/>
                      <a:round/>
                      <a:headEnd type="none" w="med" len="med"/>
                      <a:tailEnd type="none" w="med" len="med"/>
                    </a:lnB>
                    <a:solidFill>
                      <a:srgbClr val="16202A"/>
                    </a:solidFill>
                  </a:tcPr>
                </a:tc>
                <a:tc>
                  <a:txBody>
                    <a:bodyPr/>
                    <a:lstStyle/>
                    <a:p>
                      <a:pPr marL="0" indent="0">
                        <a:lnSpc>
                          <a:spcPts val="1820"/>
                        </a:lnSpc>
                        <a:buNone/>
                      </a:pPr>
                      <a:r>
                        <a:rPr lang="en-US" sz="1300" b="1" dirty="0">
                          <a:solidFill>
                            <a:srgbClr val="F3F0E8"/>
                          </a:solidFill>
                          <a:latin typeface="IBM Plex Sans" pitchFamily="34" charset="0"/>
                          <a:ea typeface="IBM Plex Sans" pitchFamily="34" charset="-122"/>
                          <a:cs typeface="IBM Plex Sans" pitchFamily="34" charset="-120"/>
                        </a:rPr>
                        <a:t>What we saw</a:t>
                      </a:r>
                      <a:endParaRPr lang="en-US" sz="1300" dirty="0">
                        <a:latin typeface="IBM Plex Sans" charset="0"/>
                        <a:ea typeface="IBM Plex Sans" charset="0"/>
                        <a:cs typeface="IBM Plex Sans" charset="0"/>
                      </a:endParaRPr>
                    </a:p>
                  </a:txBody>
                  <a:tcPr marL="57785" marR="57785" marT="57785" marB="57785">
                    <a:lnL w="12700" cap="flat" cmpd="sng" algn="ctr">
                      <a:solidFill>
                        <a:srgbClr val="161D25"/>
                      </a:solidFill>
                      <a:prstDash val="solid"/>
                      <a:round/>
                      <a:headEnd type="none" w="med" len="med"/>
                      <a:tailEnd type="none" w="med" len="med"/>
                    </a:lnL>
                    <a:lnR w="12700" cap="flat" cmpd="sng" algn="ctr">
                      <a:solidFill>
                        <a:srgbClr val="161D25"/>
                      </a:solidFill>
                      <a:prstDash val="solid"/>
                      <a:round/>
                      <a:headEnd type="none" w="med" len="med"/>
                      <a:tailEnd type="none" w="med" len="med"/>
                    </a:lnR>
                    <a:lnT w="12700" cap="flat" cmpd="sng" algn="ctr">
                      <a:solidFill>
                        <a:srgbClr val="C2C0B9"/>
                      </a:solidFill>
                      <a:prstDash val="solid"/>
                      <a:round/>
                      <a:headEnd type="none" w="med" len="med"/>
                      <a:tailEnd type="none" w="med" len="med"/>
                    </a:lnT>
                    <a:lnB w="12700" cap="flat" cmpd="sng" algn="ctr">
                      <a:solidFill>
                        <a:srgbClr val="161D25"/>
                      </a:solidFill>
                      <a:prstDash val="solid"/>
                      <a:round/>
                      <a:headEnd type="none" w="med" len="med"/>
                      <a:tailEnd type="none" w="med" len="med"/>
                    </a:lnB>
                    <a:solidFill>
                      <a:srgbClr val="16202A"/>
                    </a:solidFill>
                  </a:tcPr>
                </a:tc>
                <a:extLst>
                  <a:ext uri="{0D108BD9-81ED-4DB2-BD59-A6C34878D82A}">
                    <a16:rowId xmlns:a16="http://schemas.microsoft.com/office/drawing/2014/main" val="10000"/>
                  </a:ext>
                </a:extLst>
              </a:tr>
              <a:tr h="588010">
                <a:tc>
                  <a:txBody>
                    <a:bodyPr/>
                    <a:lstStyle/>
                    <a:p>
                      <a:pPr marL="0" indent="0">
                        <a:lnSpc>
                          <a:spcPts val="1820"/>
                        </a:lnSpc>
                        <a:buNone/>
                      </a:pPr>
                      <a:r>
                        <a:rPr lang="en-US" sz="1300" dirty="0">
                          <a:solidFill>
                            <a:srgbClr val="16202A"/>
                          </a:solidFill>
                          <a:latin typeface="IBM Plex Sans" pitchFamily="34" charset="0"/>
                          <a:ea typeface="IBM Plex Sans" pitchFamily="34" charset="-122"/>
                          <a:cs typeface="IBM Plex Sans" pitchFamily="34" charset="-120"/>
                        </a:rPr>
                        <a:t>Co-evolution</a:t>
                      </a:r>
                      <a:endParaRPr lang="en-US" sz="1300" dirty="0">
                        <a:latin typeface="IBM Plex Sans" charset="0"/>
                        <a:ea typeface="IBM Plex Sans" charset="0"/>
                        <a:cs typeface="IBM Plex Sans" charset="0"/>
                      </a:endParaRPr>
                    </a:p>
                  </a:txBody>
                  <a:tcPr marL="57785" marR="57785" marT="57785" marB="57785">
                    <a:lnL w="12700" cap="flat" cmpd="sng" algn="ctr">
                      <a:solidFill>
                        <a:srgbClr val="C2C0B9"/>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161D25"/>
                      </a:solidFill>
                      <a:prstDash val="solid"/>
                      <a:round/>
                      <a:headEnd type="none" w="med" len="med"/>
                      <a:tailEnd type="none" w="med" len="med"/>
                    </a:lnT>
                    <a:lnB w="12700" cap="flat" cmpd="sng" algn="ctr">
                      <a:solidFill>
                        <a:srgbClr val="C8C7C4"/>
                      </a:solidFill>
                      <a:prstDash val="solid"/>
                      <a:round/>
                      <a:headEnd type="none" w="med" len="med"/>
                      <a:tailEnd type="none" w="med" len="med"/>
                    </a:lnB>
                    <a:solidFill>
                      <a:srgbClr val="FBFAF6"/>
                    </a:solidFill>
                  </a:tcPr>
                </a:tc>
                <a:tc>
                  <a:txBody>
                    <a:bodyPr/>
                    <a:lstStyle/>
                    <a:p>
                      <a:pPr marL="0" indent="0">
                        <a:lnSpc>
                          <a:spcPts val="1820"/>
                        </a:lnSpc>
                        <a:buNone/>
                      </a:pPr>
                      <a:r>
                        <a:rPr lang="en-US" sz="1300" dirty="0">
                          <a:solidFill>
                            <a:srgbClr val="16202A"/>
                          </a:solidFill>
                          <a:latin typeface="IBM Plex Sans" pitchFamily="34" charset="0"/>
                          <a:ea typeface="IBM Plex Sans" pitchFamily="34" charset="-122"/>
                          <a:cs typeface="IBM Plex Sans" pitchFamily="34" charset="-120"/>
                        </a:rPr>
                        <a:t>Fitness of one individual depends on others</a:t>
                      </a:r>
                      <a:endParaRPr lang="en-US" sz="1300" dirty="0">
                        <a:latin typeface="IBM Plex Sans" charset="0"/>
                        <a:ea typeface="IBM Plex Sans" charset="0"/>
                        <a:cs typeface="IBM Plex Sans" charset="0"/>
                      </a:endParaRPr>
                    </a:p>
                  </a:txBody>
                  <a:tcPr marL="57785" marR="57785" marT="57785" marB="57785">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161D25"/>
                      </a:solidFill>
                      <a:prstDash val="solid"/>
                      <a:round/>
                      <a:headEnd type="none" w="med" len="med"/>
                      <a:tailEnd type="none" w="med" len="med"/>
                    </a:lnT>
                    <a:lnB w="12700" cap="flat" cmpd="sng" algn="ctr">
                      <a:solidFill>
                        <a:srgbClr val="C8C7C4"/>
                      </a:solidFill>
                      <a:prstDash val="solid"/>
                      <a:round/>
                      <a:headEnd type="none" w="med" len="med"/>
                      <a:tailEnd type="none" w="med" len="med"/>
                    </a:lnB>
                    <a:solidFill>
                      <a:srgbClr val="FBFAF6"/>
                    </a:solidFill>
                  </a:tcPr>
                </a:tc>
                <a:tc>
                  <a:txBody>
                    <a:bodyPr/>
                    <a:lstStyle/>
                    <a:p>
                      <a:pPr marL="0" indent="0">
                        <a:lnSpc>
                          <a:spcPts val="1820"/>
                        </a:lnSpc>
                        <a:buNone/>
                      </a:pPr>
                      <a:r>
                        <a:rPr lang="en-US" sz="1300" dirty="0">
                          <a:solidFill>
                            <a:srgbClr val="16202A"/>
                          </a:solidFill>
                          <a:latin typeface="IBM Plex Sans" pitchFamily="34" charset="0"/>
                          <a:ea typeface="IBM Plex Sans" pitchFamily="34" charset="-122"/>
                          <a:cs typeface="IBM Plex Sans" pitchFamily="34" charset="-120"/>
                        </a:rPr>
                        <a:t>Zebra eyes, stripes and kick paid off only while leopards lived; after, they were lost</a:t>
                      </a:r>
                      <a:endParaRPr lang="en-US" sz="1300" dirty="0">
                        <a:latin typeface="IBM Plex Sans" charset="0"/>
                        <a:ea typeface="IBM Plex Sans" charset="0"/>
                        <a:cs typeface="IBM Plex Sans" charset="0"/>
                      </a:endParaRPr>
                    </a:p>
                  </a:txBody>
                  <a:tcPr marL="57785" marR="57785" marT="57785" marB="57785">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161D25"/>
                      </a:solidFill>
                      <a:prstDash val="solid"/>
                      <a:round/>
                      <a:headEnd type="none" w="med" len="med"/>
                      <a:tailEnd type="none" w="med" len="med"/>
                    </a:lnT>
                    <a:lnB w="12700" cap="flat" cmpd="sng" algn="ctr">
                      <a:solidFill>
                        <a:srgbClr val="C8C7C4"/>
                      </a:solidFill>
                      <a:prstDash val="solid"/>
                      <a:round/>
                      <a:headEnd type="none" w="med" len="med"/>
                      <a:tailEnd type="none" w="med" len="med"/>
                    </a:lnB>
                    <a:solidFill>
                      <a:srgbClr val="FBFAF6"/>
                    </a:solidFill>
                  </a:tcPr>
                </a:tc>
                <a:extLst>
                  <a:ext uri="{0D108BD9-81ED-4DB2-BD59-A6C34878D82A}">
                    <a16:rowId xmlns:a16="http://schemas.microsoft.com/office/drawing/2014/main" val="10001"/>
                  </a:ext>
                </a:extLst>
              </a:tr>
              <a:tr h="588010">
                <a:tc>
                  <a:txBody>
                    <a:bodyPr/>
                    <a:lstStyle/>
                    <a:p>
                      <a:pPr marL="0" indent="0">
                        <a:lnSpc>
                          <a:spcPts val="1820"/>
                        </a:lnSpc>
                        <a:buNone/>
                      </a:pPr>
                      <a:r>
                        <a:rPr lang="en-US" sz="1300" dirty="0">
                          <a:solidFill>
                            <a:srgbClr val="16202A"/>
                          </a:solidFill>
                          <a:latin typeface="IBM Plex Sans" pitchFamily="34" charset="0"/>
                          <a:ea typeface="IBM Plex Sans" pitchFamily="34" charset="-122"/>
                          <a:cs typeface="IBM Plex Sans" pitchFamily="34" charset="-120"/>
                        </a:rPr>
                        <a:t>Dynamic fitness landscape</a:t>
                      </a:r>
                      <a:endParaRPr lang="en-US" sz="1300" dirty="0">
                        <a:latin typeface="IBM Plex Sans" charset="0"/>
                        <a:ea typeface="IBM Plex Sans" charset="0"/>
                        <a:cs typeface="IBM Plex Sans" charset="0"/>
                      </a:endParaRPr>
                    </a:p>
                  </a:txBody>
                  <a:tcPr marL="57785" marR="57785" marT="57785" marB="57785">
                    <a:lnL w="12700" cap="flat" cmpd="sng" algn="ctr">
                      <a:solidFill>
                        <a:srgbClr val="C2C0B9"/>
                      </a:solidFill>
                      <a:prstDash val="solid"/>
                      <a:round/>
                      <a:headEnd type="none" w="med" len="med"/>
                      <a:tailEnd type="none" w="med" len="med"/>
                    </a:lnL>
                    <a:lnR w="12700" cap="flat" cmpd="sng" algn="ctr">
                      <a:solidFill>
                        <a:srgbClr val="C2C0B9"/>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C2C0B9"/>
                      </a:solidFill>
                      <a:prstDash val="solid"/>
                      <a:round/>
                      <a:headEnd type="none" w="med" len="med"/>
                      <a:tailEnd type="none" w="med" len="med"/>
                    </a:lnB>
                  </a:tcPr>
                </a:tc>
                <a:tc>
                  <a:txBody>
                    <a:bodyPr/>
                    <a:lstStyle/>
                    <a:p>
                      <a:pPr marL="0" indent="0">
                        <a:lnSpc>
                          <a:spcPts val="1820"/>
                        </a:lnSpc>
                        <a:buNone/>
                      </a:pPr>
                      <a:r>
                        <a:rPr lang="en-US" sz="1300" dirty="0">
                          <a:solidFill>
                            <a:srgbClr val="16202A"/>
                          </a:solidFill>
                          <a:latin typeface="IBM Plex Sans" pitchFamily="34" charset="0"/>
                          <a:ea typeface="IBM Plex Sans" pitchFamily="34" charset="-122"/>
                          <a:cs typeface="IBM Plex Sans" pitchFamily="34" charset="-120"/>
                        </a:rPr>
                        <a:t>Adapting changes the landscape for everyone</a:t>
                      </a:r>
                      <a:endParaRPr lang="en-US" sz="1300" dirty="0">
                        <a:latin typeface="IBM Plex Sans" charset="0"/>
                        <a:ea typeface="IBM Plex Sans" charset="0"/>
                        <a:cs typeface="IBM Plex Sans" charset="0"/>
                      </a:endParaRPr>
                    </a:p>
                  </a:txBody>
                  <a:tcPr marL="57785" marR="57785" marT="57785" marB="57785">
                    <a:lnL w="12700" cap="flat" cmpd="sng" algn="ctr">
                      <a:solidFill>
                        <a:srgbClr val="C2C0B9"/>
                      </a:solidFill>
                      <a:prstDash val="solid"/>
                      <a:round/>
                      <a:headEnd type="none" w="med" len="med"/>
                      <a:tailEnd type="none" w="med" len="med"/>
                    </a:lnL>
                    <a:lnR w="12700" cap="flat" cmpd="sng" algn="ctr">
                      <a:solidFill>
                        <a:srgbClr val="C2C0B9"/>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C2C0B9"/>
                      </a:solidFill>
                      <a:prstDash val="solid"/>
                      <a:round/>
                      <a:headEnd type="none" w="med" len="med"/>
                      <a:tailEnd type="none" w="med" len="med"/>
                    </a:lnB>
                  </a:tcPr>
                </a:tc>
                <a:tc>
                  <a:txBody>
                    <a:bodyPr/>
                    <a:lstStyle/>
                    <a:p>
                      <a:pPr marL="0" indent="0">
                        <a:lnSpc>
                          <a:spcPts val="1820"/>
                        </a:lnSpc>
                        <a:buNone/>
                      </a:pPr>
                      <a:r>
                        <a:rPr lang="en-US" sz="1300" dirty="0">
                          <a:solidFill>
                            <a:srgbClr val="16202A"/>
                          </a:solidFill>
                          <a:latin typeface="IBM Plex Sans" pitchFamily="34" charset="0"/>
                          <a:ea typeface="IBM Plex Sans" pitchFamily="34" charset="-122"/>
                          <a:cs typeface="IBM Plex Sans" pitchFamily="34" charset="-120"/>
                        </a:rPr>
                        <a:t>Before: killer zebras reshaped their own landscape into one with no food</a:t>
                      </a:r>
                      <a:endParaRPr lang="en-US" sz="1300" dirty="0">
                        <a:latin typeface="IBM Plex Sans" charset="0"/>
                        <a:ea typeface="IBM Plex Sans" charset="0"/>
                        <a:cs typeface="IBM Plex Sans" charset="0"/>
                      </a:endParaRPr>
                    </a:p>
                  </a:txBody>
                  <a:tcPr marL="57785" marR="57785" marT="57785" marB="57785">
                    <a:lnL w="12700" cap="flat" cmpd="sng" algn="ctr">
                      <a:solidFill>
                        <a:srgbClr val="C2C0B9"/>
                      </a:solidFill>
                      <a:prstDash val="solid"/>
                      <a:round/>
                      <a:headEnd type="none" w="med" len="med"/>
                      <a:tailEnd type="none" w="med" len="med"/>
                    </a:lnL>
                    <a:lnR w="12700" cap="flat" cmpd="sng" algn="ctr">
                      <a:solidFill>
                        <a:srgbClr val="C2C0B9"/>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C2C0B9"/>
                      </a:solidFill>
                      <a:prstDash val="solid"/>
                      <a:round/>
                      <a:headEnd type="none" w="med" len="med"/>
                      <a:tailEnd type="none" w="med" len="med"/>
                    </a:lnB>
                  </a:tcPr>
                </a:tc>
                <a:extLst>
                  <a:ext uri="{0D108BD9-81ED-4DB2-BD59-A6C34878D82A}">
                    <a16:rowId xmlns:a16="http://schemas.microsoft.com/office/drawing/2014/main" val="10002"/>
                  </a:ext>
                </a:extLst>
              </a:tr>
              <a:tr h="588010">
                <a:tc>
                  <a:txBody>
                    <a:bodyPr/>
                    <a:lstStyle/>
                    <a:p>
                      <a:pPr marL="0" indent="0">
                        <a:lnSpc>
                          <a:spcPts val="1820"/>
                        </a:lnSpc>
                        <a:buNone/>
                      </a:pPr>
                      <a:r>
                        <a:rPr lang="en-US" sz="1300" dirty="0">
                          <a:solidFill>
                            <a:srgbClr val="16202A"/>
                          </a:solidFill>
                          <a:latin typeface="IBM Plex Sans" pitchFamily="34" charset="0"/>
                          <a:ea typeface="IBM Plex Sans" pitchFamily="34" charset="-122"/>
                          <a:cs typeface="IBM Plex Sans" pitchFamily="34" charset="-120"/>
                        </a:rPr>
                        <a:t>Predator–prey (Lotka–Volterra)</a:t>
                      </a:r>
                      <a:endParaRPr lang="en-US" sz="1300" dirty="0">
                        <a:latin typeface="IBM Plex Sans" charset="0"/>
                        <a:ea typeface="IBM Plex Sans" charset="0"/>
                        <a:cs typeface="IBM Plex Sans" charset="0"/>
                      </a:endParaRPr>
                    </a:p>
                  </a:txBody>
                  <a:tcPr marL="57785" marR="57785" marT="57785" marB="57785">
                    <a:lnL w="12700" cap="flat" cmpd="sng" algn="ctr">
                      <a:solidFill>
                        <a:srgbClr val="C2C0B9"/>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C2C0B9"/>
                      </a:solidFill>
                      <a:prstDash val="solid"/>
                      <a:round/>
                      <a:headEnd type="none" w="med" len="med"/>
                      <a:tailEnd type="none" w="med" len="med"/>
                    </a:lnT>
                    <a:lnB w="12700" cap="flat" cmpd="sng" algn="ctr">
                      <a:solidFill>
                        <a:srgbClr val="C8C7C4"/>
                      </a:solidFill>
                      <a:prstDash val="solid"/>
                      <a:round/>
                      <a:headEnd type="none" w="med" len="med"/>
                      <a:tailEnd type="none" w="med" len="med"/>
                    </a:lnB>
                    <a:solidFill>
                      <a:srgbClr val="FBFAF6"/>
                    </a:solidFill>
                  </a:tcPr>
                </a:tc>
                <a:tc>
                  <a:txBody>
                    <a:bodyPr/>
                    <a:lstStyle/>
                    <a:p>
                      <a:pPr marL="0" indent="0">
                        <a:lnSpc>
                          <a:spcPts val="1820"/>
                        </a:lnSpc>
                        <a:buNone/>
                      </a:pPr>
                      <a:r>
                        <a:rPr lang="en-US" sz="1300" dirty="0">
                          <a:solidFill>
                            <a:srgbClr val="16202A"/>
                          </a:solidFill>
                          <a:latin typeface="IBM Plex Sans" pitchFamily="34" charset="0"/>
                          <a:ea typeface="IBM Plex Sans" pitchFamily="34" charset="-122"/>
                          <a:cs typeface="IBM Plex Sans" pitchFamily="34" charset="-120"/>
                        </a:rPr>
                        <a:t>Coupled populations should rise and fall together</a:t>
                      </a:r>
                      <a:endParaRPr lang="en-US" sz="1300" dirty="0">
                        <a:latin typeface="IBM Plex Sans" charset="0"/>
                        <a:ea typeface="IBM Plex Sans" charset="0"/>
                        <a:cs typeface="IBM Plex Sans" charset="0"/>
                      </a:endParaRPr>
                    </a:p>
                  </a:txBody>
                  <a:tcPr marL="57785" marR="57785" marT="57785" marB="57785">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C2C0B9"/>
                      </a:solidFill>
                      <a:prstDash val="solid"/>
                      <a:round/>
                      <a:headEnd type="none" w="med" len="med"/>
                      <a:tailEnd type="none" w="med" len="med"/>
                    </a:lnT>
                    <a:lnB w="12700" cap="flat" cmpd="sng" algn="ctr">
                      <a:solidFill>
                        <a:srgbClr val="C8C7C4"/>
                      </a:solidFill>
                      <a:prstDash val="solid"/>
                      <a:round/>
                      <a:headEnd type="none" w="med" len="med"/>
                      <a:tailEnd type="none" w="med" len="med"/>
                    </a:lnB>
                    <a:solidFill>
                      <a:srgbClr val="FBFAF6"/>
                    </a:solidFill>
                  </a:tcPr>
                </a:tc>
                <a:tc>
                  <a:txBody>
                    <a:bodyPr/>
                    <a:lstStyle/>
                    <a:p>
                      <a:pPr marL="0" indent="0">
                        <a:lnSpc>
                          <a:spcPts val="1820"/>
                        </a:lnSpc>
                        <a:buNone/>
                      </a:pPr>
                      <a:r>
                        <a:rPr lang="en-US" sz="1300" dirty="0">
                          <a:solidFill>
                            <a:srgbClr val="16202A"/>
                          </a:solidFill>
                          <a:latin typeface="IBM Plex Sans" pitchFamily="34" charset="0"/>
                          <a:ea typeface="IBM Plex Sans" pitchFamily="34" charset="-122"/>
                          <a:cs typeface="IBM Plex Sans" pitchFamily="34" charset="-120"/>
                        </a:rPr>
                        <a:t>Only one boom then bust; with 48 leopards, prey eaten then predators starved</a:t>
                      </a:r>
                      <a:endParaRPr lang="en-US" sz="1300" dirty="0">
                        <a:latin typeface="IBM Plex Sans" charset="0"/>
                        <a:ea typeface="IBM Plex Sans" charset="0"/>
                        <a:cs typeface="IBM Plex Sans" charset="0"/>
                      </a:endParaRPr>
                    </a:p>
                  </a:txBody>
                  <a:tcPr marL="57785" marR="57785" marT="57785" marB="57785">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C2C0B9"/>
                      </a:solidFill>
                      <a:prstDash val="solid"/>
                      <a:round/>
                      <a:headEnd type="none" w="med" len="med"/>
                      <a:tailEnd type="none" w="med" len="med"/>
                    </a:lnT>
                    <a:lnB w="12700" cap="flat" cmpd="sng" algn="ctr">
                      <a:solidFill>
                        <a:srgbClr val="C8C7C4"/>
                      </a:solidFill>
                      <a:prstDash val="solid"/>
                      <a:round/>
                      <a:headEnd type="none" w="med" len="med"/>
                      <a:tailEnd type="none" w="med" len="med"/>
                    </a:lnB>
                    <a:solidFill>
                      <a:srgbClr val="FBFAF6"/>
                    </a:solidFill>
                  </a:tcPr>
                </a:tc>
                <a:extLst>
                  <a:ext uri="{0D108BD9-81ED-4DB2-BD59-A6C34878D82A}">
                    <a16:rowId xmlns:a16="http://schemas.microsoft.com/office/drawing/2014/main" val="10003"/>
                  </a:ext>
                </a:extLst>
              </a:tr>
              <a:tr h="588010">
                <a:tc>
                  <a:txBody>
                    <a:bodyPr/>
                    <a:lstStyle/>
                    <a:p>
                      <a:pPr marL="0" indent="0">
                        <a:lnSpc>
                          <a:spcPts val="1820"/>
                        </a:lnSpc>
                        <a:buNone/>
                      </a:pPr>
                      <a:r>
                        <a:rPr lang="en-US" sz="1300" dirty="0">
                          <a:solidFill>
                            <a:srgbClr val="16202A"/>
                          </a:solidFill>
                          <a:latin typeface="IBM Plex Sans" pitchFamily="34" charset="0"/>
                          <a:ea typeface="IBM Plex Sans" pitchFamily="34" charset="-122"/>
                          <a:cs typeface="IBM Plex Sans" pitchFamily="34" charset="-120"/>
                        </a:rPr>
                        <a:t>Arms race and Red Queen</a:t>
                      </a:r>
                      <a:endParaRPr lang="en-US" sz="1300" dirty="0">
                        <a:latin typeface="IBM Plex Sans" charset="0"/>
                        <a:ea typeface="IBM Plex Sans" charset="0"/>
                        <a:cs typeface="IBM Plex Sans" charset="0"/>
                      </a:endParaRPr>
                    </a:p>
                  </a:txBody>
                  <a:tcPr marL="57785" marR="57785" marT="57785" marB="57785">
                    <a:lnL w="12700" cap="flat" cmpd="sng" algn="ctr">
                      <a:solidFill>
                        <a:srgbClr val="C2C0B9"/>
                      </a:solidFill>
                      <a:prstDash val="solid"/>
                      <a:round/>
                      <a:headEnd type="none" w="med" len="med"/>
                      <a:tailEnd type="none" w="med" len="med"/>
                    </a:lnL>
                    <a:lnR w="12700" cap="flat" cmpd="sng" algn="ctr">
                      <a:solidFill>
                        <a:srgbClr val="C2C0B9"/>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C2C0B9"/>
                      </a:solidFill>
                      <a:prstDash val="solid"/>
                      <a:round/>
                      <a:headEnd type="none" w="med" len="med"/>
                      <a:tailEnd type="none" w="med" len="med"/>
                    </a:lnB>
                  </a:tcPr>
                </a:tc>
                <a:tc>
                  <a:txBody>
                    <a:bodyPr/>
                    <a:lstStyle/>
                    <a:p>
                      <a:pPr marL="0" indent="0">
                        <a:lnSpc>
                          <a:spcPts val="1820"/>
                        </a:lnSpc>
                        <a:buNone/>
                      </a:pPr>
                      <a:r>
                        <a:rPr lang="en-US" sz="1300" dirty="0">
                          <a:solidFill>
                            <a:srgbClr val="16202A"/>
                          </a:solidFill>
                          <a:latin typeface="IBM Plex Sans" pitchFamily="34" charset="0"/>
                          <a:ea typeface="IBM Plex Sans" pitchFamily="34" charset="-122"/>
                          <a:cs typeface="IBM Plex Sans" pitchFamily="34" charset="-120"/>
                        </a:rPr>
                        <a:t>Species co-adapt; running just to stay put</a:t>
                      </a:r>
                      <a:endParaRPr lang="en-US" sz="1300" dirty="0">
                        <a:latin typeface="IBM Plex Sans" charset="0"/>
                        <a:ea typeface="IBM Plex Sans" charset="0"/>
                        <a:cs typeface="IBM Plex Sans" charset="0"/>
                      </a:endParaRPr>
                    </a:p>
                  </a:txBody>
                  <a:tcPr marL="57785" marR="57785" marT="57785" marB="57785">
                    <a:lnL w="12700" cap="flat" cmpd="sng" algn="ctr">
                      <a:solidFill>
                        <a:srgbClr val="C2C0B9"/>
                      </a:solidFill>
                      <a:prstDash val="solid"/>
                      <a:round/>
                      <a:headEnd type="none" w="med" len="med"/>
                      <a:tailEnd type="none" w="med" len="med"/>
                    </a:lnL>
                    <a:lnR w="12700" cap="flat" cmpd="sng" algn="ctr">
                      <a:solidFill>
                        <a:srgbClr val="C2C0B9"/>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C2C0B9"/>
                      </a:solidFill>
                      <a:prstDash val="solid"/>
                      <a:round/>
                      <a:headEnd type="none" w="med" len="med"/>
                      <a:tailEnd type="none" w="med" len="med"/>
                    </a:lnB>
                  </a:tcPr>
                </a:tc>
                <a:tc>
                  <a:txBody>
                    <a:bodyPr/>
                    <a:lstStyle/>
                    <a:p>
                      <a:pPr marL="0" indent="0">
                        <a:lnSpc>
                          <a:spcPts val="1820"/>
                        </a:lnSpc>
                        <a:buNone/>
                      </a:pPr>
                      <a:r>
                        <a:rPr lang="en-US" sz="1300" dirty="0">
                          <a:solidFill>
                            <a:srgbClr val="16202A"/>
                          </a:solidFill>
                          <a:latin typeface="IBM Plex Sans" pitchFamily="34" charset="0"/>
                          <a:ea typeface="IBM Plex Sans" pitchFamily="34" charset="-122"/>
                          <a:cs typeface="IBM Plex Sans" pitchFamily="34" charset="-120"/>
                        </a:rPr>
                        <a:t>Stripes vs leopard eyes, kick vs leopards, but leopards died before a race could run</a:t>
                      </a:r>
                      <a:endParaRPr lang="en-US" sz="1300" dirty="0">
                        <a:latin typeface="IBM Plex Sans" charset="0"/>
                        <a:ea typeface="IBM Plex Sans" charset="0"/>
                        <a:cs typeface="IBM Plex Sans" charset="0"/>
                      </a:endParaRPr>
                    </a:p>
                  </a:txBody>
                  <a:tcPr marL="57785" marR="57785" marT="57785" marB="57785">
                    <a:lnL w="12700" cap="flat" cmpd="sng" algn="ctr">
                      <a:solidFill>
                        <a:srgbClr val="C2C0B9"/>
                      </a:solidFill>
                      <a:prstDash val="solid"/>
                      <a:round/>
                      <a:headEnd type="none" w="med" len="med"/>
                      <a:tailEnd type="none" w="med" len="med"/>
                    </a:lnL>
                    <a:lnR w="12700" cap="flat" cmpd="sng" algn="ctr">
                      <a:solidFill>
                        <a:srgbClr val="C2C0B9"/>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C2C0B9"/>
                      </a:solidFill>
                      <a:prstDash val="solid"/>
                      <a:round/>
                      <a:headEnd type="none" w="med" len="med"/>
                      <a:tailEnd type="none" w="med" len="med"/>
                    </a:lnB>
                  </a:tcPr>
                </a:tc>
                <a:extLst>
                  <a:ext uri="{0D108BD9-81ED-4DB2-BD59-A6C34878D82A}">
                    <a16:rowId xmlns:a16="http://schemas.microsoft.com/office/drawing/2014/main" val="10004"/>
                  </a:ext>
                </a:extLst>
              </a:tr>
              <a:tr h="588010">
                <a:tc>
                  <a:txBody>
                    <a:bodyPr/>
                    <a:lstStyle/>
                    <a:p>
                      <a:pPr marL="0" indent="0">
                        <a:lnSpc>
                          <a:spcPts val="1820"/>
                        </a:lnSpc>
                        <a:buNone/>
                      </a:pPr>
                      <a:r>
                        <a:rPr lang="en-US" sz="1300" dirty="0">
                          <a:solidFill>
                            <a:srgbClr val="16202A"/>
                          </a:solidFill>
                          <a:latin typeface="IBM Plex Sans" pitchFamily="34" charset="0"/>
                          <a:ea typeface="IBM Plex Sans" pitchFamily="34" charset="-122"/>
                          <a:cs typeface="IBM Plex Sans" pitchFamily="34" charset="-120"/>
                        </a:rPr>
                        <a:t>Selection pressure</a:t>
                      </a:r>
                      <a:endParaRPr lang="en-US" sz="1300" dirty="0">
                        <a:latin typeface="IBM Plex Sans" charset="0"/>
                        <a:ea typeface="IBM Plex Sans" charset="0"/>
                        <a:cs typeface="IBM Plex Sans" charset="0"/>
                      </a:endParaRPr>
                    </a:p>
                  </a:txBody>
                  <a:tcPr marL="57785" marR="57785" marT="57785" marB="57785">
                    <a:lnL w="12700" cap="flat" cmpd="sng" algn="ctr">
                      <a:solidFill>
                        <a:srgbClr val="C2C0B9"/>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C2C0B9"/>
                      </a:solidFill>
                      <a:prstDash val="solid"/>
                      <a:round/>
                      <a:headEnd type="none" w="med" len="med"/>
                      <a:tailEnd type="none" w="med" len="med"/>
                    </a:lnT>
                    <a:lnB w="12700" cap="flat" cmpd="sng" algn="ctr">
                      <a:solidFill>
                        <a:srgbClr val="C8C7C4"/>
                      </a:solidFill>
                      <a:prstDash val="solid"/>
                      <a:round/>
                      <a:headEnd type="none" w="med" len="med"/>
                      <a:tailEnd type="none" w="med" len="med"/>
                    </a:lnB>
                    <a:solidFill>
                      <a:srgbClr val="FBFAF6"/>
                    </a:solidFill>
                  </a:tcPr>
                </a:tc>
                <a:tc>
                  <a:txBody>
                    <a:bodyPr/>
                    <a:lstStyle/>
                    <a:p>
                      <a:pPr marL="0" indent="0">
                        <a:lnSpc>
                          <a:spcPts val="1820"/>
                        </a:lnSpc>
                        <a:buNone/>
                      </a:pPr>
                      <a:r>
                        <a:rPr lang="en-US" sz="1300" dirty="0">
                          <a:solidFill>
                            <a:srgbClr val="16202A"/>
                          </a:solidFill>
                          <a:latin typeface="IBM Plex Sans" pitchFamily="34" charset="0"/>
                          <a:ea typeface="IBM Plex Sans" pitchFamily="34" charset="-122"/>
                          <a:cs typeface="IBM Plex Sans" pitchFamily="34" charset="-120"/>
                        </a:rPr>
                        <a:t>How strongly the fittest are favoured</a:t>
                      </a:r>
                      <a:endParaRPr lang="en-US" sz="1300" dirty="0">
                        <a:latin typeface="IBM Plex Sans" charset="0"/>
                        <a:ea typeface="IBM Plex Sans" charset="0"/>
                        <a:cs typeface="IBM Plex Sans" charset="0"/>
                      </a:endParaRPr>
                    </a:p>
                  </a:txBody>
                  <a:tcPr marL="57785" marR="57785" marT="57785" marB="57785">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C2C0B9"/>
                      </a:solidFill>
                      <a:prstDash val="solid"/>
                      <a:round/>
                      <a:headEnd type="none" w="med" len="med"/>
                      <a:tailEnd type="none" w="med" len="med"/>
                    </a:lnT>
                    <a:lnB w="12700" cap="flat" cmpd="sng" algn="ctr">
                      <a:solidFill>
                        <a:srgbClr val="C8C7C4"/>
                      </a:solidFill>
                      <a:prstDash val="solid"/>
                      <a:round/>
                      <a:headEnd type="none" w="med" len="med"/>
                      <a:tailEnd type="none" w="med" len="med"/>
                    </a:lnB>
                    <a:solidFill>
                      <a:srgbClr val="FBFAF6"/>
                    </a:solidFill>
                  </a:tcPr>
                </a:tc>
                <a:tc>
                  <a:txBody>
                    <a:bodyPr/>
                    <a:lstStyle/>
                    <a:p>
                      <a:pPr marL="0" indent="0">
                        <a:lnSpc>
                          <a:spcPts val="1820"/>
                        </a:lnSpc>
                        <a:buNone/>
                      </a:pPr>
                      <a:r>
                        <a:rPr lang="en-US" sz="1300" dirty="0">
                          <a:solidFill>
                            <a:srgbClr val="16202A"/>
                          </a:solidFill>
                          <a:latin typeface="IBM Plex Sans" pitchFamily="34" charset="0"/>
                          <a:ea typeface="IBM Plex Sans" pitchFamily="34" charset="-122"/>
                          <a:cs typeface="IBM Plex Sans" pitchFamily="34" charset="-120"/>
                        </a:rPr>
                        <a:t>Selection is implicit (food → offspring); with no mutation, nothing adapted and all died</a:t>
                      </a:r>
                      <a:endParaRPr lang="en-US" sz="1300" dirty="0">
                        <a:latin typeface="IBM Plex Sans" charset="0"/>
                        <a:ea typeface="IBM Plex Sans" charset="0"/>
                        <a:cs typeface="IBM Plex Sans" charset="0"/>
                      </a:endParaRPr>
                    </a:p>
                  </a:txBody>
                  <a:tcPr marL="57785" marR="57785" marT="57785" marB="57785">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C2C0B9"/>
                      </a:solidFill>
                      <a:prstDash val="solid"/>
                      <a:round/>
                      <a:headEnd type="none" w="med" len="med"/>
                      <a:tailEnd type="none" w="med" len="med"/>
                    </a:lnT>
                    <a:lnB w="12700" cap="flat" cmpd="sng" algn="ctr">
                      <a:solidFill>
                        <a:srgbClr val="C8C7C4"/>
                      </a:solidFill>
                      <a:prstDash val="solid"/>
                      <a:round/>
                      <a:headEnd type="none" w="med" len="med"/>
                      <a:tailEnd type="none" w="med" len="med"/>
                    </a:lnB>
                    <a:solidFill>
                      <a:srgbClr val="FBFAF6"/>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3F0E8"/>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718820"/>
          </a:xfrm>
          <a:prstGeom prst="rect">
            <a:avLst/>
          </a:prstGeom>
          <a:noFill/>
          <a:ln/>
        </p:spPr>
        <p:txBody>
          <a:bodyPr wrap="square" lIns="0" tIns="0" rIns="0" bIns="0" rtlCol="0" anchor="t">
            <a:normAutofit/>
          </a:bodyPr>
          <a:lstStyle/>
          <a:p>
            <a:pPr marL="0" indent="0" algn="l">
              <a:lnSpc>
                <a:spcPts val="5460"/>
              </a:lnSpc>
              <a:buNone/>
            </a:pPr>
            <a:r>
              <a:rPr lang="en-US" sz="5200" b="1" i="0" dirty="0">
                <a:solidFill>
                  <a:srgbClr val="16202A"/>
                </a:solidFill>
                <a:latin typeface="Space Grotesk" pitchFamily="34" charset="0"/>
                <a:ea typeface="Space Grotesk" pitchFamily="34" charset="-122"/>
                <a:cs typeface="Space Grotesk" pitchFamily="34" charset="-120"/>
              </a:rPr>
              <a:t>Conclusion</a:t>
            </a:r>
            <a:endParaRPr lang="en-US" sz="5200" dirty="0"/>
          </a:p>
        </p:txBody>
      </p:sp>
      <p:sp>
        <p:nvSpPr>
          <p:cNvPr id="3" name="Text 1"/>
          <p:cNvSpPr/>
          <p:nvPr/>
        </p:nvSpPr>
        <p:spPr>
          <a:xfrm>
            <a:off x="812800" y="2268227"/>
            <a:ext cx="10203180" cy="1240790"/>
          </a:xfrm>
          <a:prstGeom prst="rect">
            <a:avLst/>
          </a:prstGeom>
          <a:noFill/>
          <a:ln/>
        </p:spPr>
        <p:txBody>
          <a:bodyPr wrap="square" lIns="0" tIns="0" rIns="0" bIns="0" rtlCol="0" anchor="t">
            <a:normAutofit/>
          </a:bodyPr>
          <a:lstStyle/>
          <a:p>
            <a:pPr marL="0" indent="0" algn="l">
              <a:lnSpc>
                <a:spcPts val="3190"/>
              </a:lnSpc>
              <a:buNone/>
            </a:pPr>
            <a:r>
              <a:rPr lang="en-US" sz="2200" dirty="0">
                <a:solidFill>
                  <a:srgbClr val="8A5A0B"/>
                </a:solidFill>
                <a:latin typeface="IBM Plex Sans" pitchFamily="34" charset="0"/>
                <a:ea typeface="IBM Plex Sans" pitchFamily="34" charset="-122"/>
                <a:cs typeface="IBM Plex Sans" pitchFamily="34" charset="-120"/>
              </a:rPr>
              <a:t>Evolutionary suicide occurred in the original engine through an evolved killer cell. After our changes we saw failure to adapt and predator boom-and-bust, but not the overgrazing suicide we predicted.</a:t>
            </a:r>
            <a:endParaRPr lang="en-US" sz="2200" dirty="0"/>
          </a:p>
        </p:txBody>
      </p:sp>
      <p:sp>
        <p:nvSpPr>
          <p:cNvPr id="4" name="Text 2"/>
          <p:cNvSpPr/>
          <p:nvPr/>
        </p:nvSpPr>
        <p:spPr>
          <a:xfrm>
            <a:off x="812800" y="3737608"/>
            <a:ext cx="10203180" cy="835660"/>
          </a:xfrm>
          <a:prstGeom prst="rect">
            <a:avLst/>
          </a:prstGeom>
          <a:noFill/>
          <a:ln/>
        </p:spPr>
        <p:txBody>
          <a:bodyPr wrap="square" lIns="0" tIns="0" rIns="0" bIns="0" rtlCol="0" anchor="t">
            <a:normAutofit/>
          </a:bodyPr>
          <a:lstStyle/>
          <a:p>
            <a:pPr marL="0" indent="0" algn="l">
              <a:lnSpc>
                <a:spcPts val="3190"/>
              </a:lnSpc>
              <a:buNone/>
            </a:pPr>
            <a:r>
              <a:rPr lang="en-US" sz="2200" dirty="0">
                <a:solidFill>
                  <a:srgbClr val="8A5A0B"/>
                </a:solidFill>
                <a:latin typeface="IBM Plex Sans" pitchFamily="34" charset="0"/>
                <a:ea typeface="IBM Plex Sans" pitchFamily="34" charset="-122"/>
                <a:cs typeface="IBM Plex Sans" pitchFamily="34" charset="-120"/>
              </a:rPr>
              <a:t>The extra mouth that spread in our zebras was an adaptation, not a mis-adaptation: water and the river kept it from destroying their food.</a:t>
            </a:r>
            <a:endParaRPr lang="en-US" sz="2200" dirty="0"/>
          </a:p>
        </p:txBody>
      </p:sp>
    </p:spTree>
  </p:cSld>
  <p:clrMapOvr>
    <a:masterClrMapping/>
  </p:clrMapOvr>
</p:sld>
</file>

<file path=ppt/theme/theme1.xml><?xml version="1.0" encoding="utf-8"?>
<a:theme xmlns:a="http://schemas.openxmlformats.org/drawingml/2006/main" name="Evolutionary Death in the Savanna">
  <a:themeElements>
    <a:clrScheme name="Evolutionary Death in the Savanna">
      <a:dk1>
        <a:srgbClr val="16202A"/>
      </a:dk1>
      <a:lt1>
        <a:srgbClr val="F3F0E8"/>
      </a:lt1>
      <a:dk2>
        <a:srgbClr val="4D545A"/>
      </a:dk2>
      <a:lt2>
        <a:srgbClr val="DDDBD5"/>
      </a:lt2>
      <a:accent1>
        <a:srgbClr val="1C6E8C"/>
      </a:accent1>
      <a:accent2>
        <a:srgbClr val="8A5A0B"/>
      </a:accent2>
      <a:accent3>
        <a:srgbClr val="60D4FF"/>
      </a:accent3>
      <a:accent4>
        <a:srgbClr val="DEB14D"/>
      </a:accent4>
      <a:accent5>
        <a:srgbClr val="F82380"/>
      </a:accent5>
      <a:accent6>
        <a:srgbClr val="7230DB"/>
      </a:accent6>
      <a:hlink>
        <a:srgbClr val="0563C1"/>
      </a:hlink>
      <a:folHlink>
        <a:srgbClr val="954F72"/>
      </a:folHlink>
    </a:clrScheme>
    <a:fontScheme name="Evolutionary Death in the Savanna">
      <a:majorFont>
        <a:latin typeface="Space Grotesk"/>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6030</Words>
  <Application>Microsoft Office PowerPoint</Application>
  <PresentationFormat>Widescreen</PresentationFormat>
  <Paragraphs>555</Paragraphs>
  <Slides>26</Slides>
  <Notes>26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26</vt:i4>
      </vt:variant>
    </vt:vector>
  </HeadingPairs>
  <TitlesOfParts>
    <vt:vector size="30" baseType="lpstr">
      <vt:lpstr>Arial</vt:lpstr>
      <vt:lpstr>IBM Plex Sans</vt:lpstr>
      <vt:lpstr>Space Grotesk</vt:lpstr>
      <vt:lpstr>Evolutionary Death in the Savanna</vt:lpstr>
      <vt:lpstr>Evolutionary death in a Life Engine savanna</vt:lpstr>
      <vt:lpstr>Four ways a population can die out</vt:lpstr>
      <vt:lpstr>A decline alone is not suicide: all four must hold</vt:lpstr>
      <vt:lpstr>Three animals, two plants, all original cells</vt:lpstr>
      <vt:lpstr>Each copies a real trade-off, so they are clearly distinct</vt:lpstr>
      <vt:lpstr>Predators and rhinos crashed; zebras mutated, then died</vt:lpstr>
      <vt:lpstr>We tried six set-ups; only one gave true suicide</vt:lpstr>
      <vt:lpstr>Zebras evolved a plant-killer and ate themselves out</vt:lpstr>
      <vt:lpstr>The same run, as the Life Engine drew it</vt:lpstr>
      <vt:lpstr>New cells (outlined), plus water, a river, trees and fire</vt:lpstr>
      <vt:lpstr>Each feature opens a route to collapse and an escape</vt:lpstr>
      <vt:lpstr>Rule changes that fixed what the old engine could not do</vt:lpstr>
      <vt:lpstr>Same animals, a different world around them</vt:lpstr>
      <vt:lpstr>Zebras survived only where they evolved a second mouth</vt:lpstr>
      <vt:lpstr>The second mouth spread, and the herd held</vt:lpstr>
      <vt:lpstr>No trait spread, and the herd faded with food all around</vt:lpstr>
      <vt:lpstr>What each species did, before and after</vt:lpstr>
      <vt:lpstr>What sent lineages down different paths</vt:lpstr>
      <vt:lpstr>Niches only appeared once the world had structure</vt:lpstr>
      <vt:lpstr>The environment mattered as much as the traits</vt:lpstr>
      <vt:lpstr>Longer, drier, more leopards, stronger fire: still no suicide</vt:lpstr>
      <vt:lpstr>The four questions, answered</vt:lpstr>
      <vt:lpstr>Our features made suicide possible but harder</vt:lpstr>
      <vt:lpstr>No extinction or survival is hard-coded</vt:lpstr>
      <vt:lpstr>Co-evolution explains why the same trait helped or hurt</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Evolutionary Death in the Savanna</dc:title>
  <dc:subject/>
  <dc:creator/>
  <cp:lastModifiedBy>Ashley Mawoyo</cp:lastModifiedBy>
  <cp:revision>2</cp:revision>
  <dcterms:created xsi:type="dcterms:W3CDTF">2026-10-20T00:04:03Z</dcterms:created>
  <dcterms:modified xsi:type="dcterms:W3CDTF">2026-10-20T09:42:54Z</dcterms:modified>
</cp:coreProperties>
</file>