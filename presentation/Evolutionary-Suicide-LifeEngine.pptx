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6c890e5-82d0-11ec-eb59-1fae52ad10e9}">
          <p14:sldIdLst>
            <p14:sldId id="256"/>
            <p14:sldId id="257"/>
            <p14:sldId id="258"/>
          </p14:sldIdLst>
        </p14:section>
        <p14:section name="Part 1: base engine" id="{e0d1221d-94e9-3345-5c2e-781176ae950e}">
          <p14:sldIdLst>
            <p14:sldId id="259"/>
            <p14:sldId id="260"/>
            <p14:sldId id="261"/>
            <p14:sldId id="262"/>
            <p14:sldId id="263"/>
            <p14:sldId id="264"/>
          </p14:sldIdLst>
        </p14:section>
        <p14:section name="Part 2: modifications" id="{9f5897f3-41c8-a12c-d8f0-65361e3d49a2}">
          <p14:sldIdLst>
            <p14:sldId id="265"/>
            <p14:sldId id="266"/>
            <p14:sldId id="267"/>
          </p14:sldIdLst>
        </p14:section>
        <p14:section name="Part 2: did we achieve it?" id="{e35a8b50-066b-fa03-c649-211d611d8649}">
          <p14:sldIdLst>
            <p14:sldId id="268"/>
            <p14:sldId id="269"/>
            <p14:sldId id="270"/>
            <p14:sldId id="271"/>
            <p14:sldId id="272"/>
            <p14:sldId id="273"/>
            <p14:sldId id="274"/>
            <p14:sldId id="275"/>
          </p14:sldIdLst>
        </p14:section>
        <p14:section name="Conclusions" id="{0648a87a-6fbd-6e37-316d-691a3025fe54}">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Zebra outcome, 3 seeds per condition</a:t>
            </a:r>
          </a:p>
        </c:rich>
      </c:tx>
      <c:layout/>
      <c:overlay val="0"/>
    </c:title>
    <c:autoTitleDeleted val="0"/>
    <c:plotArea>
      <c:layout/>
      <c:barChart>
        <c:barDir val="bar"/>
        <c:grouping val="stacked"/>
        <c:varyColors val="0"/>
        <c:ser>
          <c:idx val="0"/>
          <c:order val="0"/>
          <c:tx>
            <c:strRef>
              <c:f>Sheet1!$B$1</c:f>
              <c:strCache>
                <c:ptCount val="1"/>
                <c:pt idx="0">
                  <c:v>Suicide (all 4 criteria)</c:v>
                </c:pt>
              </c:strCache>
            </c:strRef>
          </c:tx>
          <c:spPr>
            <a:solidFill>
              <a:srgbClr val="B23A3A"/>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Plant-kill control</c:v>
                  </c:pt>
                  <c:pt idx="1">
                    <c:v>Plant-kill (seeded)</c:v>
                  </c:pt>
                  <c:pt idx="2">
                    <c:v>Default</c:v>
                  </c:pt>
                  <c:pt idx="3">
                    <c:v>Harsh food</c:v>
                  </c:pt>
                  <c:pt idx="4">
                    <c:v>No mutation</c:v>
                  </c:pt>
                  <c:pt idx="5">
                    <c:v>Clogging</c:v>
                  </c:pt>
                </c:lvl>
              </c:multiLvlStrCache>
            </c:multiLvlStrRef>
          </c:cat>
          <c:val>
            <c:numRef>
              <c:f>Sheet1!$B$2:$B$7</c:f>
              <c:numCache>
                <c:formatCode>General</c:formatCode>
                <c:ptCount val="6"/>
                <c:pt idx="0">
                  <c:v>1</c:v>
                </c:pt>
                <c:pt idx="1">
                  <c:v>0</c:v>
                </c:pt>
                <c:pt idx="2">
                  <c:v>0</c:v>
                </c:pt>
                <c:pt idx="3">
                  <c:v>0</c:v>
                </c:pt>
                <c:pt idx="4">
                  <c:v>0</c:v>
                </c:pt>
                <c:pt idx="5">
                  <c:v>0</c:v>
                </c:pt>
              </c:numCache>
            </c:numRef>
          </c:val>
        </c:ser>
        <c:ser>
          <c:idx val="1"/>
          <c:order val="1"/>
          <c:tx>
            <c:strRef>
              <c:f>Sheet1!$C$1</c:f>
              <c:strCache>
                <c:ptCount val="1"/>
                <c:pt idx="0">
                  <c:v>Suicide candidate (3 of 4)</c:v>
                </c:pt>
              </c:strCache>
            </c:strRef>
          </c:tx>
          <c:spPr>
            <a:solidFill>
              <a:srgbClr val="E59A9A"/>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Plant-kill control</c:v>
                  </c:pt>
                  <c:pt idx="1">
                    <c:v>Plant-kill (seeded)</c:v>
                  </c:pt>
                  <c:pt idx="2">
                    <c:v>Default</c:v>
                  </c:pt>
                  <c:pt idx="3">
                    <c:v>Harsh food</c:v>
                  </c:pt>
                  <c:pt idx="4">
                    <c:v>No mutation</c:v>
                  </c:pt>
                  <c:pt idx="5">
                    <c:v>Clogging</c:v>
                  </c:pt>
                </c:lvl>
              </c:multiLvlStrCache>
            </c:multiLvlStrRef>
          </c:cat>
          <c:val>
            <c:numRef>
              <c:f>Sheet1!$C$2:$C$7</c:f>
              <c:numCache>
                <c:formatCode>General</c:formatCode>
                <c:ptCount val="6"/>
                <c:pt idx="0">
                  <c:v>2</c:v>
                </c:pt>
                <c:pt idx="1">
                  <c:v>0</c:v>
                </c:pt>
                <c:pt idx="2">
                  <c:v>0</c:v>
                </c:pt>
                <c:pt idx="3">
                  <c:v>0</c:v>
                </c:pt>
                <c:pt idx="4">
                  <c:v>0</c:v>
                </c:pt>
                <c:pt idx="5">
                  <c:v>0</c:v>
                </c:pt>
              </c:numCache>
            </c:numRef>
          </c:val>
        </c:ser>
        <c:ser>
          <c:idx val="2"/>
          <c:order val="2"/>
          <c:tx>
            <c:strRef>
              <c:f>Sheet1!$D$1</c:f>
              <c:strCache>
                <c:ptCount val="1"/>
                <c:pt idx="0">
                  <c:v>Other collapse</c:v>
                </c:pt>
              </c:strCache>
            </c:strRef>
          </c:tx>
          <c:spPr>
            <a:solidFill>
              <a:srgbClr val="9CA3AF"/>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Plant-kill control</c:v>
                  </c:pt>
                  <c:pt idx="1">
                    <c:v>Plant-kill (seeded)</c:v>
                  </c:pt>
                  <c:pt idx="2">
                    <c:v>Default</c:v>
                  </c:pt>
                  <c:pt idx="3">
                    <c:v>Harsh food</c:v>
                  </c:pt>
                  <c:pt idx="4">
                    <c:v>No mutation</c:v>
                  </c:pt>
                  <c:pt idx="5">
                    <c:v>Clogging</c:v>
                  </c:pt>
                </c:lvl>
              </c:multiLvlStrCache>
            </c:multiLvlStrRef>
          </c:cat>
          <c:val>
            <c:numRef>
              <c:f>Sheet1!$D$2:$D$7</c:f>
              <c:numCache>
                <c:formatCode>General</c:formatCode>
                <c:ptCount val="6"/>
                <c:pt idx="0">
                  <c:v>0</c:v>
                </c:pt>
                <c:pt idx="1">
                  <c:v>3</c:v>
                </c:pt>
                <c:pt idx="2">
                  <c:v>3</c:v>
                </c:pt>
                <c:pt idx="3">
                  <c:v>3</c:v>
                </c:pt>
                <c:pt idx="4">
                  <c:v>3</c:v>
                </c:pt>
                <c:pt idx="5">
                  <c:v>3</c:v>
                </c:pt>
              </c:numCache>
            </c:numRef>
          </c:val>
        </c:ser>
        <c:ser>
          <c:idx val="3"/>
          <c:order val="3"/>
          <c:tx>
            <c:strRef>
              <c:f>Sheet1!$E$1</c:f>
              <c:strCache>
                <c:ptCount val="1"/>
                <c:pt idx="0">
                  <c:v>Survived</c:v>
                </c:pt>
              </c:strCache>
            </c:strRef>
          </c:tx>
          <c:spPr>
            <a:solidFill>
              <a:srgbClr val="4E7D32"/>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Plant-kill control</c:v>
                  </c:pt>
                  <c:pt idx="1">
                    <c:v>Plant-kill (seeded)</c:v>
                  </c:pt>
                  <c:pt idx="2">
                    <c:v>Default</c:v>
                  </c:pt>
                  <c:pt idx="3">
                    <c:v>Harsh food</c:v>
                  </c:pt>
                  <c:pt idx="4">
                    <c:v>No mutation</c:v>
                  </c:pt>
                  <c:pt idx="5">
                    <c:v>Clogging</c:v>
                  </c:pt>
                </c:lvl>
              </c:multiLvlStrCache>
            </c:multiLvlStrRef>
          </c:cat>
          <c:val>
            <c:numRef>
              <c:f>Sheet1!$E$2:$E$7</c:f>
              <c:numCache>
                <c:formatCode>General</c:formatCode>
                <c:ptCount val="6"/>
                <c:pt idx="0">
                  <c:v>0</c:v>
                </c:pt>
                <c:pt idx="1">
                  <c:v>0</c:v>
                </c:pt>
                <c:pt idx="2">
                  <c:v>0</c:v>
                </c:pt>
                <c:pt idx="3">
                  <c:v>0</c:v>
                </c:pt>
                <c:pt idx="4">
                  <c:v>0</c:v>
                </c:pt>
                <c:pt idx="5">
                  <c:v>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3"/>
        </c:scaling>
        <c:delete val="0"/>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Zebras per seed (x: thousand ticks)</a:t>
            </a:r>
          </a:p>
        </c:rich>
      </c:tx>
      <c:layout/>
      <c:overlay val="0"/>
    </c:title>
    <c:autoTitleDeleted val="0"/>
    <c:plotArea>
      <c:layout/>
      <c:lineChart>
        <c:varyColors val="0"/>
        <c:ser>
          <c:idx val="0"/>
          <c:order val="0"/>
          <c:tx>
            <c:strRef>
              <c:f>Sheet1!$B$1</c:f>
              <c:strCache>
                <c:ptCount val="1"/>
                <c:pt idx="0">
                  <c:v>Seed 1</c:v>
                </c:pt>
              </c:strCache>
            </c:strRef>
          </c:tx>
          <c:spPr>
            <a:solidFill>
              <a:srgbClr val="1F1A14"/>
            </a:solidFill>
            <a:ln w="25400" cap="flat">
              <a:solidFill>
                <a:srgbClr val="1F1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1A14"/>
              </a:solidFill>
              <a:ln w="9525" cap="flat">
                <a:solidFill>
                  <a:srgbClr val="1F1A14"/>
                </a:solidFill>
                <a:prstDash val="solid"/>
                <a:round/>
              </a:ln>
              <a:effectLst/>
            </c:spPr>
          </c:marker>
          <c:cat>
            <c:multiLvlStrRef>
              <c:f>Sheet1!$A$2:$A$53</c:f>
              <c:multiLvlStrCache>
                <c:ptCount val="52"/>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100</c:v>
                  </c:pt>
                </c:lvl>
              </c:multiLvlStrCache>
            </c:multiLvlStrRef>
          </c:cat>
          <c:val>
            <c:numRef>
              <c:f>Sheet1!$B$2:$B$53</c:f>
              <c:numCache>
                <c:formatCode>General</c:formatCode>
                <c:ptCount val="52"/>
                <c:pt idx="0">
                  <c:v>35</c:v>
                </c:pt>
                <c:pt idx="1">
                  <c:v>33</c:v>
                </c:pt>
                <c:pt idx="2">
                  <c:v>60</c:v>
                </c:pt>
                <c:pt idx="3">
                  <c:v>71</c:v>
                </c:pt>
                <c:pt idx="4">
                  <c:v>117</c:v>
                </c:pt>
                <c:pt idx="5">
                  <c:v>126</c:v>
                </c:pt>
                <c:pt idx="6">
                  <c:v>150</c:v>
                </c:pt>
                <c:pt idx="7">
                  <c:v>158</c:v>
                </c:pt>
                <c:pt idx="8">
                  <c:v>129</c:v>
                </c:pt>
                <c:pt idx="9">
                  <c:v>148</c:v>
                </c:pt>
                <c:pt idx="10">
                  <c:v>123</c:v>
                </c:pt>
                <c:pt idx="11">
                  <c:v>121</c:v>
                </c:pt>
                <c:pt idx="12">
                  <c:v>168</c:v>
                </c:pt>
                <c:pt idx="13">
                  <c:v>196</c:v>
                </c:pt>
                <c:pt idx="14">
                  <c:v>216</c:v>
                </c:pt>
                <c:pt idx="15">
                  <c:v>218</c:v>
                </c:pt>
                <c:pt idx="16">
                  <c:v>217</c:v>
                </c:pt>
                <c:pt idx="17">
                  <c:v>176</c:v>
                </c:pt>
                <c:pt idx="18">
                  <c:v>206</c:v>
                </c:pt>
                <c:pt idx="19">
                  <c:v>193</c:v>
                </c:pt>
                <c:pt idx="20">
                  <c:v>208</c:v>
                </c:pt>
                <c:pt idx="21">
                  <c:v>211</c:v>
                </c:pt>
                <c:pt idx="22">
                  <c:v>219</c:v>
                </c:pt>
                <c:pt idx="23">
                  <c:v>243</c:v>
                </c:pt>
                <c:pt idx="24">
                  <c:v>216</c:v>
                </c:pt>
                <c:pt idx="25">
                  <c:v>233</c:v>
                </c:pt>
                <c:pt idx="26">
                  <c:v>216</c:v>
                </c:pt>
                <c:pt idx="27">
                  <c:v>252</c:v>
                </c:pt>
                <c:pt idx="28">
                  <c:v>240</c:v>
                </c:pt>
                <c:pt idx="29">
                  <c:v>240</c:v>
                </c:pt>
                <c:pt idx="30">
                  <c:v>252</c:v>
                </c:pt>
                <c:pt idx="31">
                  <c:v>224</c:v>
                </c:pt>
                <c:pt idx="32">
                  <c:v>228</c:v>
                </c:pt>
                <c:pt idx="33">
                  <c:v>258</c:v>
                </c:pt>
                <c:pt idx="34">
                  <c:v>278</c:v>
                </c:pt>
                <c:pt idx="35">
                  <c:v>253</c:v>
                </c:pt>
                <c:pt idx="36">
                  <c:v>262</c:v>
                </c:pt>
                <c:pt idx="37">
                  <c:v>225</c:v>
                </c:pt>
                <c:pt idx="38">
                  <c:v>212</c:v>
                </c:pt>
                <c:pt idx="39">
                  <c:v>213</c:v>
                </c:pt>
                <c:pt idx="40">
                  <c:v>203</c:v>
                </c:pt>
                <c:pt idx="41">
                  <c:v>181</c:v>
                </c:pt>
                <c:pt idx="42">
                  <c:v>179</c:v>
                </c:pt>
                <c:pt idx="43">
                  <c:v>174</c:v>
                </c:pt>
                <c:pt idx="44">
                  <c:v>180</c:v>
                </c:pt>
                <c:pt idx="45">
                  <c:v>163</c:v>
                </c:pt>
                <c:pt idx="46">
                  <c:v>176</c:v>
                </c:pt>
                <c:pt idx="47">
                  <c:v>164</c:v>
                </c:pt>
                <c:pt idx="48">
                  <c:v>156</c:v>
                </c:pt>
                <c:pt idx="49">
                  <c:v>173</c:v>
                </c:pt>
                <c:pt idx="50">
                  <c:v>199</c:v>
                </c:pt>
                <c:pt idx="51">
                  <c:v>199</c:v>
                </c:pt>
              </c:numCache>
            </c:numRef>
          </c:val>
          <c:smooth val="0"/>
        </c:ser>
        <c:ser>
          <c:idx val="1"/>
          <c:order val="1"/>
          <c:tx>
            <c:strRef>
              <c:f>Sheet1!$C$1</c:f>
              <c:strCache>
                <c:ptCount val="1"/>
                <c:pt idx="0">
                  <c:v>Seed 2</c:v>
                </c:pt>
              </c:strCache>
            </c:strRef>
          </c:tx>
          <c:spPr>
            <a:solidFill>
              <a:srgbClr val="D98E04"/>
            </a:solidFill>
            <a:ln w="25400" cap="flat">
              <a:solidFill>
                <a:srgbClr val="D98E0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E04"/>
              </a:solidFill>
              <a:ln w="9525" cap="flat">
                <a:solidFill>
                  <a:srgbClr val="D98E04"/>
                </a:solidFill>
                <a:prstDash val="solid"/>
                <a:round/>
              </a:ln>
              <a:effectLst/>
            </c:spPr>
          </c:marker>
          <c:cat>
            <c:multiLvlStrRef>
              <c:f>Sheet1!$A$2:$A$53</c:f>
              <c:multiLvlStrCache>
                <c:ptCount val="52"/>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100</c:v>
                  </c:pt>
                </c:lvl>
              </c:multiLvlStrCache>
            </c:multiLvlStrRef>
          </c:cat>
          <c:val>
            <c:numRef>
              <c:f>Sheet1!$C$2:$C$53</c:f>
              <c:numCache>
                <c:formatCode>General</c:formatCode>
                <c:ptCount val="52"/>
                <c:pt idx="0">
                  <c:v>32</c:v>
                </c:pt>
                <c:pt idx="1">
                  <c:v>37</c:v>
                </c:pt>
                <c:pt idx="2">
                  <c:v>92</c:v>
                </c:pt>
                <c:pt idx="3">
                  <c:v>91</c:v>
                </c:pt>
                <c:pt idx="4">
                  <c:v>108</c:v>
                </c:pt>
                <c:pt idx="5">
                  <c:v>98</c:v>
                </c:pt>
                <c:pt idx="6">
                  <c:v>84</c:v>
                </c:pt>
                <c:pt idx="7">
                  <c:v>72</c:v>
                </c:pt>
                <c:pt idx="8">
                  <c:v>76</c:v>
                </c:pt>
                <c:pt idx="9">
                  <c:v>52</c:v>
                </c:pt>
                <c:pt idx="10">
                  <c:v>19</c:v>
                </c:pt>
                <c:pt idx="11">
                  <c:v>17</c:v>
                </c:pt>
                <c:pt idx="12">
                  <c:v>19</c:v>
                </c:pt>
                <c:pt idx="13">
                  <c:v>10</c:v>
                </c:pt>
                <c:pt idx="14">
                  <c:v>17</c:v>
                </c:pt>
                <c:pt idx="15">
                  <c:v>12</c:v>
                </c:pt>
                <c:pt idx="16">
                  <c:v>10</c:v>
                </c:pt>
                <c:pt idx="17">
                  <c:v>5</c:v>
                </c:pt>
                <c:pt idx="18">
                  <c:v>7</c:v>
                </c:pt>
                <c:pt idx="19">
                  <c:v>16</c:v>
                </c:pt>
                <c:pt idx="20">
                  <c:v>4</c:v>
                </c:pt>
                <c:pt idx="21">
                  <c:v>7</c:v>
                </c:pt>
                <c:pt idx="22">
                  <c:v>8</c:v>
                </c:pt>
                <c:pt idx="23">
                  <c:v>9</c:v>
                </c:pt>
                <c:pt idx="24">
                  <c:v>1</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smooth val="0"/>
        </c:ser>
        <c:ser>
          <c:idx val="2"/>
          <c:order val="2"/>
          <c:tx>
            <c:strRef>
              <c:f>Sheet1!$D$1</c:f>
              <c:strCache>
                <c:ptCount val="1"/>
                <c:pt idx="0">
                  <c:v>Seed 3</c:v>
                </c:pt>
              </c:strCache>
            </c:strRef>
          </c:tx>
          <c:spPr>
            <a:solidFill>
              <a:srgbClr val="4E7D32"/>
            </a:solidFill>
            <a:ln w="25400" cap="flat">
              <a:solidFill>
                <a:srgbClr val="4E7D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E7D32"/>
              </a:solidFill>
              <a:ln w="9525" cap="flat">
                <a:solidFill>
                  <a:srgbClr val="4E7D32"/>
                </a:solidFill>
                <a:prstDash val="solid"/>
                <a:round/>
              </a:ln>
              <a:effectLst/>
            </c:spPr>
          </c:marker>
          <c:cat>
            <c:multiLvlStrRef>
              <c:f>Sheet1!$A$2:$A$53</c:f>
              <c:multiLvlStrCache>
                <c:ptCount val="52"/>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100</c:v>
                  </c:pt>
                </c:lvl>
              </c:multiLvlStrCache>
            </c:multiLvlStrRef>
          </c:cat>
          <c:val>
            <c:numRef>
              <c:f>Sheet1!$D$2:$D$53</c:f>
              <c:numCache>
                <c:formatCode>General</c:formatCode>
                <c:ptCount val="52"/>
                <c:pt idx="0">
                  <c:v>34</c:v>
                </c:pt>
                <c:pt idx="1">
                  <c:v>22</c:v>
                </c:pt>
                <c:pt idx="2">
                  <c:v>46</c:v>
                </c:pt>
                <c:pt idx="3">
                  <c:v>37</c:v>
                </c:pt>
                <c:pt idx="4">
                  <c:v>31</c:v>
                </c:pt>
                <c:pt idx="5">
                  <c:v>23</c:v>
                </c:pt>
                <c:pt idx="6">
                  <c:v>23</c:v>
                </c:pt>
                <c:pt idx="7">
                  <c:v>30</c:v>
                </c:pt>
                <c:pt idx="8">
                  <c:v>18</c:v>
                </c:pt>
                <c:pt idx="9">
                  <c:v>33</c:v>
                </c:pt>
                <c:pt idx="10">
                  <c:v>21</c:v>
                </c:pt>
                <c:pt idx="11">
                  <c:v>16</c:v>
                </c:pt>
                <c:pt idx="12">
                  <c:v>24</c:v>
                </c:pt>
                <c:pt idx="13">
                  <c:v>14</c:v>
                </c:pt>
                <c:pt idx="14">
                  <c:v>19</c:v>
                </c:pt>
                <c:pt idx="15">
                  <c:v>25</c:v>
                </c:pt>
                <c:pt idx="16">
                  <c:v>25</c:v>
                </c:pt>
                <c:pt idx="17">
                  <c:v>27</c:v>
                </c:pt>
                <c:pt idx="18">
                  <c:v>35</c:v>
                </c:pt>
                <c:pt idx="19">
                  <c:v>41</c:v>
                </c:pt>
                <c:pt idx="20">
                  <c:v>39</c:v>
                </c:pt>
                <c:pt idx="21">
                  <c:v>41</c:v>
                </c:pt>
                <c:pt idx="22">
                  <c:v>38</c:v>
                </c:pt>
                <c:pt idx="23">
                  <c:v>39</c:v>
                </c:pt>
                <c:pt idx="24">
                  <c:v>23</c:v>
                </c:pt>
                <c:pt idx="25">
                  <c:v>34</c:v>
                </c:pt>
                <c:pt idx="26">
                  <c:v>38</c:v>
                </c:pt>
                <c:pt idx="27">
                  <c:v>24</c:v>
                </c:pt>
                <c:pt idx="28">
                  <c:v>24</c:v>
                </c:pt>
                <c:pt idx="29">
                  <c:v>25</c:v>
                </c:pt>
                <c:pt idx="30">
                  <c:v>37</c:v>
                </c:pt>
                <c:pt idx="31">
                  <c:v>26</c:v>
                </c:pt>
                <c:pt idx="32">
                  <c:v>30</c:v>
                </c:pt>
                <c:pt idx="33">
                  <c:v>21</c:v>
                </c:pt>
                <c:pt idx="34">
                  <c:v>34</c:v>
                </c:pt>
                <c:pt idx="35">
                  <c:v>17</c:v>
                </c:pt>
                <c:pt idx="36">
                  <c:v>9</c:v>
                </c:pt>
                <c:pt idx="37">
                  <c:v>11</c:v>
                </c:pt>
                <c:pt idx="38">
                  <c:v>8</c:v>
                </c:pt>
                <c:pt idx="39">
                  <c:v>10</c:v>
                </c:pt>
                <c:pt idx="40">
                  <c:v>7</c:v>
                </c:pt>
                <c:pt idx="41">
                  <c:v>8</c:v>
                </c:pt>
                <c:pt idx="42">
                  <c:v>7</c:v>
                </c:pt>
                <c:pt idx="43">
                  <c:v>8</c:v>
                </c:pt>
                <c:pt idx="44">
                  <c:v>9</c:v>
                </c:pt>
                <c:pt idx="45">
                  <c:v>2</c:v>
                </c:pt>
                <c:pt idx="46">
                  <c:v>5</c:v>
                </c:pt>
                <c:pt idx="47">
                  <c:v>2</c:v>
                </c:pt>
                <c:pt idx="48">
                  <c:v>0</c:v>
                </c:pt>
                <c:pt idx="49">
                  <c:v>0</c:v>
                </c:pt>
                <c:pt idx="50">
                  <c:v>0</c:v>
                </c:pt>
                <c:pt idx="51">
                  <c:v>0</c:v>
                </c:pt>
              </c:numCache>
            </c:numRef>
          </c:val>
          <c:smooth val="0"/>
        </c:ser>
        <c:ser>
          <c:idx val="3"/>
          <c:order val="3"/>
          <c:tx>
            <c:strRef>
              <c:f>Sheet1!$E$1</c:f>
              <c:strCache>
                <c:ptCount val="1"/>
                <c:pt idx="0">
                  <c:v>Seed 4</c:v>
                </c:pt>
              </c:strCache>
            </c:strRef>
          </c:tx>
          <c:spPr>
            <a:solidFill>
              <a:srgbClr val="2F6FA8"/>
            </a:solidFill>
            <a:ln w="25400" cap="flat">
              <a:solidFill>
                <a:srgbClr val="2F6F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FA8"/>
              </a:solidFill>
              <a:ln w="9525" cap="flat">
                <a:solidFill>
                  <a:srgbClr val="2F6FA8"/>
                </a:solidFill>
                <a:prstDash val="solid"/>
                <a:round/>
              </a:ln>
              <a:effectLst/>
            </c:spPr>
          </c:marker>
          <c:cat>
            <c:multiLvlStrRef>
              <c:f>Sheet1!$A$2:$A$53</c:f>
              <c:multiLvlStrCache>
                <c:ptCount val="52"/>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100</c:v>
                  </c:pt>
                </c:lvl>
              </c:multiLvlStrCache>
            </c:multiLvlStrRef>
          </c:cat>
          <c:val>
            <c:numRef>
              <c:f>Sheet1!$E$2:$E$53</c:f>
              <c:numCache>
                <c:formatCode>General</c:formatCode>
                <c:ptCount val="52"/>
                <c:pt idx="0">
                  <c:v>36</c:v>
                </c:pt>
                <c:pt idx="1">
                  <c:v>90</c:v>
                </c:pt>
                <c:pt idx="2">
                  <c:v>101</c:v>
                </c:pt>
                <c:pt idx="3">
                  <c:v>104</c:v>
                </c:pt>
                <c:pt idx="4">
                  <c:v>115</c:v>
                </c:pt>
                <c:pt idx="5">
                  <c:v>94</c:v>
                </c:pt>
                <c:pt idx="6">
                  <c:v>94</c:v>
                </c:pt>
                <c:pt idx="7">
                  <c:v>69</c:v>
                </c:pt>
                <c:pt idx="8">
                  <c:v>59</c:v>
                </c:pt>
                <c:pt idx="9">
                  <c:v>62</c:v>
                </c:pt>
                <c:pt idx="10">
                  <c:v>59</c:v>
                </c:pt>
                <c:pt idx="11">
                  <c:v>27</c:v>
                </c:pt>
                <c:pt idx="12">
                  <c:v>32</c:v>
                </c:pt>
                <c:pt idx="13">
                  <c:v>19</c:v>
                </c:pt>
                <c:pt idx="14">
                  <c:v>14</c:v>
                </c:pt>
                <c:pt idx="15">
                  <c:v>27</c:v>
                </c:pt>
                <c:pt idx="16">
                  <c:v>25</c:v>
                </c:pt>
                <c:pt idx="17">
                  <c:v>25</c:v>
                </c:pt>
                <c:pt idx="18">
                  <c:v>19</c:v>
                </c:pt>
                <c:pt idx="19">
                  <c:v>11</c:v>
                </c:pt>
                <c:pt idx="20">
                  <c:v>14</c:v>
                </c:pt>
                <c:pt idx="21">
                  <c:v>14</c:v>
                </c:pt>
                <c:pt idx="22">
                  <c:v>19</c:v>
                </c:pt>
                <c:pt idx="23">
                  <c:v>14</c:v>
                </c:pt>
                <c:pt idx="24">
                  <c:v>16</c:v>
                </c:pt>
                <c:pt idx="25">
                  <c:v>12</c:v>
                </c:pt>
                <c:pt idx="26">
                  <c:v>10</c:v>
                </c:pt>
                <c:pt idx="27">
                  <c:v>6</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smooth val="0"/>
        </c:ser>
        <c:ser>
          <c:idx val="4"/>
          <c:order val="4"/>
          <c:tx>
            <c:strRef>
              <c:f>Sheet1!$F$1</c:f>
              <c:strCache>
                <c:ptCount val="1"/>
                <c:pt idx="0">
                  <c:v>Seed 5</c:v>
                </c:pt>
              </c:strCache>
            </c:strRef>
          </c:tx>
          <c:spPr>
            <a:solidFill>
              <a:srgbClr val="B23A3A"/>
            </a:solidFill>
            <a:ln w="25400" cap="flat">
              <a:solidFill>
                <a:srgbClr val="B23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23A3A"/>
              </a:solidFill>
              <a:ln w="9525" cap="flat">
                <a:solidFill>
                  <a:srgbClr val="B23A3A"/>
                </a:solidFill>
                <a:prstDash val="solid"/>
                <a:round/>
              </a:ln>
              <a:effectLst/>
            </c:spPr>
          </c:marker>
          <c:cat>
            <c:multiLvlStrRef>
              <c:f>Sheet1!$A$2:$A$53</c:f>
              <c:multiLvlStrCache>
                <c:ptCount val="52"/>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100</c:v>
                  </c:pt>
                </c:lvl>
              </c:multiLvlStrCache>
            </c:multiLvlStrRef>
          </c:cat>
          <c:val>
            <c:numRef>
              <c:f>Sheet1!$F$2:$F$53</c:f>
              <c:numCache>
                <c:formatCode>General</c:formatCode>
                <c:ptCount val="52"/>
                <c:pt idx="0">
                  <c:v>36</c:v>
                </c:pt>
                <c:pt idx="1">
                  <c:v>75</c:v>
                </c:pt>
                <c:pt idx="2">
                  <c:v>95</c:v>
                </c:pt>
                <c:pt idx="3">
                  <c:v>113</c:v>
                </c:pt>
                <c:pt idx="4">
                  <c:v>92</c:v>
                </c:pt>
                <c:pt idx="5">
                  <c:v>80</c:v>
                </c:pt>
                <c:pt idx="6">
                  <c:v>90</c:v>
                </c:pt>
                <c:pt idx="7">
                  <c:v>47</c:v>
                </c:pt>
                <c:pt idx="8">
                  <c:v>43</c:v>
                </c:pt>
                <c:pt idx="9">
                  <c:v>3</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6350" cap="flat">
              <a:solidFill>
                <a:srgbClr val="E3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Ablations: zebra lineages alive at 40k</a:t>
            </a:r>
          </a:p>
        </c:rich>
      </c:tx>
      <c:layout/>
      <c:overlay val="0"/>
    </c:title>
    <c:autoTitleDeleted val="0"/>
    <c:plotArea>
      <c:layout/>
      <c:barChart>
        <c:barDir val="bar"/>
        <c:grouping val="clustered"/>
        <c:varyColors val="0"/>
        <c:ser>
          <c:idx val="0"/>
          <c:order val="0"/>
          <c:tx>
            <c:strRef>
              <c:f>Sheet1!$B$1</c:f>
              <c:strCache>
                <c:ptCount val="1"/>
                <c:pt idx="0">
                  <c:v>alive</c:v>
                </c:pt>
              </c:strCache>
            </c:strRef>
          </c:tx>
          <c:spPr>
            <a:solidFill>
              <a:srgbClr val="3B2F22"/>
            </a:solidFill>
            <a:effectLst/>
          </c:spPr>
          <c:invertIfNegative val="0"/>
          <c:dLbls>
            <c:numFmt formatCode="0%" sourceLinked="0"/>
            <c:txPr>
              <a:bodyPr/>
              <a:lstStyle/>
              <a:p>
                <a:pPr>
                  <a:defRPr b="0" i="0" strike="noStrike" sz="1000" u="none">
                    <a:solidFill>
                      <a:srgbClr val="444444"/>
                    </a:solidFill>
                    <a:latin typeface="+mn-lt"/>
                  </a:defRPr>
                </a:pPr>
              </a:p>
            </c:txPr>
            <c:showLegendKey val="0"/>
            <c:showVal val="1"/>
            <c:showCatName val="0"/>
            <c:showSerName val="0"/>
            <c:showPercent val="0"/>
            <c:showBubbleSize val="0"/>
            <c:showLeaderLines val="0"/>
          </c:dLbls>
          <c:cat>
            <c:multiLvlStrRef>
              <c:f>Sheet1!$A$2:$A$12</c:f>
              <c:multiLvlStrCache>
                <c:ptCount val="11"/>
                <c:lvl>
                  <c:pt idx="0">
                    <c:v>Full design</c:v>
                  </c:pt>
                  <c:pt idx="1">
                    <c:v>Mouth cap</c:v>
                  </c:pt>
                  <c:pt idx="2">
                    <c:v>No cache</c:v>
                  </c:pt>
                  <c:pt idx="3">
                    <c:v>No fire</c:v>
                  </c:pt>
                  <c:pt idx="4">
                    <c:v>No grazing</c:v>
                  </c:pt>
                  <c:pt idx="5">
                    <c:v>No horn</c:v>
                  </c:pt>
                  <c:pt idx="6">
                    <c:v>No leopards</c:v>
                  </c:pt>
                  <c:pt idx="7">
                    <c:v>No river</c:v>
                  </c:pt>
                  <c:pt idx="8">
                    <c:v>No stripes</c:v>
                  </c:pt>
                  <c:pt idx="9">
                    <c:v>No trees</c:v>
                  </c:pt>
                  <c:pt idx="10">
                    <c:v>No soil water</c:v>
                  </c:pt>
                </c:lvl>
              </c:multiLvlStrCache>
            </c:multiLvlStrRef>
          </c:cat>
          <c:val>
            <c:numRef>
              <c:f>Sheet1!$B$2:$B$12</c:f>
              <c:numCache>
                <c:formatCode>General</c:formatCode>
                <c:ptCount val="11"/>
                <c:pt idx="0">
                  <c:v>0.8</c:v>
                </c:pt>
                <c:pt idx="1">
                  <c:v>0.3333333333333333</c:v>
                </c:pt>
                <c:pt idx="2">
                  <c:v>1</c:v>
                </c:pt>
                <c:pt idx="3">
                  <c:v>0.6666666666666666</c:v>
                </c:pt>
                <c:pt idx="4">
                  <c:v>0.3333333333333333</c:v>
                </c:pt>
                <c:pt idx="5">
                  <c:v>0.6666666666666666</c:v>
                </c:pt>
                <c:pt idx="6">
                  <c:v>0.6666666666666666</c:v>
                </c:pt>
                <c:pt idx="7">
                  <c:v>0</c:v>
                </c:pt>
                <c:pt idx="8">
                  <c:v>0.3333333333333333</c:v>
                </c:pt>
                <c:pt idx="9">
                  <c:v>0.3333333333333333</c:v>
                </c:pt>
                <c:pt idx="10">
                  <c:v>0</c:v>
                </c:pt>
              </c:numCache>
            </c:numRef>
          </c:val>
        </c:ser>
        <c:dLbls>
          <c:numFmt formatCode="0%" sourceLinked="0"/>
          <c:txPr>
            <a:bodyPr/>
            <a:lstStyle/>
            <a:p>
              <a:pPr>
                <a:defRPr b="0" i="0" strike="noStrike" sz="1000" u="none">
                  <a:solidFill>
                    <a:srgbClr val="4444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Sweeps: zebra lineages alive at 40k</a:t>
            </a:r>
          </a:p>
        </c:rich>
      </c:tx>
      <c:layout/>
      <c:overlay val="0"/>
    </c:title>
    <c:autoTitleDeleted val="0"/>
    <c:plotArea>
      <c:layout/>
      <c:barChart>
        <c:barDir val="bar"/>
        <c:grouping val="clustered"/>
        <c:varyColors val="0"/>
        <c:ser>
          <c:idx val="0"/>
          <c:order val="0"/>
          <c:tx>
            <c:strRef>
              <c:f>Sheet1!$B$1</c:f>
              <c:strCache>
                <c:ptCount val="1"/>
                <c:pt idx="0">
                  <c:v>alive</c:v>
                </c:pt>
              </c:strCache>
            </c:strRef>
          </c:tx>
          <c:spPr>
            <a:solidFill>
              <a:srgbClr val="4E7D32"/>
            </a:solidFill>
            <a:effectLst/>
          </c:spPr>
          <c:invertIfNegative val="0"/>
          <c:dLbls>
            <c:numFmt formatCode="0%" sourceLinked="0"/>
            <c:txPr>
              <a:bodyPr/>
              <a:lstStyle/>
              <a:p>
                <a:pPr>
                  <a:defRPr b="0" i="0" strike="noStrike" sz="1000" u="none">
                    <a:solidFill>
                      <a:srgbClr val="444444"/>
                    </a:solidFill>
                    <a:latin typeface="+mn-lt"/>
                  </a:defRPr>
                </a:pPr>
              </a:p>
            </c:txPr>
            <c:showLegendKey val="0"/>
            <c:showVal val="1"/>
            <c:showCatName val="0"/>
            <c:showSerName val="0"/>
            <c:showPercent val="0"/>
            <c:showBubbleSize val="0"/>
            <c:showLeaderLines val="0"/>
          </c:dLbls>
          <c:cat>
            <c:multiLvlStrRef>
              <c:f>Sheet1!$A$2:$A$14</c:f>
              <c:multiLvlStrCache>
                <c:ptCount val="13"/>
                <c:lvl>
                  <c:pt idx="0">
                    <c:v>Full design</c:v>
                  </c:pt>
                  <c:pt idx="1">
                    <c:v>Weak bite</c:v>
                  </c:pt>
                  <c:pt idx="2">
                    <c:v>Good bush food</c:v>
                  </c:pt>
                  <c:pt idx="3">
                    <c:v>Weak camouflage</c:v>
                  </c:pt>
                  <c:pt idx="4">
                    <c:v>Drought seasons</c:v>
                  </c:pt>
                  <c:pt idx="5">
                    <c:v>High food</c:v>
                  </c:pt>
                  <c:pt idx="6">
                    <c:v>Low food</c:v>
                  </c:pt>
                  <c:pt idx="7">
                    <c:v>High grazing</c:v>
                  </c:pt>
                  <c:pt idx="8">
                    <c:v>Harsh hunger</c:v>
                  </c:pt>
                  <c:pt idx="9">
                    <c:v>High mutation</c:v>
                  </c:pt>
                  <c:pt idx="10">
                    <c:v>Low mutation</c:v>
                  </c:pt>
                  <c:pt idx="11">
                    <c:v>High rain</c:v>
                  </c:pt>
                  <c:pt idx="12">
                    <c:v>Low rain</c:v>
                  </c:pt>
                </c:lvl>
              </c:multiLvlStrCache>
            </c:multiLvlStrRef>
          </c:cat>
          <c:val>
            <c:numRef>
              <c:f>Sheet1!$B$2:$B$14</c:f>
              <c:numCache>
                <c:formatCode>General</c:formatCode>
                <c:ptCount val="13"/>
                <c:pt idx="0">
                  <c:v>0.8</c:v>
                </c:pt>
                <c:pt idx="1">
                  <c:v>0.3333333333333333</c:v>
                </c:pt>
                <c:pt idx="2">
                  <c:v>0.3333333333333333</c:v>
                </c:pt>
                <c:pt idx="3">
                  <c:v>0</c:v>
                </c:pt>
                <c:pt idx="4">
                  <c:v>0.3333333333333333</c:v>
                </c:pt>
                <c:pt idx="5">
                  <c:v>0.6666666666666666</c:v>
                </c:pt>
                <c:pt idx="6">
                  <c:v>0.3333333333333333</c:v>
                </c:pt>
                <c:pt idx="7">
                  <c:v>0.3333333333333333</c:v>
                </c:pt>
                <c:pt idx="8">
                  <c:v>0</c:v>
                </c:pt>
                <c:pt idx="9">
                  <c:v>0.3333333333333333</c:v>
                </c:pt>
                <c:pt idx="10">
                  <c:v>0.6666666666666666</c:v>
                </c:pt>
                <c:pt idx="11">
                  <c:v>0.6666666666666666</c:v>
                </c:pt>
                <c:pt idx="12">
                  <c:v>0.6666666666666666</c:v>
                </c:pt>
              </c:numCache>
            </c:numRef>
          </c:val>
        </c:ser>
        <c:dLbls>
          <c:numFmt formatCode="0%" sourceLinked="0"/>
          <c:txPr>
            <a:bodyPr/>
            <a:lstStyle/>
            <a:p>
              <a:pPr>
                <a:defRPr b="0" i="0" strike="noStrike" sz="1000" u="none">
                  <a:solidFill>
                    <a:srgbClr val="4444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majorGridlines>
          <c:spPr>
            <a:ln w="6350" cap="flat">
              <a:solidFill>
                <a:srgbClr val="E3E3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Cells per zebra, seed 5 (x: thousand ticks)</a:t>
            </a:r>
          </a:p>
        </c:rich>
      </c:tx>
      <c:layout/>
      <c:overlay val="0"/>
    </c:title>
    <c:autoTitleDeleted val="0"/>
    <c:plotArea>
      <c:layout/>
      <c:lineChart>
        <c:varyColors val="0"/>
        <c:ser>
          <c:idx val="0"/>
          <c:order val="0"/>
          <c:tx>
            <c:strRef>
              <c:f>Sheet1!$B$1</c:f>
              <c:strCache>
                <c:ptCount val="1"/>
                <c:pt idx="0">
                  <c:v>Mouths</c:v>
                </c:pt>
              </c:strCache>
            </c:strRef>
          </c:tx>
          <c:spPr>
            <a:solidFill>
              <a:srgbClr val="1F1A14"/>
            </a:solidFill>
            <a:ln w="25400" cap="flat">
              <a:solidFill>
                <a:srgbClr val="1F1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1A14"/>
              </a:solidFill>
              <a:ln w="9525" cap="flat">
                <a:solidFill>
                  <a:srgbClr val="1F1A14"/>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40</c:v>
                  </c:pt>
                </c:lvl>
              </c:multiLvlStrCache>
            </c:multiLvlStrRef>
          </c:cat>
          <c:val>
            <c:numRef>
              <c:f>Sheet1!$B$2:$B$43</c:f>
              <c:numCache>
                <c:formatCode>General</c:formatCode>
                <c:ptCount val="42"/>
                <c:pt idx="0">
                  <c:v>1</c:v>
                </c:pt>
                <c:pt idx="1">
                  <c:v>1.02</c:v>
                </c:pt>
                <c:pt idx="2">
                  <c:v>1.03</c:v>
                </c:pt>
                <c:pt idx="3">
                  <c:v>1.01</c:v>
                </c:pt>
                <c:pt idx="4">
                  <c:v>1.01</c:v>
                </c:pt>
                <c:pt idx="5">
                  <c:v>0.98</c:v>
                </c:pt>
                <c:pt idx="6">
                  <c:v>0.99</c:v>
                </c:pt>
                <c:pt idx="7">
                  <c:v>1</c:v>
                </c:pt>
                <c:pt idx="8">
                  <c:v>1</c:v>
                </c:pt>
                <c:pt idx="9">
                  <c:v>1</c:v>
                </c:pt>
                <c:pt idx="10">
                  <c:v>1</c:v>
                </c:pt>
                <c:pt idx="11">
                  <c:v>0.99</c:v>
                </c:pt>
                <c:pt idx="12">
                  <c:v>1.01</c:v>
                </c:pt>
                <c:pt idx="13">
                  <c:v>1.06</c:v>
                </c:pt>
                <c:pt idx="14">
                  <c:v>1.1</c:v>
                </c:pt>
                <c:pt idx="15">
                  <c:v>1.26</c:v>
                </c:pt>
                <c:pt idx="16">
                  <c:v>1.36</c:v>
                </c:pt>
                <c:pt idx="17">
                  <c:v>1.45</c:v>
                </c:pt>
                <c:pt idx="18">
                  <c:v>1.59</c:v>
                </c:pt>
                <c:pt idx="19">
                  <c:v>1.75</c:v>
                </c:pt>
                <c:pt idx="20">
                  <c:v>1.78</c:v>
                </c:pt>
                <c:pt idx="21">
                  <c:v>1.87</c:v>
                </c:pt>
                <c:pt idx="22">
                  <c:v>1.97</c:v>
                </c:pt>
                <c:pt idx="23">
                  <c:v>1.99</c:v>
                </c:pt>
                <c:pt idx="24">
                  <c:v>1.99</c:v>
                </c:pt>
                <c:pt idx="25">
                  <c:v>1.99</c:v>
                </c:pt>
                <c:pt idx="26">
                  <c:v>2</c:v>
                </c:pt>
                <c:pt idx="27">
                  <c:v>1.98</c:v>
                </c:pt>
                <c:pt idx="28">
                  <c:v>1.98</c:v>
                </c:pt>
                <c:pt idx="29">
                  <c:v>1.98</c:v>
                </c:pt>
                <c:pt idx="30">
                  <c:v>1.98</c:v>
                </c:pt>
                <c:pt idx="31">
                  <c:v>2</c:v>
                </c:pt>
                <c:pt idx="32">
                  <c:v>1.95</c:v>
                </c:pt>
                <c:pt idx="33">
                  <c:v>1.99</c:v>
                </c:pt>
                <c:pt idx="34">
                  <c:v>1.97</c:v>
                </c:pt>
                <c:pt idx="35">
                  <c:v>1.97</c:v>
                </c:pt>
                <c:pt idx="36">
                  <c:v>1.97</c:v>
                </c:pt>
                <c:pt idx="37">
                  <c:v>1.99</c:v>
                </c:pt>
                <c:pt idx="38">
                  <c:v>2.02</c:v>
                </c:pt>
                <c:pt idx="39">
                  <c:v>1.99</c:v>
                </c:pt>
                <c:pt idx="40">
                  <c:v>2</c:v>
                </c:pt>
                <c:pt idx="41">
                  <c:v>2</c:v>
                </c:pt>
              </c:numCache>
            </c:numRef>
          </c:val>
          <c:smooth val="0"/>
        </c:ser>
        <c:ser>
          <c:idx val="1"/>
          <c:order val="1"/>
          <c:tx>
            <c:strRef>
              <c:f>Sheet1!$C$1</c:f>
              <c:strCache>
                <c:ptCount val="1"/>
                <c:pt idx="0">
                  <c:v>Eyes</c:v>
                </c:pt>
              </c:strCache>
            </c:strRef>
          </c:tx>
          <c:spPr>
            <a:solidFill>
              <a:srgbClr val="2F6FA8"/>
            </a:solidFill>
            <a:ln w="25400" cap="flat">
              <a:solidFill>
                <a:srgbClr val="2F6F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FA8"/>
              </a:solidFill>
              <a:ln w="9525" cap="flat">
                <a:solidFill>
                  <a:srgbClr val="2F6FA8"/>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40</c:v>
                  </c:pt>
                </c:lvl>
              </c:multiLvlStrCache>
            </c:multiLvlStrRef>
          </c:cat>
          <c:val>
            <c:numRef>
              <c:f>Sheet1!$C$2:$C$43</c:f>
              <c:numCache>
                <c:formatCode>General</c:formatCode>
                <c:ptCount val="42"/>
                <c:pt idx="0">
                  <c:v>2</c:v>
                </c:pt>
                <c:pt idx="1">
                  <c:v>2</c:v>
                </c:pt>
                <c:pt idx="2">
                  <c:v>2</c:v>
                </c:pt>
                <c:pt idx="3">
                  <c:v>2</c:v>
                </c:pt>
                <c:pt idx="4">
                  <c:v>1.99</c:v>
                </c:pt>
                <c:pt idx="5">
                  <c:v>2.01</c:v>
                </c:pt>
                <c:pt idx="6">
                  <c:v>2.02</c:v>
                </c:pt>
                <c:pt idx="7">
                  <c:v>1.99</c:v>
                </c:pt>
                <c:pt idx="8">
                  <c:v>1.99</c:v>
                </c:pt>
                <c:pt idx="9">
                  <c:v>1.99</c:v>
                </c:pt>
                <c:pt idx="10">
                  <c:v>1.99</c:v>
                </c:pt>
                <c:pt idx="11">
                  <c:v>1.99</c:v>
                </c:pt>
                <c:pt idx="12">
                  <c:v>1.94</c:v>
                </c:pt>
                <c:pt idx="13">
                  <c:v>1.88</c:v>
                </c:pt>
                <c:pt idx="14">
                  <c:v>1.87</c:v>
                </c:pt>
                <c:pt idx="15">
                  <c:v>1.72</c:v>
                </c:pt>
                <c:pt idx="16">
                  <c:v>1.62</c:v>
                </c:pt>
                <c:pt idx="17">
                  <c:v>1.58</c:v>
                </c:pt>
                <c:pt idx="18">
                  <c:v>1.43</c:v>
                </c:pt>
                <c:pt idx="19">
                  <c:v>1.27</c:v>
                </c:pt>
                <c:pt idx="20">
                  <c:v>1.23</c:v>
                </c:pt>
                <c:pt idx="21">
                  <c:v>1.21</c:v>
                </c:pt>
                <c:pt idx="22">
                  <c:v>1.05</c:v>
                </c:pt>
                <c:pt idx="23">
                  <c:v>1.11</c:v>
                </c:pt>
                <c:pt idx="24">
                  <c:v>1.14</c:v>
                </c:pt>
                <c:pt idx="25">
                  <c:v>1.08</c:v>
                </c:pt>
                <c:pt idx="26">
                  <c:v>1.08</c:v>
                </c:pt>
                <c:pt idx="27">
                  <c:v>1.11</c:v>
                </c:pt>
                <c:pt idx="28">
                  <c:v>1.12</c:v>
                </c:pt>
                <c:pt idx="29">
                  <c:v>1.05</c:v>
                </c:pt>
                <c:pt idx="30">
                  <c:v>1</c:v>
                </c:pt>
                <c:pt idx="31">
                  <c:v>0.98</c:v>
                </c:pt>
                <c:pt idx="32">
                  <c:v>0.98</c:v>
                </c:pt>
                <c:pt idx="33">
                  <c:v>1.01</c:v>
                </c:pt>
                <c:pt idx="34">
                  <c:v>0.98</c:v>
                </c:pt>
                <c:pt idx="35">
                  <c:v>0.94</c:v>
                </c:pt>
                <c:pt idx="36">
                  <c:v>0.89</c:v>
                </c:pt>
                <c:pt idx="37">
                  <c:v>0.82</c:v>
                </c:pt>
                <c:pt idx="38">
                  <c:v>0.69</c:v>
                </c:pt>
                <c:pt idx="39">
                  <c:v>0.49</c:v>
                </c:pt>
                <c:pt idx="40">
                  <c:v>0.49</c:v>
                </c:pt>
                <c:pt idx="41">
                  <c:v>0.49</c:v>
                </c:pt>
              </c:numCache>
            </c:numRef>
          </c:val>
          <c:smooth val="0"/>
        </c:ser>
        <c:ser>
          <c:idx val="2"/>
          <c:order val="2"/>
          <c:tx>
            <c:strRef>
              <c:f>Sheet1!$D$1</c:f>
              <c:strCache>
                <c:ptCount val="1"/>
                <c:pt idx="0">
                  <c:v>Stripes</c:v>
                </c:pt>
              </c:strCache>
            </c:strRef>
          </c:tx>
          <c:spPr>
            <a:solidFill>
              <a:srgbClr val="9CA3AF"/>
            </a:solidFill>
            <a:ln w="25400" cap="flat">
              <a:solidFill>
                <a:srgbClr val="9CA3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CA3AF"/>
              </a:solidFill>
              <a:ln w="9525" cap="flat">
                <a:solidFill>
                  <a:srgbClr val="9CA3AF"/>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40</c:v>
                  </c:pt>
                </c:lvl>
              </c:multiLvlStrCache>
            </c:multiLvlStrRef>
          </c:cat>
          <c:val>
            <c:numRef>
              <c:f>Sheet1!$D$2:$D$43</c:f>
              <c:numCache>
                <c:formatCode>General</c:formatCode>
                <c:ptCount val="42"/>
                <c:pt idx="0">
                  <c:v>2</c:v>
                </c:pt>
                <c:pt idx="1">
                  <c:v>2</c:v>
                </c:pt>
                <c:pt idx="2">
                  <c:v>2</c:v>
                </c:pt>
                <c:pt idx="3">
                  <c:v>2</c:v>
                </c:pt>
                <c:pt idx="4">
                  <c:v>2</c:v>
                </c:pt>
                <c:pt idx="5">
                  <c:v>1.98</c:v>
                </c:pt>
                <c:pt idx="6">
                  <c:v>1.98</c:v>
                </c:pt>
                <c:pt idx="7">
                  <c:v>1.98</c:v>
                </c:pt>
                <c:pt idx="8">
                  <c:v>1.98</c:v>
                </c:pt>
                <c:pt idx="9">
                  <c:v>1.98</c:v>
                </c:pt>
                <c:pt idx="10">
                  <c:v>1.93</c:v>
                </c:pt>
                <c:pt idx="11">
                  <c:v>1.91</c:v>
                </c:pt>
                <c:pt idx="12">
                  <c:v>1.98</c:v>
                </c:pt>
                <c:pt idx="13">
                  <c:v>1.93</c:v>
                </c:pt>
                <c:pt idx="14">
                  <c:v>1.93</c:v>
                </c:pt>
                <c:pt idx="15">
                  <c:v>1.72</c:v>
                </c:pt>
                <c:pt idx="16">
                  <c:v>1.59</c:v>
                </c:pt>
                <c:pt idx="17">
                  <c:v>1.54</c:v>
                </c:pt>
                <c:pt idx="18">
                  <c:v>1.42</c:v>
                </c:pt>
                <c:pt idx="19">
                  <c:v>1.29</c:v>
                </c:pt>
                <c:pt idx="20">
                  <c:v>1.22</c:v>
                </c:pt>
                <c:pt idx="21">
                  <c:v>1.21</c:v>
                </c:pt>
                <c:pt idx="22">
                  <c:v>1.06</c:v>
                </c:pt>
                <c:pt idx="23">
                  <c:v>1.1</c:v>
                </c:pt>
                <c:pt idx="24">
                  <c:v>1.13</c:v>
                </c:pt>
                <c:pt idx="25">
                  <c:v>1.13</c:v>
                </c:pt>
                <c:pt idx="26">
                  <c:v>1.08</c:v>
                </c:pt>
                <c:pt idx="27">
                  <c:v>1.1</c:v>
                </c:pt>
                <c:pt idx="28">
                  <c:v>1.11</c:v>
                </c:pt>
                <c:pt idx="29">
                  <c:v>1.05</c:v>
                </c:pt>
                <c:pt idx="30">
                  <c:v>1</c:v>
                </c:pt>
                <c:pt idx="31">
                  <c:v>0.94</c:v>
                </c:pt>
                <c:pt idx="32">
                  <c:v>0.74</c:v>
                </c:pt>
                <c:pt idx="33">
                  <c:v>0.5</c:v>
                </c:pt>
                <c:pt idx="34">
                  <c:v>0.27</c:v>
                </c:pt>
                <c:pt idx="35">
                  <c:v>0.12</c:v>
                </c:pt>
                <c:pt idx="36">
                  <c:v>0.08</c:v>
                </c:pt>
                <c:pt idx="37">
                  <c:v>0.09</c:v>
                </c:pt>
                <c:pt idx="38">
                  <c:v>0.05</c:v>
                </c:pt>
                <c:pt idx="39">
                  <c:v>0.06</c:v>
                </c:pt>
                <c:pt idx="40">
                  <c:v>0.02</c:v>
                </c:pt>
                <c:pt idx="41">
                  <c:v>0.02</c:v>
                </c:pt>
              </c:numCache>
            </c:numRef>
          </c:val>
          <c:smooth val="0"/>
        </c:ser>
        <c:ser>
          <c:idx val="3"/>
          <c:order val="3"/>
          <c:tx>
            <c:strRef>
              <c:f>Sheet1!$E$1</c:f>
              <c:strCache>
                <c:ptCount val="1"/>
                <c:pt idx="0">
                  <c:v>Kick</c:v>
                </c:pt>
              </c:strCache>
            </c:strRef>
          </c:tx>
          <c:spPr>
            <a:solidFill>
              <a:srgbClr val="B23A3A"/>
            </a:solidFill>
            <a:ln w="25400" cap="flat">
              <a:solidFill>
                <a:srgbClr val="B23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23A3A"/>
              </a:solidFill>
              <a:ln w="9525" cap="flat">
                <a:solidFill>
                  <a:srgbClr val="B23A3A"/>
                </a:solidFill>
                <a:prstDash val="solid"/>
                <a:round/>
              </a:ln>
              <a:effectLst/>
            </c:spPr>
          </c:marker>
          <c:cat>
            <c:multiLvlStrRef>
              <c:f>Sheet1!$A$2:$A$43</c:f>
              <c:multiLvlStrCache>
                <c:ptCount val="4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40</c:v>
                  </c:pt>
                </c:lvl>
              </c:multiLvlStrCache>
            </c:multiLvlStrRef>
          </c:cat>
          <c:val>
            <c:numRef>
              <c:f>Sheet1!$E$2:$E$43</c:f>
              <c:numCache>
                <c:formatCode>General</c:formatCode>
                <c:ptCount val="42"/>
                <c:pt idx="0">
                  <c:v>1</c:v>
                </c:pt>
                <c:pt idx="1">
                  <c:v>1</c:v>
                </c:pt>
                <c:pt idx="2">
                  <c:v>1</c:v>
                </c:pt>
                <c:pt idx="3">
                  <c:v>0.98</c:v>
                </c:pt>
                <c:pt idx="4">
                  <c:v>0.99</c:v>
                </c:pt>
                <c:pt idx="5">
                  <c:v>0.96</c:v>
                </c:pt>
                <c:pt idx="6">
                  <c:v>0.96</c:v>
                </c:pt>
                <c:pt idx="7">
                  <c:v>0.97</c:v>
                </c:pt>
                <c:pt idx="8">
                  <c:v>0.94</c:v>
                </c:pt>
                <c:pt idx="9">
                  <c:v>0.82</c:v>
                </c:pt>
                <c:pt idx="10">
                  <c:v>0.82</c:v>
                </c:pt>
                <c:pt idx="11">
                  <c:v>0.67</c:v>
                </c:pt>
                <c:pt idx="12">
                  <c:v>0.47</c:v>
                </c:pt>
                <c:pt idx="13">
                  <c:v>0.39</c:v>
                </c:pt>
                <c:pt idx="14">
                  <c:v>0.32</c:v>
                </c:pt>
                <c:pt idx="15">
                  <c:v>0.29</c:v>
                </c:pt>
                <c:pt idx="16">
                  <c:v>0.2</c:v>
                </c:pt>
                <c:pt idx="17">
                  <c:v>0.18</c:v>
                </c:pt>
                <c:pt idx="18">
                  <c:v>0.15</c:v>
                </c:pt>
                <c:pt idx="19">
                  <c:v>0.09</c:v>
                </c:pt>
                <c:pt idx="20">
                  <c:v>0.07</c:v>
                </c:pt>
                <c:pt idx="21">
                  <c:v>0.01</c:v>
                </c:pt>
                <c:pt idx="22">
                  <c:v>0</c:v>
                </c:pt>
                <c:pt idx="23">
                  <c:v>0</c:v>
                </c:pt>
                <c:pt idx="24">
                  <c:v>0</c:v>
                </c:pt>
                <c:pt idx="25">
                  <c:v>0</c:v>
                </c:pt>
                <c:pt idx="26">
                  <c:v>0</c:v>
                </c:pt>
                <c:pt idx="27">
                  <c:v>0</c:v>
                </c:pt>
                <c:pt idx="28">
                  <c:v>0</c:v>
                </c:pt>
                <c:pt idx="29">
                  <c:v>0</c:v>
                </c:pt>
                <c:pt idx="30">
                  <c:v>0</c:v>
                </c:pt>
                <c:pt idx="31">
                  <c:v>0</c:v>
                </c:pt>
                <c:pt idx="32">
                  <c:v>0</c:v>
                </c:pt>
                <c:pt idx="33">
                  <c:v>0</c:v>
                </c:pt>
                <c:pt idx="34">
                  <c:v>0.01</c:v>
                </c:pt>
                <c:pt idx="35">
                  <c:v>0</c:v>
                </c:pt>
                <c:pt idx="36">
                  <c:v>0</c:v>
                </c:pt>
                <c:pt idx="37">
                  <c:v>0</c:v>
                </c:pt>
                <c:pt idx="38">
                  <c:v>0</c:v>
                </c:pt>
                <c:pt idx="39">
                  <c:v>0.01</c:v>
                </c:pt>
                <c:pt idx="40">
                  <c:v>0</c:v>
                </c:pt>
                <c:pt idx="41">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6350" cap="flat">
              <a:solidFill>
                <a:srgbClr val="E3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seeded a savanna in the Life Engine and asked whether a species can adapt its way into extinction. We ran the unmodified engine and our modified savanna: 115 runs in total, including 18 follow-ups.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rule we committed to in Assignment 3, now applied automatically by our analysis script to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species use only original cells. Grass is 3 producers, bush 5 (producers in the base engine, woody cells in the modified one). Trees exist only in the modified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runs: original rules plus our Assignment 2 plant-reproduction change. Every new setting off; mutation cannot create our new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condition: 3 seeds of 40,000 ticks, screenshots at fixed ticks and at every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2: a killer evolved and spread because every plant or zebra it killed became food. Bushes gone by 4,900, grass by 11,700, zebras by 14,005. Seeds 1 and 3: killers mostly hit other zebras; carcasses piled up as food and blocked births, so the herd died out while grass survived.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harsh, no-mutation and seeded plant-kill. The seeded plant-kill runs had no leopards, so zebra kicks alone destroyed the plants. Kicks also killed most rhinos (69 of 90 deaths in default seed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modifications closed the base engine road (killers destroying plants and herds) and opened the grazing road. That road needed grass to regrow slower than it was eaten, and in every setting we tried, regrowth or the fallbacks kept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Leopards rose from 16 to 35 by eating the herd, then died out by tick 4,400. Rhinos faded by 12,600. Zebras evolved a second mouth and held at about 200 to 290 to tick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seeds per condition, so only 0% or 100% is a clear signal. No river, no soil water, weak camouflage and harsh hunger: 0 of 3. No cache: 3 of 3, because leopards died sooner. Mouth cap: 1 of 3, so the extra mouth helped zebras.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follow-up runs, 3 seeds each: 200k default, 200k dry, 32 and 48 leopards, strong and extreme fire. None produced zebra overgrazing suicide or a persistent predator.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A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1088136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640080" y="2743200"/>
            <a:ext cx="10881360" cy="914400"/>
          </a:xfrm>
          <a:prstGeom prst="rect">
            <a:avLst/>
          </a:prstGeom>
          <a:noFill/>
          <a:ln/>
        </p:spPr>
        <p:txBody>
          <a:bodyPr wrap="square" rtlCol="0"/>
          <a:lstStyle>
            <a:lvl1pPr indent="0" marL="0">
              <a:buNone/>
              <a:defRPr lang="en-US" sz="2000" dirty="0">
                <a:solidFill>
                  <a:schemeClr val="accent1"/>
                </a:solidFill>
              </a:defRPr>
            </a:lvl1pPr>
          </a:lstStyle>
          <a:p>
            <a:pPr indent="0" marL="0">
              <a:buNone/>
            </a:pPr>
            <a:r>
              <a:rPr lang="en-US" sz="2000" dirty="0">
                <a:solidFill>
                  <a:schemeClr val="accent1"/>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108813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Section</a:t>
            </a:r>
            <a:endParaRPr lang="en-US" sz="4000" dirty="0"/>
          </a:p>
        </p:txBody>
      </p:sp>
      <p:sp>
        <p:nvSpPr>
          <p:cNvPr id="3" name="Text 0"/>
          <p:cNvSpPr/>
          <p:nvPr>
            <p:ph idx="101" type="body" hasCustomPrompt="1"/>
          </p:nvPr>
        </p:nvSpPr>
        <p:spPr>
          <a:xfrm>
            <a:off x="640080" y="3566160"/>
            <a:ext cx="10881360" cy="1097280"/>
          </a:xfrm>
          <a:prstGeom prst="rect">
            <a:avLst/>
          </a:prstGeom>
          <a:noFill/>
          <a:ln/>
        </p:spPr>
        <p:txBody>
          <a:bodyPr wrap="square" rtlCol="0"/>
          <a:lstStyle>
            <a:lvl1pPr indent="0" marL="0">
              <a:buNone/>
              <a:defRPr lang="en-US" sz="2000" dirty="0">
                <a:solidFill>
                  <a:schemeClr val="accent1"/>
                </a:solidFill>
              </a:defRPr>
            </a:lvl1pPr>
          </a:lstStyle>
          <a:p>
            <a:pPr indent="0" marL="0">
              <a:buNone/>
            </a:pPr>
            <a:r>
              <a:rPr lang="en-US" sz="2000" dirty="0">
                <a:solidFill>
                  <a:schemeClr val="accent1"/>
                </a:solidFill>
              </a:rPr>
              <a:t>Subtitle</a:t>
            </a: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Title</a:t>
            </a:r>
            <a:endParaRPr lang="en-US" sz="30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8A8A8A"/>
                </a:solidFill>
              </a:rPr>
              <a:t>CSC4044Z Artificial Life 2026  ·  Reproducing evolutionary suicide</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9-1.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10881360" cy="1554480"/>
          </a:xfrm>
          <a:prstGeom prst="rect">
            <a:avLst/>
          </a:prstGeom>
          <a:noFill/>
          <a:ln/>
        </p:spPr>
        <p:txBody>
          <a:bodyPr wrap="square" rtlCol="0" anchor="t"/>
          <a:lstStyle/>
          <a:p>
            <a:pPr algn="l" indent="0" marL="0">
              <a:buNone/>
            </a:pPr>
            <a:r>
              <a:rPr lang="en-US" sz="4400" b="1" dirty="0">
                <a:solidFill>
                  <a:schemeClr val="bg1"/>
                </a:solidFill>
              </a:rPr>
              <a:t>Reproducing Evolutionary Suicide in a Digital Savanna</a:t>
            </a:r>
            <a:endParaRPr lang="en-US" sz="4400" dirty="0"/>
          </a:p>
        </p:txBody>
      </p:sp>
      <p:sp>
        <p:nvSpPr>
          <p:cNvPr id="3" name="Text 0"/>
          <p:cNvSpPr/>
          <p:nvPr>
            <p:ph idx="101" type="body" hasCustomPrompt="1"/>
          </p:nvPr>
        </p:nvSpPr>
        <p:spPr>
          <a:xfrm>
            <a:off x="640080" y="2743200"/>
            <a:ext cx="10881360" cy="914400"/>
          </a:xfrm>
          <a:prstGeom prst="rect">
            <a:avLst/>
          </a:prstGeom>
          <a:noFill/>
          <a:ln/>
        </p:spPr>
        <p:txBody>
          <a:bodyPr wrap="square" rtlCol="0"/>
          <a:lstStyle/>
          <a:p>
            <a:pPr indent="0" marL="0">
              <a:buNone/>
            </a:pPr>
            <a:r>
              <a:rPr lang="en-US" sz="2000" dirty="0">
                <a:solidFill>
                  <a:schemeClr val="accent1"/>
                </a:solidFill>
              </a:rPr>
              <a:t>Zebras, rhinos, leopards, grass and bushes in the Life Engine  ·  115 runs, base vs modified engine</a:t>
            </a:r>
            <a:endParaRPr lang="en-US" sz="2000" dirty="0"/>
          </a:p>
        </p:txBody>
      </p:sp>
      <p:pic>
        <p:nvPicPr>
          <p:cNvPr id="4" name="Image 0" descr="C:/Users/Ashley/Documents/LifeEngine/savanna-experiments/output/figures/species-modified.png">    </p:cNvPr>
          <p:cNvPicPr>
            <a:picLocks noChangeAspect="1"/>
          </p:cNvPicPr>
          <p:nvPr/>
        </p:nvPicPr>
        <p:blipFill>
          <a:blip r:embed="rId1"/>
          <a:stretch>
            <a:fillRect/>
          </a:stretch>
        </p:blipFill>
        <p:spPr>
          <a:xfrm>
            <a:off x="640080" y="3931920"/>
            <a:ext cx="9144000" cy="23757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Suicide needs four things to happen in order</a:t>
            </a:r>
            <a:endParaRPr lang="en-US" sz="3000" dirty="0"/>
          </a:p>
        </p:txBody>
      </p:sp>
      <p:sp>
        <p:nvSpPr>
          <p:cNvPr id="3" name="Text 1"/>
          <p:cNvSpPr txBox="1"/>
          <p:nvPr/>
        </p:nvSpPr>
        <p:spPr>
          <a:xfrm>
            <a:off x="548640" y="1234440"/>
            <a:ext cx="11064240" cy="822960"/>
          </a:xfrm>
          <a:prstGeom prst="rect">
            <a:avLst/>
          </a:prstGeom>
          <a:noFill/>
          <a:ln/>
        </p:spPr>
        <p:txBody>
          <a:bodyPr wrap="square" lIns="0" tIns="0" rIns="0" bIns="0" rtlCol="0" anchor="t"/>
          <a:lstStyle/>
          <a:p>
            <a:pPr indent="0" marL="0">
              <a:buNone/>
            </a:pPr>
            <a:r>
              <a:rPr lang="en-US" sz="1600" dirty="0">
                <a:solidFill>
                  <a:srgbClr val="333333"/>
                </a:solidFill>
              </a:rPr>
              <a:t>Evolutionary suicide: a trait spreads because it helps individuals, and the same trait removes what the population depends on. Failure to adapt: the species lacks the traits it needs and declines without succeeding first.</a:t>
            </a:r>
            <a:endParaRPr lang="en-US" sz="1600" dirty="0"/>
          </a:p>
        </p:txBody>
      </p:sp>
      <p:sp>
        <p:nvSpPr>
          <p:cNvPr id="4" name="Shape 2"/>
          <p:cNvSpPr/>
          <p:nvPr/>
        </p:nvSpPr>
        <p:spPr>
          <a:xfrm>
            <a:off x="548640" y="2331720"/>
            <a:ext cx="2606040" cy="2651760"/>
          </a:xfrm>
          <a:prstGeom prst="roundRect">
            <a:avLst>
              <a:gd name="adj" fmla="val 4211"/>
            </a:avLst>
          </a:prstGeom>
          <a:solidFill>
            <a:srgbClr val="F1F3F2"/>
          </a:solidFill>
          <a:ln w="12700">
            <a:solidFill>
              <a:srgbClr val="F1F3F2"/>
            </a:solidFill>
            <a:prstDash val="solid"/>
          </a:ln>
        </p:spPr>
      </p:sp>
      <p:sp>
        <p:nvSpPr>
          <p:cNvPr id="5" name="Shape 3"/>
          <p:cNvSpPr/>
          <p:nvPr/>
        </p:nvSpPr>
        <p:spPr>
          <a:xfrm>
            <a:off x="777240" y="2560320"/>
            <a:ext cx="457200" cy="457200"/>
          </a:xfrm>
          <a:prstGeom prst="ellipse">
            <a:avLst/>
          </a:prstGeom>
          <a:solidFill>
            <a:srgbClr val="D98E04"/>
          </a:solidFill>
          <a:ln w="12700">
            <a:solidFill>
              <a:srgbClr val="D98E04"/>
            </a:solidFill>
            <a:prstDash val="solid"/>
          </a:ln>
        </p:spPr>
      </p:sp>
      <p:sp>
        <p:nvSpPr>
          <p:cNvPr id="6" name="Text 4"/>
          <p:cNvSpPr txBox="1"/>
          <p:nvPr/>
        </p:nvSpPr>
        <p:spPr>
          <a:xfrm>
            <a:off x="77724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777240" y="3200400"/>
            <a:ext cx="2194560" cy="457200"/>
          </a:xfrm>
          <a:prstGeom prst="rect">
            <a:avLst/>
          </a:prstGeom>
          <a:noFill/>
          <a:ln/>
        </p:spPr>
        <p:txBody>
          <a:bodyPr wrap="square" lIns="0" tIns="0" rIns="0" bIns="0" rtlCol="0" anchor="t"/>
          <a:lstStyle/>
          <a:p>
            <a:pPr indent="0" marL="0">
              <a:buNone/>
            </a:pPr>
            <a:r>
              <a:rPr lang="en-US" sz="2000" b="1" dirty="0">
                <a:solidFill>
                  <a:srgbClr val="1F1A14"/>
                </a:solidFill>
                <a:latin typeface="Cambria" pitchFamily="34" charset="0"/>
                <a:ea typeface="Cambria" pitchFamily="34" charset="-122"/>
                <a:cs typeface="Cambria" pitchFamily="34" charset="-120"/>
              </a:rPr>
              <a:t>It grew</a:t>
            </a:r>
            <a:endParaRPr lang="en-US" sz="2000" dirty="0"/>
          </a:p>
        </p:txBody>
      </p:sp>
      <p:sp>
        <p:nvSpPr>
          <p:cNvPr id="8" name="Text 6"/>
          <p:cNvSpPr txBox="1"/>
          <p:nvPr/>
        </p:nvSpPr>
        <p:spPr>
          <a:xfrm>
            <a:off x="777240" y="3749040"/>
            <a:ext cx="2194560" cy="1097280"/>
          </a:xfrm>
          <a:prstGeom prst="rect">
            <a:avLst/>
          </a:prstGeom>
          <a:noFill/>
          <a:ln/>
        </p:spPr>
        <p:txBody>
          <a:bodyPr wrap="square" lIns="0" tIns="0" rIns="0" bIns="0" rtlCol="0" anchor="t"/>
          <a:lstStyle/>
          <a:p>
            <a:pPr indent="0" marL="0">
              <a:buNone/>
            </a:pPr>
            <a:r>
              <a:rPr lang="en-US" sz="1400" dirty="0">
                <a:solidFill>
                  <a:srgbClr val="444444"/>
                </a:solidFill>
              </a:rPr>
              <a:t>Population reached at least 1.5x its start</a:t>
            </a:r>
            <a:endParaRPr lang="en-US" sz="1400" dirty="0"/>
          </a:p>
        </p:txBody>
      </p:sp>
      <p:sp>
        <p:nvSpPr>
          <p:cNvPr id="9" name="Shape 7"/>
          <p:cNvSpPr/>
          <p:nvPr/>
        </p:nvSpPr>
        <p:spPr>
          <a:xfrm>
            <a:off x="3364992" y="2331720"/>
            <a:ext cx="2606040" cy="2651760"/>
          </a:xfrm>
          <a:prstGeom prst="roundRect">
            <a:avLst>
              <a:gd name="adj" fmla="val 4211"/>
            </a:avLst>
          </a:prstGeom>
          <a:solidFill>
            <a:srgbClr val="F1F3F2"/>
          </a:solidFill>
          <a:ln w="12700">
            <a:solidFill>
              <a:srgbClr val="F1F3F2"/>
            </a:solidFill>
            <a:prstDash val="solid"/>
          </a:ln>
        </p:spPr>
      </p:sp>
      <p:sp>
        <p:nvSpPr>
          <p:cNvPr id="10" name="Shape 8"/>
          <p:cNvSpPr/>
          <p:nvPr/>
        </p:nvSpPr>
        <p:spPr>
          <a:xfrm>
            <a:off x="3593592" y="2560320"/>
            <a:ext cx="457200" cy="457200"/>
          </a:xfrm>
          <a:prstGeom prst="ellipse">
            <a:avLst/>
          </a:prstGeom>
          <a:solidFill>
            <a:srgbClr val="D98E04"/>
          </a:solidFill>
          <a:ln w="12700">
            <a:solidFill>
              <a:srgbClr val="D98E04"/>
            </a:solidFill>
            <a:prstDash val="solid"/>
          </a:ln>
        </p:spPr>
      </p:sp>
      <p:sp>
        <p:nvSpPr>
          <p:cNvPr id="11" name="Text 9"/>
          <p:cNvSpPr txBox="1"/>
          <p:nvPr/>
        </p:nvSpPr>
        <p:spPr>
          <a:xfrm>
            <a:off x="3593592"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3593592" y="3200400"/>
            <a:ext cx="2194560" cy="457200"/>
          </a:xfrm>
          <a:prstGeom prst="rect">
            <a:avLst/>
          </a:prstGeom>
          <a:noFill/>
          <a:ln/>
        </p:spPr>
        <p:txBody>
          <a:bodyPr wrap="square" lIns="0" tIns="0" rIns="0" bIns="0" rtlCol="0" anchor="t"/>
          <a:lstStyle/>
          <a:p>
            <a:pPr indent="0" marL="0">
              <a:buNone/>
            </a:pPr>
            <a:r>
              <a:rPr lang="en-US" sz="2000" b="1" dirty="0">
                <a:solidFill>
                  <a:srgbClr val="1F1A14"/>
                </a:solidFill>
                <a:latin typeface="Cambria" pitchFamily="34" charset="0"/>
                <a:ea typeface="Cambria" pitchFamily="34" charset="-122"/>
                <a:cs typeface="Cambria" pitchFamily="34" charset="-120"/>
              </a:rPr>
              <a:t>A trait spread</a:t>
            </a:r>
            <a:endParaRPr lang="en-US" sz="2000" dirty="0"/>
          </a:p>
        </p:txBody>
      </p:sp>
      <p:sp>
        <p:nvSpPr>
          <p:cNvPr id="13" name="Text 11"/>
          <p:cNvSpPr txBox="1"/>
          <p:nvPr/>
        </p:nvSpPr>
        <p:spPr>
          <a:xfrm>
            <a:off x="3593592" y="3749040"/>
            <a:ext cx="2194560" cy="1097280"/>
          </a:xfrm>
          <a:prstGeom prst="rect">
            <a:avLst/>
          </a:prstGeom>
          <a:noFill/>
          <a:ln/>
        </p:spPr>
        <p:txBody>
          <a:bodyPr wrap="square" lIns="0" tIns="0" rIns="0" bIns="0" rtlCol="0" anchor="t"/>
          <a:lstStyle/>
          <a:p>
            <a:pPr indent="0" marL="0">
              <a:buNone/>
            </a:pPr>
            <a:r>
              <a:rPr lang="en-US" sz="1400" dirty="0">
                <a:solidFill>
                  <a:srgbClr val="444444"/>
                </a:solidFill>
              </a:rPr>
              <a:t>Mouths per animal +0.4, or killer share +0.3</a:t>
            </a:r>
            <a:endParaRPr lang="en-US" sz="1400" dirty="0"/>
          </a:p>
        </p:txBody>
      </p:sp>
      <p:sp>
        <p:nvSpPr>
          <p:cNvPr id="14" name="Shape 12"/>
          <p:cNvSpPr/>
          <p:nvPr/>
        </p:nvSpPr>
        <p:spPr>
          <a:xfrm>
            <a:off x="6181344" y="2331720"/>
            <a:ext cx="2606040" cy="2651760"/>
          </a:xfrm>
          <a:prstGeom prst="roundRect">
            <a:avLst>
              <a:gd name="adj" fmla="val 4211"/>
            </a:avLst>
          </a:prstGeom>
          <a:solidFill>
            <a:srgbClr val="F1F3F2"/>
          </a:solidFill>
          <a:ln w="12700">
            <a:solidFill>
              <a:srgbClr val="F1F3F2"/>
            </a:solidFill>
            <a:prstDash val="solid"/>
          </a:ln>
        </p:spPr>
      </p:sp>
      <p:sp>
        <p:nvSpPr>
          <p:cNvPr id="15" name="Shape 13"/>
          <p:cNvSpPr/>
          <p:nvPr/>
        </p:nvSpPr>
        <p:spPr>
          <a:xfrm>
            <a:off x="6409944" y="2560320"/>
            <a:ext cx="457200" cy="457200"/>
          </a:xfrm>
          <a:prstGeom prst="ellipse">
            <a:avLst/>
          </a:prstGeom>
          <a:solidFill>
            <a:srgbClr val="D98E04"/>
          </a:solidFill>
          <a:ln w="12700">
            <a:solidFill>
              <a:srgbClr val="D98E04"/>
            </a:solidFill>
            <a:prstDash val="solid"/>
          </a:ln>
        </p:spPr>
      </p:sp>
      <p:sp>
        <p:nvSpPr>
          <p:cNvPr id="16" name="Text 14"/>
          <p:cNvSpPr txBox="1"/>
          <p:nvPr/>
        </p:nvSpPr>
        <p:spPr>
          <a:xfrm>
            <a:off x="6409944"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6409944" y="3200400"/>
            <a:ext cx="2194560" cy="457200"/>
          </a:xfrm>
          <a:prstGeom prst="rect">
            <a:avLst/>
          </a:prstGeom>
          <a:noFill/>
          <a:ln/>
        </p:spPr>
        <p:txBody>
          <a:bodyPr wrap="square" lIns="0" tIns="0" rIns="0" bIns="0" rtlCol="0" anchor="t"/>
          <a:lstStyle/>
          <a:p>
            <a:pPr indent="0" marL="0">
              <a:buNone/>
            </a:pPr>
            <a:r>
              <a:rPr lang="en-US" sz="2000" b="1" dirty="0">
                <a:solidFill>
                  <a:srgbClr val="1F1A14"/>
                </a:solidFill>
                <a:latin typeface="Cambria" pitchFamily="34" charset="0"/>
                <a:ea typeface="Cambria" pitchFamily="34" charset="-122"/>
                <a:cs typeface="Cambria" pitchFamily="34" charset="-120"/>
              </a:rPr>
              <a:t>Its food fell</a:t>
            </a:r>
            <a:endParaRPr lang="en-US" sz="2000" dirty="0"/>
          </a:p>
        </p:txBody>
      </p:sp>
      <p:sp>
        <p:nvSpPr>
          <p:cNvPr id="18" name="Text 16"/>
          <p:cNvSpPr txBox="1"/>
          <p:nvPr/>
        </p:nvSpPr>
        <p:spPr>
          <a:xfrm>
            <a:off x="6409944" y="3749040"/>
            <a:ext cx="2194560" cy="1097280"/>
          </a:xfrm>
          <a:prstGeom prst="rect">
            <a:avLst/>
          </a:prstGeom>
          <a:noFill/>
          <a:ln/>
        </p:spPr>
        <p:txBody>
          <a:bodyPr wrap="square" lIns="0" tIns="0" rIns="0" bIns="0" rtlCol="0" anchor="t"/>
          <a:lstStyle/>
          <a:p>
            <a:pPr indent="0" marL="0">
              <a:buNone/>
            </a:pPr>
            <a:r>
              <a:rPr lang="en-US" sz="1400" dirty="0">
                <a:solidFill>
                  <a:srgbClr val="444444"/>
                </a:solidFill>
              </a:rPr>
              <a:t>Grass plus bush plants down 25% from the peak</a:t>
            </a:r>
            <a:endParaRPr lang="en-US" sz="1400" dirty="0"/>
          </a:p>
        </p:txBody>
      </p:sp>
      <p:sp>
        <p:nvSpPr>
          <p:cNvPr id="19" name="Shape 17"/>
          <p:cNvSpPr/>
          <p:nvPr/>
        </p:nvSpPr>
        <p:spPr>
          <a:xfrm>
            <a:off x="8997696" y="2331720"/>
            <a:ext cx="2606040" cy="2651760"/>
          </a:xfrm>
          <a:prstGeom prst="roundRect">
            <a:avLst>
              <a:gd name="adj" fmla="val 4211"/>
            </a:avLst>
          </a:prstGeom>
          <a:solidFill>
            <a:srgbClr val="F1F3F2"/>
          </a:solidFill>
          <a:ln w="12700">
            <a:solidFill>
              <a:srgbClr val="F1F3F2"/>
            </a:solidFill>
            <a:prstDash val="solid"/>
          </a:ln>
        </p:spPr>
      </p:sp>
      <p:sp>
        <p:nvSpPr>
          <p:cNvPr id="20" name="Shape 18"/>
          <p:cNvSpPr/>
          <p:nvPr/>
        </p:nvSpPr>
        <p:spPr>
          <a:xfrm>
            <a:off x="9226296" y="2560320"/>
            <a:ext cx="457200" cy="457200"/>
          </a:xfrm>
          <a:prstGeom prst="ellipse">
            <a:avLst/>
          </a:prstGeom>
          <a:solidFill>
            <a:srgbClr val="D98E04"/>
          </a:solidFill>
          <a:ln w="12700">
            <a:solidFill>
              <a:srgbClr val="D98E04"/>
            </a:solidFill>
            <a:prstDash val="solid"/>
          </a:ln>
        </p:spPr>
      </p:sp>
      <p:sp>
        <p:nvSpPr>
          <p:cNvPr id="21" name="Text 19"/>
          <p:cNvSpPr txBox="1"/>
          <p:nvPr/>
        </p:nvSpPr>
        <p:spPr>
          <a:xfrm>
            <a:off x="9226296"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txBox="1"/>
          <p:nvPr/>
        </p:nvSpPr>
        <p:spPr>
          <a:xfrm>
            <a:off x="9226296" y="3200400"/>
            <a:ext cx="2194560" cy="457200"/>
          </a:xfrm>
          <a:prstGeom prst="rect">
            <a:avLst/>
          </a:prstGeom>
          <a:noFill/>
          <a:ln/>
        </p:spPr>
        <p:txBody>
          <a:bodyPr wrap="square" lIns="0" tIns="0" rIns="0" bIns="0" rtlCol="0" anchor="t"/>
          <a:lstStyle/>
          <a:p>
            <a:pPr indent="0" marL="0">
              <a:buNone/>
            </a:pPr>
            <a:r>
              <a:rPr lang="en-US" sz="2000" b="1" dirty="0">
                <a:solidFill>
                  <a:srgbClr val="1F1A14"/>
                </a:solidFill>
                <a:latin typeface="Cambria" pitchFamily="34" charset="0"/>
                <a:ea typeface="Cambria" pitchFamily="34" charset="-122"/>
                <a:cs typeface="Cambria" pitchFamily="34" charset="-120"/>
              </a:rPr>
              <a:t>It killed itself</a:t>
            </a:r>
            <a:endParaRPr lang="en-US" sz="2000" dirty="0"/>
          </a:p>
        </p:txBody>
      </p:sp>
      <p:sp>
        <p:nvSpPr>
          <p:cNvPr id="23" name="Text 21"/>
          <p:cNvSpPr txBox="1"/>
          <p:nvPr/>
        </p:nvSpPr>
        <p:spPr>
          <a:xfrm>
            <a:off x="9226296" y="3749040"/>
            <a:ext cx="2194560" cy="1097280"/>
          </a:xfrm>
          <a:prstGeom prst="rect">
            <a:avLst/>
          </a:prstGeom>
          <a:noFill/>
          <a:ln/>
        </p:spPr>
        <p:txBody>
          <a:bodyPr wrap="square" lIns="0" tIns="0" rIns="0" bIns="0" rtlCol="0" anchor="t"/>
          <a:lstStyle/>
          <a:p>
            <a:pPr indent="0" marL="0">
              <a:buNone/>
            </a:pPr>
            <a:r>
              <a:rPr lang="en-US" sz="1400" dirty="0">
                <a:solidFill>
                  <a:srgbClr val="444444"/>
                </a:solidFill>
              </a:rPr>
              <a:t>Decline from starvation, ageing or its own killers, not other species</a:t>
            </a:r>
            <a:endParaRPr lang="en-US" sz="1400" dirty="0"/>
          </a:p>
        </p:txBody>
      </p:sp>
      <p:sp>
        <p:nvSpPr>
          <p:cNvPr id="24" name="Text 22"/>
          <p:cNvSpPr txBox="1"/>
          <p:nvPr/>
        </p:nvSpPr>
        <p:spPr>
          <a:xfrm>
            <a:off x="548640" y="5303520"/>
            <a:ext cx="11064240" cy="731520"/>
          </a:xfrm>
          <a:prstGeom prst="rect">
            <a:avLst/>
          </a:prstGeom>
          <a:noFill/>
          <a:ln/>
        </p:spPr>
        <p:txBody>
          <a:bodyPr wrap="square" lIns="0" tIns="0" rIns="0" bIns="0" rtlCol="0" anchor="t"/>
          <a:lstStyle/>
          <a:p>
            <a:pPr indent="0" marL="0">
              <a:buNone/>
            </a:pPr>
            <a:r>
              <a:rPr lang="en-US" sz="1500" b="1" dirty="0">
                <a:solidFill>
                  <a:srgbClr val="3B2F22"/>
                </a:solidFill>
              </a:rPr>
              <a:t>All four: evolutionary suicide.  Three, with growth and a trait: suicide candidate.  No growth: failure to adapt.  Mostly killed by another species: predation.</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Two versions of each species: base and modified</a:t>
            </a:r>
            <a:endParaRPr lang="en-US" sz="3000" dirty="0"/>
          </a:p>
        </p:txBody>
      </p:sp>
      <p:pic>
        <p:nvPicPr>
          <p:cNvPr id="3" name="Image 0" descr="C:/Users/Ashley/Documents/LifeEngine/savanna-experiments/output/figures/species-base.png">    </p:cNvPr>
          <p:cNvPicPr>
            <a:picLocks noChangeAspect="1"/>
          </p:cNvPicPr>
          <p:nvPr/>
        </p:nvPicPr>
        <p:blipFill>
          <a:blip r:embed="rId1"/>
          <a:stretch>
            <a:fillRect/>
          </a:stretch>
        </p:blipFill>
        <p:spPr>
          <a:xfrm>
            <a:off x="548640" y="1188720"/>
            <a:ext cx="5394960" cy="1678929"/>
          </a:xfrm>
          <a:prstGeom prst="rect">
            <a:avLst/>
          </a:prstGeom>
        </p:spPr>
      </p:pic>
      <p:pic>
        <p:nvPicPr>
          <p:cNvPr id="4" name="Image 1" descr="C:/Users/Ashley/Documents/LifeEngine/savanna-experiments/output/figures/species-modified.png">    </p:cNvPr>
          <p:cNvPicPr>
            <a:picLocks noChangeAspect="1"/>
          </p:cNvPicPr>
          <p:nvPr/>
        </p:nvPicPr>
        <p:blipFill>
          <a:blip r:embed="rId2"/>
          <a:stretch>
            <a:fillRect/>
          </a:stretch>
        </p:blipFill>
        <p:spPr>
          <a:xfrm>
            <a:off x="6172200" y="1188720"/>
            <a:ext cx="5440680" cy="1413572"/>
          </a:xfrm>
          <a:prstGeom prst="rect">
            <a:avLst/>
          </a:prstGeom>
        </p:spPr>
      </p:pic>
      <p:sp>
        <p:nvSpPr>
          <p:cNvPr id="5" name="Shape 1"/>
          <p:cNvSpPr/>
          <p:nvPr/>
        </p:nvSpPr>
        <p:spPr>
          <a:xfrm>
            <a:off x="548640" y="3063240"/>
            <a:ext cx="11064240" cy="914400"/>
          </a:xfrm>
          <a:prstGeom prst="roundRect">
            <a:avLst>
              <a:gd name="adj" fmla="val 12000"/>
            </a:avLst>
          </a:prstGeom>
          <a:solidFill>
            <a:srgbClr val="FFF4DC"/>
          </a:solidFill>
          <a:ln w="12700">
            <a:solidFill>
              <a:srgbClr val="FFF4DC"/>
            </a:solidFill>
            <a:prstDash val="solid"/>
          </a:ln>
        </p:spPr>
      </p:sp>
      <p:sp>
        <p:nvSpPr>
          <p:cNvPr id="6" name="Text 2"/>
          <p:cNvSpPr txBox="1"/>
          <p:nvPr/>
        </p:nvSpPr>
        <p:spPr>
          <a:xfrm>
            <a:off x="822960" y="3172968"/>
            <a:ext cx="10515600" cy="731520"/>
          </a:xfrm>
          <a:prstGeom prst="rect">
            <a:avLst/>
          </a:prstGeom>
          <a:noFill/>
          <a:ln/>
        </p:spPr>
        <p:txBody>
          <a:bodyPr wrap="square" lIns="0" tIns="0" rIns="0" bIns="0" rtlCol="0" anchor="t"/>
          <a:lstStyle/>
          <a:p>
            <a:pPr indent="0" marL="0">
              <a:buNone/>
            </a:pPr>
            <a:r>
              <a:rPr lang="en-US" sz="1500" b="1" dirty="0">
                <a:solidFill>
                  <a:srgbClr val="1F1A14"/>
                </a:solidFill>
              </a:rPr>
              <a:t>About movers. </a:t>
            </a:r>
            <a:pPr indent="0" marL="0">
              <a:buNone/>
            </a:pPr>
            <a:r>
              <a:rPr lang="en-US" sz="1500" dirty="0">
                <a:solidFill>
                  <a:srgbClr val="1F1A14"/>
                </a:solidFill>
              </a:rPr>
              <a:t>In the original Life Engine one mover is enough and extra movers add nothing: every animal moves one cell per tick. So base zebras and leopards have one mover. Sprinting with extra movers is our own rule, used only in the modified engine.</a:t>
            </a:r>
            <a:endParaRPr lang="en-US" sz="1500" dirty="0"/>
          </a:p>
        </p:txBody>
      </p:sp>
      <p:sp>
        <p:nvSpPr>
          <p:cNvPr id="7" name="Shape 3"/>
          <p:cNvSpPr/>
          <p:nvPr/>
        </p:nvSpPr>
        <p:spPr>
          <a:xfrm>
            <a:off x="548640" y="4206240"/>
            <a:ext cx="3520440" cy="1920240"/>
          </a:xfrm>
          <a:prstGeom prst="roundRect">
            <a:avLst>
              <a:gd name="adj" fmla="val 5714"/>
            </a:avLst>
          </a:prstGeom>
          <a:solidFill>
            <a:srgbClr val="F1F3F2"/>
          </a:solidFill>
          <a:ln w="12700">
            <a:solidFill>
              <a:srgbClr val="F1F3F2"/>
            </a:solidFill>
            <a:prstDash val="solid"/>
          </a:ln>
        </p:spPr>
      </p:sp>
      <p:sp>
        <p:nvSpPr>
          <p:cNvPr id="8" name="Text 4"/>
          <p:cNvSpPr txBox="1"/>
          <p:nvPr/>
        </p:nvSpPr>
        <p:spPr>
          <a:xfrm>
            <a:off x="777240" y="4343400"/>
            <a:ext cx="3108960" cy="36576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Zebra</a:t>
            </a:r>
            <a:endParaRPr lang="en-US" sz="1800" dirty="0"/>
          </a:p>
        </p:txBody>
      </p:sp>
      <p:sp>
        <p:nvSpPr>
          <p:cNvPr id="9" name="Text 5"/>
          <p:cNvSpPr txBox="1"/>
          <p:nvPr/>
        </p:nvSpPr>
        <p:spPr>
          <a:xfrm>
            <a:off x="777240" y="4754880"/>
            <a:ext cx="3108960" cy="640080"/>
          </a:xfrm>
          <a:prstGeom prst="rect">
            <a:avLst/>
          </a:prstGeom>
          <a:noFill/>
          <a:ln/>
        </p:spPr>
        <p:txBody>
          <a:bodyPr wrap="square" lIns="0" tIns="0" rIns="0" bIns="0" rtlCol="0" anchor="t"/>
          <a:lstStyle/>
          <a:p>
            <a:pPr indent="0" marL="0">
              <a:buNone/>
            </a:pPr>
            <a:r>
              <a:rPr lang="en-US" sz="1300" dirty="0">
                <a:solidFill>
                  <a:srgbClr val="1F1A14"/>
                </a:solidFill>
              </a:rPr>
              <a:t>Herd grazer with a rear kick. Modified: stripes for herd camouflage, sprint</a:t>
            </a:r>
            <a:endParaRPr lang="en-US" sz="1300" dirty="0"/>
          </a:p>
        </p:txBody>
      </p:sp>
      <p:sp>
        <p:nvSpPr>
          <p:cNvPr id="10" name="Text 6"/>
          <p:cNvSpPr txBox="1"/>
          <p:nvPr/>
        </p:nvSpPr>
        <p:spPr>
          <a:xfrm>
            <a:off x="777240" y="5440680"/>
            <a:ext cx="3108960" cy="640080"/>
          </a:xfrm>
          <a:prstGeom prst="rect">
            <a:avLst/>
          </a:prstGeom>
          <a:noFill/>
          <a:ln/>
        </p:spPr>
        <p:txBody>
          <a:bodyPr wrap="square" lIns="0" tIns="0" rIns="0" bIns="0" rtlCol="0" anchor="t"/>
          <a:lstStyle/>
          <a:p>
            <a:pPr indent="0" marL="0">
              <a:buNone/>
            </a:pPr>
            <a:r>
              <a:rPr lang="en-US" sz="1300" b="1" dirty="0">
                <a:solidFill>
                  <a:srgbClr val="1F1A14"/>
                </a:solidFill>
              </a:rPr>
              <a:t>Weakness  </a:t>
            </a:r>
            <a:pPr indent="0" marL="0">
              <a:buNone/>
            </a:pPr>
            <a:r>
              <a:rPr lang="en-US" sz="1300" dirty="0">
                <a:solidFill>
                  <a:srgbClr val="1F1A14"/>
                </a:solidFill>
              </a:rPr>
              <a:t>One mouth; in the base engine its kick also hurts its own herd</a:t>
            </a:r>
            <a:endParaRPr lang="en-US" sz="1300" dirty="0"/>
          </a:p>
        </p:txBody>
      </p:sp>
      <p:sp>
        <p:nvSpPr>
          <p:cNvPr id="11" name="Shape 7"/>
          <p:cNvSpPr/>
          <p:nvPr/>
        </p:nvSpPr>
        <p:spPr>
          <a:xfrm>
            <a:off x="4297680" y="4206240"/>
            <a:ext cx="3520440" cy="1920240"/>
          </a:xfrm>
          <a:prstGeom prst="roundRect">
            <a:avLst>
              <a:gd name="adj" fmla="val 5714"/>
            </a:avLst>
          </a:prstGeom>
          <a:solidFill>
            <a:srgbClr val="F1F3F2"/>
          </a:solidFill>
          <a:ln w="12700">
            <a:solidFill>
              <a:srgbClr val="F1F3F2"/>
            </a:solidFill>
            <a:prstDash val="solid"/>
          </a:ln>
        </p:spPr>
      </p:sp>
      <p:sp>
        <p:nvSpPr>
          <p:cNvPr id="12" name="Text 8"/>
          <p:cNvSpPr txBox="1"/>
          <p:nvPr/>
        </p:nvSpPr>
        <p:spPr>
          <a:xfrm>
            <a:off x="4526280" y="4343400"/>
            <a:ext cx="3108960" cy="365760"/>
          </a:xfrm>
          <a:prstGeom prst="rect">
            <a:avLst/>
          </a:prstGeom>
          <a:noFill/>
          <a:ln/>
        </p:spPr>
        <p:txBody>
          <a:bodyPr wrap="square" lIns="0" tIns="0" rIns="0" bIns="0" rtlCol="0" anchor="t"/>
          <a:lstStyle/>
          <a:p>
            <a:pPr indent="0" marL="0">
              <a:buNone/>
            </a:pPr>
            <a:r>
              <a:rPr lang="en-US" sz="1800" b="1" dirty="0">
                <a:solidFill>
                  <a:srgbClr val="7A5C3E"/>
                </a:solidFill>
                <a:latin typeface="Cambria" pitchFamily="34" charset="0"/>
                <a:ea typeface="Cambria" pitchFamily="34" charset="-122"/>
                <a:cs typeface="Cambria" pitchFamily="34" charset="-120"/>
              </a:rPr>
              <a:t>Rhino</a:t>
            </a:r>
            <a:endParaRPr lang="en-US" sz="1800" dirty="0"/>
          </a:p>
        </p:txBody>
      </p:sp>
      <p:sp>
        <p:nvSpPr>
          <p:cNvPr id="13" name="Text 9"/>
          <p:cNvSpPr txBox="1"/>
          <p:nvPr/>
        </p:nvSpPr>
        <p:spPr>
          <a:xfrm>
            <a:off x="4526280" y="4754880"/>
            <a:ext cx="3108960" cy="640080"/>
          </a:xfrm>
          <a:prstGeom prst="rect">
            <a:avLst/>
          </a:prstGeom>
          <a:noFill/>
          <a:ln/>
        </p:spPr>
        <p:txBody>
          <a:bodyPr wrap="square" lIns="0" tIns="0" rIns="0" bIns="0" rtlCol="0" anchor="t"/>
          <a:lstStyle/>
          <a:p>
            <a:pPr indent="0" marL="0">
              <a:buNone/>
            </a:pPr>
            <a:r>
              <a:rPr lang="en-US" sz="1300" dirty="0">
                <a:solidFill>
                  <a:srgbClr val="1F1A14"/>
                </a:solidFill>
              </a:rPr>
              <a:t>Armoured grazer. Modified: horn, armour adds health</a:t>
            </a:r>
            <a:endParaRPr lang="en-US" sz="1300" dirty="0"/>
          </a:p>
        </p:txBody>
      </p:sp>
      <p:sp>
        <p:nvSpPr>
          <p:cNvPr id="14" name="Text 10"/>
          <p:cNvSpPr txBox="1"/>
          <p:nvPr/>
        </p:nvSpPr>
        <p:spPr>
          <a:xfrm>
            <a:off x="4526280" y="5440680"/>
            <a:ext cx="3108960" cy="640080"/>
          </a:xfrm>
          <a:prstGeom prst="rect">
            <a:avLst/>
          </a:prstGeom>
          <a:noFill/>
          <a:ln/>
        </p:spPr>
        <p:txBody>
          <a:bodyPr wrap="square" lIns="0" tIns="0" rIns="0" bIns="0" rtlCol="0" anchor="t"/>
          <a:lstStyle/>
          <a:p>
            <a:pPr indent="0" marL="0">
              <a:buNone/>
            </a:pPr>
            <a:r>
              <a:rPr lang="en-US" sz="1300" b="1" dirty="0">
                <a:solidFill>
                  <a:srgbClr val="1F1A14"/>
                </a:solidFill>
              </a:rPr>
              <a:t>Weakness  </a:t>
            </a:r>
            <a:pPr indent="0" marL="0">
              <a:buNone/>
            </a:pPr>
            <a:r>
              <a:rPr lang="en-US" sz="1300" dirty="0">
                <a:solidFill>
                  <a:srgbClr val="1F1A14"/>
                </a:solidFill>
              </a:rPr>
              <a:t>Slow; modified armour costs food, so calves are expensive</a:t>
            </a:r>
            <a:endParaRPr lang="en-US" sz="1300" dirty="0"/>
          </a:p>
        </p:txBody>
      </p:sp>
      <p:sp>
        <p:nvSpPr>
          <p:cNvPr id="15" name="Shape 11"/>
          <p:cNvSpPr/>
          <p:nvPr/>
        </p:nvSpPr>
        <p:spPr>
          <a:xfrm>
            <a:off x="8046720" y="4206240"/>
            <a:ext cx="3520440" cy="1920240"/>
          </a:xfrm>
          <a:prstGeom prst="roundRect">
            <a:avLst>
              <a:gd name="adj" fmla="val 5714"/>
            </a:avLst>
          </a:prstGeom>
          <a:solidFill>
            <a:srgbClr val="F1F3F2"/>
          </a:solidFill>
          <a:ln w="12700">
            <a:solidFill>
              <a:srgbClr val="F1F3F2"/>
            </a:solidFill>
            <a:prstDash val="solid"/>
          </a:ln>
        </p:spPr>
      </p:sp>
      <p:sp>
        <p:nvSpPr>
          <p:cNvPr id="16" name="Text 12"/>
          <p:cNvSpPr txBox="1"/>
          <p:nvPr/>
        </p:nvSpPr>
        <p:spPr>
          <a:xfrm>
            <a:off x="8275320" y="4343400"/>
            <a:ext cx="3108960" cy="365760"/>
          </a:xfrm>
          <a:prstGeom prst="rect">
            <a:avLst/>
          </a:prstGeom>
          <a:noFill/>
          <a:ln/>
        </p:spPr>
        <p:txBody>
          <a:bodyPr wrap="square" lIns="0" tIns="0" rIns="0" bIns="0" rtlCol="0" anchor="t"/>
          <a:lstStyle/>
          <a:p>
            <a:pPr indent="0" marL="0">
              <a:buNone/>
            </a:pPr>
            <a:r>
              <a:rPr lang="en-US" sz="1800" b="1" dirty="0">
                <a:solidFill>
                  <a:srgbClr val="D98E04"/>
                </a:solidFill>
                <a:latin typeface="Cambria" pitchFamily="34" charset="0"/>
                <a:ea typeface="Cambria" pitchFamily="34" charset="-122"/>
                <a:cs typeface="Cambria" pitchFamily="34" charset="-120"/>
              </a:rPr>
              <a:t>Leopard</a:t>
            </a:r>
            <a:endParaRPr lang="en-US" sz="1800" dirty="0"/>
          </a:p>
        </p:txBody>
      </p:sp>
      <p:sp>
        <p:nvSpPr>
          <p:cNvPr id="17" name="Text 13"/>
          <p:cNvSpPr txBox="1"/>
          <p:nvPr/>
        </p:nvSpPr>
        <p:spPr>
          <a:xfrm>
            <a:off x="8275320" y="4754880"/>
            <a:ext cx="3108960" cy="640080"/>
          </a:xfrm>
          <a:prstGeom prst="rect">
            <a:avLst/>
          </a:prstGeom>
          <a:noFill/>
          <a:ln/>
        </p:spPr>
        <p:txBody>
          <a:bodyPr wrap="square" lIns="0" tIns="0" rIns="0" bIns="0" rtlCol="0" anchor="t"/>
          <a:lstStyle/>
          <a:p>
            <a:pPr indent="0" marL="0">
              <a:buNone/>
            </a:pPr>
            <a:r>
              <a:rPr lang="en-US" sz="1300" dirty="0">
                <a:solidFill>
                  <a:srgbClr val="1F1A14"/>
                </a:solidFill>
              </a:rPr>
              <a:t>Jaws beside the mouth. Modified: meat-only, strong bite, cache near trees</a:t>
            </a:r>
            <a:endParaRPr lang="en-US" sz="1300" dirty="0"/>
          </a:p>
        </p:txBody>
      </p:sp>
      <p:sp>
        <p:nvSpPr>
          <p:cNvPr id="18" name="Text 14"/>
          <p:cNvSpPr txBox="1"/>
          <p:nvPr/>
        </p:nvSpPr>
        <p:spPr>
          <a:xfrm>
            <a:off x="8275320" y="5440680"/>
            <a:ext cx="3108960" cy="640080"/>
          </a:xfrm>
          <a:prstGeom prst="rect">
            <a:avLst/>
          </a:prstGeom>
          <a:noFill/>
          <a:ln/>
        </p:spPr>
        <p:txBody>
          <a:bodyPr wrap="square" lIns="0" tIns="0" rIns="0" bIns="0" rtlCol="0" anchor="t"/>
          <a:lstStyle/>
          <a:p>
            <a:pPr indent="0" marL="0">
              <a:buNone/>
            </a:pPr>
            <a:r>
              <a:rPr lang="en-US" sz="1300" b="1" dirty="0">
                <a:solidFill>
                  <a:srgbClr val="1F1A14"/>
                </a:solidFill>
              </a:rPr>
              <a:t>Weakness  </a:t>
            </a:r>
            <a:pPr indent="0" marL="0">
              <a:buNone/>
            </a:pPr>
            <a:r>
              <a:rPr lang="en-US" sz="1300" dirty="0">
                <a:solidFill>
                  <a:srgbClr val="1F1A14"/>
                </a:solidFill>
              </a:rPr>
              <a:t>Base: no faster than prey. Modified: no armour, kicked and gored</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10881360" cy="1188720"/>
          </a:xfrm>
          <a:prstGeom prst="rect">
            <a:avLst/>
          </a:prstGeom>
          <a:noFill/>
          <a:ln/>
        </p:spPr>
        <p:txBody>
          <a:bodyPr wrap="square" rtlCol="0"/>
          <a:lstStyle/>
          <a:p>
            <a:pPr algn="l" indent="0" marL="0">
              <a:buNone/>
            </a:pPr>
            <a:r>
              <a:rPr lang="en-US" sz="4000" b="1" dirty="0">
                <a:solidFill>
                  <a:schemeClr val="bg1"/>
                </a:solidFill>
              </a:rPr>
              <a:t>Part 1: the base engine</a:t>
            </a:r>
            <a:endParaRPr lang="en-US" sz="4000" dirty="0"/>
          </a:p>
        </p:txBody>
      </p:sp>
      <p:sp>
        <p:nvSpPr>
          <p:cNvPr id="3" name="Text 0"/>
          <p:cNvSpPr/>
          <p:nvPr>
            <p:ph idx="101" type="body" hasCustomPrompt="1"/>
          </p:nvPr>
        </p:nvSpPr>
        <p:spPr>
          <a:xfrm>
            <a:off x="640080" y="3566160"/>
            <a:ext cx="10881360" cy="1097280"/>
          </a:xfrm>
          <a:prstGeom prst="rect">
            <a:avLst/>
          </a:prstGeom>
          <a:noFill/>
          <a:ln/>
        </p:spPr>
        <p:txBody>
          <a:bodyPr wrap="square" rtlCol="0"/>
          <a:lstStyle/>
          <a:p>
            <a:pPr indent="0" marL="0">
              <a:buNone/>
            </a:pPr>
            <a:r>
              <a:rPr lang="en-US" sz="2000" dirty="0">
                <a:solidFill>
                  <a:schemeClr val="accent1"/>
                </a:solidFill>
              </a:rPr>
              <a:t>What it can and cannot do, how we tried to get suicide or failure to adapt, and what happened</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What the base engine can and cannot do</a:t>
            </a:r>
            <a:endParaRPr lang="en-US" sz="3000" dirty="0"/>
          </a:p>
        </p:txBody>
      </p:sp>
      <p:sp>
        <p:nvSpPr>
          <p:cNvPr id="3" name="Shape 1"/>
          <p:cNvSpPr/>
          <p:nvPr/>
        </p:nvSpPr>
        <p:spPr>
          <a:xfrm>
            <a:off x="548640" y="1280160"/>
            <a:ext cx="5394960" cy="3017520"/>
          </a:xfrm>
          <a:prstGeom prst="roundRect">
            <a:avLst>
              <a:gd name="adj" fmla="val 3636"/>
            </a:avLst>
          </a:prstGeom>
          <a:solidFill>
            <a:srgbClr val="EEF5EA"/>
          </a:solidFill>
          <a:ln w="12700">
            <a:solidFill>
              <a:srgbClr val="EEF5EA"/>
            </a:solidFill>
            <a:prstDash val="solid"/>
          </a:ln>
        </p:spPr>
      </p:sp>
      <p:sp>
        <p:nvSpPr>
          <p:cNvPr id="4" name="Text 2"/>
          <p:cNvSpPr txBox="1"/>
          <p:nvPr/>
        </p:nvSpPr>
        <p:spPr>
          <a:xfrm>
            <a:off x="822960" y="1463040"/>
            <a:ext cx="4846320" cy="457200"/>
          </a:xfrm>
          <a:prstGeom prst="rect">
            <a:avLst/>
          </a:prstGeom>
          <a:noFill/>
          <a:ln/>
        </p:spPr>
        <p:txBody>
          <a:bodyPr wrap="square" lIns="0" tIns="0" rIns="0" bIns="0" rtlCol="0" anchor="t"/>
          <a:lstStyle/>
          <a:p>
            <a:pPr indent="0" marL="0">
              <a:buNone/>
            </a:pPr>
            <a:r>
              <a:rPr lang="en-US" sz="2000" b="1" dirty="0">
                <a:solidFill>
                  <a:srgbClr val="4E7D32"/>
                </a:solidFill>
                <a:latin typeface="Cambria" pitchFamily="34" charset="0"/>
                <a:ea typeface="Cambria" pitchFamily="34" charset="-122"/>
                <a:cs typeface="Cambria" pitchFamily="34" charset="-120"/>
              </a:rPr>
              <a:t>It allows</a:t>
            </a:r>
            <a:endParaRPr lang="en-US" sz="2000" dirty="0"/>
          </a:p>
        </p:txBody>
      </p:sp>
      <p:sp>
        <p:nvSpPr>
          <p:cNvPr id="5" name="Text 3"/>
          <p:cNvSpPr txBox="1"/>
          <p:nvPr/>
        </p:nvSpPr>
        <p:spPr>
          <a:xfrm>
            <a:off x="822960" y="2011680"/>
            <a:ext cx="484632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1A14"/>
                </a:solidFill>
              </a:rPr>
              <a:t>Killer cells hurt everything they touch: plants, other species and their own kind</a:t>
            </a:r>
            <a:endParaRPr lang="en-US" sz="1500" dirty="0"/>
          </a:p>
          <a:p>
            <a:pPr marL="342900" indent="-342900">
              <a:spcAft>
                <a:spcPts val="800"/>
              </a:spcAft>
              <a:buSzPct val="100000"/>
              <a:buChar char="•"/>
            </a:pPr>
            <a:r>
              <a:rPr lang="en-US" sz="1500" dirty="0">
                <a:solidFill>
                  <a:srgbClr val="1F1A14"/>
                </a:solidFill>
              </a:rPr>
              <a:t>Anything that dies becomes food, so killing is rewarded with a meal</a:t>
            </a:r>
            <a:endParaRPr lang="en-US" sz="1500" dirty="0"/>
          </a:p>
          <a:p>
            <a:pPr marL="342900" indent="-342900">
              <a:spcAft>
                <a:spcPts val="800"/>
              </a:spcAft>
              <a:buSzPct val="100000"/>
              <a:buChar char="•"/>
            </a:pPr>
            <a:r>
              <a:rPr lang="en-US" sz="1500" dirty="0">
                <a:solidFill>
                  <a:srgbClr val="1F1A14"/>
                </a:solidFill>
              </a:rPr>
              <a:t>Uneaten food blocks births</a:t>
            </a:r>
            <a:endParaRPr lang="en-US" sz="1500" dirty="0"/>
          </a:p>
          <a:p>
            <a:pPr marL="342900" indent="-342900">
              <a:spcAft>
                <a:spcPts val="800"/>
              </a:spcAft>
              <a:buSzPct val="100000"/>
              <a:buChar char="•"/>
            </a:pPr>
            <a:r>
              <a:rPr lang="en-US" sz="1500" dirty="0">
                <a:solidFill>
                  <a:srgbClr val="1F1A14"/>
                </a:solidFill>
              </a:rPr>
              <a:t>Mutation can add, change or remove any cell</a:t>
            </a:r>
            <a:endParaRPr lang="en-US" sz="1500" dirty="0"/>
          </a:p>
        </p:txBody>
      </p:sp>
      <p:sp>
        <p:nvSpPr>
          <p:cNvPr id="6" name="Shape 4"/>
          <p:cNvSpPr/>
          <p:nvPr/>
        </p:nvSpPr>
        <p:spPr>
          <a:xfrm>
            <a:off x="6217920" y="1280160"/>
            <a:ext cx="5394960" cy="3017520"/>
          </a:xfrm>
          <a:prstGeom prst="roundRect">
            <a:avLst>
              <a:gd name="adj" fmla="val 3636"/>
            </a:avLst>
          </a:prstGeom>
          <a:solidFill>
            <a:srgbClr val="F8ECEC"/>
          </a:solidFill>
          <a:ln w="12700">
            <a:solidFill>
              <a:srgbClr val="F8ECEC"/>
            </a:solidFill>
            <a:prstDash val="solid"/>
          </a:ln>
        </p:spPr>
      </p:sp>
      <p:sp>
        <p:nvSpPr>
          <p:cNvPr id="7" name="Text 5"/>
          <p:cNvSpPr txBox="1"/>
          <p:nvPr/>
        </p:nvSpPr>
        <p:spPr>
          <a:xfrm>
            <a:off x="6492240" y="1463040"/>
            <a:ext cx="4846320" cy="457200"/>
          </a:xfrm>
          <a:prstGeom prst="rect">
            <a:avLst/>
          </a:prstGeom>
          <a:noFill/>
          <a:ln/>
        </p:spPr>
        <p:txBody>
          <a:bodyPr wrap="square" lIns="0" tIns="0" rIns="0" bIns="0" rtlCol="0" anchor="t"/>
          <a:lstStyle/>
          <a:p>
            <a:pPr indent="0" marL="0">
              <a:buNone/>
            </a:pPr>
            <a:r>
              <a:rPr lang="en-US" sz="2000" b="1" dirty="0">
                <a:solidFill>
                  <a:srgbClr val="B23A3A"/>
                </a:solidFill>
                <a:latin typeface="Cambria" pitchFamily="34" charset="0"/>
                <a:ea typeface="Cambria" pitchFamily="34" charset="-122"/>
                <a:cs typeface="Cambria" pitchFamily="34" charset="-120"/>
              </a:rPr>
              <a:t>It cannot do</a:t>
            </a:r>
            <a:endParaRPr lang="en-US" sz="2000" dirty="0"/>
          </a:p>
        </p:txBody>
      </p:sp>
      <p:sp>
        <p:nvSpPr>
          <p:cNvPr id="8" name="Text 6"/>
          <p:cNvSpPr txBox="1"/>
          <p:nvPr/>
        </p:nvSpPr>
        <p:spPr>
          <a:xfrm>
            <a:off x="6492240" y="2011680"/>
            <a:ext cx="484632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1A14"/>
                </a:solidFill>
              </a:rPr>
              <a:t>Starvation: animals only die of age or damage</a:t>
            </a:r>
            <a:endParaRPr lang="en-US" sz="1500" dirty="0"/>
          </a:p>
          <a:p>
            <a:pPr marL="342900" indent="-342900">
              <a:spcAft>
                <a:spcPts val="800"/>
              </a:spcAft>
              <a:buSzPct val="100000"/>
              <a:buChar char="•"/>
            </a:pPr>
            <a:r>
              <a:rPr lang="en-US" sz="1500" dirty="0">
                <a:solidFill>
                  <a:srgbClr val="1F1A14"/>
                </a:solidFill>
              </a:rPr>
              <a:t>Worse food: grass and bush food are identical</a:t>
            </a:r>
            <a:endParaRPr lang="en-US" sz="1500" dirty="0"/>
          </a:p>
          <a:p>
            <a:pPr marL="342900" indent="-342900">
              <a:spcAft>
                <a:spcPts val="800"/>
              </a:spcAft>
              <a:buSzPct val="100000"/>
              <a:buChar char="•"/>
            </a:pPr>
            <a:r>
              <a:rPr lang="en-US" sz="1500" dirty="0">
                <a:solidFill>
                  <a:srgbClr val="1F1A14"/>
                </a:solidFill>
              </a:rPr>
              <a:t>Predator dependence: leopards eat plant food too</a:t>
            </a:r>
            <a:endParaRPr lang="en-US" sz="1500" dirty="0"/>
          </a:p>
          <a:p>
            <a:pPr marL="342900" indent="-342900">
              <a:spcAft>
                <a:spcPts val="800"/>
              </a:spcAft>
              <a:buSzPct val="100000"/>
              <a:buChar char="•"/>
            </a:pPr>
            <a:r>
              <a:rPr lang="en-US" sz="1500" dirty="0">
                <a:solidFill>
                  <a:srgbClr val="1F1A14"/>
                </a:solidFill>
              </a:rPr>
              <a:t>Overgrazing: mouths cannot hurt plants</a:t>
            </a:r>
            <a:endParaRPr lang="en-US" sz="1500" dirty="0"/>
          </a:p>
          <a:p>
            <a:pPr marL="342900" indent="-342900">
              <a:spcAft>
                <a:spcPts val="800"/>
              </a:spcAft>
              <a:buSzPct val="100000"/>
              <a:buChar char="•"/>
            </a:pPr>
            <a:r>
              <a:rPr lang="en-US" sz="1500" dirty="0">
                <a:solidFill>
                  <a:srgbClr val="1F1A14"/>
                </a:solidFill>
              </a:rPr>
              <a:t>Speed: every animal moves one cell per tick</a:t>
            </a:r>
            <a:endParaRPr lang="en-US" sz="1500" dirty="0"/>
          </a:p>
        </p:txBody>
      </p:sp>
      <p:sp>
        <p:nvSpPr>
          <p:cNvPr id="9" name="Text 7"/>
          <p:cNvSpPr txBox="1"/>
          <p:nvPr/>
        </p:nvSpPr>
        <p:spPr>
          <a:xfrm>
            <a:off x="548640" y="4617720"/>
            <a:ext cx="11064240" cy="640080"/>
          </a:xfrm>
          <a:prstGeom prst="rect">
            <a:avLst/>
          </a:prstGeom>
          <a:noFill/>
          <a:ln/>
        </p:spPr>
        <p:txBody>
          <a:bodyPr wrap="square" lIns="0" tIns="0" rIns="0" bIns="0" rtlCol="0" anchor="t"/>
          <a:lstStyle/>
          <a:p>
            <a:pPr indent="0" marL="0">
              <a:buNone/>
            </a:pPr>
            <a:r>
              <a:rPr lang="en-US" sz="1800" b="1" dirty="0">
                <a:solidFill>
                  <a:srgbClr val="3B2F22"/>
                </a:solidFill>
              </a:rPr>
              <a:t>So in the base engine the only road to collapse runs through killer cells, and our grazing hypothesis cannot be tested.</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How we tried to get suicide or failure to adapt</a:t>
            </a:r>
            <a:endParaRPr lang="en-US" sz="3000" dirty="0"/>
          </a:p>
        </p:txBody>
      </p:sp>
      <p:sp>
        <p:nvSpPr>
          <p:cNvPr id="3" name="Shape 1"/>
          <p:cNvSpPr/>
          <p:nvPr/>
        </p:nvSpPr>
        <p:spPr>
          <a:xfrm>
            <a:off x="548640" y="1280160"/>
            <a:ext cx="3520440" cy="2148840"/>
          </a:xfrm>
          <a:prstGeom prst="roundRect">
            <a:avLst>
              <a:gd name="adj" fmla="val 5106"/>
            </a:avLst>
          </a:prstGeom>
          <a:solidFill>
            <a:srgbClr val="F1F3F2"/>
          </a:solidFill>
          <a:ln w="12700">
            <a:solidFill>
              <a:srgbClr val="F1F3F2"/>
            </a:solidFill>
            <a:prstDash val="solid"/>
          </a:ln>
        </p:spPr>
      </p:sp>
      <p:sp>
        <p:nvSpPr>
          <p:cNvPr id="4" name="Shape 2"/>
          <p:cNvSpPr/>
          <p:nvPr/>
        </p:nvSpPr>
        <p:spPr>
          <a:xfrm>
            <a:off x="822960" y="1554480"/>
            <a:ext cx="457200" cy="457200"/>
          </a:xfrm>
          <a:prstGeom prst="ellipse">
            <a:avLst/>
          </a:prstGeom>
          <a:solidFill>
            <a:srgbClr val="D98E04"/>
          </a:solidFill>
          <a:ln w="12700">
            <a:solidFill>
              <a:srgbClr val="D98E04"/>
            </a:solidFill>
            <a:prstDash val="solid"/>
          </a:ln>
        </p:spPr>
      </p:sp>
      <p:sp>
        <p:nvSpPr>
          <p:cNvPr id="5" name="Text 3"/>
          <p:cNvSpPr txBox="1"/>
          <p:nvPr/>
        </p:nvSpPr>
        <p:spPr>
          <a:xfrm>
            <a:off x="82296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822960" y="2148840"/>
            <a:ext cx="301752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Default</a:t>
            </a:r>
            <a:endParaRPr lang="en-US" sz="1800" dirty="0"/>
          </a:p>
        </p:txBody>
      </p:sp>
      <p:sp>
        <p:nvSpPr>
          <p:cNvPr id="7" name="Text 5"/>
          <p:cNvSpPr txBox="1"/>
          <p:nvPr/>
        </p:nvSpPr>
        <p:spPr>
          <a:xfrm>
            <a:off x="822960" y="2560320"/>
            <a:ext cx="3017520" cy="822960"/>
          </a:xfrm>
          <a:prstGeom prst="rect">
            <a:avLst/>
          </a:prstGeom>
          <a:noFill/>
          <a:ln/>
        </p:spPr>
        <p:txBody>
          <a:bodyPr wrap="square" lIns="0" tIns="0" rIns="0" bIns="0" rtlCol="0" anchor="t"/>
          <a:lstStyle/>
          <a:p>
            <a:pPr indent="0" marL="0">
              <a:buNone/>
            </a:pPr>
            <a:r>
              <a:rPr lang="en-US" sz="1300" dirty="0">
                <a:solidFill>
                  <a:srgbClr val="444444"/>
                </a:solidFill>
              </a:rPr>
              <a:t>Original settings as shipped: does anything collapse on its own?</a:t>
            </a:r>
            <a:endParaRPr lang="en-US" sz="1300" dirty="0"/>
          </a:p>
        </p:txBody>
      </p:sp>
      <p:sp>
        <p:nvSpPr>
          <p:cNvPr id="8" name="Shape 6"/>
          <p:cNvSpPr/>
          <p:nvPr/>
        </p:nvSpPr>
        <p:spPr>
          <a:xfrm>
            <a:off x="4297680" y="1280160"/>
            <a:ext cx="3520440" cy="2148840"/>
          </a:xfrm>
          <a:prstGeom prst="roundRect">
            <a:avLst>
              <a:gd name="adj" fmla="val 5106"/>
            </a:avLst>
          </a:prstGeom>
          <a:solidFill>
            <a:srgbClr val="F1F3F2"/>
          </a:solidFill>
          <a:ln w="12700">
            <a:solidFill>
              <a:srgbClr val="F1F3F2"/>
            </a:solidFill>
            <a:prstDash val="solid"/>
          </a:ln>
        </p:spPr>
      </p:sp>
      <p:sp>
        <p:nvSpPr>
          <p:cNvPr id="9" name="Shape 7"/>
          <p:cNvSpPr/>
          <p:nvPr/>
        </p:nvSpPr>
        <p:spPr>
          <a:xfrm>
            <a:off x="4572000" y="1554480"/>
            <a:ext cx="457200" cy="457200"/>
          </a:xfrm>
          <a:prstGeom prst="ellipse">
            <a:avLst/>
          </a:prstGeom>
          <a:solidFill>
            <a:srgbClr val="B23A3A"/>
          </a:solidFill>
          <a:ln w="12700">
            <a:solidFill>
              <a:srgbClr val="B23A3A"/>
            </a:solidFill>
            <a:prstDash val="solid"/>
          </a:ln>
        </p:spPr>
      </p:sp>
      <p:sp>
        <p:nvSpPr>
          <p:cNvPr id="10" name="Text 8"/>
          <p:cNvSpPr txBox="1"/>
          <p:nvPr/>
        </p:nvSpPr>
        <p:spPr>
          <a:xfrm>
            <a:off x="457200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4572000" y="2148840"/>
            <a:ext cx="301752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Plant-kill control</a:t>
            </a:r>
            <a:endParaRPr lang="en-US" sz="1800" dirty="0"/>
          </a:p>
        </p:txBody>
      </p:sp>
      <p:sp>
        <p:nvSpPr>
          <p:cNvPr id="12" name="Text 10"/>
          <p:cNvSpPr txBox="1"/>
          <p:nvPr/>
        </p:nvSpPr>
        <p:spPr>
          <a:xfrm>
            <a:off x="4572000" y="2560320"/>
            <a:ext cx="3017520" cy="822960"/>
          </a:xfrm>
          <a:prstGeom prst="rect">
            <a:avLst/>
          </a:prstGeom>
          <a:noFill/>
          <a:ln/>
        </p:spPr>
        <p:txBody>
          <a:bodyPr wrap="square" lIns="0" tIns="0" rIns="0" bIns="0" rtlCol="0" anchor="t"/>
          <a:lstStyle/>
          <a:p>
            <a:pPr indent="0" marL="0">
              <a:buNone/>
            </a:pPr>
            <a:r>
              <a:rPr lang="en-US" sz="1300" dirty="0">
                <a:solidFill>
                  <a:srgbClr val="444444"/>
                </a:solidFill>
              </a:rPr>
              <a:t>Route 1: zebras start without a killer; insta-kill on. Will a plant-killing trait evolve, spread and destroy the food?</a:t>
            </a:r>
            <a:endParaRPr lang="en-US" sz="1300" dirty="0"/>
          </a:p>
        </p:txBody>
      </p:sp>
      <p:sp>
        <p:nvSpPr>
          <p:cNvPr id="13" name="Shape 11"/>
          <p:cNvSpPr/>
          <p:nvPr/>
        </p:nvSpPr>
        <p:spPr>
          <a:xfrm>
            <a:off x="8046720" y="1280160"/>
            <a:ext cx="3520440" cy="2148840"/>
          </a:xfrm>
          <a:prstGeom prst="roundRect">
            <a:avLst>
              <a:gd name="adj" fmla="val 5106"/>
            </a:avLst>
          </a:prstGeom>
          <a:solidFill>
            <a:srgbClr val="F1F3F2"/>
          </a:solidFill>
          <a:ln w="12700">
            <a:solidFill>
              <a:srgbClr val="F1F3F2"/>
            </a:solidFill>
            <a:prstDash val="solid"/>
          </a:ln>
        </p:spPr>
      </p:sp>
      <p:sp>
        <p:nvSpPr>
          <p:cNvPr id="14" name="Shape 12"/>
          <p:cNvSpPr/>
          <p:nvPr/>
        </p:nvSpPr>
        <p:spPr>
          <a:xfrm>
            <a:off x="8321040" y="1554480"/>
            <a:ext cx="457200" cy="457200"/>
          </a:xfrm>
          <a:prstGeom prst="ellipse">
            <a:avLst/>
          </a:prstGeom>
          <a:solidFill>
            <a:srgbClr val="D98E04"/>
          </a:solidFill>
          <a:ln w="12700">
            <a:solidFill>
              <a:srgbClr val="D98E04"/>
            </a:solidFill>
            <a:prstDash val="solid"/>
          </a:ln>
        </p:spPr>
      </p:sp>
      <p:sp>
        <p:nvSpPr>
          <p:cNvPr id="15" name="Text 13"/>
          <p:cNvSpPr txBox="1"/>
          <p:nvPr/>
        </p:nvSpPr>
        <p:spPr>
          <a:xfrm>
            <a:off x="832104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8321040" y="2148840"/>
            <a:ext cx="301752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Plant-kill, seeded</a:t>
            </a:r>
            <a:endParaRPr lang="en-US" sz="1800" dirty="0"/>
          </a:p>
        </p:txBody>
      </p:sp>
      <p:sp>
        <p:nvSpPr>
          <p:cNvPr id="17" name="Text 15"/>
          <p:cNvSpPr txBox="1"/>
          <p:nvPr/>
        </p:nvSpPr>
        <p:spPr>
          <a:xfrm>
            <a:off x="8321040" y="2560320"/>
            <a:ext cx="3017520" cy="822960"/>
          </a:xfrm>
          <a:prstGeom prst="rect">
            <a:avLst/>
          </a:prstGeom>
          <a:noFill/>
          <a:ln/>
        </p:spPr>
        <p:txBody>
          <a:bodyPr wrap="square" lIns="0" tIns="0" rIns="0" bIns="0" rtlCol="0" anchor="t"/>
          <a:lstStyle/>
          <a:p>
            <a:pPr indent="0" marL="0">
              <a:buNone/>
            </a:pPr>
            <a:r>
              <a:rPr lang="en-US" sz="1300" dirty="0">
                <a:solidFill>
                  <a:srgbClr val="444444"/>
                </a:solidFill>
              </a:rPr>
              <a:t>The same route with the killer given at the start</a:t>
            </a:r>
            <a:endParaRPr lang="en-US" sz="1300" dirty="0"/>
          </a:p>
        </p:txBody>
      </p:sp>
      <p:sp>
        <p:nvSpPr>
          <p:cNvPr id="18" name="Shape 16"/>
          <p:cNvSpPr/>
          <p:nvPr/>
        </p:nvSpPr>
        <p:spPr>
          <a:xfrm>
            <a:off x="548640" y="3657600"/>
            <a:ext cx="3520440" cy="2148840"/>
          </a:xfrm>
          <a:prstGeom prst="roundRect">
            <a:avLst>
              <a:gd name="adj" fmla="val 5106"/>
            </a:avLst>
          </a:prstGeom>
          <a:solidFill>
            <a:srgbClr val="F1F3F2"/>
          </a:solidFill>
          <a:ln w="12700">
            <a:solidFill>
              <a:srgbClr val="F1F3F2"/>
            </a:solidFill>
            <a:prstDash val="solid"/>
          </a:ln>
        </p:spPr>
      </p:sp>
      <p:sp>
        <p:nvSpPr>
          <p:cNvPr id="19" name="Shape 17"/>
          <p:cNvSpPr/>
          <p:nvPr/>
        </p:nvSpPr>
        <p:spPr>
          <a:xfrm>
            <a:off x="822960" y="3931920"/>
            <a:ext cx="457200" cy="457200"/>
          </a:xfrm>
          <a:prstGeom prst="ellipse">
            <a:avLst/>
          </a:prstGeom>
          <a:solidFill>
            <a:srgbClr val="D98E04"/>
          </a:solidFill>
          <a:ln w="12700">
            <a:solidFill>
              <a:srgbClr val="D98E04"/>
            </a:solidFill>
            <a:prstDash val="solid"/>
          </a:ln>
        </p:spPr>
      </p:sp>
      <p:sp>
        <p:nvSpPr>
          <p:cNvPr id="20" name="Text 18"/>
          <p:cNvSpPr txBox="1"/>
          <p:nvPr/>
        </p:nvSpPr>
        <p:spPr>
          <a:xfrm>
            <a:off x="82296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822960" y="4526280"/>
            <a:ext cx="301752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Harsh food</a:t>
            </a:r>
            <a:endParaRPr lang="en-US" sz="1800" dirty="0"/>
          </a:p>
        </p:txBody>
      </p:sp>
      <p:sp>
        <p:nvSpPr>
          <p:cNvPr id="22" name="Text 20"/>
          <p:cNvSpPr txBox="1"/>
          <p:nvPr/>
        </p:nvSpPr>
        <p:spPr>
          <a:xfrm>
            <a:off x="822960" y="4937760"/>
            <a:ext cx="3017520" cy="822960"/>
          </a:xfrm>
          <a:prstGeom prst="rect">
            <a:avLst/>
          </a:prstGeom>
          <a:noFill/>
          <a:ln/>
        </p:spPr>
        <p:txBody>
          <a:bodyPr wrap="square" lIns="0" tIns="0" rIns="0" bIns="0" rtlCol="0" anchor="t"/>
          <a:lstStyle/>
          <a:p>
            <a:pPr indent="0" marL="0">
              <a:buNone/>
            </a:pPr>
            <a:r>
              <a:rPr lang="en-US" sz="1300" dirty="0">
                <a:solidFill>
                  <a:srgbClr val="444444"/>
                </a:solidFill>
              </a:rPr>
              <a:t>Food production 2: does anyone fail, or adapt?</a:t>
            </a:r>
            <a:endParaRPr lang="en-US" sz="1300" dirty="0"/>
          </a:p>
        </p:txBody>
      </p:sp>
      <p:sp>
        <p:nvSpPr>
          <p:cNvPr id="23" name="Shape 21"/>
          <p:cNvSpPr/>
          <p:nvPr/>
        </p:nvSpPr>
        <p:spPr>
          <a:xfrm>
            <a:off x="4297680" y="3657600"/>
            <a:ext cx="3520440" cy="2148840"/>
          </a:xfrm>
          <a:prstGeom prst="roundRect">
            <a:avLst>
              <a:gd name="adj" fmla="val 5106"/>
            </a:avLst>
          </a:prstGeom>
          <a:solidFill>
            <a:srgbClr val="F1F3F2"/>
          </a:solidFill>
          <a:ln w="12700">
            <a:solidFill>
              <a:srgbClr val="F1F3F2"/>
            </a:solidFill>
            <a:prstDash val="solid"/>
          </a:ln>
        </p:spPr>
      </p:sp>
      <p:sp>
        <p:nvSpPr>
          <p:cNvPr id="24" name="Shape 22"/>
          <p:cNvSpPr/>
          <p:nvPr/>
        </p:nvSpPr>
        <p:spPr>
          <a:xfrm>
            <a:off x="4572000" y="3931920"/>
            <a:ext cx="457200" cy="457200"/>
          </a:xfrm>
          <a:prstGeom prst="ellipse">
            <a:avLst/>
          </a:prstGeom>
          <a:solidFill>
            <a:srgbClr val="D98E04"/>
          </a:solidFill>
          <a:ln w="12700">
            <a:solidFill>
              <a:srgbClr val="D98E04"/>
            </a:solidFill>
            <a:prstDash val="solid"/>
          </a:ln>
        </p:spPr>
      </p:sp>
      <p:sp>
        <p:nvSpPr>
          <p:cNvPr id="25" name="Text 23"/>
          <p:cNvSpPr txBox="1"/>
          <p:nvPr/>
        </p:nvSpPr>
        <p:spPr>
          <a:xfrm>
            <a:off x="457200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6" name="Text 24"/>
          <p:cNvSpPr txBox="1"/>
          <p:nvPr/>
        </p:nvSpPr>
        <p:spPr>
          <a:xfrm>
            <a:off x="4572000" y="4526280"/>
            <a:ext cx="301752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No mutation</a:t>
            </a:r>
            <a:endParaRPr lang="en-US" sz="1800" dirty="0"/>
          </a:p>
        </p:txBody>
      </p:sp>
      <p:sp>
        <p:nvSpPr>
          <p:cNvPr id="27" name="Text 25"/>
          <p:cNvSpPr txBox="1"/>
          <p:nvPr/>
        </p:nvSpPr>
        <p:spPr>
          <a:xfrm>
            <a:off x="4572000" y="4937760"/>
            <a:ext cx="3017520" cy="822960"/>
          </a:xfrm>
          <a:prstGeom prst="rect">
            <a:avLst/>
          </a:prstGeom>
          <a:noFill/>
          <a:ln/>
        </p:spPr>
        <p:txBody>
          <a:bodyPr wrap="square" lIns="0" tIns="0" rIns="0" bIns="0" rtlCol="0" anchor="t"/>
          <a:lstStyle/>
          <a:p>
            <a:pPr indent="0" marL="0">
              <a:buNone/>
            </a:pPr>
            <a:r>
              <a:rPr lang="en-US" sz="1300" dirty="0">
                <a:solidFill>
                  <a:srgbClr val="444444"/>
                </a:solidFill>
              </a:rPr>
              <a:t>Food production 2 and no mutation: the failure-to-adapt baseline</a:t>
            </a:r>
            <a:endParaRPr lang="en-US" sz="1300" dirty="0"/>
          </a:p>
        </p:txBody>
      </p:sp>
      <p:sp>
        <p:nvSpPr>
          <p:cNvPr id="28" name="Shape 26"/>
          <p:cNvSpPr/>
          <p:nvPr/>
        </p:nvSpPr>
        <p:spPr>
          <a:xfrm>
            <a:off x="8046720" y="3657600"/>
            <a:ext cx="3520440" cy="2148840"/>
          </a:xfrm>
          <a:prstGeom prst="roundRect">
            <a:avLst>
              <a:gd name="adj" fmla="val 5106"/>
            </a:avLst>
          </a:prstGeom>
          <a:solidFill>
            <a:srgbClr val="F1F3F2"/>
          </a:solidFill>
          <a:ln w="12700">
            <a:solidFill>
              <a:srgbClr val="F1F3F2"/>
            </a:solidFill>
            <a:prstDash val="solid"/>
          </a:ln>
        </p:spPr>
      </p:sp>
      <p:sp>
        <p:nvSpPr>
          <p:cNvPr id="29" name="Shape 27"/>
          <p:cNvSpPr/>
          <p:nvPr/>
        </p:nvSpPr>
        <p:spPr>
          <a:xfrm>
            <a:off x="8321040" y="3931920"/>
            <a:ext cx="457200" cy="457200"/>
          </a:xfrm>
          <a:prstGeom prst="ellipse">
            <a:avLst/>
          </a:prstGeom>
          <a:solidFill>
            <a:srgbClr val="B23A3A"/>
          </a:solidFill>
          <a:ln w="12700">
            <a:solidFill>
              <a:srgbClr val="B23A3A"/>
            </a:solidFill>
            <a:prstDash val="solid"/>
          </a:ln>
        </p:spPr>
      </p:sp>
      <p:sp>
        <p:nvSpPr>
          <p:cNvPr id="30" name="Text 28"/>
          <p:cNvSpPr txBox="1"/>
          <p:nvPr/>
        </p:nvSpPr>
        <p:spPr>
          <a:xfrm>
            <a:off x="83210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1" name="Text 29"/>
          <p:cNvSpPr txBox="1"/>
          <p:nvPr/>
        </p:nvSpPr>
        <p:spPr>
          <a:xfrm>
            <a:off x="8321040" y="4526280"/>
            <a:ext cx="301752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Clogging</a:t>
            </a:r>
            <a:endParaRPr lang="en-US" sz="1800" dirty="0"/>
          </a:p>
        </p:txBody>
      </p:sp>
      <p:sp>
        <p:nvSpPr>
          <p:cNvPr id="32" name="Text 30"/>
          <p:cNvSpPr txBox="1"/>
          <p:nvPr/>
        </p:nvSpPr>
        <p:spPr>
          <a:xfrm>
            <a:off x="8321040" y="4937760"/>
            <a:ext cx="3017520" cy="822960"/>
          </a:xfrm>
          <a:prstGeom prst="rect">
            <a:avLst/>
          </a:prstGeom>
          <a:noFill/>
          <a:ln/>
        </p:spPr>
        <p:txBody>
          <a:bodyPr wrap="square" lIns="0" tIns="0" rIns="0" bIns="0" rtlCol="0" anchor="t"/>
          <a:lstStyle/>
          <a:p>
            <a:pPr indent="0" marL="0">
              <a:buNone/>
            </a:pPr>
            <a:r>
              <a:rPr lang="en-US" sz="1300" dirty="0">
                <a:solidFill>
                  <a:srgbClr val="444444"/>
                </a:solidFill>
              </a:rPr>
              <a:t>Route 2: fast plants, few grazers. Can plants choke on their own food?</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When the killer had to evolve, the herd ate its world</a:t>
            </a:r>
            <a:endParaRPr lang="en-US" sz="3000" dirty="0"/>
          </a:p>
        </p:txBody>
      </p:sp>
      <p:pic>
        <p:nvPicPr>
          <p:cNvPr id="3" name="Image 0" descr="C:/Users/Ashley/Documents/LifeEngine/savanna-experiments/output/figures/timeline-base-suicide.png">    </p:cNvPr>
          <p:cNvPicPr>
            <a:picLocks noChangeAspect="1"/>
          </p:cNvPicPr>
          <p:nvPr/>
        </p:nvPicPr>
        <p:blipFill>
          <a:blip r:embed="rId1"/>
          <a:stretch>
            <a:fillRect/>
          </a:stretch>
        </p:blipFill>
        <p:spPr>
          <a:xfrm>
            <a:off x="548640" y="1188720"/>
            <a:ext cx="8138160" cy="4102324"/>
          </a:xfrm>
          <a:prstGeom prst="rect">
            <a:avLst/>
          </a:prstGeom>
        </p:spPr>
      </p:pic>
      <p:sp>
        <p:nvSpPr>
          <p:cNvPr id="4" name="Text 1"/>
          <p:cNvSpPr txBox="1"/>
          <p:nvPr/>
        </p:nvSpPr>
        <p:spPr>
          <a:xfrm>
            <a:off x="9052560" y="1280160"/>
            <a:ext cx="2651760" cy="731520"/>
          </a:xfrm>
          <a:prstGeom prst="rect">
            <a:avLst/>
          </a:prstGeom>
          <a:noFill/>
          <a:ln/>
        </p:spPr>
        <p:txBody>
          <a:bodyPr wrap="square" lIns="0" tIns="0" rIns="0" bIns="0" rtlCol="0" anchor="t"/>
          <a:lstStyle/>
          <a:p>
            <a:pPr indent="0" marL="0">
              <a:buNone/>
            </a:pPr>
            <a:r>
              <a:rPr lang="en-US" sz="4000" b="1" dirty="0">
                <a:solidFill>
                  <a:srgbClr val="B23A3A"/>
                </a:solidFill>
                <a:latin typeface="Cambria" pitchFamily="34" charset="0"/>
                <a:ea typeface="Cambria" pitchFamily="34" charset="-122"/>
                <a:cs typeface="Cambria" pitchFamily="34" charset="-120"/>
              </a:rPr>
              <a:t>1 of 3</a:t>
            </a:r>
            <a:endParaRPr lang="en-US" sz="4000" dirty="0"/>
          </a:p>
        </p:txBody>
      </p:sp>
      <p:sp>
        <p:nvSpPr>
          <p:cNvPr id="5" name="Text 2"/>
          <p:cNvSpPr txBox="1"/>
          <p:nvPr/>
        </p:nvSpPr>
        <p:spPr>
          <a:xfrm>
            <a:off x="9052560" y="2011680"/>
            <a:ext cx="2651760" cy="548640"/>
          </a:xfrm>
          <a:prstGeom prst="rect">
            <a:avLst/>
          </a:prstGeom>
          <a:noFill/>
          <a:ln/>
        </p:spPr>
        <p:txBody>
          <a:bodyPr wrap="square" lIns="0" tIns="0" rIns="0" bIns="0" rtlCol="0" anchor="t"/>
          <a:lstStyle/>
          <a:p>
            <a:pPr indent="0" marL="0">
              <a:buNone/>
            </a:pPr>
            <a:r>
              <a:rPr lang="en-US" sz="1300" dirty="0">
                <a:solidFill>
                  <a:srgbClr val="444444"/>
                </a:solidFill>
              </a:rPr>
              <a:t>seeds met all four criteria; the other 2 collapsed but kept their grass</a:t>
            </a:r>
            <a:endParaRPr lang="en-US" sz="1300" dirty="0"/>
          </a:p>
        </p:txBody>
      </p:sp>
      <p:sp>
        <p:nvSpPr>
          <p:cNvPr id="6" name="Text 3"/>
          <p:cNvSpPr txBox="1"/>
          <p:nvPr/>
        </p:nvSpPr>
        <p:spPr>
          <a:xfrm>
            <a:off x="9052560" y="2834640"/>
            <a:ext cx="2651760" cy="731520"/>
          </a:xfrm>
          <a:prstGeom prst="rect">
            <a:avLst/>
          </a:prstGeom>
          <a:noFill/>
          <a:ln/>
        </p:spPr>
        <p:txBody>
          <a:bodyPr wrap="square" lIns="0" tIns="0" rIns="0" bIns="0" rtlCol="0" anchor="t"/>
          <a:lstStyle/>
          <a:p>
            <a:pPr indent="0" marL="0">
              <a:buNone/>
            </a:pPr>
            <a:r>
              <a:rPr lang="en-US" sz="4000" b="1" dirty="0">
                <a:solidFill>
                  <a:srgbClr val="1F1A14"/>
                </a:solidFill>
                <a:latin typeface="Cambria" pitchFamily="34" charset="0"/>
                <a:ea typeface="Cambria" pitchFamily="34" charset="-122"/>
                <a:cs typeface="Cambria" pitchFamily="34" charset="-120"/>
              </a:rPr>
              <a:t>528</a:t>
            </a:r>
            <a:endParaRPr lang="en-US" sz="4000" dirty="0"/>
          </a:p>
        </p:txBody>
      </p:sp>
      <p:sp>
        <p:nvSpPr>
          <p:cNvPr id="7" name="Text 4"/>
          <p:cNvSpPr txBox="1"/>
          <p:nvPr/>
        </p:nvSpPr>
        <p:spPr>
          <a:xfrm>
            <a:off x="9052560" y="3566160"/>
            <a:ext cx="2651760" cy="548640"/>
          </a:xfrm>
          <a:prstGeom prst="rect">
            <a:avLst/>
          </a:prstGeom>
          <a:noFill/>
          <a:ln/>
        </p:spPr>
        <p:txBody>
          <a:bodyPr wrap="square" lIns="0" tIns="0" rIns="0" bIns="0" rtlCol="0" anchor="t"/>
          <a:lstStyle/>
          <a:p>
            <a:pPr indent="0" marL="0">
              <a:buNone/>
            </a:pPr>
            <a:r>
              <a:rPr lang="en-US" sz="1300" dirty="0">
                <a:solidFill>
                  <a:srgbClr val="444444"/>
                </a:solidFill>
              </a:rPr>
              <a:t>zebras at the peak, seed 2; killers then on 89-100% of the herd</a:t>
            </a:r>
            <a:endParaRPr lang="en-US" sz="1300" dirty="0"/>
          </a:p>
        </p:txBody>
      </p:sp>
      <p:sp>
        <p:nvSpPr>
          <p:cNvPr id="8" name="Text 5"/>
          <p:cNvSpPr txBox="1"/>
          <p:nvPr/>
        </p:nvSpPr>
        <p:spPr>
          <a:xfrm>
            <a:off x="9052560" y="4389120"/>
            <a:ext cx="2651760" cy="731520"/>
          </a:xfrm>
          <a:prstGeom prst="rect">
            <a:avLst/>
          </a:prstGeom>
          <a:noFill/>
          <a:ln/>
        </p:spPr>
        <p:txBody>
          <a:bodyPr wrap="square" lIns="0" tIns="0" rIns="0" bIns="0" rtlCol="0" anchor="t"/>
          <a:lstStyle/>
          <a:p>
            <a:pPr indent="0" marL="0">
              <a:buNone/>
            </a:pPr>
            <a:r>
              <a:rPr lang="en-US" sz="4000" b="1" dirty="0">
                <a:solidFill>
                  <a:srgbClr val="D98E04"/>
                </a:solidFill>
                <a:latin typeface="Cambria" pitchFamily="34" charset="0"/>
                <a:ea typeface="Cambria" pitchFamily="34" charset="-122"/>
                <a:cs typeface="Cambria" pitchFamily="34" charset="-120"/>
              </a:rPr>
              <a:t>14,005</a:t>
            </a:r>
            <a:endParaRPr lang="en-US" sz="4000" dirty="0"/>
          </a:p>
        </p:txBody>
      </p:sp>
      <p:sp>
        <p:nvSpPr>
          <p:cNvPr id="9" name="Text 6"/>
          <p:cNvSpPr txBox="1"/>
          <p:nvPr/>
        </p:nvSpPr>
        <p:spPr>
          <a:xfrm>
            <a:off x="9052560" y="5120640"/>
            <a:ext cx="2651760" cy="548640"/>
          </a:xfrm>
          <a:prstGeom prst="rect">
            <a:avLst/>
          </a:prstGeom>
          <a:noFill/>
          <a:ln/>
        </p:spPr>
        <p:txBody>
          <a:bodyPr wrap="square" lIns="0" tIns="0" rIns="0" bIns="0" rtlCol="0" anchor="t"/>
          <a:lstStyle/>
          <a:p>
            <a:pPr indent="0" marL="0">
              <a:buNone/>
            </a:pPr>
            <a:r>
              <a:rPr lang="en-US" sz="1300" dirty="0">
                <a:solidFill>
                  <a:srgbClr val="444444"/>
                </a:solidFill>
              </a:rPr>
              <a:t>tick the last zebra died; the last grass went at 11,700</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With the kick seeded, zebras destroyed their own world</a:t>
            </a:r>
            <a:endParaRPr lang="en-US" sz="3000" dirty="0"/>
          </a:p>
        </p:txBody>
      </p:sp>
      <p:pic>
        <p:nvPicPr>
          <p:cNvPr id="3" name="Image 0" descr="C:/Users/Ashley/Documents/LifeEngine/savanna-experiments/output/figures/base-zebra-deaths.png">    </p:cNvPr>
          <p:cNvPicPr>
            <a:picLocks noChangeAspect="1"/>
          </p:cNvPicPr>
          <p:nvPr/>
        </p:nvPicPr>
        <p:blipFill>
          <a:blip r:embed="rId1"/>
          <a:stretch>
            <a:fillRect/>
          </a:stretch>
        </p:blipFill>
        <p:spPr>
          <a:xfrm>
            <a:off x="548640" y="1234440"/>
            <a:ext cx="6949440" cy="2779776"/>
          </a:xfrm>
          <a:prstGeom prst="rect">
            <a:avLst/>
          </a:prstGeom>
        </p:spPr>
      </p:pic>
      <p:sp>
        <p:nvSpPr>
          <p:cNvPr id="4" name="Text 1"/>
          <p:cNvSpPr txBox="1"/>
          <p:nvPr/>
        </p:nvSpPr>
        <p:spPr>
          <a:xfrm>
            <a:off x="7955280" y="1280160"/>
            <a:ext cx="3657600" cy="731520"/>
          </a:xfrm>
          <a:prstGeom prst="rect">
            <a:avLst/>
          </a:prstGeom>
          <a:noFill/>
          <a:ln/>
        </p:spPr>
        <p:txBody>
          <a:bodyPr wrap="square" lIns="0" tIns="0" rIns="0" bIns="0" rtlCol="0" anchor="t"/>
          <a:lstStyle/>
          <a:p>
            <a:pPr indent="0" marL="0">
              <a:buNone/>
            </a:pPr>
            <a:r>
              <a:rPr lang="en-US" sz="4000" b="1" dirty="0">
                <a:solidFill>
                  <a:srgbClr val="B23A3A"/>
                </a:solidFill>
                <a:latin typeface="Cambria" pitchFamily="34" charset="0"/>
                <a:ea typeface="Cambria" pitchFamily="34" charset="-122"/>
                <a:cs typeface="Cambria" pitchFamily="34" charset="-120"/>
              </a:rPr>
              <a:t>81-97%</a:t>
            </a:r>
            <a:endParaRPr lang="en-US" sz="4000" dirty="0"/>
          </a:p>
        </p:txBody>
      </p:sp>
      <p:sp>
        <p:nvSpPr>
          <p:cNvPr id="5" name="Text 2"/>
          <p:cNvSpPr txBox="1"/>
          <p:nvPr/>
        </p:nvSpPr>
        <p:spPr>
          <a:xfrm>
            <a:off x="7955280" y="2011680"/>
            <a:ext cx="3657600" cy="548640"/>
          </a:xfrm>
          <a:prstGeom prst="rect">
            <a:avLst/>
          </a:prstGeom>
          <a:noFill/>
          <a:ln/>
        </p:spPr>
        <p:txBody>
          <a:bodyPr wrap="square" lIns="0" tIns="0" rIns="0" bIns="0" rtlCol="0" anchor="t"/>
          <a:lstStyle/>
          <a:p>
            <a:pPr indent="0" marL="0">
              <a:buNone/>
            </a:pPr>
            <a:r>
              <a:rPr lang="en-US" sz="1300" dirty="0">
                <a:solidFill>
                  <a:srgbClr val="444444"/>
                </a:solidFill>
              </a:rPr>
              <a:t>of zebra deaths caused by other zebras' kicks (leopards 0-10%)</a:t>
            </a:r>
            <a:endParaRPr lang="en-US" sz="1300" dirty="0"/>
          </a:p>
        </p:txBody>
      </p:sp>
      <p:sp>
        <p:nvSpPr>
          <p:cNvPr id="6" name="Text 3"/>
          <p:cNvSpPr txBox="1"/>
          <p:nvPr/>
        </p:nvSpPr>
        <p:spPr>
          <a:xfrm>
            <a:off x="7955280" y="2834640"/>
            <a:ext cx="3657600" cy="731520"/>
          </a:xfrm>
          <a:prstGeom prst="rect">
            <a:avLst/>
          </a:prstGeom>
          <a:noFill/>
          <a:ln/>
        </p:spPr>
        <p:txBody>
          <a:bodyPr wrap="square" lIns="0" tIns="0" rIns="0" bIns="0" rtlCol="0" anchor="t"/>
          <a:lstStyle/>
          <a:p>
            <a:pPr indent="0" marL="0">
              <a:buNone/>
            </a:pPr>
            <a:r>
              <a:rPr lang="en-US" sz="4000" b="1" dirty="0">
                <a:solidFill>
                  <a:srgbClr val="4E7D32"/>
                </a:solidFill>
                <a:latin typeface="Cambria" pitchFamily="34" charset="0"/>
                <a:ea typeface="Cambria" pitchFamily="34" charset="-122"/>
                <a:cs typeface="Cambria" pitchFamily="34" charset="-120"/>
              </a:rPr>
              <a:t>tick 6,100</a:t>
            </a:r>
            <a:endParaRPr lang="en-US" sz="4000" dirty="0"/>
          </a:p>
        </p:txBody>
      </p:sp>
      <p:sp>
        <p:nvSpPr>
          <p:cNvPr id="7" name="Text 4"/>
          <p:cNvSpPr txBox="1"/>
          <p:nvPr/>
        </p:nvSpPr>
        <p:spPr>
          <a:xfrm>
            <a:off x="7955280" y="3566160"/>
            <a:ext cx="3657600" cy="548640"/>
          </a:xfrm>
          <a:prstGeom prst="rect">
            <a:avLst/>
          </a:prstGeom>
          <a:noFill/>
          <a:ln/>
        </p:spPr>
        <p:txBody>
          <a:bodyPr wrap="square" lIns="0" tIns="0" rIns="0" bIns="0" rtlCol="0" anchor="t"/>
          <a:lstStyle/>
          <a:p>
            <a:pPr indent="0" marL="0">
              <a:buNone/>
            </a:pPr>
            <a:r>
              <a:rPr lang="en-US" sz="1300" dirty="0">
                <a:solidFill>
                  <a:srgbClr val="444444"/>
                </a:solidFill>
              </a:rPr>
              <a:t>latest point by which all grass was gone; bushes by 1,500</a:t>
            </a:r>
            <a:endParaRPr lang="en-US" sz="1300" dirty="0"/>
          </a:p>
        </p:txBody>
      </p:sp>
      <p:sp>
        <p:nvSpPr>
          <p:cNvPr id="8" name="Text 5"/>
          <p:cNvSpPr txBox="1"/>
          <p:nvPr/>
        </p:nvSpPr>
        <p:spPr>
          <a:xfrm>
            <a:off x="7955280" y="4389120"/>
            <a:ext cx="3657600" cy="731520"/>
          </a:xfrm>
          <a:prstGeom prst="rect">
            <a:avLst/>
          </a:prstGeom>
          <a:noFill/>
          <a:ln/>
        </p:spPr>
        <p:txBody>
          <a:bodyPr wrap="square" lIns="0" tIns="0" rIns="0" bIns="0" rtlCol="0" anchor="t"/>
          <a:lstStyle/>
          <a:p>
            <a:pPr indent="0" marL="0">
              <a:buNone/>
            </a:pPr>
            <a:r>
              <a:rPr lang="en-US" sz="4000" b="1" dirty="0">
                <a:solidFill>
                  <a:srgbClr val="1F1A14"/>
                </a:solidFill>
                <a:latin typeface="Cambria" pitchFamily="34" charset="0"/>
                <a:ea typeface="Cambria" pitchFamily="34" charset="-122"/>
                <a:cs typeface="Cambria" pitchFamily="34" charset="-120"/>
              </a:rPr>
              <a:t>tick 8,000</a:t>
            </a:r>
            <a:endParaRPr lang="en-US" sz="4000" dirty="0"/>
          </a:p>
        </p:txBody>
      </p:sp>
      <p:sp>
        <p:nvSpPr>
          <p:cNvPr id="9" name="Text 6"/>
          <p:cNvSpPr txBox="1"/>
          <p:nvPr/>
        </p:nvSpPr>
        <p:spPr>
          <a:xfrm>
            <a:off x="7955280" y="5120640"/>
            <a:ext cx="3657600" cy="548640"/>
          </a:xfrm>
          <a:prstGeom prst="rect">
            <a:avLst/>
          </a:prstGeom>
          <a:noFill/>
          <a:ln/>
        </p:spPr>
        <p:txBody>
          <a:bodyPr wrap="square" lIns="0" tIns="0" rIns="0" bIns="0" rtlCol="0" anchor="t"/>
          <a:lstStyle/>
          <a:p>
            <a:pPr indent="0" marL="0">
              <a:buNone/>
            </a:pPr>
            <a:r>
              <a:rPr lang="en-US" sz="1300" dirty="0">
                <a:solidFill>
                  <a:srgbClr val="444444"/>
                </a:solidFill>
              </a:rPr>
              <a:t>latest zebra extinction in every condition with the kick</a:t>
            </a:r>
            <a:endParaRPr lang="en-US" sz="1300" dirty="0"/>
          </a:p>
        </p:txBody>
      </p:sp>
      <p:sp>
        <p:nvSpPr>
          <p:cNvPr id="10" name="Text 7"/>
          <p:cNvSpPr txBox="1"/>
          <p:nvPr/>
        </p:nvSpPr>
        <p:spPr>
          <a:xfrm>
            <a:off x="548640" y="4206240"/>
            <a:ext cx="6949440" cy="731520"/>
          </a:xfrm>
          <a:prstGeom prst="rect">
            <a:avLst/>
          </a:prstGeom>
          <a:noFill/>
          <a:ln/>
        </p:spPr>
        <p:txBody>
          <a:bodyPr wrap="square" lIns="0" tIns="0" rIns="0" bIns="0" rtlCol="0" anchor="t"/>
          <a:lstStyle/>
          <a:p>
            <a:pPr indent="0" marL="0">
              <a:buNone/>
            </a:pPr>
            <a:r>
              <a:rPr lang="en-US" sz="1500" b="1" dirty="0">
                <a:solidFill>
                  <a:srgbClr val="3B2F22"/>
                </a:solidFill>
              </a:rPr>
              <a:t>The kick was given, not evolved, so this is a self-destroying design, not evolutionary suicide.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Base engine verdict, and why we had to change it</a:t>
            </a:r>
            <a:endParaRPr lang="en-US" sz="3000" dirty="0"/>
          </a:p>
        </p:txBody>
      </p:sp>
      <p:graphicFrame>
        <p:nvGraphicFramePr>
          <p:cNvPr id="3" name="Chart 0" descr=""/>
          <p:cNvGraphicFramePr/>
          <p:nvPr/>
        </p:nvGraphicFramePr>
        <p:xfrm>
          <a:off x="548640" y="123444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371600"/>
            <a:ext cx="4114800" cy="4754880"/>
          </a:xfrm>
          <a:prstGeom prst="rect">
            <a:avLst/>
          </a:prstGeom>
          <a:noFill/>
          <a:ln/>
        </p:spPr>
        <p:txBody>
          <a:bodyPr wrap="square" lIns="0" tIns="0" rIns="0" bIns="0" rtlCol="0" anchor="t"/>
          <a:lstStyle/>
          <a:p>
            <a:pPr indent="0" marL="0">
              <a:buNone/>
            </a:pPr>
            <a:r>
              <a:rPr lang="en-US" sz="1400" b="1" dirty="0">
                <a:solidFill>
                  <a:srgbClr val="1F1A14"/>
                </a:solidFill>
              </a:rPr>
              <a:t>Suicide: </a:t>
            </a:r>
            <a:pPr indent="0" marL="0">
              <a:buNone/>
            </a:pPr>
            <a:r>
              <a:rPr lang="en-US" sz="1400" dirty="0">
                <a:solidFill>
                  <a:srgbClr val="1F1A14"/>
                </a:solidFill>
              </a:rPr>
              <a:t>yes, once, when the killer evolved</a:t>
            </a:r>
            <a:endParaRPr lang="en-US" sz="1400" dirty="0"/>
          </a:p>
          <a:p>
            <a:pPr indent="0" marL="0">
              <a:buNone/>
            </a:pPr>
            <a:r>
              <a:rPr lang="en-US" sz="1400" dirty="0">
                <a:solidFill>
                  <a:srgbClr val="1F1A14"/>
                </a:solidFill>
              </a:rPr>
              <a:t> </a:t>
            </a:r>
            <a:endParaRPr lang="en-US" sz="1400" dirty="0"/>
          </a:p>
          <a:p>
            <a:pPr indent="0" marL="0">
              <a:buNone/>
            </a:pPr>
            <a:r>
              <a:rPr lang="en-US" sz="1400" b="1" dirty="0">
                <a:solidFill>
                  <a:srgbClr val="1F1A14"/>
                </a:solidFill>
              </a:rPr>
              <a:t>Failure to adapt: </a:t>
            </a:r>
            <a:pPr indent="0" marL="0">
              <a:buNone/>
            </a:pPr>
            <a:r>
              <a:rPr lang="en-US" sz="1400" dirty="0">
                <a:solidFill>
                  <a:srgbClr val="1F1A14"/>
                </a:solidFill>
              </a:rPr>
              <a:t>zebras with no mutation; leopards in every condition (no speed advantage), extinct by tick 1,300</a:t>
            </a:r>
            <a:endParaRPr lang="en-US" sz="1400" dirty="0"/>
          </a:p>
          <a:p>
            <a:pPr indent="0" marL="0">
              <a:buNone/>
            </a:pPr>
            <a:r>
              <a:rPr lang="en-US" sz="1400" dirty="0">
                <a:solidFill>
                  <a:srgbClr val="1F1A14"/>
                </a:solidFill>
              </a:rPr>
              <a:t> </a:t>
            </a:r>
            <a:endParaRPr lang="en-US" sz="1400" dirty="0"/>
          </a:p>
          <a:p>
            <a:pPr indent="0" marL="0">
              <a:buNone/>
            </a:pPr>
            <a:r>
              <a:rPr lang="en-US" sz="1400" b="1" dirty="0">
                <a:solidFill>
                  <a:srgbClr val="1F1A14"/>
                </a:solidFill>
              </a:rPr>
              <a:t>Clogging failed: </a:t>
            </a:r>
            <a:pPr indent="0" marL="0">
              <a:buNone/>
            </a:pPr>
            <a:r>
              <a:rPr lang="en-US" sz="1400" dirty="0">
                <a:solidFill>
                  <a:srgbClr val="1F1A14"/>
                </a:solidFill>
              </a:rPr>
              <a:t>grass never choked; the zebras kicked each other to death first</a:t>
            </a:r>
            <a:endParaRPr lang="en-US" sz="1400" dirty="0"/>
          </a:p>
          <a:p>
            <a:pPr indent="0" marL="0">
              <a:buNone/>
            </a:pPr>
            <a:r>
              <a:rPr lang="en-US" sz="1400" dirty="0">
                <a:solidFill>
                  <a:srgbClr val="1F1A14"/>
                </a:solidFill>
              </a:rPr>
              <a:t> </a:t>
            </a:r>
            <a:endParaRPr lang="en-US" sz="1400" dirty="0"/>
          </a:p>
          <a:p>
            <a:pPr indent="0" marL="0">
              <a:buNone/>
            </a:pPr>
            <a:r>
              <a:rPr lang="en-US" sz="1400" b="1" dirty="0">
                <a:solidFill>
                  <a:srgbClr val="1F1A14"/>
                </a:solidFill>
              </a:rPr>
              <a:t>Why change the engine: </a:t>
            </a:r>
            <a:pPr indent="0" marL="0">
              <a:buNone/>
            </a:pPr>
            <a:r>
              <a:rPr lang="en-US" sz="1400" dirty="0">
                <a:solidFill>
                  <a:srgbClr val="1F1A14"/>
                </a:solidFill>
              </a:rPr>
              <a:t>the base engine can only collapse through killers. To test overgrazing we needed grazing, worse food, hunger and real predators</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10881360" cy="1188720"/>
          </a:xfrm>
          <a:prstGeom prst="rect">
            <a:avLst/>
          </a:prstGeom>
          <a:noFill/>
          <a:ln/>
        </p:spPr>
        <p:txBody>
          <a:bodyPr wrap="square" rtlCol="0"/>
          <a:lstStyle/>
          <a:p>
            <a:pPr algn="l" indent="0" marL="0">
              <a:buNone/>
            </a:pPr>
            <a:r>
              <a:rPr lang="en-US" sz="4000" b="1" dirty="0">
                <a:solidFill>
                  <a:schemeClr val="bg1"/>
                </a:solidFill>
              </a:rPr>
              <a:t>Part 2: what we changed</a:t>
            </a:r>
            <a:endParaRPr lang="en-US" sz="4000" dirty="0"/>
          </a:p>
        </p:txBody>
      </p:sp>
      <p:sp>
        <p:nvSpPr>
          <p:cNvPr id="3" name="Text 0"/>
          <p:cNvSpPr/>
          <p:nvPr>
            <p:ph idx="101" type="body" hasCustomPrompt="1"/>
          </p:nvPr>
        </p:nvSpPr>
        <p:spPr>
          <a:xfrm>
            <a:off x="640080" y="3566160"/>
            <a:ext cx="10881360" cy="1097280"/>
          </a:xfrm>
          <a:prstGeom prst="rect">
            <a:avLst/>
          </a:prstGeom>
          <a:noFill/>
          <a:ln/>
        </p:spPr>
        <p:txBody>
          <a:bodyPr wrap="square" rtlCol="0"/>
          <a:lstStyle/>
          <a:p>
            <a:pPr indent="0" marL="0">
              <a:buNone/>
            </a:pPr>
            <a:r>
              <a:rPr lang="en-US" sz="2000" dirty="0">
                <a:solidFill>
                  <a:schemeClr val="accent1"/>
                </a:solidFill>
              </a:rPr>
              <a:t>Each change answers a base-engine limit and adds an escape. All default to off.</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Each change answers a base-engine limit</a:t>
            </a:r>
            <a:endParaRPr lang="en-US" sz="3000" dirty="0"/>
          </a:p>
        </p:txBody>
      </p:sp>
      <p:sp>
        <p:nvSpPr>
          <p:cNvPr id="3" name="Shape 1"/>
          <p:cNvSpPr/>
          <p:nvPr/>
        </p:nvSpPr>
        <p:spPr>
          <a:xfrm>
            <a:off x="548640" y="1234440"/>
            <a:ext cx="4754880" cy="548640"/>
          </a:xfrm>
          <a:prstGeom prst="roundRect">
            <a:avLst>
              <a:gd name="adj" fmla="val 20000"/>
            </a:avLst>
          </a:prstGeom>
          <a:solidFill>
            <a:srgbClr val="F8ECEC"/>
          </a:solidFill>
          <a:ln w="12700">
            <a:solidFill>
              <a:srgbClr val="F8ECEC"/>
            </a:solidFill>
            <a:prstDash val="solid"/>
          </a:ln>
        </p:spPr>
      </p:sp>
      <p:sp>
        <p:nvSpPr>
          <p:cNvPr id="4" name="Text 2"/>
          <p:cNvSpPr txBox="1"/>
          <p:nvPr/>
        </p:nvSpPr>
        <p:spPr>
          <a:xfrm>
            <a:off x="731520" y="1353312"/>
            <a:ext cx="4480560" cy="365760"/>
          </a:xfrm>
          <a:prstGeom prst="rect">
            <a:avLst/>
          </a:prstGeom>
          <a:noFill/>
          <a:ln/>
        </p:spPr>
        <p:txBody>
          <a:bodyPr wrap="square" lIns="0" tIns="0" rIns="0" bIns="0" rtlCol="0" anchor="t"/>
          <a:lstStyle/>
          <a:p>
            <a:pPr indent="0" marL="0">
              <a:buNone/>
            </a:pPr>
            <a:r>
              <a:rPr lang="en-US" sz="1400" dirty="0">
                <a:solidFill>
                  <a:srgbClr val="1F1A14"/>
                </a:solidFill>
              </a:rPr>
              <a:t>Mouths cannot hurt plants</a:t>
            </a:r>
            <a:endParaRPr lang="en-US" sz="1400" dirty="0"/>
          </a:p>
        </p:txBody>
      </p:sp>
      <p:sp>
        <p:nvSpPr>
          <p:cNvPr id="5" name="Text 3"/>
          <p:cNvSpPr txBox="1"/>
          <p:nvPr/>
        </p:nvSpPr>
        <p:spPr>
          <a:xfrm>
            <a:off x="5394960" y="1307592"/>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6" name="Shape 4"/>
          <p:cNvSpPr/>
          <p:nvPr/>
        </p:nvSpPr>
        <p:spPr>
          <a:xfrm>
            <a:off x="5943600" y="1234440"/>
            <a:ext cx="5669280" cy="548640"/>
          </a:xfrm>
          <a:prstGeom prst="roundRect">
            <a:avLst>
              <a:gd name="adj" fmla="val 20000"/>
            </a:avLst>
          </a:prstGeom>
          <a:solidFill>
            <a:srgbClr val="EEF5EA"/>
          </a:solidFill>
          <a:ln w="12700">
            <a:solidFill>
              <a:srgbClr val="EEF5EA"/>
            </a:solidFill>
            <a:prstDash val="solid"/>
          </a:ln>
        </p:spPr>
      </p:sp>
      <p:sp>
        <p:nvSpPr>
          <p:cNvPr id="7" name="Text 5"/>
          <p:cNvSpPr txBox="1"/>
          <p:nvPr/>
        </p:nvSpPr>
        <p:spPr>
          <a:xfrm>
            <a:off x="6126480" y="1353312"/>
            <a:ext cx="5394960" cy="365760"/>
          </a:xfrm>
          <a:prstGeom prst="rect">
            <a:avLst/>
          </a:prstGeom>
          <a:noFill/>
          <a:ln/>
        </p:spPr>
        <p:txBody>
          <a:bodyPr wrap="square" lIns="0" tIns="0" rIns="0" bIns="0" rtlCol="0" anchor="t"/>
          <a:lstStyle/>
          <a:p>
            <a:pPr indent="0" marL="0">
              <a:buNone/>
            </a:pPr>
            <a:r>
              <a:rPr lang="en-US" sz="1400" dirty="0">
                <a:solidFill>
                  <a:srgbClr val="1F1A14"/>
                </a:solidFill>
              </a:rPr>
              <a:t>Grazing damages grass plants</a:t>
            </a:r>
            <a:endParaRPr lang="en-US" sz="1400" dirty="0"/>
          </a:p>
        </p:txBody>
      </p:sp>
      <p:sp>
        <p:nvSpPr>
          <p:cNvPr id="8" name="Shape 6"/>
          <p:cNvSpPr/>
          <p:nvPr/>
        </p:nvSpPr>
        <p:spPr>
          <a:xfrm>
            <a:off x="548640" y="1892808"/>
            <a:ext cx="4754880" cy="548640"/>
          </a:xfrm>
          <a:prstGeom prst="roundRect">
            <a:avLst>
              <a:gd name="adj" fmla="val 20000"/>
            </a:avLst>
          </a:prstGeom>
          <a:solidFill>
            <a:srgbClr val="F8ECEC"/>
          </a:solidFill>
          <a:ln w="12700">
            <a:solidFill>
              <a:srgbClr val="F8ECEC"/>
            </a:solidFill>
            <a:prstDash val="solid"/>
          </a:ln>
        </p:spPr>
      </p:sp>
      <p:sp>
        <p:nvSpPr>
          <p:cNvPr id="9" name="Text 7"/>
          <p:cNvSpPr txBox="1"/>
          <p:nvPr/>
        </p:nvSpPr>
        <p:spPr>
          <a:xfrm>
            <a:off x="731520" y="2011680"/>
            <a:ext cx="4480560" cy="365760"/>
          </a:xfrm>
          <a:prstGeom prst="rect">
            <a:avLst/>
          </a:prstGeom>
          <a:noFill/>
          <a:ln/>
        </p:spPr>
        <p:txBody>
          <a:bodyPr wrap="square" lIns="0" tIns="0" rIns="0" bIns="0" rtlCol="0" anchor="t"/>
          <a:lstStyle/>
          <a:p>
            <a:pPr indent="0" marL="0">
              <a:buNone/>
            </a:pPr>
            <a:r>
              <a:rPr lang="en-US" sz="1400" dirty="0">
                <a:solidFill>
                  <a:srgbClr val="1F1A14"/>
                </a:solidFill>
              </a:rPr>
              <a:t>Grass and bush food identical</a:t>
            </a:r>
            <a:endParaRPr lang="en-US" sz="1400" dirty="0"/>
          </a:p>
        </p:txBody>
      </p:sp>
      <p:sp>
        <p:nvSpPr>
          <p:cNvPr id="10" name="Text 8"/>
          <p:cNvSpPr txBox="1"/>
          <p:nvPr/>
        </p:nvSpPr>
        <p:spPr>
          <a:xfrm>
            <a:off x="5394960" y="1965960"/>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11" name="Shape 9"/>
          <p:cNvSpPr/>
          <p:nvPr/>
        </p:nvSpPr>
        <p:spPr>
          <a:xfrm>
            <a:off x="5943600" y="1892808"/>
            <a:ext cx="5669280" cy="548640"/>
          </a:xfrm>
          <a:prstGeom prst="roundRect">
            <a:avLst>
              <a:gd name="adj" fmla="val 20000"/>
            </a:avLst>
          </a:prstGeom>
          <a:solidFill>
            <a:srgbClr val="EEF5EA"/>
          </a:solidFill>
          <a:ln w="12700">
            <a:solidFill>
              <a:srgbClr val="EEF5EA"/>
            </a:solidFill>
            <a:prstDash val="solid"/>
          </a:ln>
        </p:spPr>
      </p:sp>
      <p:sp>
        <p:nvSpPr>
          <p:cNvPr id="12" name="Text 10"/>
          <p:cNvSpPr txBox="1"/>
          <p:nvPr/>
        </p:nvSpPr>
        <p:spPr>
          <a:xfrm>
            <a:off x="6126480" y="2011680"/>
            <a:ext cx="5394960" cy="365760"/>
          </a:xfrm>
          <a:prstGeom prst="rect">
            <a:avLst/>
          </a:prstGeom>
          <a:noFill/>
          <a:ln/>
        </p:spPr>
        <p:txBody>
          <a:bodyPr wrap="square" lIns="0" tIns="0" rIns="0" bIns="0" rtlCol="0" anchor="t"/>
          <a:lstStyle/>
          <a:p>
            <a:pPr indent="0" marL="0">
              <a:buNone/>
            </a:pPr>
            <a:r>
              <a:rPr lang="en-US" sz="1400" dirty="0">
                <a:solidFill>
                  <a:srgbClr val="1F1A14"/>
                </a:solidFill>
              </a:rPr>
              <a:t>Bush browse worth 0.35 of grass</a:t>
            </a:r>
            <a:endParaRPr lang="en-US" sz="1400" dirty="0"/>
          </a:p>
        </p:txBody>
      </p:sp>
      <p:sp>
        <p:nvSpPr>
          <p:cNvPr id="13" name="Shape 11"/>
          <p:cNvSpPr/>
          <p:nvPr/>
        </p:nvSpPr>
        <p:spPr>
          <a:xfrm>
            <a:off x="548640" y="2551176"/>
            <a:ext cx="4754880" cy="548640"/>
          </a:xfrm>
          <a:prstGeom prst="roundRect">
            <a:avLst>
              <a:gd name="adj" fmla="val 20000"/>
            </a:avLst>
          </a:prstGeom>
          <a:solidFill>
            <a:srgbClr val="F8ECEC"/>
          </a:solidFill>
          <a:ln w="12700">
            <a:solidFill>
              <a:srgbClr val="F8ECEC"/>
            </a:solidFill>
            <a:prstDash val="solid"/>
          </a:ln>
        </p:spPr>
      </p:sp>
      <p:sp>
        <p:nvSpPr>
          <p:cNvPr id="14" name="Text 12"/>
          <p:cNvSpPr txBox="1"/>
          <p:nvPr/>
        </p:nvSpPr>
        <p:spPr>
          <a:xfrm>
            <a:off x="731520" y="2670048"/>
            <a:ext cx="4480560" cy="365760"/>
          </a:xfrm>
          <a:prstGeom prst="rect">
            <a:avLst/>
          </a:prstGeom>
          <a:noFill/>
          <a:ln/>
        </p:spPr>
        <p:txBody>
          <a:bodyPr wrap="square" lIns="0" tIns="0" rIns="0" bIns="0" rtlCol="0" anchor="t"/>
          <a:lstStyle/>
          <a:p>
            <a:pPr indent="0" marL="0">
              <a:buNone/>
            </a:pPr>
            <a:r>
              <a:rPr lang="en-US" sz="1400" dirty="0">
                <a:solidFill>
                  <a:srgbClr val="1F1A14"/>
                </a:solidFill>
              </a:rPr>
              <a:t>Nothing starves</a:t>
            </a:r>
            <a:endParaRPr lang="en-US" sz="1400" dirty="0"/>
          </a:p>
        </p:txBody>
      </p:sp>
      <p:sp>
        <p:nvSpPr>
          <p:cNvPr id="15" name="Text 13"/>
          <p:cNvSpPr txBox="1"/>
          <p:nvPr/>
        </p:nvSpPr>
        <p:spPr>
          <a:xfrm>
            <a:off x="5394960" y="2624328"/>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16" name="Shape 14"/>
          <p:cNvSpPr/>
          <p:nvPr/>
        </p:nvSpPr>
        <p:spPr>
          <a:xfrm>
            <a:off x="5943600" y="2551176"/>
            <a:ext cx="5669280" cy="548640"/>
          </a:xfrm>
          <a:prstGeom prst="roundRect">
            <a:avLst>
              <a:gd name="adj" fmla="val 20000"/>
            </a:avLst>
          </a:prstGeom>
          <a:solidFill>
            <a:srgbClr val="EEF5EA"/>
          </a:solidFill>
          <a:ln w="12700">
            <a:solidFill>
              <a:srgbClr val="EEF5EA"/>
            </a:solidFill>
            <a:prstDash val="solid"/>
          </a:ln>
        </p:spPr>
      </p:sp>
      <p:sp>
        <p:nvSpPr>
          <p:cNvPr id="17" name="Text 15"/>
          <p:cNvSpPr txBox="1"/>
          <p:nvPr/>
        </p:nvSpPr>
        <p:spPr>
          <a:xfrm>
            <a:off x="6126480" y="2670048"/>
            <a:ext cx="5394960" cy="365760"/>
          </a:xfrm>
          <a:prstGeom prst="rect">
            <a:avLst/>
          </a:prstGeom>
          <a:noFill/>
          <a:ln/>
        </p:spPr>
        <p:txBody>
          <a:bodyPr wrap="square" lIns="0" tIns="0" rIns="0" bIns="0" rtlCol="0" anchor="t"/>
          <a:lstStyle/>
          <a:p>
            <a:pPr indent="0" marL="0">
              <a:buNone/>
            </a:pPr>
            <a:r>
              <a:rPr lang="en-US" sz="1400" dirty="0">
                <a:solidFill>
                  <a:srgbClr val="1F1A14"/>
                </a:solidFill>
              </a:rPr>
              <a:t>Hunger: 1 food per 80 ticks, 10 misses and it dies</a:t>
            </a:r>
            <a:endParaRPr lang="en-US" sz="1400" dirty="0"/>
          </a:p>
        </p:txBody>
      </p:sp>
      <p:sp>
        <p:nvSpPr>
          <p:cNvPr id="18" name="Shape 16"/>
          <p:cNvSpPr/>
          <p:nvPr/>
        </p:nvSpPr>
        <p:spPr>
          <a:xfrm>
            <a:off x="548640" y="3209544"/>
            <a:ext cx="4754880" cy="548640"/>
          </a:xfrm>
          <a:prstGeom prst="roundRect">
            <a:avLst>
              <a:gd name="adj" fmla="val 20000"/>
            </a:avLst>
          </a:prstGeom>
          <a:solidFill>
            <a:srgbClr val="F8ECEC"/>
          </a:solidFill>
          <a:ln w="12700">
            <a:solidFill>
              <a:srgbClr val="F8ECEC"/>
            </a:solidFill>
            <a:prstDash val="solid"/>
          </a:ln>
        </p:spPr>
      </p:sp>
      <p:sp>
        <p:nvSpPr>
          <p:cNvPr id="19" name="Text 17"/>
          <p:cNvSpPr txBox="1"/>
          <p:nvPr/>
        </p:nvSpPr>
        <p:spPr>
          <a:xfrm>
            <a:off x="731520" y="3328416"/>
            <a:ext cx="4480560" cy="365760"/>
          </a:xfrm>
          <a:prstGeom prst="rect">
            <a:avLst/>
          </a:prstGeom>
          <a:noFill/>
          <a:ln/>
        </p:spPr>
        <p:txBody>
          <a:bodyPr wrap="square" lIns="0" tIns="0" rIns="0" bIns="0" rtlCol="0" anchor="t"/>
          <a:lstStyle/>
          <a:p>
            <a:pPr indent="0" marL="0">
              <a:buNone/>
            </a:pPr>
            <a:r>
              <a:rPr lang="en-US" sz="1400" dirty="0">
                <a:solidFill>
                  <a:srgbClr val="1F1A14"/>
                </a:solidFill>
              </a:rPr>
              <a:t>Leopards eat plants</a:t>
            </a:r>
            <a:endParaRPr lang="en-US" sz="1400" dirty="0"/>
          </a:p>
        </p:txBody>
      </p:sp>
      <p:sp>
        <p:nvSpPr>
          <p:cNvPr id="20" name="Text 18"/>
          <p:cNvSpPr txBox="1"/>
          <p:nvPr/>
        </p:nvSpPr>
        <p:spPr>
          <a:xfrm>
            <a:off x="5394960" y="3282696"/>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21" name="Shape 19"/>
          <p:cNvSpPr/>
          <p:nvPr/>
        </p:nvSpPr>
        <p:spPr>
          <a:xfrm>
            <a:off x="5943600" y="3209544"/>
            <a:ext cx="5669280" cy="548640"/>
          </a:xfrm>
          <a:prstGeom prst="roundRect">
            <a:avLst>
              <a:gd name="adj" fmla="val 20000"/>
            </a:avLst>
          </a:prstGeom>
          <a:solidFill>
            <a:srgbClr val="EEF5EA"/>
          </a:solidFill>
          <a:ln w="12700">
            <a:solidFill>
              <a:srgbClr val="EEF5EA"/>
            </a:solidFill>
            <a:prstDash val="solid"/>
          </a:ln>
        </p:spPr>
      </p:sp>
      <p:sp>
        <p:nvSpPr>
          <p:cNvPr id="22" name="Text 20"/>
          <p:cNvSpPr txBox="1"/>
          <p:nvPr/>
        </p:nvSpPr>
        <p:spPr>
          <a:xfrm>
            <a:off x="6126480" y="3328416"/>
            <a:ext cx="5394960" cy="365760"/>
          </a:xfrm>
          <a:prstGeom prst="rect">
            <a:avLst/>
          </a:prstGeom>
          <a:noFill/>
          <a:ln/>
        </p:spPr>
        <p:txBody>
          <a:bodyPr wrap="square" lIns="0" tIns="0" rIns="0" bIns="0" rtlCol="0" anchor="t"/>
          <a:lstStyle/>
          <a:p>
            <a:pPr indent="0" marL="0">
              <a:buNone/>
            </a:pPr>
            <a:r>
              <a:rPr lang="en-US" sz="1400" dirty="0">
                <a:solidFill>
                  <a:srgbClr val="1F1A14"/>
                </a:solidFill>
              </a:rPr>
              <a:t>Meat, jaws (killer beside mouth), feeding at the kill</a:t>
            </a:r>
            <a:endParaRPr lang="en-US" sz="1400" dirty="0"/>
          </a:p>
        </p:txBody>
      </p:sp>
      <p:sp>
        <p:nvSpPr>
          <p:cNvPr id="23" name="Shape 21"/>
          <p:cNvSpPr/>
          <p:nvPr/>
        </p:nvSpPr>
        <p:spPr>
          <a:xfrm>
            <a:off x="548640" y="3867912"/>
            <a:ext cx="4754880" cy="548640"/>
          </a:xfrm>
          <a:prstGeom prst="roundRect">
            <a:avLst>
              <a:gd name="adj" fmla="val 20000"/>
            </a:avLst>
          </a:prstGeom>
          <a:solidFill>
            <a:srgbClr val="F8ECEC"/>
          </a:solidFill>
          <a:ln w="12700">
            <a:solidFill>
              <a:srgbClr val="F8ECEC"/>
            </a:solidFill>
            <a:prstDash val="solid"/>
          </a:ln>
        </p:spPr>
      </p:sp>
      <p:sp>
        <p:nvSpPr>
          <p:cNvPr id="24" name="Text 22"/>
          <p:cNvSpPr txBox="1"/>
          <p:nvPr/>
        </p:nvSpPr>
        <p:spPr>
          <a:xfrm>
            <a:off x="731520" y="3986784"/>
            <a:ext cx="4480560" cy="365760"/>
          </a:xfrm>
          <a:prstGeom prst="rect">
            <a:avLst/>
          </a:prstGeom>
          <a:noFill/>
          <a:ln/>
        </p:spPr>
        <p:txBody>
          <a:bodyPr wrap="square" lIns="0" tIns="0" rIns="0" bIns="0" rtlCol="0" anchor="t"/>
          <a:lstStyle/>
          <a:p>
            <a:pPr indent="0" marL="0">
              <a:buNone/>
            </a:pPr>
            <a:r>
              <a:rPr lang="en-US" sz="1400" dirty="0">
                <a:solidFill>
                  <a:srgbClr val="1F1A14"/>
                </a:solidFill>
              </a:rPr>
              <a:t>Killers hurt plants and kin</a:t>
            </a:r>
            <a:endParaRPr lang="en-US" sz="1400" dirty="0"/>
          </a:p>
        </p:txBody>
      </p:sp>
      <p:sp>
        <p:nvSpPr>
          <p:cNvPr id="25" name="Text 23"/>
          <p:cNvSpPr txBox="1"/>
          <p:nvPr/>
        </p:nvSpPr>
        <p:spPr>
          <a:xfrm>
            <a:off x="5394960" y="3941064"/>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26" name="Shape 24"/>
          <p:cNvSpPr/>
          <p:nvPr/>
        </p:nvSpPr>
        <p:spPr>
          <a:xfrm>
            <a:off x="5943600" y="3867912"/>
            <a:ext cx="5669280" cy="548640"/>
          </a:xfrm>
          <a:prstGeom prst="roundRect">
            <a:avLst>
              <a:gd name="adj" fmla="val 20000"/>
            </a:avLst>
          </a:prstGeom>
          <a:solidFill>
            <a:srgbClr val="EEF5EA"/>
          </a:solidFill>
          <a:ln w="12700">
            <a:solidFill>
              <a:srgbClr val="EEF5EA"/>
            </a:solidFill>
            <a:prstDash val="solid"/>
          </a:ln>
        </p:spPr>
      </p:sp>
      <p:sp>
        <p:nvSpPr>
          <p:cNvPr id="27" name="Text 25"/>
          <p:cNvSpPr txBox="1"/>
          <p:nvPr/>
        </p:nvSpPr>
        <p:spPr>
          <a:xfrm>
            <a:off x="6126480" y="3986784"/>
            <a:ext cx="5394960" cy="365760"/>
          </a:xfrm>
          <a:prstGeom prst="rect">
            <a:avLst/>
          </a:prstGeom>
          <a:noFill/>
          <a:ln/>
        </p:spPr>
        <p:txBody>
          <a:bodyPr wrap="square" lIns="0" tIns="0" rIns="0" bIns="0" rtlCol="0" anchor="t"/>
          <a:lstStyle/>
          <a:p>
            <a:pPr indent="0" marL="0">
              <a:buNone/>
            </a:pPr>
            <a:r>
              <a:rPr lang="en-US" sz="1400" dirty="0">
                <a:solidFill>
                  <a:srgbClr val="1F1A14"/>
                </a:solidFill>
              </a:rPr>
              <a:t>Killers spare plants and own lineage; weapons strike only predators</a:t>
            </a:r>
            <a:endParaRPr lang="en-US" sz="1400" dirty="0"/>
          </a:p>
        </p:txBody>
      </p:sp>
      <p:sp>
        <p:nvSpPr>
          <p:cNvPr id="28" name="Shape 26"/>
          <p:cNvSpPr/>
          <p:nvPr/>
        </p:nvSpPr>
        <p:spPr>
          <a:xfrm>
            <a:off x="548640" y="4526280"/>
            <a:ext cx="4754880" cy="548640"/>
          </a:xfrm>
          <a:prstGeom prst="roundRect">
            <a:avLst>
              <a:gd name="adj" fmla="val 20000"/>
            </a:avLst>
          </a:prstGeom>
          <a:solidFill>
            <a:srgbClr val="F8ECEC"/>
          </a:solidFill>
          <a:ln w="12700">
            <a:solidFill>
              <a:srgbClr val="F8ECEC"/>
            </a:solidFill>
            <a:prstDash val="solid"/>
          </a:ln>
        </p:spPr>
      </p:sp>
      <p:sp>
        <p:nvSpPr>
          <p:cNvPr id="29" name="Text 27"/>
          <p:cNvSpPr txBox="1"/>
          <p:nvPr/>
        </p:nvSpPr>
        <p:spPr>
          <a:xfrm>
            <a:off x="731520" y="4645152"/>
            <a:ext cx="4480560" cy="365760"/>
          </a:xfrm>
          <a:prstGeom prst="rect">
            <a:avLst/>
          </a:prstGeom>
          <a:noFill/>
          <a:ln/>
        </p:spPr>
        <p:txBody>
          <a:bodyPr wrap="square" lIns="0" tIns="0" rIns="0" bIns="0" rtlCol="0" anchor="t"/>
          <a:lstStyle/>
          <a:p>
            <a:pPr indent="0" marL="0">
              <a:buNone/>
            </a:pPr>
            <a:r>
              <a:rPr lang="en-US" sz="1400" dirty="0">
                <a:solidFill>
                  <a:srgbClr val="1F1A14"/>
                </a:solidFill>
              </a:rPr>
              <a:t>Everyone moves 1 cell per tick</a:t>
            </a:r>
            <a:endParaRPr lang="en-US" sz="1400" dirty="0"/>
          </a:p>
        </p:txBody>
      </p:sp>
      <p:sp>
        <p:nvSpPr>
          <p:cNvPr id="30" name="Text 28"/>
          <p:cNvSpPr txBox="1"/>
          <p:nvPr/>
        </p:nvSpPr>
        <p:spPr>
          <a:xfrm>
            <a:off x="5394960" y="4599432"/>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31" name="Shape 29"/>
          <p:cNvSpPr/>
          <p:nvPr/>
        </p:nvSpPr>
        <p:spPr>
          <a:xfrm>
            <a:off x="5943600" y="4526280"/>
            <a:ext cx="5669280" cy="548640"/>
          </a:xfrm>
          <a:prstGeom prst="roundRect">
            <a:avLst>
              <a:gd name="adj" fmla="val 20000"/>
            </a:avLst>
          </a:prstGeom>
          <a:solidFill>
            <a:srgbClr val="EEF5EA"/>
          </a:solidFill>
          <a:ln w="12700">
            <a:solidFill>
              <a:srgbClr val="EEF5EA"/>
            </a:solidFill>
            <a:prstDash val="solid"/>
          </a:ln>
        </p:spPr>
      </p:sp>
      <p:sp>
        <p:nvSpPr>
          <p:cNvPr id="32" name="Text 30"/>
          <p:cNvSpPr txBox="1"/>
          <p:nvPr/>
        </p:nvSpPr>
        <p:spPr>
          <a:xfrm>
            <a:off x="6126480" y="4645152"/>
            <a:ext cx="5394960" cy="365760"/>
          </a:xfrm>
          <a:prstGeom prst="rect">
            <a:avLst/>
          </a:prstGeom>
          <a:noFill/>
          <a:ln/>
        </p:spPr>
        <p:txBody>
          <a:bodyPr wrap="square" lIns="0" tIns="0" rIns="0" bIns="0" rtlCol="0" anchor="t"/>
          <a:lstStyle/>
          <a:p>
            <a:pPr indent="0" marL="0">
              <a:buNone/>
            </a:pPr>
            <a:r>
              <a:rPr lang="en-US" sz="1400" b="1" dirty="0">
                <a:solidFill>
                  <a:srgbClr val="1F1A14"/>
                </a:solidFill>
              </a:rPr>
              <a:t>Our sprint rule: extra movers add steps, only when chasing or fleeing</a:t>
            </a:r>
            <a:endParaRPr lang="en-US" sz="1400" dirty="0"/>
          </a:p>
        </p:txBody>
      </p:sp>
      <p:sp>
        <p:nvSpPr>
          <p:cNvPr id="33" name="Shape 31"/>
          <p:cNvSpPr/>
          <p:nvPr/>
        </p:nvSpPr>
        <p:spPr>
          <a:xfrm>
            <a:off x="548640" y="5184648"/>
            <a:ext cx="4754880" cy="548640"/>
          </a:xfrm>
          <a:prstGeom prst="roundRect">
            <a:avLst>
              <a:gd name="adj" fmla="val 20000"/>
            </a:avLst>
          </a:prstGeom>
          <a:solidFill>
            <a:srgbClr val="F8ECEC"/>
          </a:solidFill>
          <a:ln w="12700">
            <a:solidFill>
              <a:srgbClr val="F8ECEC"/>
            </a:solidFill>
            <a:prstDash val="solid"/>
          </a:ln>
        </p:spPr>
      </p:sp>
      <p:sp>
        <p:nvSpPr>
          <p:cNvPr id="34" name="Text 32"/>
          <p:cNvSpPr txBox="1"/>
          <p:nvPr/>
        </p:nvSpPr>
        <p:spPr>
          <a:xfrm>
            <a:off x="731520" y="5303520"/>
            <a:ext cx="4480560" cy="365760"/>
          </a:xfrm>
          <a:prstGeom prst="rect">
            <a:avLst/>
          </a:prstGeom>
          <a:noFill/>
          <a:ln/>
        </p:spPr>
        <p:txBody>
          <a:bodyPr wrap="square" lIns="0" tIns="0" rIns="0" bIns="0" rtlCol="0" anchor="t"/>
          <a:lstStyle/>
          <a:p>
            <a:pPr indent="0" marL="0">
              <a:buNone/>
            </a:pPr>
            <a:r>
              <a:rPr lang="en-US" sz="1400" dirty="0">
                <a:solidFill>
                  <a:srgbClr val="1F1A14"/>
                </a:solidFill>
              </a:rPr>
              <a:t>Plant growth unlimited, map uniform</a:t>
            </a:r>
            <a:endParaRPr lang="en-US" sz="1400" dirty="0"/>
          </a:p>
        </p:txBody>
      </p:sp>
      <p:sp>
        <p:nvSpPr>
          <p:cNvPr id="35" name="Text 33"/>
          <p:cNvSpPr txBox="1"/>
          <p:nvPr/>
        </p:nvSpPr>
        <p:spPr>
          <a:xfrm>
            <a:off x="5394960" y="5257800"/>
            <a:ext cx="457200" cy="411480"/>
          </a:xfrm>
          <a:prstGeom prst="rect">
            <a:avLst/>
          </a:prstGeom>
          <a:noFill/>
          <a:ln/>
        </p:spPr>
        <p:txBody>
          <a:bodyPr wrap="square" lIns="0" tIns="0" rIns="0" bIns="0" rtlCol="0" anchor="t"/>
          <a:lstStyle/>
          <a:p>
            <a:pPr algn="ctr" indent="0" marL="0">
              <a:buNone/>
            </a:pPr>
            <a:r>
              <a:rPr lang="en-US" sz="2000" b="1" dirty="0">
                <a:solidFill>
                  <a:srgbClr val="3B2F22"/>
                </a:solidFill>
              </a:rPr>
              <a:t>→</a:t>
            </a:r>
            <a:endParaRPr lang="en-US" sz="2000" dirty="0"/>
          </a:p>
        </p:txBody>
      </p:sp>
      <p:sp>
        <p:nvSpPr>
          <p:cNvPr id="36" name="Shape 34"/>
          <p:cNvSpPr/>
          <p:nvPr/>
        </p:nvSpPr>
        <p:spPr>
          <a:xfrm>
            <a:off x="5943600" y="5184648"/>
            <a:ext cx="5669280" cy="548640"/>
          </a:xfrm>
          <a:prstGeom prst="roundRect">
            <a:avLst>
              <a:gd name="adj" fmla="val 20000"/>
            </a:avLst>
          </a:prstGeom>
          <a:solidFill>
            <a:srgbClr val="EEF5EA"/>
          </a:solidFill>
          <a:ln w="12700">
            <a:solidFill>
              <a:srgbClr val="EEF5EA"/>
            </a:solidFill>
            <a:prstDash val="solid"/>
          </a:ln>
        </p:spPr>
      </p:sp>
      <p:sp>
        <p:nvSpPr>
          <p:cNvPr id="37" name="Text 35"/>
          <p:cNvSpPr txBox="1"/>
          <p:nvPr/>
        </p:nvSpPr>
        <p:spPr>
          <a:xfrm>
            <a:off x="6126480" y="5303520"/>
            <a:ext cx="5394960" cy="365760"/>
          </a:xfrm>
          <a:prstGeom prst="rect">
            <a:avLst/>
          </a:prstGeom>
          <a:noFill/>
          <a:ln/>
        </p:spPr>
        <p:txBody>
          <a:bodyPr wrap="square" lIns="0" tIns="0" rIns="0" bIns="0" rtlCol="0" anchor="t"/>
          <a:lstStyle/>
          <a:p>
            <a:pPr indent="0" marL="0">
              <a:buNone/>
            </a:pPr>
            <a:r>
              <a:rPr lang="en-US" sz="1400" dirty="0">
                <a:solidFill>
                  <a:srgbClr val="1F1A14"/>
                </a:solidFill>
              </a:rPr>
              <a:t>Soil water, river, trees and fire</a:t>
            </a:r>
            <a:endParaRPr lang="en-US" sz="1400" dirty="0"/>
          </a:p>
        </p:txBody>
      </p:sp>
      <p:sp>
        <p:nvSpPr>
          <p:cNvPr id="38" name="Text 36"/>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300" dirty="0">
                <a:solidFill>
                  <a:srgbClr val="555555"/>
                </a:solidFill>
              </a:rPr>
              <a:t>Sprinting is our invention: in the original engine extra movers do nothing. At equal speed, leopards almost never caught zebras.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Each member feature opens a route and an escape</a:t>
            </a:r>
            <a:endParaRPr lang="en-US" sz="3000" dirty="0"/>
          </a:p>
        </p:txBody>
      </p:sp>
      <p:sp>
        <p:nvSpPr>
          <p:cNvPr id="3" name="Shape 1"/>
          <p:cNvSpPr/>
          <p:nvPr/>
        </p:nvSpPr>
        <p:spPr>
          <a:xfrm>
            <a:off x="548640" y="1280160"/>
            <a:ext cx="5440680" cy="2286000"/>
          </a:xfrm>
          <a:prstGeom prst="roundRect">
            <a:avLst>
              <a:gd name="adj" fmla="val 4800"/>
            </a:avLst>
          </a:prstGeom>
          <a:solidFill>
            <a:srgbClr val="F1F3F2"/>
          </a:solidFill>
          <a:ln w="12700">
            <a:solidFill>
              <a:srgbClr val="F1F3F2"/>
            </a:solidFill>
            <a:prstDash val="solid"/>
          </a:ln>
        </p:spPr>
      </p:sp>
      <p:sp>
        <p:nvSpPr>
          <p:cNvPr id="4" name="Text 2"/>
          <p:cNvSpPr txBox="1"/>
          <p:nvPr/>
        </p:nvSpPr>
        <p:spPr>
          <a:xfrm>
            <a:off x="822960" y="1463040"/>
            <a:ext cx="3200400" cy="457200"/>
          </a:xfrm>
          <a:prstGeom prst="rect">
            <a:avLst/>
          </a:prstGeom>
          <a:noFill/>
          <a:ln/>
        </p:spPr>
        <p:txBody>
          <a:bodyPr wrap="square" lIns="0" tIns="0" rIns="0" bIns="0" rtlCol="0" anchor="t"/>
          <a:lstStyle/>
          <a:p>
            <a:pPr indent="0" marL="0">
              <a:buNone/>
            </a:pPr>
            <a:r>
              <a:rPr lang="en-US" sz="2100" b="1" dirty="0">
                <a:solidFill>
                  <a:srgbClr val="7A5C3E"/>
                </a:solidFill>
                <a:latin typeface="Cambria" pitchFamily="34" charset="0"/>
                <a:ea typeface="Cambria" pitchFamily="34" charset="-122"/>
                <a:cs typeface="Cambria" pitchFamily="34" charset="-120"/>
              </a:rPr>
              <a:t>Horn cell</a:t>
            </a:r>
            <a:endParaRPr lang="en-US" sz="2100" dirty="0"/>
          </a:p>
        </p:txBody>
      </p:sp>
      <p:sp>
        <p:nvSpPr>
          <p:cNvPr id="5" name="Text 3"/>
          <p:cNvSpPr txBox="1"/>
          <p:nvPr/>
        </p:nvSpPr>
        <p:spPr>
          <a:xfrm>
            <a:off x="3840480" y="1527048"/>
            <a:ext cx="1920240" cy="365760"/>
          </a:xfrm>
          <a:prstGeom prst="rect">
            <a:avLst/>
          </a:prstGeom>
          <a:noFill/>
          <a:ln/>
        </p:spPr>
        <p:txBody>
          <a:bodyPr wrap="square" lIns="0" tIns="0" rIns="0" bIns="0" rtlCol="0" anchor="t"/>
          <a:lstStyle/>
          <a:p>
            <a:pPr algn="r" indent="0" marL="0">
              <a:buNone/>
            </a:pPr>
            <a:r>
              <a:rPr lang="en-US" sz="1300" dirty="0">
                <a:solidFill>
                  <a:srgbClr val="666666"/>
                </a:solidFill>
              </a:rPr>
              <a:t>Vimbai</a:t>
            </a:r>
            <a:endParaRPr lang="en-US" sz="1300" dirty="0"/>
          </a:p>
        </p:txBody>
      </p:sp>
      <p:sp>
        <p:nvSpPr>
          <p:cNvPr id="6" name="Text 4"/>
          <p:cNvSpPr txBox="1"/>
          <p:nvPr/>
        </p:nvSpPr>
        <p:spPr>
          <a:xfrm>
            <a:off x="822960" y="2057400"/>
            <a:ext cx="4937760" cy="640080"/>
          </a:xfrm>
          <a:prstGeom prst="rect">
            <a:avLst/>
          </a:prstGeom>
          <a:noFill/>
          <a:ln/>
        </p:spPr>
        <p:txBody>
          <a:bodyPr wrap="square" lIns="0" tIns="0" rIns="0" bIns="0" rtlCol="0" anchor="t"/>
          <a:lstStyle/>
          <a:p>
            <a:pPr indent="0" marL="0">
              <a:buNone/>
            </a:pPr>
            <a:r>
              <a:rPr lang="en-US" sz="1500" b="1" dirty="0">
                <a:solidFill>
                  <a:srgbClr val="B23A3A"/>
                </a:solidFill>
              </a:rPr>
              <a:t>Route  </a:t>
            </a:r>
            <a:pPr indent="0" marL="0">
              <a:buNone/>
            </a:pPr>
            <a:r>
              <a:rPr lang="en-US" sz="1500" dirty="0">
                <a:solidFill>
                  <a:srgbClr val="1F1A14"/>
                </a:solidFill>
              </a:rPr>
              <a:t>Horned rhinos trample plants and food around them</a:t>
            </a:r>
            <a:endParaRPr lang="en-US" sz="1500" dirty="0"/>
          </a:p>
        </p:txBody>
      </p:sp>
      <p:sp>
        <p:nvSpPr>
          <p:cNvPr id="7" name="Text 5"/>
          <p:cNvSpPr txBox="1"/>
          <p:nvPr/>
        </p:nvSpPr>
        <p:spPr>
          <a:xfrm>
            <a:off x="822960" y="2697480"/>
            <a:ext cx="4937760" cy="731520"/>
          </a:xfrm>
          <a:prstGeom prst="rect">
            <a:avLst/>
          </a:prstGeom>
          <a:noFill/>
          <a:ln/>
        </p:spPr>
        <p:txBody>
          <a:bodyPr wrap="square" lIns="0" tIns="0" rIns="0" bIns="0" rtlCol="0" anchor="t"/>
          <a:lstStyle/>
          <a:p>
            <a:pPr indent="0" marL="0">
              <a:buNone/>
            </a:pPr>
            <a:r>
              <a:rPr lang="en-US" sz="1500" b="1" dirty="0">
                <a:solidFill>
                  <a:srgbClr val="4E7D32"/>
                </a:solidFill>
              </a:rPr>
              <a:t>Escape  </a:t>
            </a:r>
            <a:pPr indent="0" marL="0">
              <a:buNone/>
            </a:pPr>
            <a:r>
              <a:rPr lang="en-US" sz="1500" dirty="0">
                <a:solidFill>
                  <a:srgbClr val="1F1A14"/>
                </a:solidFill>
              </a:rPr>
              <a:t>Immune to killers; gores attackers 50% per tick</a:t>
            </a:r>
            <a:endParaRPr lang="en-US" sz="1500" dirty="0"/>
          </a:p>
        </p:txBody>
      </p:sp>
      <p:sp>
        <p:nvSpPr>
          <p:cNvPr id="8" name="Shape 6"/>
          <p:cNvSpPr/>
          <p:nvPr/>
        </p:nvSpPr>
        <p:spPr>
          <a:xfrm>
            <a:off x="6172200" y="1280160"/>
            <a:ext cx="5440680" cy="2286000"/>
          </a:xfrm>
          <a:prstGeom prst="roundRect">
            <a:avLst>
              <a:gd name="adj" fmla="val 4800"/>
            </a:avLst>
          </a:prstGeom>
          <a:solidFill>
            <a:srgbClr val="F1F3F2"/>
          </a:solidFill>
          <a:ln w="12700">
            <a:solidFill>
              <a:srgbClr val="F1F3F2"/>
            </a:solidFill>
            <a:prstDash val="solid"/>
          </a:ln>
        </p:spPr>
      </p:sp>
      <p:sp>
        <p:nvSpPr>
          <p:cNvPr id="9" name="Text 7"/>
          <p:cNvSpPr txBox="1"/>
          <p:nvPr/>
        </p:nvSpPr>
        <p:spPr>
          <a:xfrm>
            <a:off x="6446520" y="1463040"/>
            <a:ext cx="3200400" cy="457200"/>
          </a:xfrm>
          <a:prstGeom prst="rect">
            <a:avLst/>
          </a:prstGeom>
          <a:noFill/>
          <a:ln/>
        </p:spPr>
        <p:txBody>
          <a:bodyPr wrap="square" lIns="0" tIns="0" rIns="0" bIns="0" rtlCol="0" anchor="t"/>
          <a:lstStyle/>
          <a:p>
            <a:pPr indent="0" marL="0">
              <a:buNone/>
            </a:pPr>
            <a:r>
              <a:rPr lang="en-US" sz="2100" b="1" dirty="0">
                <a:solidFill>
                  <a:srgbClr val="1F1A14"/>
                </a:solidFill>
                <a:latin typeface="Cambria" pitchFamily="34" charset="0"/>
                <a:ea typeface="Cambria" pitchFamily="34" charset="-122"/>
                <a:cs typeface="Cambria" pitchFamily="34" charset="-120"/>
              </a:rPr>
              <a:t>Stripe cell</a:t>
            </a:r>
            <a:endParaRPr lang="en-US" sz="2100" dirty="0"/>
          </a:p>
        </p:txBody>
      </p:sp>
      <p:sp>
        <p:nvSpPr>
          <p:cNvPr id="10" name="Text 8"/>
          <p:cNvSpPr txBox="1"/>
          <p:nvPr/>
        </p:nvSpPr>
        <p:spPr>
          <a:xfrm>
            <a:off x="9464040" y="1527048"/>
            <a:ext cx="1920240" cy="365760"/>
          </a:xfrm>
          <a:prstGeom prst="rect">
            <a:avLst/>
          </a:prstGeom>
          <a:noFill/>
          <a:ln/>
        </p:spPr>
        <p:txBody>
          <a:bodyPr wrap="square" lIns="0" tIns="0" rIns="0" bIns="0" rtlCol="0" anchor="t"/>
          <a:lstStyle/>
          <a:p>
            <a:pPr algn="r" indent="0" marL="0">
              <a:buNone/>
            </a:pPr>
            <a:r>
              <a:rPr lang="en-US" sz="1300" dirty="0">
                <a:solidFill>
                  <a:srgbClr val="666666"/>
                </a:solidFill>
              </a:rPr>
              <a:t>Moreblessing</a:t>
            </a:r>
            <a:endParaRPr lang="en-US" sz="1300" dirty="0"/>
          </a:p>
        </p:txBody>
      </p:sp>
      <p:sp>
        <p:nvSpPr>
          <p:cNvPr id="11" name="Text 9"/>
          <p:cNvSpPr txBox="1"/>
          <p:nvPr/>
        </p:nvSpPr>
        <p:spPr>
          <a:xfrm>
            <a:off x="6446520" y="2057400"/>
            <a:ext cx="4937760" cy="640080"/>
          </a:xfrm>
          <a:prstGeom prst="rect">
            <a:avLst/>
          </a:prstGeom>
          <a:noFill/>
          <a:ln/>
        </p:spPr>
        <p:txBody>
          <a:bodyPr wrap="square" lIns="0" tIns="0" rIns="0" bIns="0" rtlCol="0" anchor="t"/>
          <a:lstStyle/>
          <a:p>
            <a:pPr indent="0" marL="0">
              <a:buNone/>
            </a:pPr>
            <a:r>
              <a:rPr lang="en-US" sz="1500" b="1" dirty="0">
                <a:solidFill>
                  <a:srgbClr val="B23A3A"/>
                </a:solidFill>
              </a:rPr>
              <a:t>Route  </a:t>
            </a:r>
            <a:pPr indent="0" marL="0">
              <a:buNone/>
            </a:pPr>
            <a:r>
              <a:rPr lang="en-US" sz="1500" dirty="0">
                <a:solidFill>
                  <a:srgbClr val="1F1A14"/>
                </a:solidFill>
              </a:rPr>
              <a:t>More surviving zebras means more grazing pressure</a:t>
            </a:r>
            <a:endParaRPr lang="en-US" sz="1500" dirty="0"/>
          </a:p>
        </p:txBody>
      </p:sp>
      <p:sp>
        <p:nvSpPr>
          <p:cNvPr id="12" name="Text 10"/>
          <p:cNvSpPr txBox="1"/>
          <p:nvPr/>
        </p:nvSpPr>
        <p:spPr>
          <a:xfrm>
            <a:off x="6446520" y="2697480"/>
            <a:ext cx="4937760" cy="731520"/>
          </a:xfrm>
          <a:prstGeom prst="rect">
            <a:avLst/>
          </a:prstGeom>
          <a:noFill/>
          <a:ln/>
        </p:spPr>
        <p:txBody>
          <a:bodyPr wrap="square" lIns="0" tIns="0" rIns="0" bIns="0" rtlCol="0" anchor="t"/>
          <a:lstStyle/>
          <a:p>
            <a:pPr indent="0" marL="0">
              <a:buNone/>
            </a:pPr>
            <a:r>
              <a:rPr lang="en-US" sz="1500" b="1" dirty="0">
                <a:solidFill>
                  <a:srgbClr val="4E7D32"/>
                </a:solidFill>
              </a:rPr>
              <a:t>Escape  </a:t>
            </a:r>
            <a:pPr indent="0" marL="0">
              <a:buNone/>
            </a:pPr>
            <a:r>
              <a:rPr lang="en-US" sz="1500" dirty="0">
                <a:solidFill>
                  <a:srgbClr val="1F1A14"/>
                </a:solidFill>
              </a:rPr>
              <a:t>Leopard eyes miss a striped zebra 25% per striped neighbour, up to 85%</a:t>
            </a:r>
            <a:endParaRPr lang="en-US" sz="1500" dirty="0"/>
          </a:p>
        </p:txBody>
      </p:sp>
      <p:sp>
        <p:nvSpPr>
          <p:cNvPr id="13" name="Shape 11"/>
          <p:cNvSpPr/>
          <p:nvPr/>
        </p:nvSpPr>
        <p:spPr>
          <a:xfrm>
            <a:off x="548640" y="3794760"/>
            <a:ext cx="5440680" cy="2286000"/>
          </a:xfrm>
          <a:prstGeom prst="roundRect">
            <a:avLst>
              <a:gd name="adj" fmla="val 4800"/>
            </a:avLst>
          </a:prstGeom>
          <a:solidFill>
            <a:srgbClr val="F1F3F2"/>
          </a:solidFill>
          <a:ln w="12700">
            <a:solidFill>
              <a:srgbClr val="F1F3F2"/>
            </a:solidFill>
            <a:prstDash val="solid"/>
          </a:ln>
        </p:spPr>
      </p:sp>
      <p:sp>
        <p:nvSpPr>
          <p:cNvPr id="14" name="Text 12"/>
          <p:cNvSpPr txBox="1"/>
          <p:nvPr/>
        </p:nvSpPr>
        <p:spPr>
          <a:xfrm>
            <a:off x="822960" y="3977640"/>
            <a:ext cx="3200400" cy="457200"/>
          </a:xfrm>
          <a:prstGeom prst="rect">
            <a:avLst/>
          </a:prstGeom>
          <a:noFill/>
          <a:ln/>
        </p:spPr>
        <p:txBody>
          <a:bodyPr wrap="square" lIns="0" tIns="0" rIns="0" bIns="0" rtlCol="0" anchor="t"/>
          <a:lstStyle/>
          <a:p>
            <a:pPr indent="0" marL="0">
              <a:buNone/>
            </a:pPr>
            <a:r>
              <a:rPr lang="en-US" sz="2100" b="1" dirty="0">
                <a:solidFill>
                  <a:srgbClr val="D98E04"/>
                </a:solidFill>
                <a:latin typeface="Cambria" pitchFamily="34" charset="0"/>
                <a:ea typeface="Cambria" pitchFamily="34" charset="-122"/>
                <a:cs typeface="Cambria" pitchFamily="34" charset="-120"/>
              </a:rPr>
              <a:t>Cache cell</a:t>
            </a:r>
            <a:endParaRPr lang="en-US" sz="2100" dirty="0"/>
          </a:p>
        </p:txBody>
      </p:sp>
      <p:sp>
        <p:nvSpPr>
          <p:cNvPr id="15" name="Text 13"/>
          <p:cNvSpPr txBox="1"/>
          <p:nvPr/>
        </p:nvSpPr>
        <p:spPr>
          <a:xfrm>
            <a:off x="3840480" y="4041648"/>
            <a:ext cx="1920240" cy="365760"/>
          </a:xfrm>
          <a:prstGeom prst="rect">
            <a:avLst/>
          </a:prstGeom>
          <a:noFill/>
          <a:ln/>
        </p:spPr>
        <p:txBody>
          <a:bodyPr wrap="square" lIns="0" tIns="0" rIns="0" bIns="0" rtlCol="0" anchor="t"/>
          <a:lstStyle/>
          <a:p>
            <a:pPr algn="r" indent="0" marL="0">
              <a:buNone/>
            </a:pPr>
            <a:r>
              <a:rPr lang="en-US" sz="1300" dirty="0">
                <a:solidFill>
                  <a:srgbClr val="666666"/>
                </a:solidFill>
              </a:rPr>
              <a:t>Ashley</a:t>
            </a:r>
            <a:endParaRPr lang="en-US" sz="1300" dirty="0"/>
          </a:p>
        </p:txBody>
      </p:sp>
      <p:sp>
        <p:nvSpPr>
          <p:cNvPr id="16" name="Text 14"/>
          <p:cNvSpPr txBox="1"/>
          <p:nvPr/>
        </p:nvSpPr>
        <p:spPr>
          <a:xfrm>
            <a:off x="822960" y="4572000"/>
            <a:ext cx="4937760" cy="640080"/>
          </a:xfrm>
          <a:prstGeom prst="rect">
            <a:avLst/>
          </a:prstGeom>
          <a:noFill/>
          <a:ln/>
        </p:spPr>
        <p:txBody>
          <a:bodyPr wrap="square" lIns="0" tIns="0" rIns="0" bIns="0" rtlCol="0" anchor="t"/>
          <a:lstStyle/>
          <a:p>
            <a:pPr indent="0" marL="0">
              <a:buNone/>
            </a:pPr>
            <a:r>
              <a:rPr lang="en-US" sz="1500" b="1" dirty="0">
                <a:solidFill>
                  <a:srgbClr val="B23A3A"/>
                </a:solidFill>
              </a:rPr>
              <a:t>Route  </a:t>
            </a:r>
            <a:pPr indent="0" marL="0">
              <a:buNone/>
            </a:pPr>
            <a:r>
              <a:rPr lang="en-US" sz="1500" dirty="0">
                <a:solidFill>
                  <a:srgbClr val="1F1A14"/>
                </a:solidFill>
              </a:rPr>
              <a:t>Banking food delays breeding</a:t>
            </a:r>
            <a:endParaRPr lang="en-US" sz="1500" dirty="0"/>
          </a:p>
        </p:txBody>
      </p:sp>
      <p:sp>
        <p:nvSpPr>
          <p:cNvPr id="17" name="Text 15"/>
          <p:cNvSpPr txBox="1"/>
          <p:nvPr/>
        </p:nvSpPr>
        <p:spPr>
          <a:xfrm>
            <a:off x="822960" y="5212080"/>
            <a:ext cx="4937760" cy="731520"/>
          </a:xfrm>
          <a:prstGeom prst="rect">
            <a:avLst/>
          </a:prstGeom>
          <a:noFill/>
          <a:ln/>
        </p:spPr>
        <p:txBody>
          <a:bodyPr wrap="square" lIns="0" tIns="0" rIns="0" bIns="0" rtlCol="0" anchor="t"/>
          <a:lstStyle/>
          <a:p>
            <a:pPr indent="0" marL="0">
              <a:buNone/>
            </a:pPr>
            <a:r>
              <a:rPr lang="en-US" sz="1500" b="1" dirty="0">
                <a:solidFill>
                  <a:srgbClr val="4E7D32"/>
                </a:solidFill>
              </a:rPr>
              <a:t>Escape  </a:t>
            </a:r>
            <a:pPr indent="0" marL="0">
              <a:buNone/>
            </a:pPr>
            <a:r>
              <a:rPr lang="en-US" sz="1500" dirty="0">
                <a:solidFill>
                  <a:srgbClr val="1F1A14"/>
                </a:solidFill>
              </a:rPr>
              <a:t>Surplus banked near trees, spent automatically to stave off starvation</a:t>
            </a:r>
            <a:endParaRPr lang="en-US" sz="1500" dirty="0"/>
          </a:p>
        </p:txBody>
      </p:sp>
      <p:sp>
        <p:nvSpPr>
          <p:cNvPr id="18" name="Shape 16"/>
          <p:cNvSpPr/>
          <p:nvPr/>
        </p:nvSpPr>
        <p:spPr>
          <a:xfrm>
            <a:off x="6172200" y="3794760"/>
            <a:ext cx="5440680" cy="2286000"/>
          </a:xfrm>
          <a:prstGeom prst="roundRect">
            <a:avLst>
              <a:gd name="adj" fmla="val 4800"/>
            </a:avLst>
          </a:prstGeom>
          <a:solidFill>
            <a:srgbClr val="F1F3F2"/>
          </a:solidFill>
          <a:ln w="12700">
            <a:solidFill>
              <a:srgbClr val="F1F3F2"/>
            </a:solidFill>
            <a:prstDash val="solid"/>
          </a:ln>
        </p:spPr>
      </p:sp>
      <p:sp>
        <p:nvSpPr>
          <p:cNvPr id="19" name="Text 17"/>
          <p:cNvSpPr txBox="1"/>
          <p:nvPr/>
        </p:nvSpPr>
        <p:spPr>
          <a:xfrm>
            <a:off x="6446520" y="3977640"/>
            <a:ext cx="3200400" cy="457200"/>
          </a:xfrm>
          <a:prstGeom prst="rect">
            <a:avLst/>
          </a:prstGeom>
          <a:noFill/>
          <a:ln/>
        </p:spPr>
        <p:txBody>
          <a:bodyPr wrap="square" lIns="0" tIns="0" rIns="0" bIns="0" rtlCol="0" anchor="t"/>
          <a:lstStyle/>
          <a:p>
            <a:pPr indent="0" marL="0">
              <a:buNone/>
            </a:pPr>
            <a:r>
              <a:rPr lang="en-US" sz="2100" b="1" dirty="0">
                <a:solidFill>
                  <a:srgbClr val="2F6FA8"/>
                </a:solidFill>
                <a:latin typeface="Cambria" pitchFamily="34" charset="0"/>
                <a:ea typeface="Cambria" pitchFamily="34" charset="-122"/>
                <a:cs typeface="Cambria" pitchFamily="34" charset="-120"/>
              </a:rPr>
              <a:t>Soil water</a:t>
            </a:r>
            <a:endParaRPr lang="en-US" sz="2100" dirty="0"/>
          </a:p>
        </p:txBody>
      </p:sp>
      <p:sp>
        <p:nvSpPr>
          <p:cNvPr id="20" name="Text 18"/>
          <p:cNvSpPr txBox="1"/>
          <p:nvPr/>
        </p:nvSpPr>
        <p:spPr>
          <a:xfrm>
            <a:off x="9464040" y="4041648"/>
            <a:ext cx="1920240" cy="365760"/>
          </a:xfrm>
          <a:prstGeom prst="rect">
            <a:avLst/>
          </a:prstGeom>
          <a:noFill/>
          <a:ln/>
        </p:spPr>
        <p:txBody>
          <a:bodyPr wrap="square" lIns="0" tIns="0" rIns="0" bIns="0" rtlCol="0" anchor="t"/>
          <a:lstStyle/>
          <a:p>
            <a:pPr algn="r" indent="0" marL="0">
              <a:buNone/>
            </a:pPr>
            <a:r>
              <a:rPr lang="en-US" sz="1300" dirty="0">
                <a:solidFill>
                  <a:srgbClr val="666666"/>
                </a:solidFill>
              </a:rPr>
              <a:t>Fourth member</a:t>
            </a:r>
            <a:endParaRPr lang="en-US" sz="1300" dirty="0"/>
          </a:p>
        </p:txBody>
      </p:sp>
      <p:sp>
        <p:nvSpPr>
          <p:cNvPr id="21" name="Text 19"/>
          <p:cNvSpPr txBox="1"/>
          <p:nvPr/>
        </p:nvSpPr>
        <p:spPr>
          <a:xfrm>
            <a:off x="6446520" y="4572000"/>
            <a:ext cx="4937760" cy="640080"/>
          </a:xfrm>
          <a:prstGeom prst="rect">
            <a:avLst/>
          </a:prstGeom>
          <a:noFill/>
          <a:ln/>
        </p:spPr>
        <p:txBody>
          <a:bodyPr wrap="square" lIns="0" tIns="0" rIns="0" bIns="0" rtlCol="0" anchor="t"/>
          <a:lstStyle/>
          <a:p>
            <a:pPr indent="0" marL="0">
              <a:buNone/>
            </a:pPr>
            <a:r>
              <a:rPr lang="en-US" sz="1500" b="1" dirty="0">
                <a:solidFill>
                  <a:srgbClr val="B23A3A"/>
                </a:solidFill>
              </a:rPr>
              <a:t>Route  </a:t>
            </a:r>
            <a:pPr indent="0" marL="0">
              <a:buNone/>
            </a:pPr>
            <a:r>
              <a:rPr lang="en-US" sz="1500" dirty="0">
                <a:solidFill>
                  <a:srgbClr val="1F1A14"/>
                </a:solidFill>
              </a:rPr>
              <a:t>Grass needs water to produce; dry soil recovers slowly</a:t>
            </a:r>
            <a:endParaRPr lang="en-US" sz="1500" dirty="0"/>
          </a:p>
        </p:txBody>
      </p:sp>
      <p:sp>
        <p:nvSpPr>
          <p:cNvPr id="22" name="Text 20"/>
          <p:cNvSpPr txBox="1"/>
          <p:nvPr/>
        </p:nvSpPr>
        <p:spPr>
          <a:xfrm>
            <a:off x="6446520" y="5212080"/>
            <a:ext cx="4937760" cy="731520"/>
          </a:xfrm>
          <a:prstGeom prst="rect">
            <a:avLst/>
          </a:prstGeom>
          <a:noFill/>
          <a:ln/>
        </p:spPr>
        <p:txBody>
          <a:bodyPr wrap="square" lIns="0" tIns="0" rIns="0" bIns="0" rtlCol="0" anchor="t"/>
          <a:lstStyle/>
          <a:p>
            <a:pPr indent="0" marL="0">
              <a:buNone/>
            </a:pPr>
            <a:r>
              <a:rPr lang="en-US" sz="1500" b="1" dirty="0">
                <a:solidFill>
                  <a:srgbClr val="4E7D32"/>
                </a:solidFill>
              </a:rPr>
              <a:t>Escape  </a:t>
            </a:r>
            <a:pPr indent="0" marL="0">
              <a:buNone/>
            </a:pPr>
            <a:r>
              <a:rPr lang="en-US" sz="1500" dirty="0">
                <a:solidFill>
                  <a:srgbClr val="1F1A14"/>
                </a:solidFill>
              </a:rPr>
              <a:t>Rain refills soil; deep-rooted bushes take over freed water</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10881360" cy="1188720"/>
          </a:xfrm>
          <a:prstGeom prst="rect">
            <a:avLst/>
          </a:prstGeom>
          <a:noFill/>
          <a:ln/>
        </p:spPr>
        <p:txBody>
          <a:bodyPr wrap="square" rtlCol="0"/>
          <a:lstStyle/>
          <a:p>
            <a:pPr algn="l" indent="0" marL="0">
              <a:buNone/>
            </a:pPr>
            <a:r>
              <a:rPr lang="en-US" sz="4000" b="1" dirty="0">
                <a:solidFill>
                  <a:schemeClr val="bg1"/>
                </a:solidFill>
              </a:rPr>
              <a:t>Part 2: did we achieve it?</a:t>
            </a:r>
            <a:endParaRPr lang="en-US" sz="4000" dirty="0"/>
          </a:p>
        </p:txBody>
      </p:sp>
      <p:sp>
        <p:nvSpPr>
          <p:cNvPr id="3" name="Text 0"/>
          <p:cNvSpPr/>
          <p:nvPr>
            <p:ph idx="101" type="body" hasCustomPrompt="1"/>
          </p:nvPr>
        </p:nvSpPr>
        <p:spPr>
          <a:xfrm>
            <a:off x="640080" y="3566160"/>
            <a:ext cx="10881360" cy="1097280"/>
          </a:xfrm>
          <a:prstGeom prst="rect">
            <a:avLst/>
          </a:prstGeom>
          <a:noFill/>
          <a:ln/>
        </p:spPr>
        <p:txBody>
          <a:bodyPr wrap="square" rtlCol="0"/>
          <a:lstStyle/>
          <a:p>
            <a:pPr indent="0" marL="0">
              <a:buNone/>
            </a:pPr>
            <a:r>
              <a:rPr lang="en-US" sz="2000" dirty="0">
                <a:solidFill>
                  <a:schemeClr val="accent1"/>
                </a:solidFill>
              </a:rPr>
              <a:t>Not evolutionary suicide. Failure to adapt and predator boom-bust, yes.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Modified engine verdict</a:t>
            </a:r>
            <a:endParaRPr lang="en-US" sz="3000" dirty="0"/>
          </a:p>
        </p:txBody>
      </p:sp>
      <p:sp>
        <p:nvSpPr>
          <p:cNvPr id="3" name="Shape 1"/>
          <p:cNvSpPr/>
          <p:nvPr/>
        </p:nvSpPr>
        <p:spPr>
          <a:xfrm>
            <a:off x="548640" y="1234440"/>
            <a:ext cx="11064240" cy="868680"/>
          </a:xfrm>
          <a:prstGeom prst="roundRect">
            <a:avLst>
              <a:gd name="adj" fmla="val 12632"/>
            </a:avLst>
          </a:prstGeom>
          <a:solidFill>
            <a:srgbClr val="F1F3F2"/>
          </a:solidFill>
          <a:ln w="12700">
            <a:solidFill>
              <a:srgbClr val="F1F3F2"/>
            </a:solidFill>
            <a:prstDash val="solid"/>
          </a:ln>
        </p:spPr>
      </p:sp>
      <p:sp>
        <p:nvSpPr>
          <p:cNvPr id="4" name="Text 2"/>
          <p:cNvSpPr txBox="1"/>
          <p:nvPr/>
        </p:nvSpPr>
        <p:spPr>
          <a:xfrm>
            <a:off x="777240" y="1463040"/>
            <a:ext cx="3291840" cy="457200"/>
          </a:xfrm>
          <a:prstGeom prst="rect">
            <a:avLst/>
          </a:prstGeom>
          <a:noFill/>
          <a:ln/>
        </p:spPr>
        <p:txBody>
          <a:bodyPr wrap="square" lIns="0" tIns="0" rIns="0" bIns="0" rtlCol="0" anchor="t"/>
          <a:lstStyle/>
          <a:p>
            <a:pPr indent="0" marL="0">
              <a:buNone/>
            </a:pPr>
            <a:r>
              <a:rPr lang="en-US" sz="1600" b="1" dirty="0">
                <a:solidFill>
                  <a:srgbClr val="1F1A14"/>
                </a:solidFill>
                <a:latin typeface="Cambria" pitchFamily="34" charset="0"/>
                <a:ea typeface="Cambria" pitchFamily="34" charset="-122"/>
                <a:cs typeface="Cambria" pitchFamily="34" charset="-120"/>
              </a:rPr>
              <a:t>Zebra overgrazing suicide</a:t>
            </a:r>
            <a:endParaRPr lang="en-US" sz="1600" dirty="0"/>
          </a:p>
        </p:txBody>
      </p:sp>
      <p:sp>
        <p:nvSpPr>
          <p:cNvPr id="5" name="Text 3"/>
          <p:cNvSpPr txBox="1"/>
          <p:nvPr/>
        </p:nvSpPr>
        <p:spPr>
          <a:xfrm>
            <a:off x="4114800" y="1463040"/>
            <a:ext cx="1737360" cy="457200"/>
          </a:xfrm>
          <a:prstGeom prst="rect">
            <a:avLst/>
          </a:prstGeom>
          <a:noFill/>
          <a:ln/>
        </p:spPr>
        <p:txBody>
          <a:bodyPr wrap="square" lIns="0" tIns="0" rIns="0" bIns="0" rtlCol="0" anchor="t"/>
          <a:lstStyle/>
          <a:p>
            <a:pPr indent="0" marL="0">
              <a:buNone/>
            </a:pPr>
            <a:r>
              <a:rPr lang="en-US" sz="1600" b="1" dirty="0">
                <a:solidFill>
                  <a:srgbClr val="B23A3A"/>
                </a:solidFill>
              </a:rPr>
              <a:t>No</a:t>
            </a:r>
            <a:endParaRPr lang="en-US" sz="1600" dirty="0"/>
          </a:p>
        </p:txBody>
      </p:sp>
      <p:sp>
        <p:nvSpPr>
          <p:cNvPr id="6" name="Text 4"/>
          <p:cNvSpPr txBox="1"/>
          <p:nvPr/>
        </p:nvSpPr>
        <p:spPr>
          <a:xfrm>
            <a:off x="5852160" y="1389888"/>
            <a:ext cx="5577840" cy="640080"/>
          </a:xfrm>
          <a:prstGeom prst="rect">
            <a:avLst/>
          </a:prstGeom>
          <a:noFill/>
          <a:ln/>
        </p:spPr>
        <p:txBody>
          <a:bodyPr wrap="square" lIns="0" tIns="0" rIns="0" bIns="0" rtlCol="0" anchor="t"/>
          <a:lstStyle/>
          <a:p>
            <a:pPr indent="0" marL="0">
              <a:buNone/>
            </a:pPr>
            <a:r>
              <a:rPr lang="en-US" sz="1300" dirty="0">
                <a:solidFill>
                  <a:srgbClr val="1F1A14"/>
                </a:solidFill>
              </a:rPr>
              <a:t>Second mouth spread (up to 2.8) but grass never collapsed: water regrowth, bush fallback and the river kept up</a:t>
            </a:r>
            <a:endParaRPr lang="en-US" sz="1300" dirty="0"/>
          </a:p>
        </p:txBody>
      </p:sp>
      <p:sp>
        <p:nvSpPr>
          <p:cNvPr id="7" name="Shape 5"/>
          <p:cNvSpPr/>
          <p:nvPr/>
        </p:nvSpPr>
        <p:spPr>
          <a:xfrm>
            <a:off x="548640" y="2221992"/>
            <a:ext cx="11064240" cy="868680"/>
          </a:xfrm>
          <a:prstGeom prst="roundRect">
            <a:avLst>
              <a:gd name="adj" fmla="val 12632"/>
            </a:avLst>
          </a:prstGeom>
          <a:solidFill>
            <a:srgbClr val="F1F3F2"/>
          </a:solidFill>
          <a:ln w="12700">
            <a:solidFill>
              <a:srgbClr val="F1F3F2"/>
            </a:solidFill>
            <a:prstDash val="solid"/>
          </a:ln>
        </p:spPr>
      </p:sp>
      <p:sp>
        <p:nvSpPr>
          <p:cNvPr id="8" name="Text 6"/>
          <p:cNvSpPr txBox="1"/>
          <p:nvPr/>
        </p:nvSpPr>
        <p:spPr>
          <a:xfrm>
            <a:off x="777240" y="2450592"/>
            <a:ext cx="3291840" cy="457200"/>
          </a:xfrm>
          <a:prstGeom prst="rect">
            <a:avLst/>
          </a:prstGeom>
          <a:noFill/>
          <a:ln/>
        </p:spPr>
        <p:txBody>
          <a:bodyPr wrap="square" lIns="0" tIns="0" rIns="0" bIns="0" rtlCol="0" anchor="t"/>
          <a:lstStyle/>
          <a:p>
            <a:pPr indent="0" marL="0">
              <a:buNone/>
            </a:pPr>
            <a:r>
              <a:rPr lang="en-US" sz="1600" b="1" dirty="0">
                <a:solidFill>
                  <a:srgbClr val="1F1A14"/>
                </a:solidFill>
                <a:latin typeface="Cambria" pitchFamily="34" charset="0"/>
                <a:ea typeface="Cambria" pitchFamily="34" charset="-122"/>
                <a:cs typeface="Cambria" pitchFamily="34" charset="-120"/>
              </a:rPr>
              <a:t>Rhino failure to adapt</a:t>
            </a:r>
            <a:endParaRPr lang="en-US" sz="1600" dirty="0"/>
          </a:p>
        </p:txBody>
      </p:sp>
      <p:sp>
        <p:nvSpPr>
          <p:cNvPr id="9" name="Text 7"/>
          <p:cNvSpPr txBox="1"/>
          <p:nvPr/>
        </p:nvSpPr>
        <p:spPr>
          <a:xfrm>
            <a:off x="4114800" y="2450592"/>
            <a:ext cx="1737360" cy="457200"/>
          </a:xfrm>
          <a:prstGeom prst="rect">
            <a:avLst/>
          </a:prstGeom>
          <a:noFill/>
          <a:ln/>
        </p:spPr>
        <p:txBody>
          <a:bodyPr wrap="square" lIns="0" tIns="0" rIns="0" bIns="0" rtlCol="0" anchor="t"/>
          <a:lstStyle/>
          <a:p>
            <a:pPr indent="0" marL="0">
              <a:buNone/>
            </a:pPr>
            <a:r>
              <a:rPr lang="en-US" sz="1600" b="1" dirty="0">
                <a:solidFill>
                  <a:srgbClr val="4E7D32"/>
                </a:solidFill>
              </a:rPr>
              <a:t>Yes</a:t>
            </a:r>
            <a:endParaRPr lang="en-US" sz="1600" dirty="0"/>
          </a:p>
        </p:txBody>
      </p:sp>
      <p:sp>
        <p:nvSpPr>
          <p:cNvPr id="10" name="Text 8"/>
          <p:cNvSpPr txBox="1"/>
          <p:nvPr/>
        </p:nvSpPr>
        <p:spPr>
          <a:xfrm>
            <a:off x="5852160" y="2377440"/>
            <a:ext cx="5577840" cy="640080"/>
          </a:xfrm>
          <a:prstGeom prst="rect">
            <a:avLst/>
          </a:prstGeom>
          <a:noFill/>
          <a:ln/>
        </p:spPr>
        <p:txBody>
          <a:bodyPr wrap="square" lIns="0" tIns="0" rIns="0" bIns="0" rtlCol="0" anchor="t"/>
          <a:lstStyle/>
          <a:p>
            <a:pPr indent="0" marL="0">
              <a:buNone/>
            </a:pPr>
            <a:r>
              <a:rPr lang="en-US" sz="1300" dirty="0">
                <a:solidFill>
                  <a:srgbClr val="1F1A14"/>
                </a:solidFill>
              </a:rPr>
              <a:t>Died out in every seed, mostly of old age: 16 food per calf was too slow</a:t>
            </a:r>
            <a:endParaRPr lang="en-US" sz="1300" dirty="0"/>
          </a:p>
        </p:txBody>
      </p:sp>
      <p:sp>
        <p:nvSpPr>
          <p:cNvPr id="11" name="Shape 9"/>
          <p:cNvSpPr/>
          <p:nvPr/>
        </p:nvSpPr>
        <p:spPr>
          <a:xfrm>
            <a:off x="548640" y="3209544"/>
            <a:ext cx="11064240" cy="868680"/>
          </a:xfrm>
          <a:prstGeom prst="roundRect">
            <a:avLst>
              <a:gd name="adj" fmla="val 12632"/>
            </a:avLst>
          </a:prstGeom>
          <a:solidFill>
            <a:srgbClr val="F1F3F2"/>
          </a:solidFill>
          <a:ln w="12700">
            <a:solidFill>
              <a:srgbClr val="F1F3F2"/>
            </a:solidFill>
            <a:prstDash val="solid"/>
          </a:ln>
        </p:spPr>
      </p:sp>
      <p:sp>
        <p:nvSpPr>
          <p:cNvPr id="12" name="Text 10"/>
          <p:cNvSpPr txBox="1"/>
          <p:nvPr/>
        </p:nvSpPr>
        <p:spPr>
          <a:xfrm>
            <a:off x="777240" y="3438144"/>
            <a:ext cx="3291840" cy="457200"/>
          </a:xfrm>
          <a:prstGeom prst="rect">
            <a:avLst/>
          </a:prstGeom>
          <a:noFill/>
          <a:ln/>
        </p:spPr>
        <p:txBody>
          <a:bodyPr wrap="square" lIns="0" tIns="0" rIns="0" bIns="0" rtlCol="0" anchor="t"/>
          <a:lstStyle/>
          <a:p>
            <a:pPr indent="0" marL="0">
              <a:buNone/>
            </a:pPr>
            <a:r>
              <a:rPr lang="en-US" sz="1600" b="1" dirty="0">
                <a:solidFill>
                  <a:srgbClr val="1F1A14"/>
                </a:solidFill>
                <a:latin typeface="Cambria" pitchFamily="34" charset="0"/>
                <a:ea typeface="Cambria" pitchFamily="34" charset="-122"/>
                <a:cs typeface="Cambria" pitchFamily="34" charset="-120"/>
              </a:rPr>
              <a:t>Zebra failure to adapt</a:t>
            </a:r>
            <a:endParaRPr lang="en-US" sz="1600" dirty="0"/>
          </a:p>
        </p:txBody>
      </p:sp>
      <p:sp>
        <p:nvSpPr>
          <p:cNvPr id="13" name="Text 11"/>
          <p:cNvSpPr txBox="1"/>
          <p:nvPr/>
        </p:nvSpPr>
        <p:spPr>
          <a:xfrm>
            <a:off x="4114800" y="3438144"/>
            <a:ext cx="1737360" cy="457200"/>
          </a:xfrm>
          <a:prstGeom prst="rect">
            <a:avLst/>
          </a:prstGeom>
          <a:noFill/>
          <a:ln/>
        </p:spPr>
        <p:txBody>
          <a:bodyPr wrap="square" lIns="0" tIns="0" rIns="0" bIns="0" rtlCol="0" anchor="t"/>
          <a:lstStyle/>
          <a:p>
            <a:pPr indent="0" marL="0">
              <a:buNone/>
            </a:pPr>
            <a:r>
              <a:rPr lang="en-US" sz="1600" b="1" dirty="0">
                <a:solidFill>
                  <a:srgbClr val="4E7D32"/>
                </a:solidFill>
              </a:rPr>
              <a:t>Yes</a:t>
            </a:r>
            <a:endParaRPr lang="en-US" sz="1600" dirty="0"/>
          </a:p>
        </p:txBody>
      </p:sp>
      <p:sp>
        <p:nvSpPr>
          <p:cNvPr id="14" name="Text 12"/>
          <p:cNvSpPr txBox="1"/>
          <p:nvPr/>
        </p:nvSpPr>
        <p:spPr>
          <a:xfrm>
            <a:off x="5852160" y="3364992"/>
            <a:ext cx="5577840" cy="640080"/>
          </a:xfrm>
          <a:prstGeom prst="rect">
            <a:avLst/>
          </a:prstGeom>
          <a:noFill/>
          <a:ln/>
        </p:spPr>
        <p:txBody>
          <a:bodyPr wrap="square" lIns="0" tIns="0" rIns="0" bIns="0" rtlCol="0" anchor="t"/>
          <a:lstStyle/>
          <a:p>
            <a:pPr indent="0" marL="0">
              <a:buNone/>
            </a:pPr>
            <a:r>
              <a:rPr lang="en-US" sz="1300" dirty="0">
                <a:solidFill>
                  <a:srgbClr val="1F1A14"/>
                </a:solidFill>
              </a:rPr>
              <a:t>Where no second mouth evolved, herds faded with food still on the map</a:t>
            </a:r>
            <a:endParaRPr lang="en-US" sz="1300" dirty="0"/>
          </a:p>
        </p:txBody>
      </p:sp>
      <p:sp>
        <p:nvSpPr>
          <p:cNvPr id="15" name="Shape 13"/>
          <p:cNvSpPr/>
          <p:nvPr/>
        </p:nvSpPr>
        <p:spPr>
          <a:xfrm>
            <a:off x="548640" y="4197096"/>
            <a:ext cx="11064240" cy="868680"/>
          </a:xfrm>
          <a:prstGeom prst="roundRect">
            <a:avLst>
              <a:gd name="adj" fmla="val 12632"/>
            </a:avLst>
          </a:prstGeom>
          <a:solidFill>
            <a:srgbClr val="F1F3F2"/>
          </a:solidFill>
          <a:ln w="12700">
            <a:solidFill>
              <a:srgbClr val="F1F3F2"/>
            </a:solidFill>
            <a:prstDash val="solid"/>
          </a:ln>
        </p:spPr>
      </p:sp>
      <p:sp>
        <p:nvSpPr>
          <p:cNvPr id="16" name="Text 14"/>
          <p:cNvSpPr txBox="1"/>
          <p:nvPr/>
        </p:nvSpPr>
        <p:spPr>
          <a:xfrm>
            <a:off x="777240" y="4425696"/>
            <a:ext cx="3291840" cy="457200"/>
          </a:xfrm>
          <a:prstGeom prst="rect">
            <a:avLst/>
          </a:prstGeom>
          <a:noFill/>
          <a:ln/>
        </p:spPr>
        <p:txBody>
          <a:bodyPr wrap="square" lIns="0" tIns="0" rIns="0" bIns="0" rtlCol="0" anchor="t"/>
          <a:lstStyle/>
          <a:p>
            <a:pPr indent="0" marL="0">
              <a:buNone/>
            </a:pPr>
            <a:r>
              <a:rPr lang="en-US" sz="1600" b="1" dirty="0">
                <a:solidFill>
                  <a:srgbClr val="1F1A14"/>
                </a:solidFill>
                <a:latin typeface="Cambria" pitchFamily="34" charset="0"/>
                <a:ea typeface="Cambria" pitchFamily="34" charset="-122"/>
                <a:cs typeface="Cambria" pitchFamily="34" charset="-120"/>
              </a:rPr>
              <a:t>Leopard collapse</a:t>
            </a:r>
            <a:endParaRPr lang="en-US" sz="1600" dirty="0"/>
          </a:p>
        </p:txBody>
      </p:sp>
      <p:sp>
        <p:nvSpPr>
          <p:cNvPr id="17" name="Text 15"/>
          <p:cNvSpPr txBox="1"/>
          <p:nvPr/>
        </p:nvSpPr>
        <p:spPr>
          <a:xfrm>
            <a:off x="4114800" y="4425696"/>
            <a:ext cx="1737360" cy="457200"/>
          </a:xfrm>
          <a:prstGeom prst="rect">
            <a:avLst/>
          </a:prstGeom>
          <a:noFill/>
          <a:ln/>
        </p:spPr>
        <p:txBody>
          <a:bodyPr wrap="square" lIns="0" tIns="0" rIns="0" bIns="0" rtlCol="0" anchor="t"/>
          <a:lstStyle/>
          <a:p>
            <a:pPr indent="0" marL="0">
              <a:buNone/>
            </a:pPr>
            <a:r>
              <a:rPr lang="en-US" sz="1600" b="1" dirty="0">
                <a:solidFill>
                  <a:srgbClr val="D98E04"/>
                </a:solidFill>
              </a:rPr>
              <a:t>Yes, not suicide</a:t>
            </a:r>
            <a:endParaRPr lang="en-US" sz="1600" dirty="0"/>
          </a:p>
        </p:txBody>
      </p:sp>
      <p:sp>
        <p:nvSpPr>
          <p:cNvPr id="18" name="Text 16"/>
          <p:cNvSpPr txBox="1"/>
          <p:nvPr/>
        </p:nvSpPr>
        <p:spPr>
          <a:xfrm>
            <a:off x="5852160" y="4352544"/>
            <a:ext cx="5577840" cy="640080"/>
          </a:xfrm>
          <a:prstGeom prst="rect">
            <a:avLst/>
          </a:prstGeom>
          <a:noFill/>
          <a:ln/>
        </p:spPr>
        <p:txBody>
          <a:bodyPr wrap="square" lIns="0" tIns="0" rIns="0" bIns="0" rtlCol="0" anchor="t"/>
          <a:lstStyle/>
          <a:p>
            <a:pPr indent="0" marL="0">
              <a:buNone/>
            </a:pPr>
            <a:r>
              <a:rPr lang="en-US" sz="1300" dirty="0">
                <a:solidFill>
                  <a:srgbClr val="1F1A14"/>
                </a:solidFill>
              </a:rPr>
              <a:t>Boom-bust every time; 48 leopards ate every zebra then starved, set up by density, not an evolved trait</a:t>
            </a:r>
            <a:endParaRPr lang="en-US" sz="1300" dirty="0"/>
          </a:p>
        </p:txBody>
      </p:sp>
      <p:sp>
        <p:nvSpPr>
          <p:cNvPr id="19" name="Shape 17"/>
          <p:cNvSpPr/>
          <p:nvPr/>
        </p:nvSpPr>
        <p:spPr>
          <a:xfrm>
            <a:off x="548640" y="5184648"/>
            <a:ext cx="11064240" cy="868680"/>
          </a:xfrm>
          <a:prstGeom prst="roundRect">
            <a:avLst>
              <a:gd name="adj" fmla="val 12632"/>
            </a:avLst>
          </a:prstGeom>
          <a:solidFill>
            <a:srgbClr val="F1F3F2"/>
          </a:solidFill>
          <a:ln w="12700">
            <a:solidFill>
              <a:srgbClr val="F1F3F2"/>
            </a:solidFill>
            <a:prstDash val="solid"/>
          </a:ln>
        </p:spPr>
      </p:sp>
      <p:sp>
        <p:nvSpPr>
          <p:cNvPr id="20" name="Text 18"/>
          <p:cNvSpPr txBox="1"/>
          <p:nvPr/>
        </p:nvSpPr>
        <p:spPr>
          <a:xfrm>
            <a:off x="777240" y="5413248"/>
            <a:ext cx="3291840" cy="457200"/>
          </a:xfrm>
          <a:prstGeom prst="rect">
            <a:avLst/>
          </a:prstGeom>
          <a:noFill/>
          <a:ln/>
        </p:spPr>
        <p:txBody>
          <a:bodyPr wrap="square" lIns="0" tIns="0" rIns="0" bIns="0" rtlCol="0" anchor="t"/>
          <a:lstStyle/>
          <a:p>
            <a:pPr indent="0" marL="0">
              <a:buNone/>
            </a:pPr>
            <a:r>
              <a:rPr lang="en-US" sz="1600" b="1" dirty="0">
                <a:solidFill>
                  <a:srgbClr val="1F1A14"/>
                </a:solidFill>
                <a:latin typeface="Cambria" pitchFamily="34" charset="0"/>
                <a:ea typeface="Cambria" pitchFamily="34" charset="-122"/>
                <a:cs typeface="Cambria" pitchFamily="34" charset="-120"/>
              </a:rPr>
              <a:t>Horn or fire collapse</a:t>
            </a:r>
            <a:endParaRPr lang="en-US" sz="1600" dirty="0"/>
          </a:p>
        </p:txBody>
      </p:sp>
      <p:sp>
        <p:nvSpPr>
          <p:cNvPr id="21" name="Text 19"/>
          <p:cNvSpPr txBox="1"/>
          <p:nvPr/>
        </p:nvSpPr>
        <p:spPr>
          <a:xfrm>
            <a:off x="4114800" y="5413248"/>
            <a:ext cx="1737360" cy="457200"/>
          </a:xfrm>
          <a:prstGeom prst="rect">
            <a:avLst/>
          </a:prstGeom>
          <a:noFill/>
          <a:ln/>
        </p:spPr>
        <p:txBody>
          <a:bodyPr wrap="square" lIns="0" tIns="0" rIns="0" bIns="0" rtlCol="0" anchor="t"/>
          <a:lstStyle/>
          <a:p>
            <a:pPr indent="0" marL="0">
              <a:buNone/>
            </a:pPr>
            <a:r>
              <a:rPr lang="en-US" sz="1600" b="1" dirty="0">
                <a:solidFill>
                  <a:srgbClr val="B23A3A"/>
                </a:solidFill>
              </a:rPr>
              <a:t>No</a:t>
            </a:r>
            <a:endParaRPr lang="en-US" sz="1600" dirty="0"/>
          </a:p>
        </p:txBody>
      </p:sp>
      <p:sp>
        <p:nvSpPr>
          <p:cNvPr id="22" name="Text 20"/>
          <p:cNvSpPr txBox="1"/>
          <p:nvPr/>
        </p:nvSpPr>
        <p:spPr>
          <a:xfrm>
            <a:off x="5852160" y="5340096"/>
            <a:ext cx="5577840" cy="640080"/>
          </a:xfrm>
          <a:prstGeom prst="rect">
            <a:avLst/>
          </a:prstGeom>
          <a:noFill/>
          <a:ln/>
        </p:spPr>
        <p:txBody>
          <a:bodyPr wrap="square" lIns="0" tIns="0" rIns="0" bIns="0" rtlCol="0" anchor="t"/>
          <a:lstStyle/>
          <a:p>
            <a:pPr indent="0" marL="0">
              <a:buNone/>
            </a:pPr>
            <a:r>
              <a:rPr lang="en-US" sz="1300" dirty="0">
                <a:solidFill>
                  <a:srgbClr val="1F1A14"/>
                </a:solidFill>
              </a:rPr>
              <a:t>Rhinos stayed rare; fires never passed 160 cells on patchy, wet ground</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Seed 1: predators boom and vanish, zebras adapt</a:t>
            </a:r>
            <a:endParaRPr lang="en-US" sz="3000" dirty="0"/>
          </a:p>
        </p:txBody>
      </p:sp>
      <p:pic>
        <p:nvPicPr>
          <p:cNvPr id="3" name="Image 0" descr="C:/Users/Ashley/Documents/LifeEngine/savanna-experiments/output/figures/timeline-main-full-1.png">    </p:cNvPr>
          <p:cNvPicPr>
            <a:picLocks noChangeAspect="1"/>
          </p:cNvPicPr>
          <p:nvPr/>
        </p:nvPicPr>
        <p:blipFill>
          <a:blip r:embed="rId1"/>
          <a:stretch>
            <a:fillRect/>
          </a:stretch>
        </p:blipFill>
        <p:spPr>
          <a:xfrm>
            <a:off x="914400" y="1143000"/>
            <a:ext cx="10332720" cy="5208569"/>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Every leopard and rhino population died out</a:t>
            </a:r>
            <a:endParaRPr lang="en-US" sz="3000" dirty="0"/>
          </a:p>
        </p:txBody>
      </p:sp>
      <p:graphicFrame>
        <p:nvGraphicFramePr>
          <p:cNvPr id="3" name="Chart 0" descr=""/>
          <p:cNvGraphicFramePr/>
          <p:nvPr/>
        </p:nvGraphicFramePr>
        <p:xfrm>
          <a:off x="548640" y="123444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280160"/>
            <a:ext cx="3657600" cy="731520"/>
          </a:xfrm>
          <a:prstGeom prst="rect">
            <a:avLst/>
          </a:prstGeom>
          <a:noFill/>
          <a:ln/>
        </p:spPr>
        <p:txBody>
          <a:bodyPr wrap="square" lIns="0" tIns="0" rIns="0" bIns="0" rtlCol="0" anchor="t"/>
          <a:lstStyle/>
          <a:p>
            <a:pPr indent="0" marL="0">
              <a:buNone/>
            </a:pPr>
            <a:r>
              <a:rPr lang="en-US" sz="4000" b="1" dirty="0">
                <a:solidFill>
                  <a:srgbClr val="D98E04"/>
                </a:solidFill>
                <a:latin typeface="Cambria" pitchFamily="34" charset="0"/>
                <a:ea typeface="Cambria" pitchFamily="34" charset="-122"/>
                <a:cs typeface="Cambria" pitchFamily="34" charset="-120"/>
              </a:rPr>
              <a:t>26 to 35</a:t>
            </a:r>
            <a:endParaRPr lang="en-US" sz="4000" dirty="0"/>
          </a:p>
        </p:txBody>
      </p:sp>
      <p:sp>
        <p:nvSpPr>
          <p:cNvPr id="5" name="Text 2"/>
          <p:cNvSpPr txBox="1"/>
          <p:nvPr/>
        </p:nvSpPr>
        <p:spPr>
          <a:xfrm>
            <a:off x="7955280" y="2011680"/>
            <a:ext cx="3657600" cy="548640"/>
          </a:xfrm>
          <a:prstGeom prst="rect">
            <a:avLst/>
          </a:prstGeom>
          <a:noFill/>
          <a:ln/>
        </p:spPr>
        <p:txBody>
          <a:bodyPr wrap="square" lIns="0" tIns="0" rIns="0" bIns="0" rtlCol="0" anchor="t"/>
          <a:lstStyle/>
          <a:p>
            <a:pPr indent="0" marL="0">
              <a:buNone/>
            </a:pPr>
            <a:r>
              <a:rPr lang="en-US" sz="1300" dirty="0">
                <a:solidFill>
                  <a:srgbClr val="444444"/>
                </a:solidFill>
              </a:rPr>
              <a:t>leopard peak, then extinct by tick 3,600 to 12,800</a:t>
            </a:r>
            <a:endParaRPr lang="en-US" sz="1300" dirty="0"/>
          </a:p>
        </p:txBody>
      </p:sp>
      <p:sp>
        <p:nvSpPr>
          <p:cNvPr id="6" name="Text 3"/>
          <p:cNvSpPr txBox="1"/>
          <p:nvPr/>
        </p:nvSpPr>
        <p:spPr>
          <a:xfrm>
            <a:off x="7955280" y="2834640"/>
            <a:ext cx="3657600" cy="731520"/>
          </a:xfrm>
          <a:prstGeom prst="rect">
            <a:avLst/>
          </a:prstGeom>
          <a:noFill/>
          <a:ln/>
        </p:spPr>
        <p:txBody>
          <a:bodyPr wrap="square" lIns="0" tIns="0" rIns="0" bIns="0" rtlCol="0" anchor="t"/>
          <a:lstStyle/>
          <a:p>
            <a:pPr indent="0" marL="0">
              <a:buNone/>
            </a:pPr>
            <a:r>
              <a:rPr lang="en-US" sz="4000" b="1" dirty="0">
                <a:solidFill>
                  <a:srgbClr val="7A5C3E"/>
                </a:solidFill>
                <a:latin typeface="Cambria" pitchFamily="34" charset="0"/>
                <a:ea typeface="Cambria" pitchFamily="34" charset="-122"/>
                <a:cs typeface="Cambria" pitchFamily="34" charset="-120"/>
              </a:rPr>
              <a:t>5 of 5</a:t>
            </a:r>
            <a:endParaRPr lang="en-US" sz="4000" dirty="0"/>
          </a:p>
        </p:txBody>
      </p:sp>
      <p:sp>
        <p:nvSpPr>
          <p:cNvPr id="7" name="Text 4"/>
          <p:cNvSpPr txBox="1"/>
          <p:nvPr/>
        </p:nvSpPr>
        <p:spPr>
          <a:xfrm>
            <a:off x="7955280" y="3566160"/>
            <a:ext cx="3657600" cy="548640"/>
          </a:xfrm>
          <a:prstGeom prst="rect">
            <a:avLst/>
          </a:prstGeom>
          <a:noFill/>
          <a:ln/>
        </p:spPr>
        <p:txBody>
          <a:bodyPr wrap="square" lIns="0" tIns="0" rIns="0" bIns="0" rtlCol="0" anchor="t"/>
          <a:lstStyle/>
          <a:p>
            <a:pPr indent="0" marL="0">
              <a:buNone/>
            </a:pPr>
            <a:r>
              <a:rPr lang="en-US" sz="1300" dirty="0">
                <a:solidFill>
                  <a:srgbClr val="444444"/>
                </a:solidFill>
              </a:rPr>
              <a:t>rhino populations faded out by tick 17,300</a:t>
            </a:r>
            <a:endParaRPr lang="en-US" sz="1300" dirty="0"/>
          </a:p>
        </p:txBody>
      </p:sp>
      <p:sp>
        <p:nvSpPr>
          <p:cNvPr id="8" name="Text 5"/>
          <p:cNvSpPr txBox="1"/>
          <p:nvPr/>
        </p:nvSpPr>
        <p:spPr>
          <a:xfrm>
            <a:off x="7955280" y="4389120"/>
            <a:ext cx="3657600" cy="731520"/>
          </a:xfrm>
          <a:prstGeom prst="rect">
            <a:avLst/>
          </a:prstGeom>
          <a:noFill/>
          <a:ln/>
        </p:spPr>
        <p:txBody>
          <a:bodyPr wrap="square" lIns="0" tIns="0" rIns="0" bIns="0" rtlCol="0" anchor="t"/>
          <a:lstStyle/>
          <a:p>
            <a:pPr indent="0" marL="0">
              <a:buNone/>
            </a:pPr>
            <a:r>
              <a:rPr lang="en-US" sz="4000" b="1" dirty="0">
                <a:solidFill>
                  <a:srgbClr val="1F1A14"/>
                </a:solidFill>
                <a:latin typeface="Cambria" pitchFamily="34" charset="0"/>
                <a:ea typeface="Cambria" pitchFamily="34" charset="-122"/>
                <a:cs typeface="Cambria" pitchFamily="34" charset="-120"/>
              </a:rPr>
              <a:t>1 of 5</a:t>
            </a:r>
            <a:endParaRPr lang="en-US" sz="4000" dirty="0"/>
          </a:p>
        </p:txBody>
      </p:sp>
      <p:sp>
        <p:nvSpPr>
          <p:cNvPr id="9" name="Text 6"/>
          <p:cNvSpPr txBox="1"/>
          <p:nvPr/>
        </p:nvSpPr>
        <p:spPr>
          <a:xfrm>
            <a:off x="7955280" y="5120640"/>
            <a:ext cx="3657600" cy="548640"/>
          </a:xfrm>
          <a:prstGeom prst="rect">
            <a:avLst/>
          </a:prstGeom>
          <a:noFill/>
          <a:ln/>
        </p:spPr>
        <p:txBody>
          <a:bodyPr wrap="square" lIns="0" tIns="0" rIns="0" bIns="0" rtlCol="0" anchor="t"/>
          <a:lstStyle/>
          <a:p>
            <a:pPr indent="0" marL="0">
              <a:buNone/>
            </a:pPr>
            <a:r>
              <a:rPr lang="en-US" sz="1300" dirty="0">
                <a:solidFill>
                  <a:srgbClr val="444444"/>
                </a:solidFill>
              </a:rPr>
              <a:t>zebra lineages alive at 100k: the one that evolved a second mouth</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Three different ways to disappear</a:t>
            </a:r>
            <a:endParaRPr lang="en-US" sz="3000" dirty="0"/>
          </a:p>
        </p:txBody>
      </p:sp>
      <p:sp>
        <p:nvSpPr>
          <p:cNvPr id="3" name="Shape 1"/>
          <p:cNvSpPr/>
          <p:nvPr/>
        </p:nvSpPr>
        <p:spPr>
          <a:xfrm>
            <a:off x="548640" y="1325880"/>
            <a:ext cx="3520440" cy="3566160"/>
          </a:xfrm>
          <a:prstGeom prst="roundRect">
            <a:avLst>
              <a:gd name="adj" fmla="val 3117"/>
            </a:avLst>
          </a:prstGeom>
          <a:solidFill>
            <a:srgbClr val="F1F3F2"/>
          </a:solidFill>
          <a:ln w="12700">
            <a:solidFill>
              <a:srgbClr val="F1F3F2"/>
            </a:solidFill>
            <a:prstDash val="solid"/>
          </a:ln>
        </p:spPr>
      </p:sp>
      <p:sp>
        <p:nvSpPr>
          <p:cNvPr id="4" name="Text 2"/>
          <p:cNvSpPr txBox="1"/>
          <p:nvPr/>
        </p:nvSpPr>
        <p:spPr>
          <a:xfrm>
            <a:off x="822960" y="1554480"/>
            <a:ext cx="3017520" cy="502920"/>
          </a:xfrm>
          <a:prstGeom prst="rect">
            <a:avLst/>
          </a:prstGeom>
          <a:noFill/>
          <a:ln/>
        </p:spPr>
        <p:txBody>
          <a:bodyPr wrap="square" lIns="0" tIns="0" rIns="0" bIns="0" rtlCol="0" anchor="t"/>
          <a:lstStyle/>
          <a:p>
            <a:pPr indent="0" marL="0">
              <a:buNone/>
            </a:pPr>
            <a:r>
              <a:rPr lang="en-US" sz="2400" b="1" dirty="0">
                <a:solidFill>
                  <a:srgbClr val="D98E04"/>
                </a:solidFill>
                <a:latin typeface="Cambria" pitchFamily="34" charset="0"/>
                <a:ea typeface="Cambria" pitchFamily="34" charset="-122"/>
                <a:cs typeface="Cambria" pitchFamily="34" charset="-120"/>
              </a:rPr>
              <a:t>Leopards</a:t>
            </a:r>
            <a:endParaRPr lang="en-US" sz="2400" dirty="0"/>
          </a:p>
        </p:txBody>
      </p:sp>
      <p:sp>
        <p:nvSpPr>
          <p:cNvPr id="5" name="Text 3"/>
          <p:cNvSpPr txBox="1"/>
          <p:nvPr/>
        </p:nvSpPr>
        <p:spPr>
          <a:xfrm>
            <a:off x="822960" y="2103120"/>
            <a:ext cx="3017520" cy="411480"/>
          </a:xfrm>
          <a:prstGeom prst="rect">
            <a:avLst/>
          </a:prstGeom>
          <a:noFill/>
          <a:ln/>
        </p:spPr>
        <p:txBody>
          <a:bodyPr wrap="square" lIns="0" tIns="0" rIns="0" bIns="0" rtlCol="0" anchor="t"/>
          <a:lstStyle/>
          <a:p>
            <a:pPr indent="0" marL="0">
              <a:buNone/>
            </a:pPr>
            <a:r>
              <a:rPr lang="en-US" sz="1700" b="1" dirty="0">
                <a:solidFill>
                  <a:srgbClr val="555555"/>
                </a:solidFill>
              </a:rPr>
              <a:t>Boom then bust</a:t>
            </a:r>
            <a:endParaRPr lang="en-US" sz="1700" dirty="0"/>
          </a:p>
        </p:txBody>
      </p:sp>
      <p:sp>
        <p:nvSpPr>
          <p:cNvPr id="6" name="Text 4"/>
          <p:cNvSpPr txBox="1"/>
          <p:nvPr/>
        </p:nvSpPr>
        <p:spPr>
          <a:xfrm>
            <a:off x="822960" y="2743200"/>
            <a:ext cx="3017520" cy="3108960"/>
          </a:xfrm>
          <a:prstGeom prst="rect">
            <a:avLst/>
          </a:prstGeom>
          <a:noFill/>
          <a:ln/>
        </p:spPr>
        <p:txBody>
          <a:bodyPr wrap="square" lIns="0" tIns="0" rIns="0" bIns="0" rtlCol="0" anchor="t"/>
          <a:lstStyle/>
          <a:p>
            <a:pPr indent="0" marL="0">
              <a:buNone/>
            </a:pPr>
            <a:r>
              <a:rPr lang="en-US" sz="1500" dirty="0">
                <a:solidFill>
                  <a:srgbClr val="1F1A14"/>
                </a:solidFill>
              </a:rPr>
              <a:t>Killed 57 to 144 zebras per run, then aged out or were kicked to death. Zebras never crashed first: a predator that failed to persist, not over-predation.</a:t>
            </a:r>
            <a:endParaRPr lang="en-US" sz="1500" dirty="0"/>
          </a:p>
        </p:txBody>
      </p:sp>
      <p:sp>
        <p:nvSpPr>
          <p:cNvPr id="7" name="Shape 5"/>
          <p:cNvSpPr/>
          <p:nvPr/>
        </p:nvSpPr>
        <p:spPr>
          <a:xfrm>
            <a:off x="4297680" y="1325880"/>
            <a:ext cx="3520440" cy="3566160"/>
          </a:xfrm>
          <a:prstGeom prst="roundRect">
            <a:avLst>
              <a:gd name="adj" fmla="val 3117"/>
            </a:avLst>
          </a:prstGeom>
          <a:solidFill>
            <a:srgbClr val="F1F3F2"/>
          </a:solidFill>
          <a:ln w="12700">
            <a:solidFill>
              <a:srgbClr val="F1F3F2"/>
            </a:solidFill>
            <a:prstDash val="solid"/>
          </a:ln>
        </p:spPr>
      </p:sp>
      <p:sp>
        <p:nvSpPr>
          <p:cNvPr id="8" name="Text 6"/>
          <p:cNvSpPr txBox="1"/>
          <p:nvPr/>
        </p:nvSpPr>
        <p:spPr>
          <a:xfrm>
            <a:off x="4572000" y="1554480"/>
            <a:ext cx="3017520" cy="502920"/>
          </a:xfrm>
          <a:prstGeom prst="rect">
            <a:avLst/>
          </a:prstGeom>
          <a:noFill/>
          <a:ln/>
        </p:spPr>
        <p:txBody>
          <a:bodyPr wrap="square" lIns="0" tIns="0" rIns="0" bIns="0" rtlCol="0" anchor="t"/>
          <a:lstStyle/>
          <a:p>
            <a:pPr indent="0" marL="0">
              <a:buNone/>
            </a:pPr>
            <a:r>
              <a:rPr lang="en-US" sz="2400" b="1" dirty="0">
                <a:solidFill>
                  <a:srgbClr val="7A5C3E"/>
                </a:solidFill>
                <a:latin typeface="Cambria" pitchFamily="34" charset="0"/>
                <a:ea typeface="Cambria" pitchFamily="34" charset="-122"/>
                <a:cs typeface="Cambria" pitchFamily="34" charset="-120"/>
              </a:rPr>
              <a:t>Rhinos</a:t>
            </a:r>
            <a:endParaRPr lang="en-US" sz="2400" dirty="0"/>
          </a:p>
        </p:txBody>
      </p:sp>
      <p:sp>
        <p:nvSpPr>
          <p:cNvPr id="9" name="Text 7"/>
          <p:cNvSpPr txBox="1"/>
          <p:nvPr/>
        </p:nvSpPr>
        <p:spPr>
          <a:xfrm>
            <a:off x="4572000" y="2103120"/>
            <a:ext cx="3017520" cy="411480"/>
          </a:xfrm>
          <a:prstGeom prst="rect">
            <a:avLst/>
          </a:prstGeom>
          <a:noFill/>
          <a:ln/>
        </p:spPr>
        <p:txBody>
          <a:bodyPr wrap="square" lIns="0" tIns="0" rIns="0" bIns="0" rtlCol="0" anchor="t"/>
          <a:lstStyle/>
          <a:p>
            <a:pPr indent="0" marL="0">
              <a:buNone/>
            </a:pPr>
            <a:r>
              <a:rPr lang="en-US" sz="1700" b="1" dirty="0">
                <a:solidFill>
                  <a:srgbClr val="555555"/>
                </a:solidFill>
              </a:rPr>
              <a:t>Failure to adapt</a:t>
            </a:r>
            <a:endParaRPr lang="en-US" sz="1700" dirty="0"/>
          </a:p>
        </p:txBody>
      </p:sp>
      <p:sp>
        <p:nvSpPr>
          <p:cNvPr id="10" name="Text 8"/>
          <p:cNvSpPr txBox="1"/>
          <p:nvPr/>
        </p:nvSpPr>
        <p:spPr>
          <a:xfrm>
            <a:off x="4572000" y="2743200"/>
            <a:ext cx="3017520" cy="3108960"/>
          </a:xfrm>
          <a:prstGeom prst="rect">
            <a:avLst/>
          </a:prstGeom>
          <a:noFill/>
          <a:ln/>
        </p:spPr>
        <p:txBody>
          <a:bodyPr wrap="square" lIns="0" tIns="0" rIns="0" bIns="0" rtlCol="0" anchor="t"/>
          <a:lstStyle/>
          <a:p>
            <a:pPr indent="0" marL="0">
              <a:buNone/>
            </a:pPr>
            <a:r>
              <a:rPr lang="en-US" sz="1500" dirty="0">
                <a:solidFill>
                  <a:srgbClr val="1F1A14"/>
                </a:solidFill>
              </a:rPr>
              <a:t>Rose to 27 to 80, then died of old age (54 to 358 per run, versus 17 to 66 killed). At 16 food per calf they could not keep up with zebras.</a:t>
            </a:r>
            <a:endParaRPr lang="en-US" sz="1500" dirty="0"/>
          </a:p>
        </p:txBody>
      </p:sp>
      <p:sp>
        <p:nvSpPr>
          <p:cNvPr id="11" name="Shape 9"/>
          <p:cNvSpPr/>
          <p:nvPr/>
        </p:nvSpPr>
        <p:spPr>
          <a:xfrm>
            <a:off x="8046720" y="1325880"/>
            <a:ext cx="3520440" cy="3566160"/>
          </a:xfrm>
          <a:prstGeom prst="roundRect">
            <a:avLst>
              <a:gd name="adj" fmla="val 3117"/>
            </a:avLst>
          </a:prstGeom>
          <a:solidFill>
            <a:srgbClr val="F1F3F2"/>
          </a:solidFill>
          <a:ln w="12700">
            <a:solidFill>
              <a:srgbClr val="F1F3F2"/>
            </a:solidFill>
            <a:prstDash val="solid"/>
          </a:ln>
        </p:spPr>
      </p:sp>
      <p:sp>
        <p:nvSpPr>
          <p:cNvPr id="12" name="Text 10"/>
          <p:cNvSpPr txBox="1"/>
          <p:nvPr/>
        </p:nvSpPr>
        <p:spPr>
          <a:xfrm>
            <a:off x="8321040" y="1554480"/>
            <a:ext cx="3017520" cy="502920"/>
          </a:xfrm>
          <a:prstGeom prst="rect">
            <a:avLst/>
          </a:prstGeom>
          <a:noFill/>
          <a:ln/>
        </p:spPr>
        <p:txBody>
          <a:bodyPr wrap="square" lIns="0" tIns="0" rIns="0" bIns="0" rtlCol="0" anchor="t"/>
          <a:lstStyle/>
          <a:p>
            <a:pPr indent="0" marL="0">
              <a:buNone/>
            </a:pPr>
            <a:r>
              <a:rPr lang="en-US" sz="2400" b="1" dirty="0">
                <a:solidFill>
                  <a:srgbClr val="1F1A14"/>
                </a:solidFill>
                <a:latin typeface="Cambria" pitchFamily="34" charset="0"/>
                <a:ea typeface="Cambria" pitchFamily="34" charset="-122"/>
                <a:cs typeface="Cambria" pitchFamily="34" charset="-120"/>
              </a:rPr>
              <a:t>Zebras</a:t>
            </a:r>
            <a:endParaRPr lang="en-US" sz="2400" dirty="0"/>
          </a:p>
        </p:txBody>
      </p:sp>
      <p:sp>
        <p:nvSpPr>
          <p:cNvPr id="13" name="Text 11"/>
          <p:cNvSpPr txBox="1"/>
          <p:nvPr/>
        </p:nvSpPr>
        <p:spPr>
          <a:xfrm>
            <a:off x="8321040" y="2103120"/>
            <a:ext cx="3017520" cy="411480"/>
          </a:xfrm>
          <a:prstGeom prst="rect">
            <a:avLst/>
          </a:prstGeom>
          <a:noFill/>
          <a:ln/>
        </p:spPr>
        <p:txBody>
          <a:bodyPr wrap="square" lIns="0" tIns="0" rIns="0" bIns="0" rtlCol="0" anchor="t"/>
          <a:lstStyle/>
          <a:p>
            <a:pPr indent="0" marL="0">
              <a:buNone/>
            </a:pPr>
            <a:r>
              <a:rPr lang="en-US" sz="1700" b="1" dirty="0">
                <a:solidFill>
                  <a:srgbClr val="555555"/>
                </a:solidFill>
              </a:rPr>
              <a:t>Adapt or fade</a:t>
            </a:r>
            <a:endParaRPr lang="en-US" sz="1700" dirty="0"/>
          </a:p>
        </p:txBody>
      </p:sp>
      <p:sp>
        <p:nvSpPr>
          <p:cNvPr id="14" name="Text 12"/>
          <p:cNvSpPr txBox="1"/>
          <p:nvPr/>
        </p:nvSpPr>
        <p:spPr>
          <a:xfrm>
            <a:off x="8321040" y="2743200"/>
            <a:ext cx="3017520" cy="3108960"/>
          </a:xfrm>
          <a:prstGeom prst="rect">
            <a:avLst/>
          </a:prstGeom>
          <a:noFill/>
          <a:ln/>
        </p:spPr>
        <p:txBody>
          <a:bodyPr wrap="square" lIns="0" tIns="0" rIns="0" bIns="0" rtlCol="0" anchor="t"/>
          <a:lstStyle/>
          <a:p>
            <a:pPr indent="0" marL="0">
              <a:buNone/>
            </a:pPr>
            <a:r>
              <a:rPr lang="en-US" sz="1500" dirty="0">
                <a:solidFill>
                  <a:srgbClr val="1F1A14"/>
                </a:solidFill>
              </a:rPr>
              <a:t>Where a second mouth spread, zebras thrived. Where it did not, they faded over tens of thousands of ticks with food still on the map.</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Without the river or soil water, every zebra lineage died</a:t>
            </a:r>
            <a:endParaRPr lang="en-US" sz="3000" dirty="0"/>
          </a:p>
        </p:txBody>
      </p:sp>
      <p:graphicFrame>
        <p:nvGraphicFramePr>
          <p:cNvPr id="3" name="Chart 0" descr=""/>
          <p:cNvGraphicFramePr/>
          <p:nvPr/>
        </p:nvGraphicFramePr>
        <p:xfrm>
          <a:off x="548640" y="1188720"/>
          <a:ext cx="5486400" cy="50292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188720"/>
          <a:ext cx="5486400" cy="50292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Zebras streamlined instead of overgrazing</a:t>
            </a:r>
            <a:endParaRPr lang="en-US" sz="3000" dirty="0"/>
          </a:p>
        </p:txBody>
      </p:sp>
      <p:pic>
        <p:nvPicPr>
          <p:cNvPr id="3" name="Image 0" descr="C:/Users/Ashley/Documents/LifeEngine/savanna-experiments/output/figures/timeline-mech-full-5.png">    </p:cNvPr>
          <p:cNvPicPr>
            <a:picLocks noChangeAspect="1"/>
          </p:cNvPicPr>
          <p:nvPr/>
        </p:nvPicPr>
        <p:blipFill>
          <a:blip r:embed="rId1"/>
          <a:stretch>
            <a:fillRect/>
          </a:stretch>
        </p:blipFill>
        <p:spPr>
          <a:xfrm>
            <a:off x="548640" y="1143000"/>
            <a:ext cx="11064240" cy="2199272"/>
          </a:xfrm>
          <a:prstGeom prst="rect">
            <a:avLst/>
          </a:prstGeom>
        </p:spPr>
      </p:pic>
      <p:graphicFrame>
        <p:nvGraphicFramePr>
          <p:cNvPr id="4" name="Chart 0" descr=""/>
          <p:cNvGraphicFramePr/>
          <p:nvPr/>
        </p:nvGraphicFramePr>
        <p:xfrm>
          <a:off x="548640" y="3520440"/>
          <a:ext cx="6766560" cy="27432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7589520" y="3657600"/>
            <a:ext cx="4023360" cy="2560320"/>
          </a:xfrm>
          <a:prstGeom prst="rect">
            <a:avLst/>
          </a:prstGeom>
          <a:noFill/>
          <a:ln/>
        </p:spPr>
        <p:txBody>
          <a:bodyPr wrap="square" lIns="0" tIns="0" rIns="0" bIns="0" rtlCol="0" anchor="t"/>
          <a:lstStyle/>
          <a:p>
            <a:pPr indent="0" marL="0">
              <a:buNone/>
            </a:pPr>
            <a:r>
              <a:rPr lang="en-US" sz="1500" dirty="0">
                <a:solidFill>
                  <a:srgbClr val="1F1A14"/>
                </a:solidFill>
              </a:rPr>
              <a:t>Once leopards are gone, eyes, stripes and the kick are dead weight. A smaller body breeds on less food and a second mouth eats faster. Grass food never crashed (500 to 2,000 cells), so the trait never destroyed its own food: adaptation, not suicide.</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Longer, drier, more predators, more fire: same verdict</a:t>
            </a:r>
            <a:endParaRPr lang="en-US" sz="3000" dirty="0"/>
          </a:p>
        </p:txBody>
      </p:sp>
      <p:sp>
        <p:nvSpPr>
          <p:cNvPr id="3" name="Shape 1"/>
          <p:cNvSpPr/>
          <p:nvPr/>
        </p:nvSpPr>
        <p:spPr>
          <a:xfrm>
            <a:off x="548640" y="1234440"/>
            <a:ext cx="3520440" cy="1554480"/>
          </a:xfrm>
          <a:prstGeom prst="roundRect">
            <a:avLst>
              <a:gd name="adj" fmla="val 7059"/>
            </a:avLst>
          </a:prstGeom>
          <a:solidFill>
            <a:srgbClr val="F1F3F2"/>
          </a:solidFill>
          <a:ln w="12700">
            <a:solidFill>
              <a:srgbClr val="F1F3F2"/>
            </a:solidFill>
            <a:prstDash val="solid"/>
          </a:ln>
        </p:spPr>
      </p:sp>
      <p:sp>
        <p:nvSpPr>
          <p:cNvPr id="4" name="Text 2"/>
          <p:cNvSpPr txBox="1"/>
          <p:nvPr/>
        </p:nvSpPr>
        <p:spPr>
          <a:xfrm>
            <a:off x="777240" y="1371600"/>
            <a:ext cx="3108960" cy="411480"/>
          </a:xfrm>
          <a:prstGeom prst="rect">
            <a:avLst/>
          </a:prstGeom>
          <a:noFill/>
          <a:ln/>
        </p:spPr>
        <p:txBody>
          <a:bodyPr wrap="square" lIns="0" tIns="0" rIns="0" bIns="0" rtlCol="0" anchor="t"/>
          <a:lstStyle/>
          <a:p>
            <a:pPr indent="0" marL="0">
              <a:buNone/>
            </a:pPr>
            <a:r>
              <a:rPr lang="en-US" sz="1800" b="1" dirty="0">
                <a:solidFill>
                  <a:srgbClr val="1F1A14"/>
                </a:solidFill>
                <a:latin typeface="Cambria" pitchFamily="34" charset="0"/>
                <a:ea typeface="Cambria" pitchFamily="34" charset="-122"/>
                <a:cs typeface="Cambria" pitchFamily="34" charset="-120"/>
              </a:rPr>
              <a:t>200k ticks, 40% rain</a:t>
            </a:r>
            <a:endParaRPr lang="en-US" sz="1800" dirty="0"/>
          </a:p>
        </p:txBody>
      </p:sp>
      <p:sp>
        <p:nvSpPr>
          <p:cNvPr id="5" name="Text 3"/>
          <p:cNvSpPr txBox="1"/>
          <p:nvPr/>
        </p:nvSpPr>
        <p:spPr>
          <a:xfrm>
            <a:off x="777240" y="1828800"/>
            <a:ext cx="3108960" cy="914400"/>
          </a:xfrm>
          <a:prstGeom prst="rect">
            <a:avLst/>
          </a:prstGeom>
          <a:noFill/>
          <a:ln/>
        </p:spPr>
        <p:txBody>
          <a:bodyPr wrap="square" lIns="0" tIns="0" rIns="0" bIns="0" rtlCol="0" anchor="t"/>
          <a:lstStyle/>
          <a:p>
            <a:pPr indent="0" marL="0">
              <a:buNone/>
            </a:pPr>
            <a:r>
              <a:rPr lang="en-US" sz="1300" dirty="0">
                <a:solidFill>
                  <a:srgbClr val="1F1A14"/>
                </a:solidFill>
              </a:rPr>
              <a:t>Zebras evolved up to 2.8 mouths as food fell, then died out. Food kept falling after they were gone: grass crowding, not grazing.</a:t>
            </a:r>
            <a:endParaRPr lang="en-US" sz="1300" dirty="0"/>
          </a:p>
        </p:txBody>
      </p:sp>
      <p:sp>
        <p:nvSpPr>
          <p:cNvPr id="6" name="Shape 4"/>
          <p:cNvSpPr/>
          <p:nvPr/>
        </p:nvSpPr>
        <p:spPr>
          <a:xfrm>
            <a:off x="4297680" y="1234440"/>
            <a:ext cx="3520440" cy="1554480"/>
          </a:xfrm>
          <a:prstGeom prst="roundRect">
            <a:avLst>
              <a:gd name="adj" fmla="val 7059"/>
            </a:avLst>
          </a:prstGeom>
          <a:solidFill>
            <a:srgbClr val="F1F3F2"/>
          </a:solidFill>
          <a:ln w="12700">
            <a:solidFill>
              <a:srgbClr val="F1F3F2"/>
            </a:solidFill>
            <a:prstDash val="solid"/>
          </a:ln>
        </p:spPr>
      </p:sp>
      <p:sp>
        <p:nvSpPr>
          <p:cNvPr id="7" name="Text 5"/>
          <p:cNvSpPr txBox="1"/>
          <p:nvPr/>
        </p:nvSpPr>
        <p:spPr>
          <a:xfrm>
            <a:off x="4526280" y="1371600"/>
            <a:ext cx="3108960" cy="411480"/>
          </a:xfrm>
          <a:prstGeom prst="rect">
            <a:avLst/>
          </a:prstGeom>
          <a:noFill/>
          <a:ln/>
        </p:spPr>
        <p:txBody>
          <a:bodyPr wrap="square" lIns="0" tIns="0" rIns="0" bIns="0" rtlCol="0" anchor="t"/>
          <a:lstStyle/>
          <a:p>
            <a:pPr indent="0" marL="0">
              <a:buNone/>
            </a:pPr>
            <a:r>
              <a:rPr lang="en-US" sz="1800" b="1" dirty="0">
                <a:solidFill>
                  <a:srgbClr val="D98E04"/>
                </a:solidFill>
                <a:latin typeface="Cambria" pitchFamily="34" charset="0"/>
                <a:ea typeface="Cambria" pitchFamily="34" charset="-122"/>
                <a:cs typeface="Cambria" pitchFamily="34" charset="-120"/>
              </a:rPr>
              <a:t>32 and 48 leopards</a:t>
            </a:r>
            <a:endParaRPr lang="en-US" sz="1800" dirty="0"/>
          </a:p>
        </p:txBody>
      </p:sp>
      <p:sp>
        <p:nvSpPr>
          <p:cNvPr id="8" name="Text 6"/>
          <p:cNvSpPr txBox="1"/>
          <p:nvPr/>
        </p:nvSpPr>
        <p:spPr>
          <a:xfrm>
            <a:off x="4526280" y="1828800"/>
            <a:ext cx="3108960" cy="914400"/>
          </a:xfrm>
          <a:prstGeom prst="rect">
            <a:avLst/>
          </a:prstGeom>
          <a:noFill/>
          <a:ln/>
        </p:spPr>
        <p:txBody>
          <a:bodyPr wrap="square" lIns="0" tIns="0" rIns="0" bIns="0" rtlCol="0" anchor="t"/>
          <a:lstStyle/>
          <a:p>
            <a:pPr indent="0" marL="0">
              <a:buNone/>
            </a:pPr>
            <a:r>
              <a:rPr lang="en-US" sz="1300" dirty="0">
                <a:solidFill>
                  <a:srgbClr val="1F1A14"/>
                </a:solidFill>
              </a:rPr>
              <a:t>48 leopards ate the whole herd in about 1,300 ticks, then starved: over-exploitation from density, not an evolved trait.</a:t>
            </a:r>
            <a:endParaRPr lang="en-US" sz="1300" dirty="0"/>
          </a:p>
        </p:txBody>
      </p:sp>
      <p:sp>
        <p:nvSpPr>
          <p:cNvPr id="9" name="Shape 7"/>
          <p:cNvSpPr/>
          <p:nvPr/>
        </p:nvSpPr>
        <p:spPr>
          <a:xfrm>
            <a:off x="8046720" y="1234440"/>
            <a:ext cx="3520440" cy="1554480"/>
          </a:xfrm>
          <a:prstGeom prst="roundRect">
            <a:avLst>
              <a:gd name="adj" fmla="val 7059"/>
            </a:avLst>
          </a:prstGeom>
          <a:solidFill>
            <a:srgbClr val="F1F3F2"/>
          </a:solidFill>
          <a:ln w="12700">
            <a:solidFill>
              <a:srgbClr val="F1F3F2"/>
            </a:solidFill>
            <a:prstDash val="solid"/>
          </a:ln>
        </p:spPr>
      </p:sp>
      <p:sp>
        <p:nvSpPr>
          <p:cNvPr id="10" name="Text 8"/>
          <p:cNvSpPr txBox="1"/>
          <p:nvPr/>
        </p:nvSpPr>
        <p:spPr>
          <a:xfrm>
            <a:off x="8275320" y="1371600"/>
            <a:ext cx="3108960" cy="411480"/>
          </a:xfrm>
          <a:prstGeom prst="rect">
            <a:avLst/>
          </a:prstGeom>
          <a:noFill/>
          <a:ln/>
        </p:spPr>
        <p:txBody>
          <a:bodyPr wrap="square" lIns="0" tIns="0" rIns="0" bIns="0" rtlCol="0" anchor="t"/>
          <a:lstStyle/>
          <a:p>
            <a:pPr indent="0" marL="0">
              <a:buNone/>
            </a:pPr>
            <a:r>
              <a:rPr lang="en-US" sz="1800" b="1" dirty="0">
                <a:solidFill>
                  <a:srgbClr val="B23A3A"/>
                </a:solidFill>
                <a:latin typeface="Cambria" pitchFamily="34" charset="0"/>
                <a:ea typeface="Cambria" pitchFamily="34" charset="-122"/>
                <a:cs typeface="Cambria" pitchFamily="34" charset="-120"/>
              </a:rPr>
              <a:t>10x fire chance</a:t>
            </a:r>
            <a:endParaRPr lang="en-US" sz="1800" dirty="0"/>
          </a:p>
        </p:txBody>
      </p:sp>
      <p:sp>
        <p:nvSpPr>
          <p:cNvPr id="11" name="Text 9"/>
          <p:cNvSpPr txBox="1"/>
          <p:nvPr/>
        </p:nvSpPr>
        <p:spPr>
          <a:xfrm>
            <a:off x="8275320" y="1828800"/>
            <a:ext cx="3108960" cy="914400"/>
          </a:xfrm>
          <a:prstGeom prst="rect">
            <a:avLst/>
          </a:prstGeom>
          <a:noFill/>
          <a:ln/>
        </p:spPr>
        <p:txBody>
          <a:bodyPr wrap="square" lIns="0" tIns="0" rIns="0" bIns="0" rtlCol="0" anchor="t"/>
          <a:lstStyle/>
          <a:p>
            <a:pPr indent="0" marL="0">
              <a:buNone/>
            </a:pPr>
            <a:r>
              <a:rPr lang="en-US" sz="1300" dirty="0">
                <a:solidFill>
                  <a:srgbClr val="1F1A14"/>
                </a:solidFill>
              </a:rPr>
              <a:t>Burning rose only 2.6x and no fire passed 160 cells. Patchy plants on wet soil starve fires of fuel.</a:t>
            </a:r>
            <a:endParaRPr lang="en-US" sz="1300" dirty="0"/>
          </a:p>
        </p:txBody>
      </p:sp>
      <p:pic>
        <p:nvPicPr>
          <p:cNvPr id="12" name="Image 0" descr="C:/Users/Ashley/Documents/LifeEngine/savanna-experiments/output/figures/timeline-long-dry-3.png">    </p:cNvPr>
          <p:cNvPicPr>
            <a:picLocks noChangeAspect="1"/>
          </p:cNvPicPr>
          <p:nvPr/>
        </p:nvPicPr>
        <p:blipFill>
          <a:blip r:embed="rId1"/>
          <a:stretch>
            <a:fillRect/>
          </a:stretch>
        </p:blipFill>
        <p:spPr>
          <a:xfrm>
            <a:off x="548640" y="3017520"/>
            <a:ext cx="5440680" cy="2742565"/>
          </a:xfrm>
          <a:prstGeom prst="rect">
            <a:avLst/>
          </a:prstGeom>
        </p:spPr>
      </p:pic>
      <p:pic>
        <p:nvPicPr>
          <p:cNvPr id="13" name="Image 1" descr="C:/Users/Ashley/Documents/LifeEngine/savanna-experiments/output/figures/timeline-leopards48.png">    </p:cNvPr>
          <p:cNvPicPr>
            <a:picLocks noChangeAspect="1"/>
          </p:cNvPicPr>
          <p:nvPr/>
        </p:nvPicPr>
        <p:blipFill>
          <a:blip r:embed="rId2"/>
          <a:stretch>
            <a:fillRect/>
          </a:stretch>
        </p:blipFill>
        <p:spPr>
          <a:xfrm>
            <a:off x="6172200" y="3017520"/>
            <a:ext cx="5440680" cy="2742565"/>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Answers to the brief</a:t>
            </a:r>
            <a:endParaRPr lang="en-US" sz="3000" dirty="0"/>
          </a:p>
        </p:txBody>
      </p:sp>
      <p:sp>
        <p:nvSpPr>
          <p:cNvPr id="3" name="Shape 1"/>
          <p:cNvSpPr/>
          <p:nvPr/>
        </p:nvSpPr>
        <p:spPr>
          <a:xfrm>
            <a:off x="548640" y="1325880"/>
            <a:ext cx="5440680" cy="2103120"/>
          </a:xfrm>
          <a:prstGeom prst="roundRect">
            <a:avLst>
              <a:gd name="adj" fmla="val 5217"/>
            </a:avLst>
          </a:prstGeom>
          <a:solidFill>
            <a:srgbClr val="F1F3F2"/>
          </a:solidFill>
          <a:ln w="12700">
            <a:solidFill>
              <a:srgbClr val="F1F3F2"/>
            </a:solidFill>
            <a:prstDash val="solid"/>
          </a:ln>
        </p:spPr>
      </p:sp>
      <p:sp>
        <p:nvSpPr>
          <p:cNvPr id="4" name="Shape 2"/>
          <p:cNvSpPr/>
          <p:nvPr/>
        </p:nvSpPr>
        <p:spPr>
          <a:xfrm>
            <a:off x="822960" y="1600200"/>
            <a:ext cx="457200" cy="457200"/>
          </a:xfrm>
          <a:prstGeom prst="ellipse">
            <a:avLst/>
          </a:prstGeom>
          <a:solidFill>
            <a:srgbClr val="D98E04"/>
          </a:solidFill>
          <a:ln w="12700">
            <a:solidFill>
              <a:srgbClr val="D98E04"/>
            </a:solidFill>
            <a:prstDash val="solid"/>
          </a:ln>
        </p:spPr>
      </p:sp>
      <p:sp>
        <p:nvSpPr>
          <p:cNvPr id="5" name="Text 3"/>
          <p:cNvSpPr txBox="1"/>
          <p:nvPr/>
        </p:nvSpPr>
        <p:spPr>
          <a:xfrm>
            <a:off x="82296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63040" y="1627632"/>
            <a:ext cx="4297680" cy="457200"/>
          </a:xfrm>
          <a:prstGeom prst="rect">
            <a:avLst/>
          </a:prstGeom>
          <a:noFill/>
          <a:ln/>
        </p:spPr>
        <p:txBody>
          <a:bodyPr wrap="square" lIns="0" tIns="0" rIns="0" bIns="0" rtlCol="0" anchor="t"/>
          <a:lstStyle/>
          <a:p>
            <a:pPr indent="0" marL="0">
              <a:buNone/>
            </a:pPr>
            <a:r>
              <a:rPr lang="en-US" sz="1900" b="1" dirty="0">
                <a:solidFill>
                  <a:srgbClr val="1F1A14"/>
                </a:solidFill>
                <a:latin typeface="Cambria" pitchFamily="34" charset="0"/>
                <a:ea typeface="Cambria" pitchFamily="34" charset="-122"/>
                <a:cs typeface="Cambria" pitchFamily="34" charset="-120"/>
              </a:rPr>
              <a:t>Did extinction occur?</a:t>
            </a:r>
            <a:endParaRPr lang="en-US" sz="1900" dirty="0"/>
          </a:p>
        </p:txBody>
      </p:sp>
      <p:sp>
        <p:nvSpPr>
          <p:cNvPr id="7" name="Text 5"/>
          <p:cNvSpPr txBox="1"/>
          <p:nvPr/>
        </p:nvSpPr>
        <p:spPr>
          <a:xfrm>
            <a:off x="822960" y="2240280"/>
            <a:ext cx="4937760" cy="1280160"/>
          </a:xfrm>
          <a:prstGeom prst="rect">
            <a:avLst/>
          </a:prstGeom>
          <a:noFill/>
          <a:ln/>
        </p:spPr>
        <p:txBody>
          <a:bodyPr wrap="square" lIns="0" tIns="0" rIns="0" bIns="0" rtlCol="0" anchor="t"/>
          <a:lstStyle/>
          <a:p>
            <a:pPr indent="0" marL="0">
              <a:buNone/>
            </a:pPr>
            <a:r>
              <a:rPr lang="en-US" sz="1500" dirty="0">
                <a:solidFill>
                  <a:srgbClr val="1F1A14"/>
                </a:solidFill>
              </a:rPr>
              <a:t>Yes: zebras in every base condition; every leopard and rhino population in the main modified runs.</a:t>
            </a:r>
            <a:endParaRPr lang="en-US" sz="1500" dirty="0"/>
          </a:p>
        </p:txBody>
      </p:sp>
      <p:sp>
        <p:nvSpPr>
          <p:cNvPr id="8" name="Shape 6"/>
          <p:cNvSpPr/>
          <p:nvPr/>
        </p:nvSpPr>
        <p:spPr>
          <a:xfrm>
            <a:off x="6172200" y="1325880"/>
            <a:ext cx="5440680" cy="2103120"/>
          </a:xfrm>
          <a:prstGeom prst="roundRect">
            <a:avLst>
              <a:gd name="adj" fmla="val 5217"/>
            </a:avLst>
          </a:prstGeom>
          <a:solidFill>
            <a:srgbClr val="F1F3F2"/>
          </a:solidFill>
          <a:ln w="12700">
            <a:solidFill>
              <a:srgbClr val="F1F3F2"/>
            </a:solidFill>
            <a:prstDash val="solid"/>
          </a:ln>
        </p:spPr>
      </p:sp>
      <p:sp>
        <p:nvSpPr>
          <p:cNvPr id="9" name="Shape 7"/>
          <p:cNvSpPr/>
          <p:nvPr/>
        </p:nvSpPr>
        <p:spPr>
          <a:xfrm>
            <a:off x="6446520" y="1600200"/>
            <a:ext cx="457200" cy="457200"/>
          </a:xfrm>
          <a:prstGeom prst="ellipse">
            <a:avLst/>
          </a:prstGeom>
          <a:solidFill>
            <a:srgbClr val="D98E04"/>
          </a:solidFill>
          <a:ln w="12700">
            <a:solidFill>
              <a:srgbClr val="D98E04"/>
            </a:solidFill>
            <a:prstDash val="solid"/>
          </a:ln>
        </p:spPr>
      </p:sp>
      <p:sp>
        <p:nvSpPr>
          <p:cNvPr id="10" name="Text 8"/>
          <p:cNvSpPr txBox="1"/>
          <p:nvPr/>
        </p:nvSpPr>
        <p:spPr>
          <a:xfrm>
            <a:off x="644652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7086600" y="1627632"/>
            <a:ext cx="4297680" cy="457200"/>
          </a:xfrm>
          <a:prstGeom prst="rect">
            <a:avLst/>
          </a:prstGeom>
          <a:noFill/>
          <a:ln/>
        </p:spPr>
        <p:txBody>
          <a:bodyPr wrap="square" lIns="0" tIns="0" rIns="0" bIns="0" rtlCol="0" anchor="t"/>
          <a:lstStyle/>
          <a:p>
            <a:pPr indent="0" marL="0">
              <a:buNone/>
            </a:pPr>
            <a:r>
              <a:rPr lang="en-US" sz="1900" b="1" dirty="0">
                <a:solidFill>
                  <a:srgbClr val="1F1A14"/>
                </a:solidFill>
                <a:latin typeface="Cambria" pitchFamily="34" charset="0"/>
                <a:ea typeface="Cambria" pitchFamily="34" charset="-122"/>
                <a:cs typeface="Cambria" pitchFamily="34" charset="-120"/>
              </a:rPr>
              <a:t>Suicide or failure?</a:t>
            </a:r>
            <a:endParaRPr lang="en-US" sz="1900" dirty="0"/>
          </a:p>
        </p:txBody>
      </p:sp>
      <p:sp>
        <p:nvSpPr>
          <p:cNvPr id="12" name="Text 10"/>
          <p:cNvSpPr txBox="1"/>
          <p:nvPr/>
        </p:nvSpPr>
        <p:spPr>
          <a:xfrm>
            <a:off x="6446520" y="2240280"/>
            <a:ext cx="4937760" cy="1280160"/>
          </a:xfrm>
          <a:prstGeom prst="rect">
            <a:avLst/>
          </a:prstGeom>
          <a:noFill/>
          <a:ln/>
        </p:spPr>
        <p:txBody>
          <a:bodyPr wrap="square" lIns="0" tIns="0" rIns="0" bIns="0" rtlCol="0" anchor="t"/>
          <a:lstStyle/>
          <a:p>
            <a:pPr indent="0" marL="0">
              <a:buNone/>
            </a:pPr>
            <a:r>
              <a:rPr lang="en-US" sz="1500" dirty="0">
                <a:solidFill>
                  <a:srgbClr val="1F1A14"/>
                </a:solidFill>
              </a:rPr>
              <a:t>Suicide in the base engine when a killer evolved (1 of 3 meets all criteria). Failure to adapt: base leopards, modified rhinos and non-adapting zebras.</a:t>
            </a:r>
            <a:endParaRPr lang="en-US" sz="1500" dirty="0"/>
          </a:p>
        </p:txBody>
      </p:sp>
      <p:sp>
        <p:nvSpPr>
          <p:cNvPr id="13" name="Shape 11"/>
          <p:cNvSpPr/>
          <p:nvPr/>
        </p:nvSpPr>
        <p:spPr>
          <a:xfrm>
            <a:off x="548640" y="3657600"/>
            <a:ext cx="5440680" cy="2103120"/>
          </a:xfrm>
          <a:prstGeom prst="roundRect">
            <a:avLst>
              <a:gd name="adj" fmla="val 5217"/>
            </a:avLst>
          </a:prstGeom>
          <a:solidFill>
            <a:srgbClr val="F1F3F2"/>
          </a:solidFill>
          <a:ln w="12700">
            <a:solidFill>
              <a:srgbClr val="F1F3F2"/>
            </a:solidFill>
            <a:prstDash val="solid"/>
          </a:ln>
        </p:spPr>
      </p:sp>
      <p:sp>
        <p:nvSpPr>
          <p:cNvPr id="14" name="Shape 12"/>
          <p:cNvSpPr/>
          <p:nvPr/>
        </p:nvSpPr>
        <p:spPr>
          <a:xfrm>
            <a:off x="822960" y="3931920"/>
            <a:ext cx="457200" cy="457200"/>
          </a:xfrm>
          <a:prstGeom prst="ellipse">
            <a:avLst/>
          </a:prstGeom>
          <a:solidFill>
            <a:srgbClr val="D98E04"/>
          </a:solidFill>
          <a:ln w="12700">
            <a:solidFill>
              <a:srgbClr val="D98E04"/>
            </a:solidFill>
            <a:prstDash val="solid"/>
          </a:ln>
        </p:spPr>
      </p:sp>
      <p:sp>
        <p:nvSpPr>
          <p:cNvPr id="15" name="Text 13"/>
          <p:cNvSpPr txBox="1"/>
          <p:nvPr/>
        </p:nvSpPr>
        <p:spPr>
          <a:xfrm>
            <a:off x="82296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1463040" y="3959352"/>
            <a:ext cx="4297680" cy="457200"/>
          </a:xfrm>
          <a:prstGeom prst="rect">
            <a:avLst/>
          </a:prstGeom>
          <a:noFill/>
          <a:ln/>
        </p:spPr>
        <p:txBody>
          <a:bodyPr wrap="square" lIns="0" tIns="0" rIns="0" bIns="0" rtlCol="0" anchor="t"/>
          <a:lstStyle/>
          <a:p>
            <a:pPr indent="0" marL="0">
              <a:buNone/>
            </a:pPr>
            <a:r>
              <a:rPr lang="en-US" sz="1900" b="1" dirty="0">
                <a:solidFill>
                  <a:srgbClr val="1F1A14"/>
                </a:solidFill>
                <a:latin typeface="Cambria" pitchFamily="34" charset="0"/>
                <a:ea typeface="Cambria" pitchFamily="34" charset="-122"/>
                <a:cs typeface="Cambria" pitchFamily="34" charset="-120"/>
              </a:rPr>
              <a:t>Environment or species?</a:t>
            </a:r>
            <a:endParaRPr lang="en-US" sz="1900" dirty="0"/>
          </a:p>
        </p:txBody>
      </p:sp>
      <p:sp>
        <p:nvSpPr>
          <p:cNvPr id="17" name="Text 15"/>
          <p:cNvSpPr txBox="1"/>
          <p:nvPr/>
        </p:nvSpPr>
        <p:spPr>
          <a:xfrm>
            <a:off x="822960" y="4572000"/>
            <a:ext cx="4937760" cy="1280160"/>
          </a:xfrm>
          <a:prstGeom prst="rect">
            <a:avLst/>
          </a:prstGeom>
          <a:noFill/>
          <a:ln/>
        </p:spPr>
        <p:txBody>
          <a:bodyPr wrap="square" lIns="0" tIns="0" rIns="0" bIns="0" rtlCol="0" anchor="t"/>
          <a:lstStyle/>
          <a:p>
            <a:pPr indent="0" marL="0">
              <a:buNone/>
            </a:pPr>
            <a:r>
              <a:rPr lang="en-US" sz="1500" dirty="0">
                <a:solidFill>
                  <a:srgbClr val="1F1A14"/>
                </a:solidFill>
              </a:rPr>
              <a:t>The engine decided the road: killers in the base engine, grazing in ours. Removing the river or soil water was as decisive as removing a trait.</a:t>
            </a:r>
            <a:endParaRPr lang="en-US" sz="1500" dirty="0"/>
          </a:p>
        </p:txBody>
      </p:sp>
      <p:sp>
        <p:nvSpPr>
          <p:cNvPr id="18" name="Shape 16"/>
          <p:cNvSpPr/>
          <p:nvPr/>
        </p:nvSpPr>
        <p:spPr>
          <a:xfrm>
            <a:off x="6172200" y="3657600"/>
            <a:ext cx="5440680" cy="2103120"/>
          </a:xfrm>
          <a:prstGeom prst="roundRect">
            <a:avLst>
              <a:gd name="adj" fmla="val 5217"/>
            </a:avLst>
          </a:prstGeom>
          <a:solidFill>
            <a:srgbClr val="F1F3F2"/>
          </a:solidFill>
          <a:ln w="12700">
            <a:solidFill>
              <a:srgbClr val="F1F3F2"/>
            </a:solidFill>
            <a:prstDash val="solid"/>
          </a:ln>
        </p:spPr>
      </p:sp>
      <p:sp>
        <p:nvSpPr>
          <p:cNvPr id="19" name="Shape 17"/>
          <p:cNvSpPr/>
          <p:nvPr/>
        </p:nvSpPr>
        <p:spPr>
          <a:xfrm>
            <a:off x="6446520" y="3931920"/>
            <a:ext cx="457200" cy="457200"/>
          </a:xfrm>
          <a:prstGeom prst="ellipse">
            <a:avLst/>
          </a:prstGeom>
          <a:solidFill>
            <a:srgbClr val="D98E04"/>
          </a:solidFill>
          <a:ln w="12700">
            <a:solidFill>
              <a:srgbClr val="D98E04"/>
            </a:solidFill>
            <a:prstDash val="solid"/>
          </a:ln>
        </p:spPr>
      </p:sp>
      <p:sp>
        <p:nvSpPr>
          <p:cNvPr id="20" name="Text 18"/>
          <p:cNvSpPr txBox="1"/>
          <p:nvPr/>
        </p:nvSpPr>
        <p:spPr>
          <a:xfrm>
            <a:off x="64465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7086600" y="3959352"/>
            <a:ext cx="4297680" cy="457200"/>
          </a:xfrm>
          <a:prstGeom prst="rect">
            <a:avLst/>
          </a:prstGeom>
          <a:noFill/>
          <a:ln/>
        </p:spPr>
        <p:txBody>
          <a:bodyPr wrap="square" lIns="0" tIns="0" rIns="0" bIns="0" rtlCol="0" anchor="t"/>
          <a:lstStyle/>
          <a:p>
            <a:pPr indent="0" marL="0">
              <a:buNone/>
            </a:pPr>
            <a:r>
              <a:rPr lang="en-US" sz="1900" b="1" dirty="0">
                <a:solidFill>
                  <a:srgbClr val="1F1A14"/>
                </a:solidFill>
                <a:latin typeface="Cambria" pitchFamily="34" charset="0"/>
                <a:ea typeface="Cambria" pitchFamily="34" charset="-122"/>
                <a:cs typeface="Cambria" pitchFamily="34" charset="-120"/>
              </a:rPr>
              <a:t>Instrumental traits</a:t>
            </a:r>
            <a:endParaRPr lang="en-US" sz="1900" dirty="0"/>
          </a:p>
        </p:txBody>
      </p:sp>
      <p:sp>
        <p:nvSpPr>
          <p:cNvPr id="22" name="Text 20"/>
          <p:cNvSpPr txBox="1"/>
          <p:nvPr/>
        </p:nvSpPr>
        <p:spPr>
          <a:xfrm>
            <a:off x="6446520" y="4572000"/>
            <a:ext cx="4937760" cy="1280160"/>
          </a:xfrm>
          <a:prstGeom prst="rect">
            <a:avLst/>
          </a:prstGeom>
          <a:noFill/>
          <a:ln/>
        </p:spPr>
        <p:txBody>
          <a:bodyPr wrap="square" lIns="0" tIns="0" rIns="0" bIns="0" rtlCol="0" anchor="t"/>
          <a:lstStyle/>
          <a:p>
            <a:pPr indent="0" marL="0">
              <a:buNone/>
            </a:pPr>
            <a:r>
              <a:rPr lang="en-US" sz="1500" dirty="0">
                <a:solidFill>
                  <a:srgbClr val="1F1A14"/>
                </a:solidFill>
              </a:rPr>
              <a:t>Toward collapse: evolved killers, costly armour, single-prey diet. Away: river, water regrowth, stripes, kick, the second mouth.</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t"/>
          <a:lstStyle/>
          <a:p>
            <a:pPr algn="l" indent="0" marL="0">
              <a:buNone/>
            </a:pPr>
            <a:r>
              <a:rPr lang="en-US" sz="3000" b="1" dirty="0">
                <a:solidFill>
                  <a:schemeClr val="tx1"/>
                </a:solidFill>
              </a:rPr>
              <a:t>What we can and cannot claim</a:t>
            </a:r>
            <a:endParaRPr lang="en-US" sz="3000" dirty="0"/>
          </a:p>
        </p:txBody>
      </p:sp>
      <p:sp>
        <p:nvSpPr>
          <p:cNvPr id="3" name="Shape 1"/>
          <p:cNvSpPr/>
          <p:nvPr/>
        </p:nvSpPr>
        <p:spPr>
          <a:xfrm>
            <a:off x="548640" y="1280160"/>
            <a:ext cx="5394960" cy="3840480"/>
          </a:xfrm>
          <a:prstGeom prst="roundRect">
            <a:avLst>
              <a:gd name="adj" fmla="val 2857"/>
            </a:avLst>
          </a:prstGeom>
          <a:solidFill>
            <a:srgbClr val="F8ECEC"/>
          </a:solidFill>
          <a:ln w="12700">
            <a:solidFill>
              <a:srgbClr val="F8ECEC"/>
            </a:solidFill>
            <a:prstDash val="solid"/>
          </a:ln>
        </p:spPr>
      </p:sp>
      <p:sp>
        <p:nvSpPr>
          <p:cNvPr id="4" name="Text 2"/>
          <p:cNvSpPr txBox="1"/>
          <p:nvPr/>
        </p:nvSpPr>
        <p:spPr>
          <a:xfrm>
            <a:off x="822960" y="1463040"/>
            <a:ext cx="4846320" cy="457200"/>
          </a:xfrm>
          <a:prstGeom prst="rect">
            <a:avLst/>
          </a:prstGeom>
          <a:noFill/>
          <a:ln/>
        </p:spPr>
        <p:txBody>
          <a:bodyPr wrap="square" lIns="0" tIns="0" rIns="0" bIns="0" rtlCol="0" anchor="t"/>
          <a:lstStyle/>
          <a:p>
            <a:pPr indent="0" marL="0">
              <a:buNone/>
            </a:pPr>
            <a:r>
              <a:rPr lang="en-US" sz="2000" b="1" dirty="0">
                <a:solidFill>
                  <a:srgbClr val="B23A3A"/>
                </a:solidFill>
                <a:latin typeface="Cambria" pitchFamily="34" charset="0"/>
                <a:ea typeface="Cambria" pitchFamily="34" charset="-122"/>
                <a:cs typeface="Cambria" pitchFamily="34" charset="-120"/>
              </a:rPr>
              <a:t>Limits</a:t>
            </a:r>
            <a:endParaRPr lang="en-US" sz="2000" dirty="0"/>
          </a:p>
        </p:txBody>
      </p:sp>
      <p:sp>
        <p:nvSpPr>
          <p:cNvPr id="5" name="Text 3"/>
          <p:cNvSpPr txBox="1"/>
          <p:nvPr/>
        </p:nvSpPr>
        <p:spPr>
          <a:xfrm>
            <a:off x="822960" y="2011680"/>
            <a:ext cx="48463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1A14"/>
                </a:solidFill>
              </a:rPr>
              <a:t>3 seeds per ablation and sweep: one seed of difference is noise</a:t>
            </a:r>
            <a:endParaRPr lang="en-US" sz="1500" dirty="0"/>
          </a:p>
          <a:p>
            <a:pPr marL="342900" indent="-342900">
              <a:spcAft>
                <a:spcPts val="800"/>
              </a:spcAft>
              <a:buSzPct val="100000"/>
              <a:buChar char="•"/>
            </a:pPr>
            <a:r>
              <a:rPr lang="en-US" sz="1500" dirty="0">
                <a:solidFill>
                  <a:srgbClr val="1F1A14"/>
                </a:solidFill>
              </a:rPr>
              <a:t>Rules were rebalanced during testing (leopard body, sprint, armour, weapons) before the final runs</a:t>
            </a:r>
            <a:endParaRPr lang="en-US" sz="1500" dirty="0"/>
          </a:p>
          <a:p>
            <a:pPr marL="342900" indent="-342900">
              <a:spcAft>
                <a:spcPts val="800"/>
              </a:spcAft>
              <a:buSzPct val="100000"/>
              <a:buChar char="•"/>
            </a:pPr>
            <a:r>
              <a:rPr lang="en-US" sz="1500" dirty="0">
                <a:solidFill>
                  <a:srgbClr val="1F1A14"/>
                </a:solidFill>
              </a:rPr>
              <a:t>Base runs redone with one-mover species after checking that extra movers do nothing</a:t>
            </a:r>
            <a:endParaRPr lang="en-US" sz="1500" dirty="0"/>
          </a:p>
          <a:p>
            <a:pPr marL="342900" indent="-342900">
              <a:spcAft>
                <a:spcPts val="800"/>
              </a:spcAft>
              <a:buSzPct val="100000"/>
              <a:buChar char="•"/>
            </a:pPr>
            <a:r>
              <a:rPr lang="en-US" sz="1500" dirty="0">
                <a:solidFill>
                  <a:srgbClr val="1F1A14"/>
                </a:solidFill>
              </a:rPr>
              <a:t>Our overgrazing hypothesis was not observed in 100k ticks</a:t>
            </a:r>
            <a:endParaRPr lang="en-US" sz="1500" dirty="0"/>
          </a:p>
          <a:p>
            <a:pPr marL="342900" indent="-342900">
              <a:spcAft>
                <a:spcPts val="800"/>
              </a:spcAft>
              <a:buSzPct val="100000"/>
              <a:buChar char="•"/>
            </a:pPr>
            <a:r>
              <a:rPr lang="en-US" sz="1500" dirty="0">
                <a:solidFill>
                  <a:srgbClr val="1F1A14"/>
                </a:solidFill>
              </a:rPr>
              <a:t>Fires stayed small and leopards never persisted, even with 10x fire and 3x leopards</a:t>
            </a:r>
            <a:endParaRPr lang="en-US" sz="1500" dirty="0"/>
          </a:p>
        </p:txBody>
      </p:sp>
      <p:sp>
        <p:nvSpPr>
          <p:cNvPr id="6" name="Shape 4"/>
          <p:cNvSpPr/>
          <p:nvPr/>
        </p:nvSpPr>
        <p:spPr>
          <a:xfrm>
            <a:off x="6217920" y="1280160"/>
            <a:ext cx="5394960" cy="3840480"/>
          </a:xfrm>
          <a:prstGeom prst="roundRect">
            <a:avLst>
              <a:gd name="adj" fmla="val 2857"/>
            </a:avLst>
          </a:prstGeom>
          <a:solidFill>
            <a:srgbClr val="EEF5EA"/>
          </a:solidFill>
          <a:ln w="12700">
            <a:solidFill>
              <a:srgbClr val="EEF5EA"/>
            </a:solidFill>
            <a:prstDash val="solid"/>
          </a:ln>
        </p:spPr>
      </p:sp>
      <p:sp>
        <p:nvSpPr>
          <p:cNvPr id="7" name="Text 5"/>
          <p:cNvSpPr txBox="1"/>
          <p:nvPr/>
        </p:nvSpPr>
        <p:spPr>
          <a:xfrm>
            <a:off x="6492240" y="1463040"/>
            <a:ext cx="4846320" cy="457200"/>
          </a:xfrm>
          <a:prstGeom prst="rect">
            <a:avLst/>
          </a:prstGeom>
          <a:noFill/>
          <a:ln/>
        </p:spPr>
        <p:txBody>
          <a:bodyPr wrap="square" lIns="0" tIns="0" rIns="0" bIns="0" rtlCol="0" anchor="t"/>
          <a:lstStyle/>
          <a:p>
            <a:pPr indent="0" marL="0">
              <a:buNone/>
            </a:pPr>
            <a:r>
              <a:rPr lang="en-US" sz="2000" b="1" dirty="0">
                <a:solidFill>
                  <a:srgbClr val="4E7D32"/>
                </a:solidFill>
                <a:latin typeface="Cambria" pitchFamily="34" charset="0"/>
                <a:ea typeface="Cambria" pitchFamily="34" charset="-122"/>
                <a:cs typeface="Cambria" pitchFamily="34" charset="-120"/>
              </a:rPr>
              <a:t>No outcome is hard-coded</a:t>
            </a:r>
            <a:endParaRPr lang="en-US" sz="2000" dirty="0"/>
          </a:p>
        </p:txBody>
      </p:sp>
      <p:sp>
        <p:nvSpPr>
          <p:cNvPr id="8" name="Text 6"/>
          <p:cNvSpPr txBox="1"/>
          <p:nvPr/>
        </p:nvSpPr>
        <p:spPr>
          <a:xfrm>
            <a:off x="6492240" y="2011680"/>
            <a:ext cx="48463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1A14"/>
                </a:solidFill>
              </a:rPr>
              <a:t>Every death comes from per-organism rules: age, cell damage or hunger</a:t>
            </a:r>
            <a:endParaRPr lang="en-US" sz="1500" dirty="0"/>
          </a:p>
          <a:p>
            <a:pPr marL="342900" indent="-342900">
              <a:spcAft>
                <a:spcPts val="800"/>
              </a:spcAft>
              <a:buSzPct val="100000"/>
              <a:buChar char="•"/>
            </a:pPr>
            <a:r>
              <a:rPr lang="en-US" sz="1500" dirty="0">
                <a:solidFill>
                  <a:srgbClr val="1F1A14"/>
                </a:solidFill>
              </a:rPr>
              <a:t>Variants only change starting organisms and settings</a:t>
            </a:r>
            <a:endParaRPr lang="en-US" sz="1500" dirty="0"/>
          </a:p>
          <a:p>
            <a:pPr marL="342900" indent="-342900">
              <a:spcAft>
                <a:spcPts val="800"/>
              </a:spcAft>
              <a:buSzPct val="100000"/>
              <a:buChar char="•"/>
            </a:pPr>
            <a:r>
              <a:rPr lang="en-US" sz="1500" dirty="0">
                <a:solidFill>
                  <a:srgbClr val="1F1A14"/>
                </a:solidFill>
              </a:rPr>
              <a:t>Seeds of one condition reach different outcomes</a:t>
            </a:r>
            <a:endParaRPr lang="en-US" sz="1500" dirty="0"/>
          </a:p>
          <a:p>
            <a:pPr marL="342900" indent="-342900">
              <a:spcAft>
                <a:spcPts val="800"/>
              </a:spcAft>
              <a:buSzPct val="100000"/>
              <a:buChar char="•"/>
            </a:pPr>
            <a:r>
              <a:rPr lang="en-US" sz="1500" dirty="0">
                <a:solidFill>
                  <a:srgbClr val="1F1A14"/>
                </a:solidFill>
              </a:rPr>
              <a:t>Code: src/Organism/Cell/BodyCells, savanna-experiments/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10881360" cy="1554480"/>
          </a:xfrm>
          <a:prstGeom prst="rect">
            <a:avLst/>
          </a:prstGeom>
          <a:noFill/>
          <a:ln/>
        </p:spPr>
        <p:txBody>
          <a:bodyPr wrap="square" rtlCol="0" anchor="t"/>
          <a:lstStyle/>
          <a:p>
            <a:pPr algn="l" indent="0" marL="0">
              <a:buNone/>
            </a:pPr>
            <a:r>
              <a:rPr lang="en-US" sz="4400" b="1" dirty="0">
                <a:solidFill>
                  <a:schemeClr val="bg1"/>
                </a:solidFill>
              </a:rPr>
              <a:t>The trait that wins is not always the trait that kills</a:t>
            </a:r>
            <a:endParaRPr lang="en-US" sz="4400" dirty="0"/>
          </a:p>
        </p:txBody>
      </p:sp>
      <p:sp>
        <p:nvSpPr>
          <p:cNvPr id="3" name="Text 0"/>
          <p:cNvSpPr/>
          <p:nvPr>
            <p:ph idx="101" type="body" hasCustomPrompt="1"/>
          </p:nvPr>
        </p:nvSpPr>
        <p:spPr>
          <a:xfrm>
            <a:off x="640080" y="2743200"/>
            <a:ext cx="10881360" cy="914400"/>
          </a:xfrm>
          <a:prstGeom prst="rect">
            <a:avLst/>
          </a:prstGeom>
          <a:noFill/>
          <a:ln/>
        </p:spPr>
        <p:txBody>
          <a:bodyPr wrap="square" rtlCol="0"/>
          <a:lstStyle/>
          <a:p>
            <a:pPr indent="0" marL="0">
              <a:buNone/>
            </a:pPr>
            <a:r>
              <a:rPr lang="en-US" sz="2000" dirty="0">
                <a:solidFill>
                  <a:schemeClr val="accent1"/>
                </a:solidFill>
              </a:rPr>
              <a:t>In the base engine, a killer that paid in food destroyed the plants and the herd. In our savanna, with water, refuges and fallbacks, the same pressure produced adaptation instead.</a:t>
            </a:r>
            <a:endParaRPr lang="en-US" sz="2000" dirty="0"/>
          </a:p>
        </p:txBody>
      </p:sp>
      <p:sp>
        <p:nvSpPr>
          <p:cNvPr id="4" name="Text 2"/>
          <p:cNvSpPr txBox="1"/>
          <p:nvPr/>
        </p:nvSpPr>
        <p:spPr>
          <a:xfrm>
            <a:off x="640080" y="5852160"/>
            <a:ext cx="10881360" cy="365760"/>
          </a:xfrm>
          <a:prstGeom prst="rect">
            <a:avLst/>
          </a:prstGeom>
          <a:noFill/>
          <a:ln/>
        </p:spPr>
        <p:txBody>
          <a:bodyPr wrap="square" lIns="0" tIns="0" rIns="0" bIns="0" rtlCol="0" anchor="t"/>
          <a:lstStyle/>
          <a:p>
            <a:pPr indent="0" marL="0">
              <a:buNone/>
            </a:pPr>
            <a:r>
              <a:rPr lang="en-US" sz="1400" dirty="0">
                <a:solidFill>
                  <a:srgbClr val="BFBFBF"/>
                </a:solidFill>
              </a:rPr>
              <a:t>Report, logs, screenshots and code: savanna-experiments/ in the project repository</a:t>
            </a:r>
            <a:endParaRPr lang="en-US" sz="1400" dirty="0"/>
          </a:p>
        </p:txBody>
      </p:sp>
    </p:spTree>
  </p:cSld>
  <p:clrMapOvr>
    <a:masterClrMapping/>
  </p:clrMapOvr>
</p:sld>
</file>

<file path=ppt/theme/theme1.xml><?xml version="1.0" encoding="utf-8"?>
<a:theme xmlns:a="http://schemas.openxmlformats.org/drawingml/2006/main" name="Savanna Dusk">
  <a:themeElements>
    <a:clrScheme name="Savanna Dusk">
      <a:dk1>
        <a:srgbClr val="1F1A14"/>
      </a:dk1>
      <a:lt1>
        <a:srgbClr val="FFFFFF"/>
      </a:lt1>
      <a:dk2>
        <a:srgbClr val="3B2F22"/>
      </a:dk2>
      <a:lt2>
        <a:srgbClr val="F1F3F2"/>
      </a:lt2>
      <a:accent1>
        <a:srgbClr val="D98E04"/>
      </a:accent1>
      <a:accent2>
        <a:srgbClr val="4E7D32"/>
      </a:accent2>
      <a:accent3>
        <a:srgbClr val="2F6FA8"/>
      </a:accent3>
      <a:accent4>
        <a:srgbClr val="B23A3A"/>
      </a:accent4>
      <a:accent5>
        <a:srgbClr val="7A5C3E"/>
      </a:accent5>
      <a:accent6>
        <a:srgbClr val="6B7280"/>
      </a:accent6>
      <a:hlink>
        <a:srgbClr val="2F6FA8"/>
      </a:hlink>
      <a:folHlink>
        <a:srgbClr val="7A5C3E"/>
      </a:folHlink>
    </a:clrScheme>
    <a:fontScheme name="Savanna Du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Evolutionary Suicide in a Digital Savanna</dc:title>
  <dc:subject>PptxGenJS Presentation</dc:subject>
  <dc:creator>CSC4044Z group</dc:creator>
  <cp:lastModifiedBy>CSC4044Z group</cp:lastModifiedBy>
  <cp:revision>1</cp:revision>
  <dcterms:created xsi:type="dcterms:W3CDTF">2026-10-19T19:14:27Z</dcterms:created>
  <dcterms:modified xsi:type="dcterms:W3CDTF">2026-10-19T19:14:27Z</dcterms:modified>
</cp:coreProperties>
</file>