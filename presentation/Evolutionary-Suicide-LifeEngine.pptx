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9e763f6-5236-455e-23e7-15708c54151a}">
          <p14:sldIdLst>
            <p14:sldId id="256"/>
            <p14:sldId id="257"/>
            <p14:sldId id="258"/>
          </p14:sldIdLst>
        </p14:section>
        <p14:section name="Base engine" id="{19f4cf9a-bca5-9365-6b15-ca39514dda51}">
          <p14:sldIdLst>
            <p14:sldId id="259"/>
            <p14:sldId id="260"/>
            <p14:sldId id="261"/>
          </p14:sldIdLst>
        </p14:section>
        <p14:section name="Modifications" id="{dbff71cb-7536-2cb9-5627-cec475706552}">
          <p14:sldIdLst>
            <p14:sldId id="262"/>
            <p14:sldId id="263"/>
            <p14:sldId id="264"/>
          </p14:sldIdLst>
        </p14:section>
        <p14:section name="Modified engine" id="{022e0e7f-6ead-4322-ec5b-defce7eb80a6}">
          <p14:sldIdLst>
            <p14:sldId id="265"/>
            <p14:sldId id="266"/>
            <p14:sldId id="267"/>
          </p14:sldIdLst>
        </p14:section>
        <p14:section name="Experiments" id="{f268288b-1b3b-fd14-d047-46339bfcb2ca}">
          <p14:sldIdLst>
            <p14:sldId id="268"/>
            <p14:sldId id="269"/>
            <p14:sldId id="270"/>
          </p14:sldIdLst>
        </p14:section>
        <p14:section name="Conclusions" id="{cfc5c2e7-8eef-9f52-5978-f3056c41d690}">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33333"/>
                </a:solidFill>
                <a:latin typeface="+mn-lt"/>
              </a:defRPr>
            </a:pPr>
            <a:r>
              <a:rPr sz="1300" b="0" i="0" u="none" strike="noStrike">
                <a:solidFill>
                  <a:srgbClr val="333333"/>
                </a:solidFill>
                <a:latin typeface="+mn-lt"/>
              </a:rPr>
              <a:t>Zebra outcome, 3 seeds per condition</a:t>
            </a:r>
          </a:p>
        </c:rich>
      </c:tx>
      <c:layout/>
      <c:overlay val="0"/>
    </c:title>
    <c:autoTitleDeleted val="0"/>
    <c:plotArea>
      <c:layout/>
      <c:barChart>
        <c:barDir val="bar"/>
        <c:grouping val="stacked"/>
        <c:varyColors val="0"/>
        <c:ser>
          <c:idx val="0"/>
          <c:order val="0"/>
          <c:tx>
            <c:strRef>
              <c:f>Sheet1!$B$1</c:f>
              <c:strCache>
                <c:ptCount val="1"/>
                <c:pt idx="0">
                  <c:v>Evolutionary suicide</c:v>
                </c:pt>
              </c:strCache>
            </c:strRef>
          </c:tx>
          <c:spPr>
            <a:solidFill>
              <a:srgbClr val="B23A3A"/>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Sheet1!$A$2:$A$7</c:f>
              <c:multiLvlStrCache>
                <c:ptCount val="6"/>
                <c:lvl>
                  <c:pt idx="0">
                    <c:v>Default</c:v>
                  </c:pt>
                  <c:pt idx="1">
                    <c:v>Plant-kill control</c:v>
                  </c:pt>
                  <c:pt idx="2">
                    <c:v>Plant-kill (seeded)</c:v>
                  </c:pt>
                  <c:pt idx="3">
                    <c:v>Harsh food</c:v>
                  </c:pt>
                  <c:pt idx="4">
                    <c:v>No mutation</c:v>
                  </c:pt>
                  <c:pt idx="5">
                    <c:v>Clogging</c:v>
                  </c:pt>
                </c:lvl>
              </c:multiLvlStrCache>
            </c:multiLvlStrRef>
          </c:cat>
          <c:val>
            <c:numRef>
              <c:f>Sheet1!$B$2:$B$7</c:f>
              <c:numCache>
                <c:formatCode>General</c:formatCode>
                <c:ptCount val="6"/>
                <c:pt idx="0">
                  <c:v>0</c:v>
                </c:pt>
                <c:pt idx="1">
                  <c:v>3</c:v>
                </c:pt>
                <c:pt idx="2">
                  <c:v>0</c:v>
                </c:pt>
                <c:pt idx="3">
                  <c:v>0</c:v>
                </c:pt>
                <c:pt idx="4">
                  <c:v>0</c:v>
                </c:pt>
                <c:pt idx="5">
                  <c:v>0</c:v>
                </c:pt>
              </c:numCache>
            </c:numRef>
          </c:val>
        </c:ser>
        <c:ser>
          <c:idx val="1"/>
          <c:order val="1"/>
          <c:tx>
            <c:strRef>
              <c:f>Sheet1!$C$1</c:f>
              <c:strCache>
                <c:ptCount val="1"/>
                <c:pt idx="0">
                  <c:v>Other extinction</c:v>
                </c:pt>
              </c:strCache>
            </c:strRef>
          </c:tx>
          <c:spPr>
            <a:solidFill>
              <a:srgbClr val="9CA3AF"/>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Sheet1!$A$2:$A$7</c:f>
              <c:multiLvlStrCache>
                <c:ptCount val="6"/>
                <c:lvl>
                  <c:pt idx="0">
                    <c:v>Default</c:v>
                  </c:pt>
                  <c:pt idx="1">
                    <c:v>Plant-kill control</c:v>
                  </c:pt>
                  <c:pt idx="2">
                    <c:v>Plant-kill (seeded)</c:v>
                  </c:pt>
                  <c:pt idx="3">
                    <c:v>Harsh food</c:v>
                  </c:pt>
                  <c:pt idx="4">
                    <c:v>No mutation</c:v>
                  </c:pt>
                  <c:pt idx="5">
                    <c:v>Clogging</c:v>
                  </c:pt>
                </c:lvl>
              </c:multiLvlStrCache>
            </c:multiLvlStrRef>
          </c:cat>
          <c:val>
            <c:numRef>
              <c:f>Sheet1!$C$2:$C$7</c:f>
              <c:numCache>
                <c:formatCode>General</c:formatCode>
                <c:ptCount val="6"/>
                <c:pt idx="0">
                  <c:v>2</c:v>
                </c:pt>
                <c:pt idx="1">
                  <c:v>0</c:v>
                </c:pt>
                <c:pt idx="2">
                  <c:v>3</c:v>
                </c:pt>
                <c:pt idx="3">
                  <c:v>3</c:v>
                </c:pt>
                <c:pt idx="4">
                  <c:v>3</c:v>
                </c:pt>
                <c:pt idx="5">
                  <c:v>3</c:v>
                </c:pt>
              </c:numCache>
            </c:numRef>
          </c:val>
        </c:ser>
        <c:ser>
          <c:idx val="2"/>
          <c:order val="2"/>
          <c:tx>
            <c:strRef>
              <c:f>Sheet1!$D$1</c:f>
              <c:strCache>
                <c:ptCount val="1"/>
                <c:pt idx="0">
                  <c:v>Survived</c:v>
                </c:pt>
              </c:strCache>
            </c:strRef>
          </c:tx>
          <c:spPr>
            <a:solidFill>
              <a:srgbClr val="4E7D32"/>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Sheet1!$A$2:$A$7</c:f>
              <c:multiLvlStrCache>
                <c:ptCount val="6"/>
                <c:lvl>
                  <c:pt idx="0">
                    <c:v>Default</c:v>
                  </c:pt>
                  <c:pt idx="1">
                    <c:v>Plant-kill control</c:v>
                  </c:pt>
                  <c:pt idx="2">
                    <c:v>Plant-kill (seeded)</c:v>
                  </c:pt>
                  <c:pt idx="3">
                    <c:v>Harsh food</c:v>
                  </c:pt>
                  <c:pt idx="4">
                    <c:v>No mutation</c:v>
                  </c:pt>
                  <c:pt idx="5">
                    <c:v>Clogging</c:v>
                  </c:pt>
                </c:lvl>
              </c:multiLvlStrCache>
            </c:multiLvlStrRef>
          </c:cat>
          <c:val>
            <c:numRef>
              <c:f>Sheet1!$D$2:$D$7</c:f>
              <c:numCache>
                <c:formatCode>General</c:formatCode>
                <c:ptCount val="6"/>
                <c:pt idx="0">
                  <c:v>1</c:v>
                </c:pt>
                <c:pt idx="1">
                  <c:v>0</c:v>
                </c:pt>
                <c:pt idx="2">
                  <c:v>0</c:v>
                </c:pt>
                <c:pt idx="3">
                  <c:v>0</c:v>
                </c:pt>
                <c:pt idx="4">
                  <c:v>0</c:v>
                </c:pt>
                <c:pt idx="5">
                  <c:v>0</c:v>
                </c:pt>
              </c:numCache>
            </c:numRef>
          </c:val>
        </c:ser>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max val="3"/>
        </c:scaling>
        <c:delete val="0"/>
        <c:axPos val="b"/>
        <c:majorGridlines>
          <c:spPr>
            <a:ln w="6350" cap="flat">
              <a:solidFill>
                <a:srgbClr val="E3E3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4"/>
        <c:crosses val="autoZero"/>
        <c:crossBetween val="between"/>
        <c:majorUnit val="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33333"/>
                </a:solidFill>
                <a:latin typeface="+mn-lt"/>
              </a:defRPr>
            </a:pPr>
            <a:r>
              <a:rPr sz="1300" b="0" i="0" u="none" strike="noStrike">
                <a:solidFill>
                  <a:srgbClr val="333333"/>
                </a:solidFill>
                <a:latin typeface="+mn-lt"/>
              </a:rPr>
              <a:t>Zebras per seed (x: thousand ticks)</a:t>
            </a:r>
          </a:p>
        </c:rich>
      </c:tx>
      <c:layout/>
      <c:overlay val="0"/>
    </c:title>
    <c:autoTitleDeleted val="0"/>
    <c:plotArea>
      <c:layout/>
      <c:lineChart>
        <c:varyColors val="0"/>
        <c:ser>
          <c:idx val="0"/>
          <c:order val="0"/>
          <c:tx>
            <c:strRef>
              <c:f>Sheet1!$B$1</c:f>
              <c:strCache>
                <c:ptCount val="1"/>
                <c:pt idx="0">
                  <c:v>Seed 1</c:v>
                </c:pt>
              </c:strCache>
            </c:strRef>
          </c:tx>
          <c:spPr>
            <a:solidFill>
              <a:srgbClr val="1F1A14"/>
            </a:solidFill>
            <a:ln w="25400" cap="flat">
              <a:solidFill>
                <a:srgbClr val="1F1A1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1A14"/>
              </a:solidFill>
              <a:ln w="9525" cap="flat">
                <a:solidFill>
                  <a:srgbClr val="1F1A14"/>
                </a:solidFill>
                <a:prstDash val="solid"/>
                <a:round/>
              </a:ln>
              <a:effectLst/>
            </c:spPr>
          </c:marker>
          <c:cat>
            <c:multiLvlStrRef>
              <c:f>Sheet1!$A$2:$A$53</c:f>
              <c:multiLvlStrCache>
                <c:ptCount val="52"/>
                <c:lvl>
                  <c:pt idx="0">
                    <c:v>0</c:v>
                  </c:pt>
                  <c:pt idx="1">
                    <c:v>2</c:v>
                  </c:pt>
                  <c:pt idx="2">
                    <c:v>4</c:v>
                  </c:pt>
                  <c:pt idx="3">
                    <c:v>6</c:v>
                  </c:pt>
                  <c:pt idx="4">
                    <c:v>8</c:v>
                  </c:pt>
                  <c:pt idx="5">
                    <c:v>10</c:v>
                  </c:pt>
                  <c:pt idx="6">
                    <c:v>12</c:v>
                  </c:pt>
                  <c:pt idx="7">
                    <c:v>14</c:v>
                  </c:pt>
                  <c:pt idx="8">
                    <c:v>16</c:v>
                  </c:pt>
                  <c:pt idx="9">
                    <c:v>18</c:v>
                  </c:pt>
                  <c:pt idx="10">
                    <c:v>20</c:v>
                  </c:pt>
                  <c:pt idx="11">
                    <c:v>22</c:v>
                  </c:pt>
                  <c:pt idx="12">
                    <c:v>24</c:v>
                  </c:pt>
                  <c:pt idx="13">
                    <c:v>26</c:v>
                  </c:pt>
                  <c:pt idx="14">
                    <c:v>28</c:v>
                  </c:pt>
                  <c:pt idx="15">
                    <c:v>30</c:v>
                  </c:pt>
                  <c:pt idx="16">
                    <c:v>32</c:v>
                  </c:pt>
                  <c:pt idx="17">
                    <c:v>34</c:v>
                  </c:pt>
                  <c:pt idx="18">
                    <c:v>36</c:v>
                  </c:pt>
                  <c:pt idx="19">
                    <c:v>38</c:v>
                  </c:pt>
                  <c:pt idx="20">
                    <c:v>40</c:v>
                  </c:pt>
                  <c:pt idx="21">
                    <c:v>42</c:v>
                  </c:pt>
                  <c:pt idx="22">
                    <c:v>44</c:v>
                  </c:pt>
                  <c:pt idx="23">
                    <c:v>46</c:v>
                  </c:pt>
                  <c:pt idx="24">
                    <c:v>48</c:v>
                  </c:pt>
                  <c:pt idx="25">
                    <c:v>50</c:v>
                  </c:pt>
                  <c:pt idx="26">
                    <c:v>52</c:v>
                  </c:pt>
                  <c:pt idx="27">
                    <c:v>54</c:v>
                  </c:pt>
                  <c:pt idx="28">
                    <c:v>56</c:v>
                  </c:pt>
                  <c:pt idx="29">
                    <c:v>58</c:v>
                  </c:pt>
                  <c:pt idx="30">
                    <c:v>60</c:v>
                  </c:pt>
                  <c:pt idx="31">
                    <c:v>62</c:v>
                  </c:pt>
                  <c:pt idx="32">
                    <c:v>64</c:v>
                  </c:pt>
                  <c:pt idx="33">
                    <c:v>66</c:v>
                  </c:pt>
                  <c:pt idx="34">
                    <c:v>68</c:v>
                  </c:pt>
                  <c:pt idx="35">
                    <c:v>70</c:v>
                  </c:pt>
                  <c:pt idx="36">
                    <c:v>72</c:v>
                  </c:pt>
                  <c:pt idx="37">
                    <c:v>74</c:v>
                  </c:pt>
                  <c:pt idx="38">
                    <c:v>76</c:v>
                  </c:pt>
                  <c:pt idx="39">
                    <c:v>78</c:v>
                  </c:pt>
                  <c:pt idx="40">
                    <c:v>80</c:v>
                  </c:pt>
                  <c:pt idx="41">
                    <c:v>82</c:v>
                  </c:pt>
                  <c:pt idx="42">
                    <c:v>84</c:v>
                  </c:pt>
                  <c:pt idx="43">
                    <c:v>86</c:v>
                  </c:pt>
                  <c:pt idx="44">
                    <c:v>88</c:v>
                  </c:pt>
                  <c:pt idx="45">
                    <c:v>90</c:v>
                  </c:pt>
                  <c:pt idx="46">
                    <c:v>92</c:v>
                  </c:pt>
                  <c:pt idx="47">
                    <c:v>94</c:v>
                  </c:pt>
                  <c:pt idx="48">
                    <c:v>96</c:v>
                  </c:pt>
                  <c:pt idx="49">
                    <c:v>98</c:v>
                  </c:pt>
                  <c:pt idx="50">
                    <c:v>100</c:v>
                  </c:pt>
                  <c:pt idx="51">
                    <c:v>100</c:v>
                  </c:pt>
                </c:lvl>
              </c:multiLvlStrCache>
            </c:multiLvlStrRef>
          </c:cat>
          <c:val>
            <c:numRef>
              <c:f>Sheet1!$B$2:$B$53</c:f>
              <c:numCache>
                <c:formatCode>General</c:formatCode>
                <c:ptCount val="52"/>
                <c:pt idx="0">
                  <c:v>35</c:v>
                </c:pt>
                <c:pt idx="1">
                  <c:v>33</c:v>
                </c:pt>
                <c:pt idx="2">
                  <c:v>60</c:v>
                </c:pt>
                <c:pt idx="3">
                  <c:v>71</c:v>
                </c:pt>
                <c:pt idx="4">
                  <c:v>117</c:v>
                </c:pt>
                <c:pt idx="5">
                  <c:v>126</c:v>
                </c:pt>
                <c:pt idx="6">
                  <c:v>150</c:v>
                </c:pt>
                <c:pt idx="7">
                  <c:v>158</c:v>
                </c:pt>
                <c:pt idx="8">
                  <c:v>129</c:v>
                </c:pt>
                <c:pt idx="9">
                  <c:v>148</c:v>
                </c:pt>
                <c:pt idx="10">
                  <c:v>123</c:v>
                </c:pt>
                <c:pt idx="11">
                  <c:v>121</c:v>
                </c:pt>
                <c:pt idx="12">
                  <c:v>168</c:v>
                </c:pt>
                <c:pt idx="13">
                  <c:v>196</c:v>
                </c:pt>
                <c:pt idx="14">
                  <c:v>216</c:v>
                </c:pt>
                <c:pt idx="15">
                  <c:v>218</c:v>
                </c:pt>
                <c:pt idx="16">
                  <c:v>217</c:v>
                </c:pt>
                <c:pt idx="17">
                  <c:v>176</c:v>
                </c:pt>
                <c:pt idx="18">
                  <c:v>206</c:v>
                </c:pt>
                <c:pt idx="19">
                  <c:v>193</c:v>
                </c:pt>
                <c:pt idx="20">
                  <c:v>208</c:v>
                </c:pt>
                <c:pt idx="21">
                  <c:v>211</c:v>
                </c:pt>
                <c:pt idx="22">
                  <c:v>219</c:v>
                </c:pt>
                <c:pt idx="23">
                  <c:v>243</c:v>
                </c:pt>
                <c:pt idx="24">
                  <c:v>216</c:v>
                </c:pt>
                <c:pt idx="25">
                  <c:v>233</c:v>
                </c:pt>
                <c:pt idx="26">
                  <c:v>216</c:v>
                </c:pt>
                <c:pt idx="27">
                  <c:v>252</c:v>
                </c:pt>
                <c:pt idx="28">
                  <c:v>240</c:v>
                </c:pt>
                <c:pt idx="29">
                  <c:v>240</c:v>
                </c:pt>
                <c:pt idx="30">
                  <c:v>252</c:v>
                </c:pt>
                <c:pt idx="31">
                  <c:v>224</c:v>
                </c:pt>
                <c:pt idx="32">
                  <c:v>228</c:v>
                </c:pt>
                <c:pt idx="33">
                  <c:v>258</c:v>
                </c:pt>
                <c:pt idx="34">
                  <c:v>278</c:v>
                </c:pt>
                <c:pt idx="35">
                  <c:v>253</c:v>
                </c:pt>
                <c:pt idx="36">
                  <c:v>262</c:v>
                </c:pt>
                <c:pt idx="37">
                  <c:v>225</c:v>
                </c:pt>
                <c:pt idx="38">
                  <c:v>212</c:v>
                </c:pt>
                <c:pt idx="39">
                  <c:v>213</c:v>
                </c:pt>
                <c:pt idx="40">
                  <c:v>203</c:v>
                </c:pt>
                <c:pt idx="41">
                  <c:v>181</c:v>
                </c:pt>
                <c:pt idx="42">
                  <c:v>179</c:v>
                </c:pt>
                <c:pt idx="43">
                  <c:v>174</c:v>
                </c:pt>
                <c:pt idx="44">
                  <c:v>180</c:v>
                </c:pt>
                <c:pt idx="45">
                  <c:v>163</c:v>
                </c:pt>
                <c:pt idx="46">
                  <c:v>176</c:v>
                </c:pt>
                <c:pt idx="47">
                  <c:v>164</c:v>
                </c:pt>
                <c:pt idx="48">
                  <c:v>156</c:v>
                </c:pt>
                <c:pt idx="49">
                  <c:v>173</c:v>
                </c:pt>
                <c:pt idx="50">
                  <c:v>199</c:v>
                </c:pt>
                <c:pt idx="51">
                  <c:v>199</c:v>
                </c:pt>
              </c:numCache>
            </c:numRef>
          </c:val>
          <c:smooth val="0"/>
        </c:ser>
        <c:ser>
          <c:idx val="1"/>
          <c:order val="1"/>
          <c:tx>
            <c:strRef>
              <c:f>Sheet1!$C$1</c:f>
              <c:strCache>
                <c:ptCount val="1"/>
                <c:pt idx="0">
                  <c:v>Seed 2</c:v>
                </c:pt>
              </c:strCache>
            </c:strRef>
          </c:tx>
          <c:spPr>
            <a:solidFill>
              <a:srgbClr val="D98E04"/>
            </a:solidFill>
            <a:ln w="25400" cap="flat">
              <a:solidFill>
                <a:srgbClr val="D98E0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98E04"/>
              </a:solidFill>
              <a:ln w="9525" cap="flat">
                <a:solidFill>
                  <a:srgbClr val="D98E04"/>
                </a:solidFill>
                <a:prstDash val="solid"/>
                <a:round/>
              </a:ln>
              <a:effectLst/>
            </c:spPr>
          </c:marker>
          <c:cat>
            <c:multiLvlStrRef>
              <c:f>Sheet1!$A$2:$A$53</c:f>
              <c:multiLvlStrCache>
                <c:ptCount val="52"/>
                <c:lvl>
                  <c:pt idx="0">
                    <c:v>0</c:v>
                  </c:pt>
                  <c:pt idx="1">
                    <c:v>2</c:v>
                  </c:pt>
                  <c:pt idx="2">
                    <c:v>4</c:v>
                  </c:pt>
                  <c:pt idx="3">
                    <c:v>6</c:v>
                  </c:pt>
                  <c:pt idx="4">
                    <c:v>8</c:v>
                  </c:pt>
                  <c:pt idx="5">
                    <c:v>10</c:v>
                  </c:pt>
                  <c:pt idx="6">
                    <c:v>12</c:v>
                  </c:pt>
                  <c:pt idx="7">
                    <c:v>14</c:v>
                  </c:pt>
                  <c:pt idx="8">
                    <c:v>16</c:v>
                  </c:pt>
                  <c:pt idx="9">
                    <c:v>18</c:v>
                  </c:pt>
                  <c:pt idx="10">
                    <c:v>20</c:v>
                  </c:pt>
                  <c:pt idx="11">
                    <c:v>22</c:v>
                  </c:pt>
                  <c:pt idx="12">
                    <c:v>24</c:v>
                  </c:pt>
                  <c:pt idx="13">
                    <c:v>26</c:v>
                  </c:pt>
                  <c:pt idx="14">
                    <c:v>28</c:v>
                  </c:pt>
                  <c:pt idx="15">
                    <c:v>30</c:v>
                  </c:pt>
                  <c:pt idx="16">
                    <c:v>32</c:v>
                  </c:pt>
                  <c:pt idx="17">
                    <c:v>34</c:v>
                  </c:pt>
                  <c:pt idx="18">
                    <c:v>36</c:v>
                  </c:pt>
                  <c:pt idx="19">
                    <c:v>38</c:v>
                  </c:pt>
                  <c:pt idx="20">
                    <c:v>40</c:v>
                  </c:pt>
                  <c:pt idx="21">
                    <c:v>42</c:v>
                  </c:pt>
                  <c:pt idx="22">
                    <c:v>44</c:v>
                  </c:pt>
                  <c:pt idx="23">
                    <c:v>46</c:v>
                  </c:pt>
                  <c:pt idx="24">
                    <c:v>48</c:v>
                  </c:pt>
                  <c:pt idx="25">
                    <c:v>50</c:v>
                  </c:pt>
                  <c:pt idx="26">
                    <c:v>52</c:v>
                  </c:pt>
                  <c:pt idx="27">
                    <c:v>54</c:v>
                  </c:pt>
                  <c:pt idx="28">
                    <c:v>56</c:v>
                  </c:pt>
                  <c:pt idx="29">
                    <c:v>58</c:v>
                  </c:pt>
                  <c:pt idx="30">
                    <c:v>60</c:v>
                  </c:pt>
                  <c:pt idx="31">
                    <c:v>62</c:v>
                  </c:pt>
                  <c:pt idx="32">
                    <c:v>64</c:v>
                  </c:pt>
                  <c:pt idx="33">
                    <c:v>66</c:v>
                  </c:pt>
                  <c:pt idx="34">
                    <c:v>68</c:v>
                  </c:pt>
                  <c:pt idx="35">
                    <c:v>70</c:v>
                  </c:pt>
                  <c:pt idx="36">
                    <c:v>72</c:v>
                  </c:pt>
                  <c:pt idx="37">
                    <c:v>74</c:v>
                  </c:pt>
                  <c:pt idx="38">
                    <c:v>76</c:v>
                  </c:pt>
                  <c:pt idx="39">
                    <c:v>78</c:v>
                  </c:pt>
                  <c:pt idx="40">
                    <c:v>80</c:v>
                  </c:pt>
                  <c:pt idx="41">
                    <c:v>82</c:v>
                  </c:pt>
                  <c:pt idx="42">
                    <c:v>84</c:v>
                  </c:pt>
                  <c:pt idx="43">
                    <c:v>86</c:v>
                  </c:pt>
                  <c:pt idx="44">
                    <c:v>88</c:v>
                  </c:pt>
                  <c:pt idx="45">
                    <c:v>90</c:v>
                  </c:pt>
                  <c:pt idx="46">
                    <c:v>92</c:v>
                  </c:pt>
                  <c:pt idx="47">
                    <c:v>94</c:v>
                  </c:pt>
                  <c:pt idx="48">
                    <c:v>96</c:v>
                  </c:pt>
                  <c:pt idx="49">
                    <c:v>98</c:v>
                  </c:pt>
                  <c:pt idx="50">
                    <c:v>100</c:v>
                  </c:pt>
                  <c:pt idx="51">
                    <c:v>100</c:v>
                  </c:pt>
                </c:lvl>
              </c:multiLvlStrCache>
            </c:multiLvlStrRef>
          </c:cat>
          <c:val>
            <c:numRef>
              <c:f>Sheet1!$C$2:$C$53</c:f>
              <c:numCache>
                <c:formatCode>General</c:formatCode>
                <c:ptCount val="52"/>
                <c:pt idx="0">
                  <c:v>32</c:v>
                </c:pt>
                <c:pt idx="1">
                  <c:v>37</c:v>
                </c:pt>
                <c:pt idx="2">
                  <c:v>92</c:v>
                </c:pt>
                <c:pt idx="3">
                  <c:v>91</c:v>
                </c:pt>
                <c:pt idx="4">
                  <c:v>108</c:v>
                </c:pt>
                <c:pt idx="5">
                  <c:v>98</c:v>
                </c:pt>
                <c:pt idx="6">
                  <c:v>84</c:v>
                </c:pt>
                <c:pt idx="7">
                  <c:v>72</c:v>
                </c:pt>
                <c:pt idx="8">
                  <c:v>76</c:v>
                </c:pt>
                <c:pt idx="9">
                  <c:v>52</c:v>
                </c:pt>
                <c:pt idx="10">
                  <c:v>19</c:v>
                </c:pt>
                <c:pt idx="11">
                  <c:v>17</c:v>
                </c:pt>
                <c:pt idx="12">
                  <c:v>19</c:v>
                </c:pt>
                <c:pt idx="13">
                  <c:v>10</c:v>
                </c:pt>
                <c:pt idx="14">
                  <c:v>17</c:v>
                </c:pt>
                <c:pt idx="15">
                  <c:v>12</c:v>
                </c:pt>
                <c:pt idx="16">
                  <c:v>10</c:v>
                </c:pt>
                <c:pt idx="17">
                  <c:v>5</c:v>
                </c:pt>
                <c:pt idx="18">
                  <c:v>7</c:v>
                </c:pt>
                <c:pt idx="19">
                  <c:v>16</c:v>
                </c:pt>
                <c:pt idx="20">
                  <c:v>4</c:v>
                </c:pt>
                <c:pt idx="21">
                  <c:v>7</c:v>
                </c:pt>
                <c:pt idx="22">
                  <c:v>8</c:v>
                </c:pt>
                <c:pt idx="23">
                  <c:v>9</c:v>
                </c:pt>
                <c:pt idx="24">
                  <c:v>1</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numCache>
            </c:numRef>
          </c:val>
          <c:smooth val="0"/>
        </c:ser>
        <c:ser>
          <c:idx val="2"/>
          <c:order val="2"/>
          <c:tx>
            <c:strRef>
              <c:f>Sheet1!$D$1</c:f>
              <c:strCache>
                <c:ptCount val="1"/>
                <c:pt idx="0">
                  <c:v>Seed 3</c:v>
                </c:pt>
              </c:strCache>
            </c:strRef>
          </c:tx>
          <c:spPr>
            <a:solidFill>
              <a:srgbClr val="4E7D32"/>
            </a:solidFill>
            <a:ln w="25400" cap="flat">
              <a:solidFill>
                <a:srgbClr val="4E7D3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4E7D32"/>
              </a:solidFill>
              <a:ln w="9525" cap="flat">
                <a:solidFill>
                  <a:srgbClr val="4E7D32"/>
                </a:solidFill>
                <a:prstDash val="solid"/>
                <a:round/>
              </a:ln>
              <a:effectLst/>
            </c:spPr>
          </c:marker>
          <c:cat>
            <c:multiLvlStrRef>
              <c:f>Sheet1!$A$2:$A$53</c:f>
              <c:multiLvlStrCache>
                <c:ptCount val="52"/>
                <c:lvl>
                  <c:pt idx="0">
                    <c:v>0</c:v>
                  </c:pt>
                  <c:pt idx="1">
                    <c:v>2</c:v>
                  </c:pt>
                  <c:pt idx="2">
                    <c:v>4</c:v>
                  </c:pt>
                  <c:pt idx="3">
                    <c:v>6</c:v>
                  </c:pt>
                  <c:pt idx="4">
                    <c:v>8</c:v>
                  </c:pt>
                  <c:pt idx="5">
                    <c:v>10</c:v>
                  </c:pt>
                  <c:pt idx="6">
                    <c:v>12</c:v>
                  </c:pt>
                  <c:pt idx="7">
                    <c:v>14</c:v>
                  </c:pt>
                  <c:pt idx="8">
                    <c:v>16</c:v>
                  </c:pt>
                  <c:pt idx="9">
                    <c:v>18</c:v>
                  </c:pt>
                  <c:pt idx="10">
                    <c:v>20</c:v>
                  </c:pt>
                  <c:pt idx="11">
                    <c:v>22</c:v>
                  </c:pt>
                  <c:pt idx="12">
                    <c:v>24</c:v>
                  </c:pt>
                  <c:pt idx="13">
                    <c:v>26</c:v>
                  </c:pt>
                  <c:pt idx="14">
                    <c:v>28</c:v>
                  </c:pt>
                  <c:pt idx="15">
                    <c:v>30</c:v>
                  </c:pt>
                  <c:pt idx="16">
                    <c:v>32</c:v>
                  </c:pt>
                  <c:pt idx="17">
                    <c:v>34</c:v>
                  </c:pt>
                  <c:pt idx="18">
                    <c:v>36</c:v>
                  </c:pt>
                  <c:pt idx="19">
                    <c:v>38</c:v>
                  </c:pt>
                  <c:pt idx="20">
                    <c:v>40</c:v>
                  </c:pt>
                  <c:pt idx="21">
                    <c:v>42</c:v>
                  </c:pt>
                  <c:pt idx="22">
                    <c:v>44</c:v>
                  </c:pt>
                  <c:pt idx="23">
                    <c:v>46</c:v>
                  </c:pt>
                  <c:pt idx="24">
                    <c:v>48</c:v>
                  </c:pt>
                  <c:pt idx="25">
                    <c:v>50</c:v>
                  </c:pt>
                  <c:pt idx="26">
                    <c:v>52</c:v>
                  </c:pt>
                  <c:pt idx="27">
                    <c:v>54</c:v>
                  </c:pt>
                  <c:pt idx="28">
                    <c:v>56</c:v>
                  </c:pt>
                  <c:pt idx="29">
                    <c:v>58</c:v>
                  </c:pt>
                  <c:pt idx="30">
                    <c:v>60</c:v>
                  </c:pt>
                  <c:pt idx="31">
                    <c:v>62</c:v>
                  </c:pt>
                  <c:pt idx="32">
                    <c:v>64</c:v>
                  </c:pt>
                  <c:pt idx="33">
                    <c:v>66</c:v>
                  </c:pt>
                  <c:pt idx="34">
                    <c:v>68</c:v>
                  </c:pt>
                  <c:pt idx="35">
                    <c:v>70</c:v>
                  </c:pt>
                  <c:pt idx="36">
                    <c:v>72</c:v>
                  </c:pt>
                  <c:pt idx="37">
                    <c:v>74</c:v>
                  </c:pt>
                  <c:pt idx="38">
                    <c:v>76</c:v>
                  </c:pt>
                  <c:pt idx="39">
                    <c:v>78</c:v>
                  </c:pt>
                  <c:pt idx="40">
                    <c:v>80</c:v>
                  </c:pt>
                  <c:pt idx="41">
                    <c:v>82</c:v>
                  </c:pt>
                  <c:pt idx="42">
                    <c:v>84</c:v>
                  </c:pt>
                  <c:pt idx="43">
                    <c:v>86</c:v>
                  </c:pt>
                  <c:pt idx="44">
                    <c:v>88</c:v>
                  </c:pt>
                  <c:pt idx="45">
                    <c:v>90</c:v>
                  </c:pt>
                  <c:pt idx="46">
                    <c:v>92</c:v>
                  </c:pt>
                  <c:pt idx="47">
                    <c:v>94</c:v>
                  </c:pt>
                  <c:pt idx="48">
                    <c:v>96</c:v>
                  </c:pt>
                  <c:pt idx="49">
                    <c:v>98</c:v>
                  </c:pt>
                  <c:pt idx="50">
                    <c:v>100</c:v>
                  </c:pt>
                  <c:pt idx="51">
                    <c:v>100</c:v>
                  </c:pt>
                </c:lvl>
              </c:multiLvlStrCache>
            </c:multiLvlStrRef>
          </c:cat>
          <c:val>
            <c:numRef>
              <c:f>Sheet1!$D$2:$D$53</c:f>
              <c:numCache>
                <c:formatCode>General</c:formatCode>
                <c:ptCount val="52"/>
                <c:pt idx="0">
                  <c:v>34</c:v>
                </c:pt>
                <c:pt idx="1">
                  <c:v>22</c:v>
                </c:pt>
                <c:pt idx="2">
                  <c:v>46</c:v>
                </c:pt>
                <c:pt idx="3">
                  <c:v>37</c:v>
                </c:pt>
                <c:pt idx="4">
                  <c:v>31</c:v>
                </c:pt>
                <c:pt idx="5">
                  <c:v>23</c:v>
                </c:pt>
                <c:pt idx="6">
                  <c:v>23</c:v>
                </c:pt>
                <c:pt idx="7">
                  <c:v>30</c:v>
                </c:pt>
                <c:pt idx="8">
                  <c:v>18</c:v>
                </c:pt>
                <c:pt idx="9">
                  <c:v>33</c:v>
                </c:pt>
                <c:pt idx="10">
                  <c:v>21</c:v>
                </c:pt>
                <c:pt idx="11">
                  <c:v>16</c:v>
                </c:pt>
                <c:pt idx="12">
                  <c:v>24</c:v>
                </c:pt>
                <c:pt idx="13">
                  <c:v>14</c:v>
                </c:pt>
                <c:pt idx="14">
                  <c:v>19</c:v>
                </c:pt>
                <c:pt idx="15">
                  <c:v>25</c:v>
                </c:pt>
                <c:pt idx="16">
                  <c:v>25</c:v>
                </c:pt>
                <c:pt idx="17">
                  <c:v>27</c:v>
                </c:pt>
                <c:pt idx="18">
                  <c:v>35</c:v>
                </c:pt>
                <c:pt idx="19">
                  <c:v>41</c:v>
                </c:pt>
                <c:pt idx="20">
                  <c:v>39</c:v>
                </c:pt>
                <c:pt idx="21">
                  <c:v>41</c:v>
                </c:pt>
                <c:pt idx="22">
                  <c:v>38</c:v>
                </c:pt>
                <c:pt idx="23">
                  <c:v>39</c:v>
                </c:pt>
                <c:pt idx="24">
                  <c:v>23</c:v>
                </c:pt>
                <c:pt idx="25">
                  <c:v>34</c:v>
                </c:pt>
                <c:pt idx="26">
                  <c:v>38</c:v>
                </c:pt>
                <c:pt idx="27">
                  <c:v>24</c:v>
                </c:pt>
                <c:pt idx="28">
                  <c:v>24</c:v>
                </c:pt>
                <c:pt idx="29">
                  <c:v>25</c:v>
                </c:pt>
                <c:pt idx="30">
                  <c:v>37</c:v>
                </c:pt>
                <c:pt idx="31">
                  <c:v>26</c:v>
                </c:pt>
                <c:pt idx="32">
                  <c:v>30</c:v>
                </c:pt>
                <c:pt idx="33">
                  <c:v>21</c:v>
                </c:pt>
                <c:pt idx="34">
                  <c:v>34</c:v>
                </c:pt>
                <c:pt idx="35">
                  <c:v>17</c:v>
                </c:pt>
                <c:pt idx="36">
                  <c:v>9</c:v>
                </c:pt>
                <c:pt idx="37">
                  <c:v>11</c:v>
                </c:pt>
                <c:pt idx="38">
                  <c:v>8</c:v>
                </c:pt>
                <c:pt idx="39">
                  <c:v>10</c:v>
                </c:pt>
                <c:pt idx="40">
                  <c:v>7</c:v>
                </c:pt>
                <c:pt idx="41">
                  <c:v>8</c:v>
                </c:pt>
                <c:pt idx="42">
                  <c:v>7</c:v>
                </c:pt>
                <c:pt idx="43">
                  <c:v>8</c:v>
                </c:pt>
                <c:pt idx="44">
                  <c:v>9</c:v>
                </c:pt>
                <c:pt idx="45">
                  <c:v>2</c:v>
                </c:pt>
                <c:pt idx="46">
                  <c:v>5</c:v>
                </c:pt>
                <c:pt idx="47">
                  <c:v>2</c:v>
                </c:pt>
                <c:pt idx="48">
                  <c:v>0</c:v>
                </c:pt>
                <c:pt idx="49">
                  <c:v>0</c:v>
                </c:pt>
                <c:pt idx="50">
                  <c:v>0</c:v>
                </c:pt>
                <c:pt idx="51">
                  <c:v>0</c:v>
                </c:pt>
              </c:numCache>
            </c:numRef>
          </c:val>
          <c:smooth val="0"/>
        </c:ser>
        <c:ser>
          <c:idx val="3"/>
          <c:order val="3"/>
          <c:tx>
            <c:strRef>
              <c:f>Sheet1!$E$1</c:f>
              <c:strCache>
                <c:ptCount val="1"/>
                <c:pt idx="0">
                  <c:v>Seed 4</c:v>
                </c:pt>
              </c:strCache>
            </c:strRef>
          </c:tx>
          <c:spPr>
            <a:solidFill>
              <a:srgbClr val="2F6FA8"/>
            </a:solidFill>
            <a:ln w="25400" cap="flat">
              <a:solidFill>
                <a:srgbClr val="2F6F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6FA8"/>
              </a:solidFill>
              <a:ln w="9525" cap="flat">
                <a:solidFill>
                  <a:srgbClr val="2F6FA8"/>
                </a:solidFill>
                <a:prstDash val="solid"/>
                <a:round/>
              </a:ln>
              <a:effectLst/>
            </c:spPr>
          </c:marker>
          <c:cat>
            <c:multiLvlStrRef>
              <c:f>Sheet1!$A$2:$A$53</c:f>
              <c:multiLvlStrCache>
                <c:ptCount val="52"/>
                <c:lvl>
                  <c:pt idx="0">
                    <c:v>0</c:v>
                  </c:pt>
                  <c:pt idx="1">
                    <c:v>2</c:v>
                  </c:pt>
                  <c:pt idx="2">
                    <c:v>4</c:v>
                  </c:pt>
                  <c:pt idx="3">
                    <c:v>6</c:v>
                  </c:pt>
                  <c:pt idx="4">
                    <c:v>8</c:v>
                  </c:pt>
                  <c:pt idx="5">
                    <c:v>10</c:v>
                  </c:pt>
                  <c:pt idx="6">
                    <c:v>12</c:v>
                  </c:pt>
                  <c:pt idx="7">
                    <c:v>14</c:v>
                  </c:pt>
                  <c:pt idx="8">
                    <c:v>16</c:v>
                  </c:pt>
                  <c:pt idx="9">
                    <c:v>18</c:v>
                  </c:pt>
                  <c:pt idx="10">
                    <c:v>20</c:v>
                  </c:pt>
                  <c:pt idx="11">
                    <c:v>22</c:v>
                  </c:pt>
                  <c:pt idx="12">
                    <c:v>24</c:v>
                  </c:pt>
                  <c:pt idx="13">
                    <c:v>26</c:v>
                  </c:pt>
                  <c:pt idx="14">
                    <c:v>28</c:v>
                  </c:pt>
                  <c:pt idx="15">
                    <c:v>30</c:v>
                  </c:pt>
                  <c:pt idx="16">
                    <c:v>32</c:v>
                  </c:pt>
                  <c:pt idx="17">
                    <c:v>34</c:v>
                  </c:pt>
                  <c:pt idx="18">
                    <c:v>36</c:v>
                  </c:pt>
                  <c:pt idx="19">
                    <c:v>38</c:v>
                  </c:pt>
                  <c:pt idx="20">
                    <c:v>40</c:v>
                  </c:pt>
                  <c:pt idx="21">
                    <c:v>42</c:v>
                  </c:pt>
                  <c:pt idx="22">
                    <c:v>44</c:v>
                  </c:pt>
                  <c:pt idx="23">
                    <c:v>46</c:v>
                  </c:pt>
                  <c:pt idx="24">
                    <c:v>48</c:v>
                  </c:pt>
                  <c:pt idx="25">
                    <c:v>50</c:v>
                  </c:pt>
                  <c:pt idx="26">
                    <c:v>52</c:v>
                  </c:pt>
                  <c:pt idx="27">
                    <c:v>54</c:v>
                  </c:pt>
                  <c:pt idx="28">
                    <c:v>56</c:v>
                  </c:pt>
                  <c:pt idx="29">
                    <c:v>58</c:v>
                  </c:pt>
                  <c:pt idx="30">
                    <c:v>60</c:v>
                  </c:pt>
                  <c:pt idx="31">
                    <c:v>62</c:v>
                  </c:pt>
                  <c:pt idx="32">
                    <c:v>64</c:v>
                  </c:pt>
                  <c:pt idx="33">
                    <c:v>66</c:v>
                  </c:pt>
                  <c:pt idx="34">
                    <c:v>68</c:v>
                  </c:pt>
                  <c:pt idx="35">
                    <c:v>70</c:v>
                  </c:pt>
                  <c:pt idx="36">
                    <c:v>72</c:v>
                  </c:pt>
                  <c:pt idx="37">
                    <c:v>74</c:v>
                  </c:pt>
                  <c:pt idx="38">
                    <c:v>76</c:v>
                  </c:pt>
                  <c:pt idx="39">
                    <c:v>78</c:v>
                  </c:pt>
                  <c:pt idx="40">
                    <c:v>80</c:v>
                  </c:pt>
                  <c:pt idx="41">
                    <c:v>82</c:v>
                  </c:pt>
                  <c:pt idx="42">
                    <c:v>84</c:v>
                  </c:pt>
                  <c:pt idx="43">
                    <c:v>86</c:v>
                  </c:pt>
                  <c:pt idx="44">
                    <c:v>88</c:v>
                  </c:pt>
                  <c:pt idx="45">
                    <c:v>90</c:v>
                  </c:pt>
                  <c:pt idx="46">
                    <c:v>92</c:v>
                  </c:pt>
                  <c:pt idx="47">
                    <c:v>94</c:v>
                  </c:pt>
                  <c:pt idx="48">
                    <c:v>96</c:v>
                  </c:pt>
                  <c:pt idx="49">
                    <c:v>98</c:v>
                  </c:pt>
                  <c:pt idx="50">
                    <c:v>100</c:v>
                  </c:pt>
                  <c:pt idx="51">
                    <c:v>100</c:v>
                  </c:pt>
                </c:lvl>
              </c:multiLvlStrCache>
            </c:multiLvlStrRef>
          </c:cat>
          <c:val>
            <c:numRef>
              <c:f>Sheet1!$E$2:$E$53</c:f>
              <c:numCache>
                <c:formatCode>General</c:formatCode>
                <c:ptCount val="52"/>
                <c:pt idx="0">
                  <c:v>36</c:v>
                </c:pt>
                <c:pt idx="1">
                  <c:v>90</c:v>
                </c:pt>
                <c:pt idx="2">
                  <c:v>101</c:v>
                </c:pt>
                <c:pt idx="3">
                  <c:v>104</c:v>
                </c:pt>
                <c:pt idx="4">
                  <c:v>115</c:v>
                </c:pt>
                <c:pt idx="5">
                  <c:v>94</c:v>
                </c:pt>
                <c:pt idx="6">
                  <c:v>94</c:v>
                </c:pt>
                <c:pt idx="7">
                  <c:v>69</c:v>
                </c:pt>
                <c:pt idx="8">
                  <c:v>59</c:v>
                </c:pt>
                <c:pt idx="9">
                  <c:v>62</c:v>
                </c:pt>
                <c:pt idx="10">
                  <c:v>59</c:v>
                </c:pt>
                <c:pt idx="11">
                  <c:v>27</c:v>
                </c:pt>
                <c:pt idx="12">
                  <c:v>32</c:v>
                </c:pt>
                <c:pt idx="13">
                  <c:v>19</c:v>
                </c:pt>
                <c:pt idx="14">
                  <c:v>14</c:v>
                </c:pt>
                <c:pt idx="15">
                  <c:v>27</c:v>
                </c:pt>
                <c:pt idx="16">
                  <c:v>25</c:v>
                </c:pt>
                <c:pt idx="17">
                  <c:v>25</c:v>
                </c:pt>
                <c:pt idx="18">
                  <c:v>19</c:v>
                </c:pt>
                <c:pt idx="19">
                  <c:v>11</c:v>
                </c:pt>
                <c:pt idx="20">
                  <c:v>14</c:v>
                </c:pt>
                <c:pt idx="21">
                  <c:v>14</c:v>
                </c:pt>
                <c:pt idx="22">
                  <c:v>19</c:v>
                </c:pt>
                <c:pt idx="23">
                  <c:v>14</c:v>
                </c:pt>
                <c:pt idx="24">
                  <c:v>16</c:v>
                </c:pt>
                <c:pt idx="25">
                  <c:v>12</c:v>
                </c:pt>
                <c:pt idx="26">
                  <c:v>10</c:v>
                </c:pt>
                <c:pt idx="27">
                  <c:v>6</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numCache>
            </c:numRef>
          </c:val>
          <c:smooth val="0"/>
        </c:ser>
        <c:ser>
          <c:idx val="4"/>
          <c:order val="4"/>
          <c:tx>
            <c:strRef>
              <c:f>Sheet1!$F$1</c:f>
              <c:strCache>
                <c:ptCount val="1"/>
                <c:pt idx="0">
                  <c:v>Seed 5</c:v>
                </c:pt>
              </c:strCache>
            </c:strRef>
          </c:tx>
          <c:spPr>
            <a:solidFill>
              <a:srgbClr val="B23A3A"/>
            </a:solidFill>
            <a:ln w="25400" cap="flat">
              <a:solidFill>
                <a:srgbClr val="B23A3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23A3A"/>
              </a:solidFill>
              <a:ln w="9525" cap="flat">
                <a:solidFill>
                  <a:srgbClr val="B23A3A"/>
                </a:solidFill>
                <a:prstDash val="solid"/>
                <a:round/>
              </a:ln>
              <a:effectLst/>
            </c:spPr>
          </c:marker>
          <c:cat>
            <c:multiLvlStrRef>
              <c:f>Sheet1!$A$2:$A$53</c:f>
              <c:multiLvlStrCache>
                <c:ptCount val="52"/>
                <c:lvl>
                  <c:pt idx="0">
                    <c:v>0</c:v>
                  </c:pt>
                  <c:pt idx="1">
                    <c:v>2</c:v>
                  </c:pt>
                  <c:pt idx="2">
                    <c:v>4</c:v>
                  </c:pt>
                  <c:pt idx="3">
                    <c:v>6</c:v>
                  </c:pt>
                  <c:pt idx="4">
                    <c:v>8</c:v>
                  </c:pt>
                  <c:pt idx="5">
                    <c:v>10</c:v>
                  </c:pt>
                  <c:pt idx="6">
                    <c:v>12</c:v>
                  </c:pt>
                  <c:pt idx="7">
                    <c:v>14</c:v>
                  </c:pt>
                  <c:pt idx="8">
                    <c:v>16</c:v>
                  </c:pt>
                  <c:pt idx="9">
                    <c:v>18</c:v>
                  </c:pt>
                  <c:pt idx="10">
                    <c:v>20</c:v>
                  </c:pt>
                  <c:pt idx="11">
                    <c:v>22</c:v>
                  </c:pt>
                  <c:pt idx="12">
                    <c:v>24</c:v>
                  </c:pt>
                  <c:pt idx="13">
                    <c:v>26</c:v>
                  </c:pt>
                  <c:pt idx="14">
                    <c:v>28</c:v>
                  </c:pt>
                  <c:pt idx="15">
                    <c:v>30</c:v>
                  </c:pt>
                  <c:pt idx="16">
                    <c:v>32</c:v>
                  </c:pt>
                  <c:pt idx="17">
                    <c:v>34</c:v>
                  </c:pt>
                  <c:pt idx="18">
                    <c:v>36</c:v>
                  </c:pt>
                  <c:pt idx="19">
                    <c:v>38</c:v>
                  </c:pt>
                  <c:pt idx="20">
                    <c:v>40</c:v>
                  </c:pt>
                  <c:pt idx="21">
                    <c:v>42</c:v>
                  </c:pt>
                  <c:pt idx="22">
                    <c:v>44</c:v>
                  </c:pt>
                  <c:pt idx="23">
                    <c:v>46</c:v>
                  </c:pt>
                  <c:pt idx="24">
                    <c:v>48</c:v>
                  </c:pt>
                  <c:pt idx="25">
                    <c:v>50</c:v>
                  </c:pt>
                  <c:pt idx="26">
                    <c:v>52</c:v>
                  </c:pt>
                  <c:pt idx="27">
                    <c:v>54</c:v>
                  </c:pt>
                  <c:pt idx="28">
                    <c:v>56</c:v>
                  </c:pt>
                  <c:pt idx="29">
                    <c:v>58</c:v>
                  </c:pt>
                  <c:pt idx="30">
                    <c:v>60</c:v>
                  </c:pt>
                  <c:pt idx="31">
                    <c:v>62</c:v>
                  </c:pt>
                  <c:pt idx="32">
                    <c:v>64</c:v>
                  </c:pt>
                  <c:pt idx="33">
                    <c:v>66</c:v>
                  </c:pt>
                  <c:pt idx="34">
                    <c:v>68</c:v>
                  </c:pt>
                  <c:pt idx="35">
                    <c:v>70</c:v>
                  </c:pt>
                  <c:pt idx="36">
                    <c:v>72</c:v>
                  </c:pt>
                  <c:pt idx="37">
                    <c:v>74</c:v>
                  </c:pt>
                  <c:pt idx="38">
                    <c:v>76</c:v>
                  </c:pt>
                  <c:pt idx="39">
                    <c:v>78</c:v>
                  </c:pt>
                  <c:pt idx="40">
                    <c:v>80</c:v>
                  </c:pt>
                  <c:pt idx="41">
                    <c:v>82</c:v>
                  </c:pt>
                  <c:pt idx="42">
                    <c:v>84</c:v>
                  </c:pt>
                  <c:pt idx="43">
                    <c:v>86</c:v>
                  </c:pt>
                  <c:pt idx="44">
                    <c:v>88</c:v>
                  </c:pt>
                  <c:pt idx="45">
                    <c:v>90</c:v>
                  </c:pt>
                  <c:pt idx="46">
                    <c:v>92</c:v>
                  </c:pt>
                  <c:pt idx="47">
                    <c:v>94</c:v>
                  </c:pt>
                  <c:pt idx="48">
                    <c:v>96</c:v>
                  </c:pt>
                  <c:pt idx="49">
                    <c:v>98</c:v>
                  </c:pt>
                  <c:pt idx="50">
                    <c:v>100</c:v>
                  </c:pt>
                  <c:pt idx="51">
                    <c:v>100</c:v>
                  </c:pt>
                </c:lvl>
              </c:multiLvlStrCache>
            </c:multiLvlStrRef>
          </c:cat>
          <c:val>
            <c:numRef>
              <c:f>Sheet1!$F$2:$F$53</c:f>
              <c:numCache>
                <c:formatCode>General</c:formatCode>
                <c:ptCount val="52"/>
                <c:pt idx="0">
                  <c:v>36</c:v>
                </c:pt>
                <c:pt idx="1">
                  <c:v>75</c:v>
                </c:pt>
                <c:pt idx="2">
                  <c:v>95</c:v>
                </c:pt>
                <c:pt idx="3">
                  <c:v>113</c:v>
                </c:pt>
                <c:pt idx="4">
                  <c:v>92</c:v>
                </c:pt>
                <c:pt idx="5">
                  <c:v>80</c:v>
                </c:pt>
                <c:pt idx="6">
                  <c:v>90</c:v>
                </c:pt>
                <c:pt idx="7">
                  <c:v>47</c:v>
                </c:pt>
                <c:pt idx="8">
                  <c:v>43</c:v>
                </c:pt>
                <c:pt idx="9">
                  <c:v>3</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2"/>
        <c:crosses val="autoZero"/>
        <c:auto val="1"/>
        <c:lblAlgn val="ctr"/>
        <c:noMultiLvlLbl val="1"/>
        <c:tickLblSkip val="5"/>
      </c:catAx>
      <c:valAx>
        <c:axId val="2094734552"/>
        <c:scaling>
          <c:orientation val="minMax"/>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33333"/>
                </a:solidFill>
                <a:latin typeface="+mn-lt"/>
              </a:defRPr>
            </a:pPr>
            <a:r>
              <a:rPr sz="1300" b="0" i="0" u="none" strike="noStrike">
                <a:solidFill>
                  <a:srgbClr val="333333"/>
                </a:solidFill>
                <a:latin typeface="+mn-lt"/>
              </a:rPr>
              <a:t>Ablations: zebra lineages alive at 40k</a:t>
            </a:r>
          </a:p>
        </c:rich>
      </c:tx>
      <c:layout/>
      <c:overlay val="0"/>
    </c:title>
    <c:autoTitleDeleted val="0"/>
    <c:plotArea>
      <c:layout/>
      <c:barChart>
        <c:barDir val="bar"/>
        <c:grouping val="clustered"/>
        <c:varyColors val="0"/>
        <c:ser>
          <c:idx val="0"/>
          <c:order val="0"/>
          <c:tx>
            <c:strRef>
              <c:f>Sheet1!$B$1</c:f>
              <c:strCache>
                <c:ptCount val="1"/>
                <c:pt idx="0">
                  <c:v>alive</c:v>
                </c:pt>
              </c:strCache>
            </c:strRef>
          </c:tx>
          <c:spPr>
            <a:solidFill>
              <a:srgbClr val="3B2F22"/>
            </a:solidFill>
            <a:effectLst/>
          </c:spPr>
          <c:invertIfNegative val="0"/>
          <c:dLbls>
            <c:numFmt formatCode="0%" sourceLinked="0"/>
            <c:txPr>
              <a:bodyPr/>
              <a:lstStyle/>
              <a:p>
                <a:pPr>
                  <a:defRPr b="0" i="0" strike="noStrike" sz="1000" u="none">
                    <a:solidFill>
                      <a:srgbClr val="444444"/>
                    </a:solidFill>
                    <a:latin typeface="+mn-lt"/>
                  </a:defRPr>
                </a:pPr>
              </a:p>
            </c:txPr>
            <c:showLegendKey val="0"/>
            <c:showVal val="1"/>
            <c:showCatName val="0"/>
            <c:showSerName val="0"/>
            <c:showPercent val="0"/>
            <c:showBubbleSize val="0"/>
            <c:showLeaderLines val="0"/>
          </c:dLbls>
          <c:cat>
            <c:multiLvlStrRef>
              <c:f>Sheet1!$A$2:$A$12</c:f>
              <c:multiLvlStrCache>
                <c:ptCount val="11"/>
                <c:lvl>
                  <c:pt idx="0">
                    <c:v>Full design</c:v>
                  </c:pt>
                  <c:pt idx="1">
                    <c:v>Mouth cap</c:v>
                  </c:pt>
                  <c:pt idx="2">
                    <c:v>No cache</c:v>
                  </c:pt>
                  <c:pt idx="3">
                    <c:v>No fire</c:v>
                  </c:pt>
                  <c:pt idx="4">
                    <c:v>No grazing</c:v>
                  </c:pt>
                  <c:pt idx="5">
                    <c:v>No horn</c:v>
                  </c:pt>
                  <c:pt idx="6">
                    <c:v>No leopards</c:v>
                  </c:pt>
                  <c:pt idx="7">
                    <c:v>No river</c:v>
                  </c:pt>
                  <c:pt idx="8">
                    <c:v>No stripes</c:v>
                  </c:pt>
                  <c:pt idx="9">
                    <c:v>No trees</c:v>
                  </c:pt>
                  <c:pt idx="10">
                    <c:v>No soil water</c:v>
                  </c:pt>
                </c:lvl>
              </c:multiLvlStrCache>
            </c:multiLvlStrRef>
          </c:cat>
          <c:val>
            <c:numRef>
              <c:f>Sheet1!$B$2:$B$12</c:f>
              <c:numCache>
                <c:formatCode>General</c:formatCode>
                <c:ptCount val="11"/>
                <c:pt idx="0">
                  <c:v>0.8</c:v>
                </c:pt>
                <c:pt idx="1">
                  <c:v>0.3333333333333333</c:v>
                </c:pt>
                <c:pt idx="2">
                  <c:v>1</c:v>
                </c:pt>
                <c:pt idx="3">
                  <c:v>0.6666666666666666</c:v>
                </c:pt>
                <c:pt idx="4">
                  <c:v>0.3333333333333333</c:v>
                </c:pt>
                <c:pt idx="5">
                  <c:v>0.6666666666666666</c:v>
                </c:pt>
                <c:pt idx="6">
                  <c:v>0.6666666666666666</c:v>
                </c:pt>
                <c:pt idx="7">
                  <c:v>0</c:v>
                </c:pt>
                <c:pt idx="8">
                  <c:v>0.3333333333333333</c:v>
                </c:pt>
                <c:pt idx="9">
                  <c:v>0.3333333333333333</c:v>
                </c:pt>
                <c:pt idx="10">
                  <c:v>0</c:v>
                </c:pt>
              </c:numCache>
            </c:numRef>
          </c:val>
        </c:ser>
        <c:dLbls>
          <c:numFmt formatCode="0%" sourceLinked="0"/>
          <c:txPr>
            <a:bodyPr/>
            <a:lstStyle/>
            <a:p>
              <a:pPr>
                <a:defRPr b="0" i="0" strike="noStrike" sz="1000" u="none">
                  <a:solidFill>
                    <a:srgbClr val="4444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max val="1.2"/>
          <c:min val="0"/>
        </c:scaling>
        <c:delete val="1"/>
        <c:axPos val="b"/>
        <c:majorGridlines>
          <c:spPr>
            <a:ln w="6350" cap="flat">
              <a:solidFill>
                <a:srgbClr val="E3E3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33333"/>
                </a:solidFill>
                <a:latin typeface="+mn-lt"/>
              </a:defRPr>
            </a:pPr>
            <a:r>
              <a:rPr sz="1300" b="0" i="0" u="none" strike="noStrike">
                <a:solidFill>
                  <a:srgbClr val="333333"/>
                </a:solidFill>
                <a:latin typeface="+mn-lt"/>
              </a:rPr>
              <a:t>Sweeps: zebra lineages alive at 40k</a:t>
            </a:r>
          </a:p>
        </c:rich>
      </c:tx>
      <c:layout/>
      <c:overlay val="0"/>
    </c:title>
    <c:autoTitleDeleted val="0"/>
    <c:plotArea>
      <c:layout/>
      <c:barChart>
        <c:barDir val="bar"/>
        <c:grouping val="clustered"/>
        <c:varyColors val="0"/>
        <c:ser>
          <c:idx val="0"/>
          <c:order val="0"/>
          <c:tx>
            <c:strRef>
              <c:f>Sheet1!$B$1</c:f>
              <c:strCache>
                <c:ptCount val="1"/>
                <c:pt idx="0">
                  <c:v>alive</c:v>
                </c:pt>
              </c:strCache>
            </c:strRef>
          </c:tx>
          <c:spPr>
            <a:solidFill>
              <a:srgbClr val="4E7D32"/>
            </a:solidFill>
            <a:effectLst/>
          </c:spPr>
          <c:invertIfNegative val="0"/>
          <c:dLbls>
            <c:numFmt formatCode="0%" sourceLinked="0"/>
            <c:txPr>
              <a:bodyPr/>
              <a:lstStyle/>
              <a:p>
                <a:pPr>
                  <a:defRPr b="0" i="0" strike="noStrike" sz="1000" u="none">
                    <a:solidFill>
                      <a:srgbClr val="444444"/>
                    </a:solidFill>
                    <a:latin typeface="+mn-lt"/>
                  </a:defRPr>
                </a:pPr>
              </a:p>
            </c:txPr>
            <c:showLegendKey val="0"/>
            <c:showVal val="1"/>
            <c:showCatName val="0"/>
            <c:showSerName val="0"/>
            <c:showPercent val="0"/>
            <c:showBubbleSize val="0"/>
            <c:showLeaderLines val="0"/>
          </c:dLbls>
          <c:cat>
            <c:multiLvlStrRef>
              <c:f>Sheet1!$A$2:$A$14</c:f>
              <c:multiLvlStrCache>
                <c:ptCount val="13"/>
                <c:lvl>
                  <c:pt idx="0">
                    <c:v>Full design</c:v>
                  </c:pt>
                  <c:pt idx="1">
                    <c:v>Weak bite</c:v>
                  </c:pt>
                  <c:pt idx="2">
                    <c:v>Good bush food</c:v>
                  </c:pt>
                  <c:pt idx="3">
                    <c:v>Weak camouflage</c:v>
                  </c:pt>
                  <c:pt idx="4">
                    <c:v>Drought seasons</c:v>
                  </c:pt>
                  <c:pt idx="5">
                    <c:v>High food</c:v>
                  </c:pt>
                  <c:pt idx="6">
                    <c:v>Low food</c:v>
                  </c:pt>
                  <c:pt idx="7">
                    <c:v>High grazing</c:v>
                  </c:pt>
                  <c:pt idx="8">
                    <c:v>Harsh hunger</c:v>
                  </c:pt>
                  <c:pt idx="9">
                    <c:v>High mutation</c:v>
                  </c:pt>
                  <c:pt idx="10">
                    <c:v>Low mutation</c:v>
                  </c:pt>
                  <c:pt idx="11">
                    <c:v>High rain</c:v>
                  </c:pt>
                  <c:pt idx="12">
                    <c:v>Low rain</c:v>
                  </c:pt>
                </c:lvl>
              </c:multiLvlStrCache>
            </c:multiLvlStrRef>
          </c:cat>
          <c:val>
            <c:numRef>
              <c:f>Sheet1!$B$2:$B$14</c:f>
              <c:numCache>
                <c:formatCode>General</c:formatCode>
                <c:ptCount val="13"/>
                <c:pt idx="0">
                  <c:v>0.8</c:v>
                </c:pt>
                <c:pt idx="1">
                  <c:v>0.3333333333333333</c:v>
                </c:pt>
                <c:pt idx="2">
                  <c:v>0.3333333333333333</c:v>
                </c:pt>
                <c:pt idx="3">
                  <c:v>0</c:v>
                </c:pt>
                <c:pt idx="4">
                  <c:v>0.3333333333333333</c:v>
                </c:pt>
                <c:pt idx="5">
                  <c:v>0.6666666666666666</c:v>
                </c:pt>
                <c:pt idx="6">
                  <c:v>0.3333333333333333</c:v>
                </c:pt>
                <c:pt idx="7">
                  <c:v>0.3333333333333333</c:v>
                </c:pt>
                <c:pt idx="8">
                  <c:v>0</c:v>
                </c:pt>
                <c:pt idx="9">
                  <c:v>0.3333333333333333</c:v>
                </c:pt>
                <c:pt idx="10">
                  <c:v>0.6666666666666666</c:v>
                </c:pt>
                <c:pt idx="11">
                  <c:v>0.6666666666666666</c:v>
                </c:pt>
                <c:pt idx="12">
                  <c:v>0.6666666666666666</c:v>
                </c:pt>
              </c:numCache>
            </c:numRef>
          </c:val>
        </c:ser>
        <c:dLbls>
          <c:numFmt formatCode="0%" sourceLinked="0"/>
          <c:txPr>
            <a:bodyPr/>
            <a:lstStyle/>
            <a:p>
              <a:pPr>
                <a:defRPr b="0" i="0" strike="noStrike" sz="1000" u="none">
                  <a:solidFill>
                    <a:srgbClr val="4444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max val="1.2"/>
          <c:min val="0"/>
        </c:scaling>
        <c:delete val="1"/>
        <c:axPos val="b"/>
        <c:majorGridlines>
          <c:spPr>
            <a:ln w="6350" cap="flat">
              <a:solidFill>
                <a:srgbClr val="E3E3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33333"/>
                </a:solidFill>
                <a:latin typeface="+mn-lt"/>
              </a:defRPr>
            </a:pPr>
            <a:r>
              <a:rPr sz="1300" b="0" i="0" u="none" strike="noStrike">
                <a:solidFill>
                  <a:srgbClr val="333333"/>
                </a:solidFill>
                <a:latin typeface="+mn-lt"/>
              </a:rPr>
              <a:t>Cells per zebra, seed 5 (x: thousand ticks)</a:t>
            </a:r>
          </a:p>
        </c:rich>
      </c:tx>
      <c:layout/>
      <c:overlay val="0"/>
    </c:title>
    <c:autoTitleDeleted val="0"/>
    <c:plotArea>
      <c:layout/>
      <c:lineChart>
        <c:varyColors val="0"/>
        <c:ser>
          <c:idx val="0"/>
          <c:order val="0"/>
          <c:tx>
            <c:strRef>
              <c:f>Sheet1!$B$1</c:f>
              <c:strCache>
                <c:ptCount val="1"/>
                <c:pt idx="0">
                  <c:v>Mouths</c:v>
                </c:pt>
              </c:strCache>
            </c:strRef>
          </c:tx>
          <c:spPr>
            <a:solidFill>
              <a:srgbClr val="1F1A14"/>
            </a:solidFill>
            <a:ln w="25400" cap="flat">
              <a:solidFill>
                <a:srgbClr val="1F1A1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1A14"/>
              </a:solidFill>
              <a:ln w="9525" cap="flat">
                <a:solidFill>
                  <a:srgbClr val="1F1A14"/>
                </a:solidFill>
                <a:prstDash val="solid"/>
                <a:round/>
              </a:ln>
              <a:effectLst/>
            </c:spPr>
          </c:marker>
          <c:cat>
            <c:multiLvlStrRef>
              <c:f>Sheet1!$A$2:$A$43</c:f>
              <c:multiLvlStrCache>
                <c:ptCount val="4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40</c:v>
                  </c:pt>
                </c:lvl>
              </c:multiLvlStrCache>
            </c:multiLvlStrRef>
          </c:cat>
          <c:val>
            <c:numRef>
              <c:f>Sheet1!$B$2:$B$43</c:f>
              <c:numCache>
                <c:formatCode>General</c:formatCode>
                <c:ptCount val="42"/>
                <c:pt idx="0">
                  <c:v>1</c:v>
                </c:pt>
                <c:pt idx="1">
                  <c:v>1.02</c:v>
                </c:pt>
                <c:pt idx="2">
                  <c:v>1.03</c:v>
                </c:pt>
                <c:pt idx="3">
                  <c:v>1.01</c:v>
                </c:pt>
                <c:pt idx="4">
                  <c:v>1.01</c:v>
                </c:pt>
                <c:pt idx="5">
                  <c:v>0.98</c:v>
                </c:pt>
                <c:pt idx="6">
                  <c:v>0.99</c:v>
                </c:pt>
                <c:pt idx="7">
                  <c:v>1</c:v>
                </c:pt>
                <c:pt idx="8">
                  <c:v>1</c:v>
                </c:pt>
                <c:pt idx="9">
                  <c:v>1</c:v>
                </c:pt>
                <c:pt idx="10">
                  <c:v>1</c:v>
                </c:pt>
                <c:pt idx="11">
                  <c:v>0.99</c:v>
                </c:pt>
                <c:pt idx="12">
                  <c:v>1.01</c:v>
                </c:pt>
                <c:pt idx="13">
                  <c:v>1.06</c:v>
                </c:pt>
                <c:pt idx="14">
                  <c:v>1.1</c:v>
                </c:pt>
                <c:pt idx="15">
                  <c:v>1.26</c:v>
                </c:pt>
                <c:pt idx="16">
                  <c:v>1.36</c:v>
                </c:pt>
                <c:pt idx="17">
                  <c:v>1.45</c:v>
                </c:pt>
                <c:pt idx="18">
                  <c:v>1.59</c:v>
                </c:pt>
                <c:pt idx="19">
                  <c:v>1.75</c:v>
                </c:pt>
                <c:pt idx="20">
                  <c:v>1.78</c:v>
                </c:pt>
                <c:pt idx="21">
                  <c:v>1.87</c:v>
                </c:pt>
                <c:pt idx="22">
                  <c:v>1.97</c:v>
                </c:pt>
                <c:pt idx="23">
                  <c:v>1.99</c:v>
                </c:pt>
                <c:pt idx="24">
                  <c:v>1.99</c:v>
                </c:pt>
                <c:pt idx="25">
                  <c:v>1.99</c:v>
                </c:pt>
                <c:pt idx="26">
                  <c:v>2</c:v>
                </c:pt>
                <c:pt idx="27">
                  <c:v>1.98</c:v>
                </c:pt>
                <c:pt idx="28">
                  <c:v>1.98</c:v>
                </c:pt>
                <c:pt idx="29">
                  <c:v>1.98</c:v>
                </c:pt>
                <c:pt idx="30">
                  <c:v>1.98</c:v>
                </c:pt>
                <c:pt idx="31">
                  <c:v>2</c:v>
                </c:pt>
                <c:pt idx="32">
                  <c:v>1.95</c:v>
                </c:pt>
                <c:pt idx="33">
                  <c:v>1.99</c:v>
                </c:pt>
                <c:pt idx="34">
                  <c:v>1.97</c:v>
                </c:pt>
                <c:pt idx="35">
                  <c:v>1.97</c:v>
                </c:pt>
                <c:pt idx="36">
                  <c:v>1.97</c:v>
                </c:pt>
                <c:pt idx="37">
                  <c:v>1.99</c:v>
                </c:pt>
                <c:pt idx="38">
                  <c:v>2.02</c:v>
                </c:pt>
                <c:pt idx="39">
                  <c:v>1.99</c:v>
                </c:pt>
                <c:pt idx="40">
                  <c:v>2</c:v>
                </c:pt>
                <c:pt idx="41">
                  <c:v>2</c:v>
                </c:pt>
              </c:numCache>
            </c:numRef>
          </c:val>
          <c:smooth val="0"/>
        </c:ser>
        <c:ser>
          <c:idx val="1"/>
          <c:order val="1"/>
          <c:tx>
            <c:strRef>
              <c:f>Sheet1!$C$1</c:f>
              <c:strCache>
                <c:ptCount val="1"/>
                <c:pt idx="0">
                  <c:v>Eyes</c:v>
                </c:pt>
              </c:strCache>
            </c:strRef>
          </c:tx>
          <c:spPr>
            <a:solidFill>
              <a:srgbClr val="2F6FA8"/>
            </a:solidFill>
            <a:ln w="25400" cap="flat">
              <a:solidFill>
                <a:srgbClr val="2F6F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6FA8"/>
              </a:solidFill>
              <a:ln w="9525" cap="flat">
                <a:solidFill>
                  <a:srgbClr val="2F6FA8"/>
                </a:solidFill>
                <a:prstDash val="solid"/>
                <a:round/>
              </a:ln>
              <a:effectLst/>
            </c:spPr>
          </c:marker>
          <c:cat>
            <c:multiLvlStrRef>
              <c:f>Sheet1!$A$2:$A$43</c:f>
              <c:multiLvlStrCache>
                <c:ptCount val="4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40</c:v>
                  </c:pt>
                </c:lvl>
              </c:multiLvlStrCache>
            </c:multiLvlStrRef>
          </c:cat>
          <c:val>
            <c:numRef>
              <c:f>Sheet1!$C$2:$C$43</c:f>
              <c:numCache>
                <c:formatCode>General</c:formatCode>
                <c:ptCount val="42"/>
                <c:pt idx="0">
                  <c:v>2</c:v>
                </c:pt>
                <c:pt idx="1">
                  <c:v>2</c:v>
                </c:pt>
                <c:pt idx="2">
                  <c:v>2</c:v>
                </c:pt>
                <c:pt idx="3">
                  <c:v>2</c:v>
                </c:pt>
                <c:pt idx="4">
                  <c:v>1.99</c:v>
                </c:pt>
                <c:pt idx="5">
                  <c:v>2.01</c:v>
                </c:pt>
                <c:pt idx="6">
                  <c:v>2.02</c:v>
                </c:pt>
                <c:pt idx="7">
                  <c:v>1.99</c:v>
                </c:pt>
                <c:pt idx="8">
                  <c:v>1.99</c:v>
                </c:pt>
                <c:pt idx="9">
                  <c:v>1.99</c:v>
                </c:pt>
                <c:pt idx="10">
                  <c:v>1.99</c:v>
                </c:pt>
                <c:pt idx="11">
                  <c:v>1.99</c:v>
                </c:pt>
                <c:pt idx="12">
                  <c:v>1.94</c:v>
                </c:pt>
                <c:pt idx="13">
                  <c:v>1.88</c:v>
                </c:pt>
                <c:pt idx="14">
                  <c:v>1.87</c:v>
                </c:pt>
                <c:pt idx="15">
                  <c:v>1.72</c:v>
                </c:pt>
                <c:pt idx="16">
                  <c:v>1.62</c:v>
                </c:pt>
                <c:pt idx="17">
                  <c:v>1.58</c:v>
                </c:pt>
                <c:pt idx="18">
                  <c:v>1.43</c:v>
                </c:pt>
                <c:pt idx="19">
                  <c:v>1.27</c:v>
                </c:pt>
                <c:pt idx="20">
                  <c:v>1.23</c:v>
                </c:pt>
                <c:pt idx="21">
                  <c:v>1.21</c:v>
                </c:pt>
                <c:pt idx="22">
                  <c:v>1.05</c:v>
                </c:pt>
                <c:pt idx="23">
                  <c:v>1.11</c:v>
                </c:pt>
                <c:pt idx="24">
                  <c:v>1.14</c:v>
                </c:pt>
                <c:pt idx="25">
                  <c:v>1.08</c:v>
                </c:pt>
                <c:pt idx="26">
                  <c:v>1.08</c:v>
                </c:pt>
                <c:pt idx="27">
                  <c:v>1.11</c:v>
                </c:pt>
                <c:pt idx="28">
                  <c:v>1.12</c:v>
                </c:pt>
                <c:pt idx="29">
                  <c:v>1.05</c:v>
                </c:pt>
                <c:pt idx="30">
                  <c:v>1</c:v>
                </c:pt>
                <c:pt idx="31">
                  <c:v>0.98</c:v>
                </c:pt>
                <c:pt idx="32">
                  <c:v>0.98</c:v>
                </c:pt>
                <c:pt idx="33">
                  <c:v>1.01</c:v>
                </c:pt>
                <c:pt idx="34">
                  <c:v>0.98</c:v>
                </c:pt>
                <c:pt idx="35">
                  <c:v>0.94</c:v>
                </c:pt>
                <c:pt idx="36">
                  <c:v>0.89</c:v>
                </c:pt>
                <c:pt idx="37">
                  <c:v>0.82</c:v>
                </c:pt>
                <c:pt idx="38">
                  <c:v>0.69</c:v>
                </c:pt>
                <c:pt idx="39">
                  <c:v>0.49</c:v>
                </c:pt>
                <c:pt idx="40">
                  <c:v>0.49</c:v>
                </c:pt>
                <c:pt idx="41">
                  <c:v>0.49</c:v>
                </c:pt>
              </c:numCache>
            </c:numRef>
          </c:val>
          <c:smooth val="0"/>
        </c:ser>
        <c:ser>
          <c:idx val="2"/>
          <c:order val="2"/>
          <c:tx>
            <c:strRef>
              <c:f>Sheet1!$D$1</c:f>
              <c:strCache>
                <c:ptCount val="1"/>
                <c:pt idx="0">
                  <c:v>Stripes</c:v>
                </c:pt>
              </c:strCache>
            </c:strRef>
          </c:tx>
          <c:spPr>
            <a:solidFill>
              <a:srgbClr val="9CA3AF"/>
            </a:solidFill>
            <a:ln w="25400" cap="flat">
              <a:solidFill>
                <a:srgbClr val="9CA3A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CA3AF"/>
              </a:solidFill>
              <a:ln w="9525" cap="flat">
                <a:solidFill>
                  <a:srgbClr val="9CA3AF"/>
                </a:solidFill>
                <a:prstDash val="solid"/>
                <a:round/>
              </a:ln>
              <a:effectLst/>
            </c:spPr>
          </c:marker>
          <c:cat>
            <c:multiLvlStrRef>
              <c:f>Sheet1!$A$2:$A$43</c:f>
              <c:multiLvlStrCache>
                <c:ptCount val="4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40</c:v>
                  </c:pt>
                </c:lvl>
              </c:multiLvlStrCache>
            </c:multiLvlStrRef>
          </c:cat>
          <c:val>
            <c:numRef>
              <c:f>Sheet1!$D$2:$D$43</c:f>
              <c:numCache>
                <c:formatCode>General</c:formatCode>
                <c:ptCount val="42"/>
                <c:pt idx="0">
                  <c:v>2</c:v>
                </c:pt>
                <c:pt idx="1">
                  <c:v>2</c:v>
                </c:pt>
                <c:pt idx="2">
                  <c:v>2</c:v>
                </c:pt>
                <c:pt idx="3">
                  <c:v>2</c:v>
                </c:pt>
                <c:pt idx="4">
                  <c:v>2</c:v>
                </c:pt>
                <c:pt idx="5">
                  <c:v>1.98</c:v>
                </c:pt>
                <c:pt idx="6">
                  <c:v>1.98</c:v>
                </c:pt>
                <c:pt idx="7">
                  <c:v>1.98</c:v>
                </c:pt>
                <c:pt idx="8">
                  <c:v>1.98</c:v>
                </c:pt>
                <c:pt idx="9">
                  <c:v>1.98</c:v>
                </c:pt>
                <c:pt idx="10">
                  <c:v>1.93</c:v>
                </c:pt>
                <c:pt idx="11">
                  <c:v>1.91</c:v>
                </c:pt>
                <c:pt idx="12">
                  <c:v>1.98</c:v>
                </c:pt>
                <c:pt idx="13">
                  <c:v>1.93</c:v>
                </c:pt>
                <c:pt idx="14">
                  <c:v>1.93</c:v>
                </c:pt>
                <c:pt idx="15">
                  <c:v>1.72</c:v>
                </c:pt>
                <c:pt idx="16">
                  <c:v>1.59</c:v>
                </c:pt>
                <c:pt idx="17">
                  <c:v>1.54</c:v>
                </c:pt>
                <c:pt idx="18">
                  <c:v>1.42</c:v>
                </c:pt>
                <c:pt idx="19">
                  <c:v>1.29</c:v>
                </c:pt>
                <c:pt idx="20">
                  <c:v>1.22</c:v>
                </c:pt>
                <c:pt idx="21">
                  <c:v>1.21</c:v>
                </c:pt>
                <c:pt idx="22">
                  <c:v>1.06</c:v>
                </c:pt>
                <c:pt idx="23">
                  <c:v>1.1</c:v>
                </c:pt>
                <c:pt idx="24">
                  <c:v>1.13</c:v>
                </c:pt>
                <c:pt idx="25">
                  <c:v>1.13</c:v>
                </c:pt>
                <c:pt idx="26">
                  <c:v>1.08</c:v>
                </c:pt>
                <c:pt idx="27">
                  <c:v>1.1</c:v>
                </c:pt>
                <c:pt idx="28">
                  <c:v>1.11</c:v>
                </c:pt>
                <c:pt idx="29">
                  <c:v>1.05</c:v>
                </c:pt>
                <c:pt idx="30">
                  <c:v>1</c:v>
                </c:pt>
                <c:pt idx="31">
                  <c:v>0.94</c:v>
                </c:pt>
                <c:pt idx="32">
                  <c:v>0.74</c:v>
                </c:pt>
                <c:pt idx="33">
                  <c:v>0.5</c:v>
                </c:pt>
                <c:pt idx="34">
                  <c:v>0.27</c:v>
                </c:pt>
                <c:pt idx="35">
                  <c:v>0.12</c:v>
                </c:pt>
                <c:pt idx="36">
                  <c:v>0.08</c:v>
                </c:pt>
                <c:pt idx="37">
                  <c:v>0.09</c:v>
                </c:pt>
                <c:pt idx="38">
                  <c:v>0.05</c:v>
                </c:pt>
                <c:pt idx="39">
                  <c:v>0.06</c:v>
                </c:pt>
                <c:pt idx="40">
                  <c:v>0.02</c:v>
                </c:pt>
                <c:pt idx="41">
                  <c:v>0.02</c:v>
                </c:pt>
              </c:numCache>
            </c:numRef>
          </c:val>
          <c:smooth val="0"/>
        </c:ser>
        <c:ser>
          <c:idx val="3"/>
          <c:order val="3"/>
          <c:tx>
            <c:strRef>
              <c:f>Sheet1!$E$1</c:f>
              <c:strCache>
                <c:ptCount val="1"/>
                <c:pt idx="0">
                  <c:v>Kick</c:v>
                </c:pt>
              </c:strCache>
            </c:strRef>
          </c:tx>
          <c:spPr>
            <a:solidFill>
              <a:srgbClr val="B23A3A"/>
            </a:solidFill>
            <a:ln w="25400" cap="flat">
              <a:solidFill>
                <a:srgbClr val="B23A3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23A3A"/>
              </a:solidFill>
              <a:ln w="9525" cap="flat">
                <a:solidFill>
                  <a:srgbClr val="B23A3A"/>
                </a:solidFill>
                <a:prstDash val="solid"/>
                <a:round/>
              </a:ln>
              <a:effectLst/>
            </c:spPr>
          </c:marker>
          <c:cat>
            <c:multiLvlStrRef>
              <c:f>Sheet1!$A$2:$A$43</c:f>
              <c:multiLvlStrCache>
                <c:ptCount val="4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40</c:v>
                  </c:pt>
                </c:lvl>
              </c:multiLvlStrCache>
            </c:multiLvlStrRef>
          </c:cat>
          <c:val>
            <c:numRef>
              <c:f>Sheet1!$E$2:$E$43</c:f>
              <c:numCache>
                <c:formatCode>General</c:formatCode>
                <c:ptCount val="42"/>
                <c:pt idx="0">
                  <c:v>1</c:v>
                </c:pt>
                <c:pt idx="1">
                  <c:v>1</c:v>
                </c:pt>
                <c:pt idx="2">
                  <c:v>1</c:v>
                </c:pt>
                <c:pt idx="3">
                  <c:v>0.98</c:v>
                </c:pt>
                <c:pt idx="4">
                  <c:v>0.99</c:v>
                </c:pt>
                <c:pt idx="5">
                  <c:v>0.96</c:v>
                </c:pt>
                <c:pt idx="6">
                  <c:v>0.96</c:v>
                </c:pt>
                <c:pt idx="7">
                  <c:v>0.97</c:v>
                </c:pt>
                <c:pt idx="8">
                  <c:v>0.94</c:v>
                </c:pt>
                <c:pt idx="9">
                  <c:v>0.82</c:v>
                </c:pt>
                <c:pt idx="10">
                  <c:v>0.82</c:v>
                </c:pt>
                <c:pt idx="11">
                  <c:v>0.67</c:v>
                </c:pt>
                <c:pt idx="12">
                  <c:v>0.47</c:v>
                </c:pt>
                <c:pt idx="13">
                  <c:v>0.39</c:v>
                </c:pt>
                <c:pt idx="14">
                  <c:v>0.32</c:v>
                </c:pt>
                <c:pt idx="15">
                  <c:v>0.29</c:v>
                </c:pt>
                <c:pt idx="16">
                  <c:v>0.2</c:v>
                </c:pt>
                <c:pt idx="17">
                  <c:v>0.18</c:v>
                </c:pt>
                <c:pt idx="18">
                  <c:v>0.15</c:v>
                </c:pt>
                <c:pt idx="19">
                  <c:v>0.09</c:v>
                </c:pt>
                <c:pt idx="20">
                  <c:v>0.07</c:v>
                </c:pt>
                <c:pt idx="21">
                  <c:v>0.01</c:v>
                </c:pt>
                <c:pt idx="22">
                  <c:v>0</c:v>
                </c:pt>
                <c:pt idx="23">
                  <c:v>0</c:v>
                </c:pt>
                <c:pt idx="24">
                  <c:v>0</c:v>
                </c:pt>
                <c:pt idx="25">
                  <c:v>0</c:v>
                </c:pt>
                <c:pt idx="26">
                  <c:v>0</c:v>
                </c:pt>
                <c:pt idx="27">
                  <c:v>0</c:v>
                </c:pt>
                <c:pt idx="28">
                  <c:v>0</c:v>
                </c:pt>
                <c:pt idx="29">
                  <c:v>0</c:v>
                </c:pt>
                <c:pt idx="30">
                  <c:v>0</c:v>
                </c:pt>
                <c:pt idx="31">
                  <c:v>0</c:v>
                </c:pt>
                <c:pt idx="32">
                  <c:v>0</c:v>
                </c:pt>
                <c:pt idx="33">
                  <c:v>0</c:v>
                </c:pt>
                <c:pt idx="34">
                  <c:v>0.01</c:v>
                </c:pt>
                <c:pt idx="35">
                  <c:v>0</c:v>
                </c:pt>
                <c:pt idx="36">
                  <c:v>0</c:v>
                </c:pt>
                <c:pt idx="37">
                  <c:v>0</c:v>
                </c:pt>
                <c:pt idx="38">
                  <c:v>0</c:v>
                </c:pt>
                <c:pt idx="39">
                  <c:v>0.01</c:v>
                </c:pt>
                <c:pt idx="40">
                  <c:v>0</c:v>
                </c:pt>
                <c:pt idx="41">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2"/>
        <c:crosses val="autoZero"/>
        <c:auto val="1"/>
        <c:lblAlgn val="ctr"/>
        <c:noMultiLvlLbl val="1"/>
        <c:tickLblSkip val="5"/>
      </c:catAx>
      <c:valAx>
        <c:axId val="2094734552"/>
        <c:scaling>
          <c:orientation val="minMax"/>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4"/>
        <c:crosses val="autoZero"/>
        <c:crossBetween val="between"/>
      </c:valAx>
      <c:spPr>
        <a:noFill/>
        <a:ln>
          <a:noFill/>
        </a:ln>
        <a:effectLst/>
      </c:spPr>
    </c:plotArea>
    <c:legend>
      <c:legendPos val="r"/>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seeded a savanna in the Life Engine and asked whether a species can adapt its way into extinction. We ran the unmodified engine and our modified savanna: 115 runs in total, including 18 follow-ups.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rule we committed to in Assignment 3, now applied automatically by our analysis script to every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Grass: 3 producers, spreads fast, needs water. Bush: 5 woody cells, cannot be grazed, poor food. Trees: long-lived cover. Base runs use the same body plans without the new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runs: 6 conditions x 3 seeds x 40k ticks, original rules only; mutation could not create our new cell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Zebras started without a killer cell. One evolved, spread, destroyed bushes by tick 6,000 and grass by 11,900; zebras collapsed at 14,100. Seeds 1 and 3 peaked at 307 and 312 and were extinct by about tick 6,000.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contrast is the base-engine evidence: an evolved trait plus no regrowth limit gives suicide; everything else is failure to adapt or an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sprinting only when chasing or fleeing, armour that costs 2 food and adds 3 health, and weapons (killers away from the mouth) that only strike predators.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Leopards rose from 16 to 35 by eating the herd, then died out by tick 4,400. Rhinos faded by 12,600. Zebras evolved a second mouth and held at about 200 to 290 to tick 100,000.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seeds per condition, so only 0% or 100% is a clear signal. No river, no soil water, weak camouflage and harsh hunger: 0 of 3. No cache: 3 of 3, because leopards died sooner. Mouth cap: 1 of 3, so the extra mouth helped zebras.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follow-up runs, 3 seeds each: 200k default, 200k dry, 32 and 48 leopards, strong and extreme fire. None produced zebra overgrazing suicide or a persistent predator.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1A1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10881360" cy="15544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r>
              <a:rPr lang="en-US" sz="4400" b="1" dirty="0">
                <a:solidFill>
                  <a:schemeClr val="bg1"/>
                </a:solidFill>
              </a:rPr>
              <a:t>Title</a:t>
            </a:r>
            <a:endParaRPr lang="en-US" sz="4400" dirty="0"/>
          </a:p>
        </p:txBody>
      </p:sp>
      <p:sp>
        <p:nvSpPr>
          <p:cNvPr id="3" name="Text 0"/>
          <p:cNvSpPr/>
          <p:nvPr>
            <p:ph idx="101" type="body" hasCustomPrompt="1"/>
          </p:nvPr>
        </p:nvSpPr>
        <p:spPr>
          <a:xfrm>
            <a:off x="640080" y="2743200"/>
            <a:ext cx="10881360" cy="914400"/>
          </a:xfrm>
          <a:prstGeom prst="rect">
            <a:avLst/>
          </a:prstGeom>
          <a:noFill/>
          <a:ln/>
        </p:spPr>
        <p:txBody>
          <a:bodyPr wrap="square" rtlCol="0"/>
          <a:lstStyle>
            <a:lvl1pPr indent="0" marL="0">
              <a:buNone/>
              <a:defRPr lang="en-US" sz="2000" dirty="0">
                <a:solidFill>
                  <a:schemeClr val="accent1"/>
                </a:solidFill>
              </a:defRPr>
            </a:lvl1pPr>
          </a:lstStyle>
          <a:p>
            <a:pPr indent="0" marL="0">
              <a:buNone/>
            </a:pPr>
            <a:r>
              <a:rPr lang="en-US" sz="2000" dirty="0">
                <a:solidFill>
                  <a:schemeClr val="accent1"/>
                </a:solidFill>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3B2F2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286000"/>
            <a:ext cx="10881360" cy="11887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r>
              <a:rPr lang="en-US" sz="4000" b="1" dirty="0">
                <a:solidFill>
                  <a:schemeClr val="bg1"/>
                </a:solidFill>
              </a:rPr>
              <a:t>Section</a:t>
            </a:r>
            <a:endParaRPr lang="en-US" sz="4000" dirty="0"/>
          </a:p>
        </p:txBody>
      </p:sp>
      <p:sp>
        <p:nvSpPr>
          <p:cNvPr id="3" name="Text 0"/>
          <p:cNvSpPr/>
          <p:nvPr>
            <p:ph idx="101" type="body" hasCustomPrompt="1"/>
          </p:nvPr>
        </p:nvSpPr>
        <p:spPr>
          <a:xfrm>
            <a:off x="640080" y="3566160"/>
            <a:ext cx="10881360" cy="1097280"/>
          </a:xfrm>
          <a:prstGeom prst="rect">
            <a:avLst/>
          </a:prstGeom>
          <a:noFill/>
          <a:ln/>
        </p:spPr>
        <p:txBody>
          <a:bodyPr wrap="square" rtlCol="0"/>
          <a:lstStyle>
            <a:lvl1pPr indent="0" marL="0">
              <a:buNone/>
              <a:defRPr lang="en-US" sz="2000" dirty="0">
                <a:solidFill>
                  <a:schemeClr val="accent1"/>
                </a:solidFill>
              </a:defRPr>
            </a:lvl1pPr>
          </a:lstStyle>
          <a:p>
            <a:pPr indent="0" marL="0">
              <a:buNone/>
            </a:pPr>
            <a:r>
              <a:rPr lang="en-US" sz="2000" dirty="0">
                <a:solidFill>
                  <a:schemeClr val="accent1"/>
                </a:solidFill>
              </a:rPr>
              <a:t>Subtitle</a:t>
            </a: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r>
              <a:rPr lang="en-US" sz="3000" b="1" dirty="0">
                <a:solidFill>
                  <a:schemeClr val="tx1"/>
                </a:solidFill>
              </a:rPr>
              <a:t>Title</a:t>
            </a:r>
            <a:endParaRPr lang="en-US" sz="3000" dirty="0"/>
          </a:p>
        </p:txBody>
      </p:sp>
      <p:sp>
        <p:nvSpPr>
          <p:cNvPr id="3" name="Text 0"/>
          <p:cNvSpPr/>
          <p:nvPr/>
        </p:nvSpPr>
        <p:spPr>
          <a:xfrm>
            <a:off x="548640" y="6400800"/>
            <a:ext cx="7315200" cy="274320"/>
          </a:xfrm>
          <a:prstGeom prst="rect">
            <a:avLst/>
          </a:prstGeom>
          <a:noFill/>
          <a:ln/>
        </p:spPr>
        <p:txBody>
          <a:bodyPr wrap="square" rtlCol="0" anchor="ctr"/>
          <a:lstStyle/>
          <a:p>
            <a:pPr indent="0" marL="0">
              <a:buNone/>
            </a:pPr>
            <a:r>
              <a:rPr lang="en-US" sz="1000" dirty="0">
                <a:solidFill>
                  <a:srgbClr val="8A8A8A"/>
                </a:solidFill>
              </a:rPr>
              <a:t>CSC4044Z Artificial Life 2026  ·  Reproducing evolutionary suicide</a:t>
            </a:r>
            <a:endParaRPr lang="en-US" sz="10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chart" Target="/ppt/charts/chart5.xml"/><Relationship Id="rId1" Type="http://schemas.openxmlformats.org/officeDocument/2006/relationships/image" Target="../media/image-14-1.pn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10881360" cy="1554480"/>
          </a:xfrm>
          <a:prstGeom prst="rect">
            <a:avLst/>
          </a:prstGeom>
          <a:noFill/>
          <a:ln/>
        </p:spPr>
        <p:txBody>
          <a:bodyPr wrap="square" rtlCol="0" anchor="t"/>
          <a:lstStyle/>
          <a:p>
            <a:pPr algn="l" indent="0" marL="0">
              <a:buNone/>
            </a:pPr>
            <a:r>
              <a:rPr lang="en-US" sz="4400" b="1" dirty="0">
                <a:solidFill>
                  <a:schemeClr val="bg1"/>
                </a:solidFill>
              </a:rPr>
              <a:t>Reproducing Evolutionary Suicide in a Digital Savanna</a:t>
            </a:r>
            <a:endParaRPr lang="en-US" sz="4400" dirty="0"/>
          </a:p>
        </p:txBody>
      </p:sp>
      <p:sp>
        <p:nvSpPr>
          <p:cNvPr id="3" name="Text 0"/>
          <p:cNvSpPr/>
          <p:nvPr>
            <p:ph idx="101" type="body" hasCustomPrompt="1"/>
          </p:nvPr>
        </p:nvSpPr>
        <p:spPr>
          <a:xfrm>
            <a:off x="640080" y="2743200"/>
            <a:ext cx="10881360" cy="914400"/>
          </a:xfrm>
          <a:prstGeom prst="rect">
            <a:avLst/>
          </a:prstGeom>
          <a:noFill/>
          <a:ln/>
        </p:spPr>
        <p:txBody>
          <a:bodyPr wrap="square" rtlCol="0"/>
          <a:lstStyle/>
          <a:p>
            <a:pPr indent="0" marL="0">
              <a:buNone/>
            </a:pPr>
            <a:r>
              <a:rPr lang="en-US" sz="2000" dirty="0">
                <a:solidFill>
                  <a:schemeClr val="accent1"/>
                </a:solidFill>
              </a:rPr>
              <a:t>Zebras, rhinos, leopards, grass and bushes in the Life Engine  ·  115 runs, base vs modified engine</a:t>
            </a:r>
            <a:endParaRPr lang="en-US" sz="2000" dirty="0"/>
          </a:p>
        </p:txBody>
      </p:sp>
      <p:pic>
        <p:nvPicPr>
          <p:cNvPr id="4" name="Image 0" descr="C:/Users/Ashley/Documents/LifeEngine/savanna-experiments/output/figures/species-modified.png">    </p:cNvPr>
          <p:cNvPicPr>
            <a:picLocks noChangeAspect="1"/>
          </p:cNvPicPr>
          <p:nvPr/>
        </p:nvPicPr>
        <p:blipFill>
          <a:blip r:embed="rId1"/>
          <a:stretch>
            <a:fillRect/>
          </a:stretch>
        </p:blipFill>
        <p:spPr>
          <a:xfrm>
            <a:off x="640080" y="3931920"/>
            <a:ext cx="9144000" cy="237575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Suicide needs four things to happen in order</a:t>
            </a:r>
            <a:endParaRPr lang="en-US" sz="3000" dirty="0"/>
          </a:p>
        </p:txBody>
      </p:sp>
      <p:sp>
        <p:nvSpPr>
          <p:cNvPr id="3" name="Text 1"/>
          <p:cNvSpPr txBox="1"/>
          <p:nvPr/>
        </p:nvSpPr>
        <p:spPr>
          <a:xfrm>
            <a:off x="548640" y="1234440"/>
            <a:ext cx="11064240" cy="822960"/>
          </a:xfrm>
          <a:prstGeom prst="rect">
            <a:avLst/>
          </a:prstGeom>
          <a:noFill/>
          <a:ln/>
        </p:spPr>
        <p:txBody>
          <a:bodyPr wrap="square" lIns="0" tIns="0" rIns="0" bIns="0" rtlCol="0" anchor="t"/>
          <a:lstStyle/>
          <a:p>
            <a:pPr indent="0" marL="0">
              <a:buNone/>
            </a:pPr>
            <a:r>
              <a:rPr lang="en-US" sz="1600" dirty="0">
                <a:solidFill>
                  <a:srgbClr val="333333"/>
                </a:solidFill>
              </a:rPr>
              <a:t>Evolutionary suicide: a trait spreads because it helps individuals, and the same trait removes what the population depends on. Failure to adapt: the species lacks the traits it needs and declines without succeeding first.</a:t>
            </a:r>
            <a:endParaRPr lang="en-US" sz="1600" dirty="0"/>
          </a:p>
        </p:txBody>
      </p:sp>
      <p:sp>
        <p:nvSpPr>
          <p:cNvPr id="4" name="Shape 2"/>
          <p:cNvSpPr/>
          <p:nvPr/>
        </p:nvSpPr>
        <p:spPr>
          <a:xfrm>
            <a:off x="548640" y="2331720"/>
            <a:ext cx="2606040" cy="2651760"/>
          </a:xfrm>
          <a:prstGeom prst="roundRect">
            <a:avLst>
              <a:gd name="adj" fmla="val 4211"/>
            </a:avLst>
          </a:prstGeom>
          <a:solidFill>
            <a:srgbClr val="F1F3F2"/>
          </a:solidFill>
          <a:ln w="12700">
            <a:solidFill>
              <a:srgbClr val="F1F3F2"/>
            </a:solidFill>
            <a:prstDash val="solid"/>
          </a:ln>
        </p:spPr>
      </p:sp>
      <p:sp>
        <p:nvSpPr>
          <p:cNvPr id="5" name="Shape 3"/>
          <p:cNvSpPr/>
          <p:nvPr/>
        </p:nvSpPr>
        <p:spPr>
          <a:xfrm>
            <a:off x="777240" y="2560320"/>
            <a:ext cx="457200" cy="457200"/>
          </a:xfrm>
          <a:prstGeom prst="ellipse">
            <a:avLst/>
          </a:prstGeom>
          <a:solidFill>
            <a:srgbClr val="D98E04"/>
          </a:solidFill>
          <a:ln w="12700">
            <a:solidFill>
              <a:srgbClr val="D98E04"/>
            </a:solidFill>
            <a:prstDash val="solid"/>
          </a:ln>
        </p:spPr>
      </p:sp>
      <p:sp>
        <p:nvSpPr>
          <p:cNvPr id="6" name="Text 4"/>
          <p:cNvSpPr txBox="1"/>
          <p:nvPr/>
        </p:nvSpPr>
        <p:spPr>
          <a:xfrm>
            <a:off x="777240" y="2560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7" name="Text 5"/>
          <p:cNvSpPr txBox="1"/>
          <p:nvPr/>
        </p:nvSpPr>
        <p:spPr>
          <a:xfrm>
            <a:off x="777240" y="3200400"/>
            <a:ext cx="2194560" cy="457200"/>
          </a:xfrm>
          <a:prstGeom prst="rect">
            <a:avLst/>
          </a:prstGeom>
          <a:noFill/>
          <a:ln/>
        </p:spPr>
        <p:txBody>
          <a:bodyPr wrap="square" lIns="0" tIns="0" rIns="0" bIns="0" rtlCol="0" anchor="t"/>
          <a:lstStyle/>
          <a:p>
            <a:pPr indent="0" marL="0">
              <a:buNone/>
            </a:pPr>
            <a:r>
              <a:rPr lang="en-US" sz="2000" b="1" dirty="0">
                <a:solidFill>
                  <a:srgbClr val="1F1A14"/>
                </a:solidFill>
                <a:latin typeface="Cambria" pitchFamily="34" charset="0"/>
                <a:ea typeface="Cambria" pitchFamily="34" charset="-122"/>
                <a:cs typeface="Cambria" pitchFamily="34" charset="-120"/>
              </a:rPr>
              <a:t>It grew</a:t>
            </a:r>
            <a:endParaRPr lang="en-US" sz="2000" dirty="0"/>
          </a:p>
        </p:txBody>
      </p:sp>
      <p:sp>
        <p:nvSpPr>
          <p:cNvPr id="8" name="Text 6"/>
          <p:cNvSpPr txBox="1"/>
          <p:nvPr/>
        </p:nvSpPr>
        <p:spPr>
          <a:xfrm>
            <a:off x="777240" y="3749040"/>
            <a:ext cx="2194560" cy="1097280"/>
          </a:xfrm>
          <a:prstGeom prst="rect">
            <a:avLst/>
          </a:prstGeom>
          <a:noFill/>
          <a:ln/>
        </p:spPr>
        <p:txBody>
          <a:bodyPr wrap="square" lIns="0" tIns="0" rIns="0" bIns="0" rtlCol="0" anchor="t"/>
          <a:lstStyle/>
          <a:p>
            <a:pPr indent="0" marL="0">
              <a:buNone/>
            </a:pPr>
            <a:r>
              <a:rPr lang="en-US" sz="1400" dirty="0">
                <a:solidFill>
                  <a:srgbClr val="444444"/>
                </a:solidFill>
              </a:rPr>
              <a:t>Population reached at least 1.5x its start</a:t>
            </a:r>
            <a:endParaRPr lang="en-US" sz="1400" dirty="0"/>
          </a:p>
        </p:txBody>
      </p:sp>
      <p:sp>
        <p:nvSpPr>
          <p:cNvPr id="9" name="Shape 7"/>
          <p:cNvSpPr/>
          <p:nvPr/>
        </p:nvSpPr>
        <p:spPr>
          <a:xfrm>
            <a:off x="3364992" y="2331720"/>
            <a:ext cx="2606040" cy="2651760"/>
          </a:xfrm>
          <a:prstGeom prst="roundRect">
            <a:avLst>
              <a:gd name="adj" fmla="val 4211"/>
            </a:avLst>
          </a:prstGeom>
          <a:solidFill>
            <a:srgbClr val="F1F3F2"/>
          </a:solidFill>
          <a:ln w="12700">
            <a:solidFill>
              <a:srgbClr val="F1F3F2"/>
            </a:solidFill>
            <a:prstDash val="solid"/>
          </a:ln>
        </p:spPr>
      </p:sp>
      <p:sp>
        <p:nvSpPr>
          <p:cNvPr id="10" name="Shape 8"/>
          <p:cNvSpPr/>
          <p:nvPr/>
        </p:nvSpPr>
        <p:spPr>
          <a:xfrm>
            <a:off x="3593592" y="2560320"/>
            <a:ext cx="457200" cy="457200"/>
          </a:xfrm>
          <a:prstGeom prst="ellipse">
            <a:avLst/>
          </a:prstGeom>
          <a:solidFill>
            <a:srgbClr val="D98E04"/>
          </a:solidFill>
          <a:ln w="12700">
            <a:solidFill>
              <a:srgbClr val="D98E04"/>
            </a:solidFill>
            <a:prstDash val="solid"/>
          </a:ln>
        </p:spPr>
      </p:sp>
      <p:sp>
        <p:nvSpPr>
          <p:cNvPr id="11" name="Text 9"/>
          <p:cNvSpPr txBox="1"/>
          <p:nvPr/>
        </p:nvSpPr>
        <p:spPr>
          <a:xfrm>
            <a:off x="3593592" y="2560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2" name="Text 10"/>
          <p:cNvSpPr txBox="1"/>
          <p:nvPr/>
        </p:nvSpPr>
        <p:spPr>
          <a:xfrm>
            <a:off x="3593592" y="3200400"/>
            <a:ext cx="2194560" cy="457200"/>
          </a:xfrm>
          <a:prstGeom prst="rect">
            <a:avLst/>
          </a:prstGeom>
          <a:noFill/>
          <a:ln/>
        </p:spPr>
        <p:txBody>
          <a:bodyPr wrap="square" lIns="0" tIns="0" rIns="0" bIns="0" rtlCol="0" anchor="t"/>
          <a:lstStyle/>
          <a:p>
            <a:pPr indent="0" marL="0">
              <a:buNone/>
            </a:pPr>
            <a:r>
              <a:rPr lang="en-US" sz="2000" b="1" dirty="0">
                <a:solidFill>
                  <a:srgbClr val="1F1A14"/>
                </a:solidFill>
                <a:latin typeface="Cambria" pitchFamily="34" charset="0"/>
                <a:ea typeface="Cambria" pitchFamily="34" charset="-122"/>
                <a:cs typeface="Cambria" pitchFamily="34" charset="-120"/>
              </a:rPr>
              <a:t>A trait spread</a:t>
            </a:r>
            <a:endParaRPr lang="en-US" sz="2000" dirty="0"/>
          </a:p>
        </p:txBody>
      </p:sp>
      <p:sp>
        <p:nvSpPr>
          <p:cNvPr id="13" name="Text 11"/>
          <p:cNvSpPr txBox="1"/>
          <p:nvPr/>
        </p:nvSpPr>
        <p:spPr>
          <a:xfrm>
            <a:off x="3593592" y="3749040"/>
            <a:ext cx="2194560" cy="1097280"/>
          </a:xfrm>
          <a:prstGeom prst="rect">
            <a:avLst/>
          </a:prstGeom>
          <a:noFill/>
          <a:ln/>
        </p:spPr>
        <p:txBody>
          <a:bodyPr wrap="square" lIns="0" tIns="0" rIns="0" bIns="0" rtlCol="0" anchor="t"/>
          <a:lstStyle/>
          <a:p>
            <a:pPr indent="0" marL="0">
              <a:buNone/>
            </a:pPr>
            <a:r>
              <a:rPr lang="en-US" sz="1400" dirty="0">
                <a:solidFill>
                  <a:srgbClr val="444444"/>
                </a:solidFill>
              </a:rPr>
              <a:t>Mouths per animal +0.4, or killer share +0.3</a:t>
            </a:r>
            <a:endParaRPr lang="en-US" sz="1400" dirty="0"/>
          </a:p>
        </p:txBody>
      </p:sp>
      <p:sp>
        <p:nvSpPr>
          <p:cNvPr id="14" name="Shape 12"/>
          <p:cNvSpPr/>
          <p:nvPr/>
        </p:nvSpPr>
        <p:spPr>
          <a:xfrm>
            <a:off x="6181344" y="2331720"/>
            <a:ext cx="2606040" cy="2651760"/>
          </a:xfrm>
          <a:prstGeom prst="roundRect">
            <a:avLst>
              <a:gd name="adj" fmla="val 4211"/>
            </a:avLst>
          </a:prstGeom>
          <a:solidFill>
            <a:srgbClr val="F1F3F2"/>
          </a:solidFill>
          <a:ln w="12700">
            <a:solidFill>
              <a:srgbClr val="F1F3F2"/>
            </a:solidFill>
            <a:prstDash val="solid"/>
          </a:ln>
        </p:spPr>
      </p:sp>
      <p:sp>
        <p:nvSpPr>
          <p:cNvPr id="15" name="Shape 13"/>
          <p:cNvSpPr/>
          <p:nvPr/>
        </p:nvSpPr>
        <p:spPr>
          <a:xfrm>
            <a:off x="6409944" y="2560320"/>
            <a:ext cx="457200" cy="457200"/>
          </a:xfrm>
          <a:prstGeom prst="ellipse">
            <a:avLst/>
          </a:prstGeom>
          <a:solidFill>
            <a:srgbClr val="D98E04"/>
          </a:solidFill>
          <a:ln w="12700">
            <a:solidFill>
              <a:srgbClr val="D98E04"/>
            </a:solidFill>
            <a:prstDash val="solid"/>
          </a:ln>
        </p:spPr>
      </p:sp>
      <p:sp>
        <p:nvSpPr>
          <p:cNvPr id="16" name="Text 14"/>
          <p:cNvSpPr txBox="1"/>
          <p:nvPr/>
        </p:nvSpPr>
        <p:spPr>
          <a:xfrm>
            <a:off x="6409944" y="2560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7" name="Text 15"/>
          <p:cNvSpPr txBox="1"/>
          <p:nvPr/>
        </p:nvSpPr>
        <p:spPr>
          <a:xfrm>
            <a:off x="6409944" y="3200400"/>
            <a:ext cx="2194560" cy="457200"/>
          </a:xfrm>
          <a:prstGeom prst="rect">
            <a:avLst/>
          </a:prstGeom>
          <a:noFill/>
          <a:ln/>
        </p:spPr>
        <p:txBody>
          <a:bodyPr wrap="square" lIns="0" tIns="0" rIns="0" bIns="0" rtlCol="0" anchor="t"/>
          <a:lstStyle/>
          <a:p>
            <a:pPr indent="0" marL="0">
              <a:buNone/>
            </a:pPr>
            <a:r>
              <a:rPr lang="en-US" sz="2000" b="1" dirty="0">
                <a:solidFill>
                  <a:srgbClr val="1F1A14"/>
                </a:solidFill>
                <a:latin typeface="Cambria" pitchFamily="34" charset="0"/>
                <a:ea typeface="Cambria" pitchFamily="34" charset="-122"/>
                <a:cs typeface="Cambria" pitchFamily="34" charset="-120"/>
              </a:rPr>
              <a:t>Its food fell</a:t>
            </a:r>
            <a:endParaRPr lang="en-US" sz="2000" dirty="0"/>
          </a:p>
        </p:txBody>
      </p:sp>
      <p:sp>
        <p:nvSpPr>
          <p:cNvPr id="18" name="Text 16"/>
          <p:cNvSpPr txBox="1"/>
          <p:nvPr/>
        </p:nvSpPr>
        <p:spPr>
          <a:xfrm>
            <a:off x="6409944" y="3749040"/>
            <a:ext cx="2194560" cy="1097280"/>
          </a:xfrm>
          <a:prstGeom prst="rect">
            <a:avLst/>
          </a:prstGeom>
          <a:noFill/>
          <a:ln/>
        </p:spPr>
        <p:txBody>
          <a:bodyPr wrap="square" lIns="0" tIns="0" rIns="0" bIns="0" rtlCol="0" anchor="t"/>
          <a:lstStyle/>
          <a:p>
            <a:pPr indent="0" marL="0">
              <a:buNone/>
            </a:pPr>
            <a:r>
              <a:rPr lang="en-US" sz="1400" dirty="0">
                <a:solidFill>
                  <a:srgbClr val="444444"/>
                </a:solidFill>
              </a:rPr>
              <a:t>Grass plus bush plants down 25% from the peak</a:t>
            </a:r>
            <a:endParaRPr lang="en-US" sz="1400" dirty="0"/>
          </a:p>
        </p:txBody>
      </p:sp>
      <p:sp>
        <p:nvSpPr>
          <p:cNvPr id="19" name="Shape 17"/>
          <p:cNvSpPr/>
          <p:nvPr/>
        </p:nvSpPr>
        <p:spPr>
          <a:xfrm>
            <a:off x="8997696" y="2331720"/>
            <a:ext cx="2606040" cy="2651760"/>
          </a:xfrm>
          <a:prstGeom prst="roundRect">
            <a:avLst>
              <a:gd name="adj" fmla="val 4211"/>
            </a:avLst>
          </a:prstGeom>
          <a:solidFill>
            <a:srgbClr val="F1F3F2"/>
          </a:solidFill>
          <a:ln w="12700">
            <a:solidFill>
              <a:srgbClr val="F1F3F2"/>
            </a:solidFill>
            <a:prstDash val="solid"/>
          </a:ln>
        </p:spPr>
      </p:sp>
      <p:sp>
        <p:nvSpPr>
          <p:cNvPr id="20" name="Shape 18"/>
          <p:cNvSpPr/>
          <p:nvPr/>
        </p:nvSpPr>
        <p:spPr>
          <a:xfrm>
            <a:off x="9226296" y="2560320"/>
            <a:ext cx="457200" cy="457200"/>
          </a:xfrm>
          <a:prstGeom prst="ellipse">
            <a:avLst/>
          </a:prstGeom>
          <a:solidFill>
            <a:srgbClr val="D98E04"/>
          </a:solidFill>
          <a:ln w="12700">
            <a:solidFill>
              <a:srgbClr val="D98E04"/>
            </a:solidFill>
            <a:prstDash val="solid"/>
          </a:ln>
        </p:spPr>
      </p:sp>
      <p:sp>
        <p:nvSpPr>
          <p:cNvPr id="21" name="Text 19"/>
          <p:cNvSpPr txBox="1"/>
          <p:nvPr/>
        </p:nvSpPr>
        <p:spPr>
          <a:xfrm>
            <a:off x="9226296" y="2560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2" name="Text 20"/>
          <p:cNvSpPr txBox="1"/>
          <p:nvPr/>
        </p:nvSpPr>
        <p:spPr>
          <a:xfrm>
            <a:off x="9226296" y="3200400"/>
            <a:ext cx="2194560" cy="457200"/>
          </a:xfrm>
          <a:prstGeom prst="rect">
            <a:avLst/>
          </a:prstGeom>
          <a:noFill/>
          <a:ln/>
        </p:spPr>
        <p:txBody>
          <a:bodyPr wrap="square" lIns="0" tIns="0" rIns="0" bIns="0" rtlCol="0" anchor="t"/>
          <a:lstStyle/>
          <a:p>
            <a:pPr indent="0" marL="0">
              <a:buNone/>
            </a:pPr>
            <a:r>
              <a:rPr lang="en-US" sz="2000" b="1" dirty="0">
                <a:solidFill>
                  <a:srgbClr val="1F1A14"/>
                </a:solidFill>
                <a:latin typeface="Cambria" pitchFamily="34" charset="0"/>
                <a:ea typeface="Cambria" pitchFamily="34" charset="-122"/>
                <a:cs typeface="Cambria" pitchFamily="34" charset="-120"/>
              </a:rPr>
              <a:t>It killed itself</a:t>
            </a:r>
            <a:endParaRPr lang="en-US" sz="2000" dirty="0"/>
          </a:p>
        </p:txBody>
      </p:sp>
      <p:sp>
        <p:nvSpPr>
          <p:cNvPr id="23" name="Text 21"/>
          <p:cNvSpPr txBox="1"/>
          <p:nvPr/>
        </p:nvSpPr>
        <p:spPr>
          <a:xfrm>
            <a:off x="9226296" y="3749040"/>
            <a:ext cx="2194560" cy="1097280"/>
          </a:xfrm>
          <a:prstGeom prst="rect">
            <a:avLst/>
          </a:prstGeom>
          <a:noFill/>
          <a:ln/>
        </p:spPr>
        <p:txBody>
          <a:bodyPr wrap="square" lIns="0" tIns="0" rIns="0" bIns="0" rtlCol="0" anchor="t"/>
          <a:lstStyle/>
          <a:p>
            <a:pPr indent="0" marL="0">
              <a:buNone/>
            </a:pPr>
            <a:r>
              <a:rPr lang="en-US" sz="1400" dirty="0">
                <a:solidFill>
                  <a:srgbClr val="444444"/>
                </a:solidFill>
              </a:rPr>
              <a:t>Decline from starvation, ageing or its own killers, not other species</a:t>
            </a:r>
            <a:endParaRPr lang="en-US" sz="1400" dirty="0"/>
          </a:p>
        </p:txBody>
      </p:sp>
      <p:sp>
        <p:nvSpPr>
          <p:cNvPr id="24" name="Text 22"/>
          <p:cNvSpPr txBox="1"/>
          <p:nvPr/>
        </p:nvSpPr>
        <p:spPr>
          <a:xfrm>
            <a:off x="548640" y="5303520"/>
            <a:ext cx="11064240" cy="731520"/>
          </a:xfrm>
          <a:prstGeom prst="rect">
            <a:avLst/>
          </a:prstGeom>
          <a:noFill/>
          <a:ln/>
        </p:spPr>
        <p:txBody>
          <a:bodyPr wrap="square" lIns="0" tIns="0" rIns="0" bIns="0" rtlCol="0" anchor="t"/>
          <a:lstStyle/>
          <a:p>
            <a:pPr indent="0" marL="0">
              <a:buNone/>
            </a:pPr>
            <a:r>
              <a:rPr lang="en-US" sz="1500" b="1" dirty="0">
                <a:solidFill>
                  <a:srgbClr val="3B2F22"/>
                </a:solidFill>
              </a:rPr>
              <a:t>All four: evolutionary suicide.  Three, with growth and a trait: suicide candidate.  No growth: failure to adapt.  Mostly killed by another species: predation.</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Five species built on real strengths and weaknesses</a:t>
            </a:r>
            <a:endParaRPr lang="en-US" sz="3000" dirty="0"/>
          </a:p>
        </p:txBody>
      </p:sp>
      <p:pic>
        <p:nvPicPr>
          <p:cNvPr id="3" name="Image 0" descr="C:/Users/Ashley/Documents/LifeEngine/savanna-experiments/output/figures/species-modified.png">    </p:cNvPr>
          <p:cNvPicPr>
            <a:picLocks noChangeAspect="1"/>
          </p:cNvPicPr>
          <p:nvPr/>
        </p:nvPicPr>
        <p:blipFill>
          <a:blip r:embed="rId1"/>
          <a:stretch>
            <a:fillRect/>
          </a:stretch>
        </p:blipFill>
        <p:spPr>
          <a:xfrm>
            <a:off x="548640" y="1188720"/>
            <a:ext cx="11064240" cy="2874658"/>
          </a:xfrm>
          <a:prstGeom prst="rect">
            <a:avLst/>
          </a:prstGeom>
        </p:spPr>
      </p:pic>
      <p:sp>
        <p:nvSpPr>
          <p:cNvPr id="4" name="Shape 1"/>
          <p:cNvSpPr/>
          <p:nvPr/>
        </p:nvSpPr>
        <p:spPr>
          <a:xfrm>
            <a:off x="548640" y="4251960"/>
            <a:ext cx="3520440" cy="1965960"/>
          </a:xfrm>
          <a:prstGeom prst="roundRect">
            <a:avLst>
              <a:gd name="adj" fmla="val 5581"/>
            </a:avLst>
          </a:prstGeom>
          <a:solidFill>
            <a:srgbClr val="F1F3F2"/>
          </a:solidFill>
          <a:ln w="12700">
            <a:solidFill>
              <a:srgbClr val="F1F3F2"/>
            </a:solidFill>
            <a:prstDash val="solid"/>
          </a:ln>
        </p:spPr>
      </p:sp>
      <p:sp>
        <p:nvSpPr>
          <p:cNvPr id="5" name="Text 2"/>
          <p:cNvSpPr txBox="1"/>
          <p:nvPr/>
        </p:nvSpPr>
        <p:spPr>
          <a:xfrm>
            <a:off x="777240" y="4389120"/>
            <a:ext cx="3108960" cy="411480"/>
          </a:xfrm>
          <a:prstGeom prst="rect">
            <a:avLst/>
          </a:prstGeom>
          <a:noFill/>
          <a:ln/>
        </p:spPr>
        <p:txBody>
          <a:bodyPr wrap="square" lIns="0" tIns="0" rIns="0" bIns="0" rtlCol="0" anchor="t"/>
          <a:lstStyle/>
          <a:p>
            <a:pPr indent="0" marL="0">
              <a:buNone/>
            </a:pPr>
            <a:r>
              <a:rPr lang="en-US" sz="2000" b="1" dirty="0">
                <a:solidFill>
                  <a:srgbClr val="1F1A14"/>
                </a:solidFill>
                <a:latin typeface="Cambria" pitchFamily="34" charset="0"/>
                <a:ea typeface="Cambria" pitchFamily="34" charset="-122"/>
                <a:cs typeface="Cambria" pitchFamily="34" charset="-120"/>
              </a:rPr>
              <a:t>Zebra</a:t>
            </a:r>
            <a:endParaRPr lang="en-US" sz="2000" dirty="0"/>
          </a:p>
        </p:txBody>
      </p:sp>
      <p:sp>
        <p:nvSpPr>
          <p:cNvPr id="6" name="Text 3"/>
          <p:cNvSpPr txBox="1"/>
          <p:nvPr/>
        </p:nvSpPr>
        <p:spPr>
          <a:xfrm>
            <a:off x="777240" y="4846320"/>
            <a:ext cx="3108960" cy="685800"/>
          </a:xfrm>
          <a:prstGeom prst="rect">
            <a:avLst/>
          </a:prstGeom>
          <a:noFill/>
          <a:ln/>
        </p:spPr>
        <p:txBody>
          <a:bodyPr wrap="square" lIns="0" tIns="0" rIns="0" bIns="0" rtlCol="0" anchor="t"/>
          <a:lstStyle/>
          <a:p>
            <a:pPr indent="0" marL="0">
              <a:buNone/>
            </a:pPr>
            <a:r>
              <a:rPr lang="en-US" sz="1300" b="1" dirty="0">
                <a:solidFill>
                  <a:srgbClr val="1F1A14"/>
                </a:solidFill>
              </a:rPr>
              <a:t>Strength  </a:t>
            </a:r>
            <a:pPr indent="0" marL="0">
              <a:buNone/>
            </a:pPr>
            <a:r>
              <a:rPr lang="en-US" sz="1300" dirty="0">
                <a:solidFill>
                  <a:srgbClr val="1F1A14"/>
                </a:solidFill>
              </a:rPr>
              <a:t>Sprints when chasing or fleeing; herd stripes; rear kick wounds leopards</a:t>
            </a:r>
            <a:endParaRPr lang="en-US" sz="1300" dirty="0"/>
          </a:p>
        </p:txBody>
      </p:sp>
      <p:sp>
        <p:nvSpPr>
          <p:cNvPr id="7" name="Text 4"/>
          <p:cNvSpPr txBox="1"/>
          <p:nvPr/>
        </p:nvSpPr>
        <p:spPr>
          <a:xfrm>
            <a:off x="777240" y="5532120"/>
            <a:ext cx="3108960" cy="640080"/>
          </a:xfrm>
          <a:prstGeom prst="rect">
            <a:avLst/>
          </a:prstGeom>
          <a:noFill/>
          <a:ln/>
        </p:spPr>
        <p:txBody>
          <a:bodyPr wrap="square" lIns="0" tIns="0" rIns="0" bIns="0" rtlCol="0" anchor="t"/>
          <a:lstStyle/>
          <a:p>
            <a:pPr indent="0" marL="0">
              <a:buNone/>
            </a:pPr>
            <a:r>
              <a:rPr lang="en-US" sz="1300" b="1" dirty="0">
                <a:solidFill>
                  <a:srgbClr val="1F1A14"/>
                </a:solidFill>
              </a:rPr>
              <a:t>Weakness  </a:t>
            </a:r>
            <a:pPr indent="0" marL="0">
              <a:buNone/>
            </a:pPr>
            <a:r>
              <a:rPr lang="en-US" sz="1300" dirty="0">
                <a:solidFill>
                  <a:srgbClr val="1F1A14"/>
                </a:solidFill>
              </a:rPr>
              <a:t>One mouth; bush food worth 0.35; no armour</a:t>
            </a:r>
            <a:endParaRPr lang="en-US" sz="1300" dirty="0"/>
          </a:p>
        </p:txBody>
      </p:sp>
      <p:sp>
        <p:nvSpPr>
          <p:cNvPr id="8" name="Shape 5"/>
          <p:cNvSpPr/>
          <p:nvPr/>
        </p:nvSpPr>
        <p:spPr>
          <a:xfrm>
            <a:off x="4297680" y="4251960"/>
            <a:ext cx="3520440" cy="1965960"/>
          </a:xfrm>
          <a:prstGeom prst="roundRect">
            <a:avLst>
              <a:gd name="adj" fmla="val 5581"/>
            </a:avLst>
          </a:prstGeom>
          <a:solidFill>
            <a:srgbClr val="F1F3F2"/>
          </a:solidFill>
          <a:ln w="12700">
            <a:solidFill>
              <a:srgbClr val="F1F3F2"/>
            </a:solidFill>
            <a:prstDash val="solid"/>
          </a:ln>
        </p:spPr>
      </p:sp>
      <p:sp>
        <p:nvSpPr>
          <p:cNvPr id="9" name="Text 6"/>
          <p:cNvSpPr txBox="1"/>
          <p:nvPr/>
        </p:nvSpPr>
        <p:spPr>
          <a:xfrm>
            <a:off x="4526280" y="4389120"/>
            <a:ext cx="3108960" cy="411480"/>
          </a:xfrm>
          <a:prstGeom prst="rect">
            <a:avLst/>
          </a:prstGeom>
          <a:noFill/>
          <a:ln/>
        </p:spPr>
        <p:txBody>
          <a:bodyPr wrap="square" lIns="0" tIns="0" rIns="0" bIns="0" rtlCol="0" anchor="t"/>
          <a:lstStyle/>
          <a:p>
            <a:pPr indent="0" marL="0">
              <a:buNone/>
            </a:pPr>
            <a:r>
              <a:rPr lang="en-US" sz="2000" b="1" dirty="0">
                <a:solidFill>
                  <a:srgbClr val="7A5C3E"/>
                </a:solidFill>
                <a:latin typeface="Cambria" pitchFamily="34" charset="0"/>
                <a:ea typeface="Cambria" pitchFamily="34" charset="-122"/>
                <a:cs typeface="Cambria" pitchFamily="34" charset="-120"/>
              </a:rPr>
              <a:t>Rhino</a:t>
            </a:r>
            <a:endParaRPr lang="en-US" sz="2000" dirty="0"/>
          </a:p>
        </p:txBody>
      </p:sp>
      <p:sp>
        <p:nvSpPr>
          <p:cNvPr id="10" name="Text 7"/>
          <p:cNvSpPr txBox="1"/>
          <p:nvPr/>
        </p:nvSpPr>
        <p:spPr>
          <a:xfrm>
            <a:off x="4526280" y="4846320"/>
            <a:ext cx="3108960" cy="685800"/>
          </a:xfrm>
          <a:prstGeom prst="rect">
            <a:avLst/>
          </a:prstGeom>
          <a:noFill/>
          <a:ln/>
        </p:spPr>
        <p:txBody>
          <a:bodyPr wrap="square" lIns="0" tIns="0" rIns="0" bIns="0" rtlCol="0" anchor="t"/>
          <a:lstStyle/>
          <a:p>
            <a:pPr indent="0" marL="0">
              <a:buNone/>
            </a:pPr>
            <a:r>
              <a:rPr lang="en-US" sz="1300" b="1" dirty="0">
                <a:solidFill>
                  <a:srgbClr val="1F1A14"/>
                </a:solidFill>
              </a:rPr>
              <a:t>Strength  </a:t>
            </a:r>
            <a:pPr indent="0" marL="0">
              <a:buNone/>
            </a:pPr>
            <a:r>
              <a:rPr lang="en-US" sz="1300" dirty="0">
                <a:solidFill>
                  <a:srgbClr val="1F1A14"/>
                </a:solidFill>
              </a:rPr>
              <a:t>Horn immune to killers and gores attackers; 20 health</a:t>
            </a:r>
            <a:endParaRPr lang="en-US" sz="1300" dirty="0"/>
          </a:p>
        </p:txBody>
      </p:sp>
      <p:sp>
        <p:nvSpPr>
          <p:cNvPr id="11" name="Text 8"/>
          <p:cNvSpPr txBox="1"/>
          <p:nvPr/>
        </p:nvSpPr>
        <p:spPr>
          <a:xfrm>
            <a:off x="4526280" y="5532120"/>
            <a:ext cx="3108960" cy="640080"/>
          </a:xfrm>
          <a:prstGeom prst="rect">
            <a:avLst/>
          </a:prstGeom>
          <a:noFill/>
          <a:ln/>
        </p:spPr>
        <p:txBody>
          <a:bodyPr wrap="square" lIns="0" tIns="0" rIns="0" bIns="0" rtlCol="0" anchor="t"/>
          <a:lstStyle/>
          <a:p>
            <a:pPr indent="0" marL="0">
              <a:buNone/>
            </a:pPr>
            <a:r>
              <a:rPr lang="en-US" sz="1300" b="1" dirty="0">
                <a:solidFill>
                  <a:srgbClr val="1F1A14"/>
                </a:solidFill>
              </a:rPr>
              <a:t>Weakness  </a:t>
            </a:r>
            <a:pPr indent="0" marL="0">
              <a:buNone/>
            </a:pPr>
            <a:r>
              <a:rPr lang="en-US" sz="1300" dirty="0">
                <a:solidFill>
                  <a:srgbClr val="1F1A14"/>
                </a:solidFill>
              </a:rPr>
              <a:t>Slow; 16 food per calf because armour is costly</a:t>
            </a:r>
            <a:endParaRPr lang="en-US" sz="1300" dirty="0"/>
          </a:p>
        </p:txBody>
      </p:sp>
      <p:sp>
        <p:nvSpPr>
          <p:cNvPr id="12" name="Shape 9"/>
          <p:cNvSpPr/>
          <p:nvPr/>
        </p:nvSpPr>
        <p:spPr>
          <a:xfrm>
            <a:off x="8046720" y="4251960"/>
            <a:ext cx="3520440" cy="1965960"/>
          </a:xfrm>
          <a:prstGeom prst="roundRect">
            <a:avLst>
              <a:gd name="adj" fmla="val 5581"/>
            </a:avLst>
          </a:prstGeom>
          <a:solidFill>
            <a:srgbClr val="F1F3F2"/>
          </a:solidFill>
          <a:ln w="12700">
            <a:solidFill>
              <a:srgbClr val="F1F3F2"/>
            </a:solidFill>
            <a:prstDash val="solid"/>
          </a:ln>
        </p:spPr>
      </p:sp>
      <p:sp>
        <p:nvSpPr>
          <p:cNvPr id="13" name="Text 10"/>
          <p:cNvSpPr txBox="1"/>
          <p:nvPr/>
        </p:nvSpPr>
        <p:spPr>
          <a:xfrm>
            <a:off x="8275320" y="4389120"/>
            <a:ext cx="3108960" cy="411480"/>
          </a:xfrm>
          <a:prstGeom prst="rect">
            <a:avLst/>
          </a:prstGeom>
          <a:noFill/>
          <a:ln/>
        </p:spPr>
        <p:txBody>
          <a:bodyPr wrap="square" lIns="0" tIns="0" rIns="0" bIns="0" rtlCol="0" anchor="t"/>
          <a:lstStyle/>
          <a:p>
            <a:pPr indent="0" marL="0">
              <a:buNone/>
            </a:pPr>
            <a:r>
              <a:rPr lang="en-US" sz="2000" b="1" dirty="0">
                <a:solidFill>
                  <a:srgbClr val="D98E04"/>
                </a:solidFill>
                <a:latin typeface="Cambria" pitchFamily="34" charset="0"/>
                <a:ea typeface="Cambria" pitchFamily="34" charset="-122"/>
                <a:cs typeface="Cambria" pitchFamily="34" charset="-120"/>
              </a:rPr>
              <a:t>Leopard</a:t>
            </a:r>
            <a:endParaRPr lang="en-US" sz="2000" dirty="0"/>
          </a:p>
        </p:txBody>
      </p:sp>
      <p:sp>
        <p:nvSpPr>
          <p:cNvPr id="14" name="Text 11"/>
          <p:cNvSpPr txBox="1"/>
          <p:nvPr/>
        </p:nvSpPr>
        <p:spPr>
          <a:xfrm>
            <a:off x="8275320" y="4846320"/>
            <a:ext cx="3108960" cy="685800"/>
          </a:xfrm>
          <a:prstGeom prst="rect">
            <a:avLst/>
          </a:prstGeom>
          <a:noFill/>
          <a:ln/>
        </p:spPr>
        <p:txBody>
          <a:bodyPr wrap="square" lIns="0" tIns="0" rIns="0" bIns="0" rtlCol="0" anchor="t"/>
          <a:lstStyle/>
          <a:p>
            <a:pPr indent="0" marL="0">
              <a:buNone/>
            </a:pPr>
            <a:r>
              <a:rPr lang="en-US" sz="1300" b="1" dirty="0">
                <a:solidFill>
                  <a:srgbClr val="1F1A14"/>
                </a:solidFill>
              </a:rPr>
              <a:t>Strength  </a:t>
            </a:r>
            <a:pPr indent="0" marL="0">
              <a:buNone/>
            </a:pPr>
            <a:r>
              <a:rPr lang="en-US" sz="1300" dirty="0">
                <a:solidFill>
                  <a:srgbClr val="1F1A14"/>
                </a:solidFill>
              </a:rPr>
              <a:t>Sprint; bite does 4 damage; eats its kill on the spot; caches surplus near trees</a:t>
            </a:r>
            <a:endParaRPr lang="en-US" sz="1300" dirty="0"/>
          </a:p>
        </p:txBody>
      </p:sp>
      <p:sp>
        <p:nvSpPr>
          <p:cNvPr id="15" name="Text 12"/>
          <p:cNvSpPr txBox="1"/>
          <p:nvPr/>
        </p:nvSpPr>
        <p:spPr>
          <a:xfrm>
            <a:off x="8275320" y="5532120"/>
            <a:ext cx="3108960" cy="640080"/>
          </a:xfrm>
          <a:prstGeom prst="rect">
            <a:avLst/>
          </a:prstGeom>
          <a:noFill/>
          <a:ln/>
        </p:spPr>
        <p:txBody>
          <a:bodyPr wrap="square" lIns="0" tIns="0" rIns="0" bIns="0" rtlCol="0" anchor="t"/>
          <a:lstStyle/>
          <a:p>
            <a:pPr indent="0" marL="0">
              <a:buNone/>
            </a:pPr>
            <a:r>
              <a:rPr lang="en-US" sz="1300" b="1" dirty="0">
                <a:solidFill>
                  <a:srgbClr val="1F1A14"/>
                </a:solidFill>
              </a:rPr>
              <a:t>Weakness  </a:t>
            </a:r>
            <a:pPr indent="0" marL="0">
              <a:buNone/>
            </a:pPr>
            <a:r>
              <a:rPr lang="en-US" sz="1300" dirty="0">
                <a:solidFill>
                  <a:srgbClr val="1F1A14"/>
                </a:solidFill>
              </a:rPr>
              <a:t>Meat only; no armour; kicked and gored by prey</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The base engine leaves only one road to suicide: killers</a:t>
            </a:r>
            <a:endParaRPr lang="en-US" sz="3000" dirty="0"/>
          </a:p>
        </p:txBody>
      </p:sp>
      <p:sp>
        <p:nvSpPr>
          <p:cNvPr id="3" name="Shape 1"/>
          <p:cNvSpPr/>
          <p:nvPr/>
        </p:nvSpPr>
        <p:spPr>
          <a:xfrm>
            <a:off x="548640" y="1280160"/>
            <a:ext cx="5394960" cy="3566160"/>
          </a:xfrm>
          <a:prstGeom prst="roundRect">
            <a:avLst>
              <a:gd name="adj" fmla="val 3077"/>
            </a:avLst>
          </a:prstGeom>
          <a:solidFill>
            <a:srgbClr val="EEF5EA"/>
          </a:solidFill>
          <a:ln w="12700">
            <a:solidFill>
              <a:srgbClr val="EEF5EA"/>
            </a:solidFill>
            <a:prstDash val="solid"/>
          </a:ln>
        </p:spPr>
      </p:sp>
      <p:sp>
        <p:nvSpPr>
          <p:cNvPr id="4" name="Text 2"/>
          <p:cNvSpPr txBox="1"/>
          <p:nvPr/>
        </p:nvSpPr>
        <p:spPr>
          <a:xfrm>
            <a:off x="822960" y="1463040"/>
            <a:ext cx="4846320" cy="457200"/>
          </a:xfrm>
          <a:prstGeom prst="rect">
            <a:avLst/>
          </a:prstGeom>
          <a:noFill/>
          <a:ln/>
        </p:spPr>
        <p:txBody>
          <a:bodyPr wrap="square" lIns="0" tIns="0" rIns="0" bIns="0" rtlCol="0" anchor="t"/>
          <a:lstStyle/>
          <a:p>
            <a:pPr indent="0" marL="0">
              <a:buNone/>
            </a:pPr>
            <a:r>
              <a:rPr lang="en-US" sz="2000" b="1" dirty="0">
                <a:solidFill>
                  <a:srgbClr val="4E7D32"/>
                </a:solidFill>
                <a:latin typeface="Cambria" pitchFamily="34" charset="0"/>
                <a:ea typeface="Cambria" pitchFamily="34" charset="-122"/>
                <a:cs typeface="Cambria" pitchFamily="34" charset="-120"/>
              </a:rPr>
              <a:t>What the base engine allows</a:t>
            </a:r>
            <a:endParaRPr lang="en-US" sz="2000" dirty="0"/>
          </a:p>
        </p:txBody>
      </p:sp>
      <p:sp>
        <p:nvSpPr>
          <p:cNvPr id="5" name="Text 3"/>
          <p:cNvSpPr txBox="1"/>
          <p:nvPr/>
        </p:nvSpPr>
        <p:spPr>
          <a:xfrm>
            <a:off x="822960" y="2057400"/>
            <a:ext cx="4846320" cy="34747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1A14"/>
                </a:solidFill>
              </a:rPr>
              <a:t>Killer cells damage plants, and a dead plant becomes food: a windfall that rewards the trait</a:t>
            </a:r>
            <a:endParaRPr lang="en-US" sz="1600" dirty="0"/>
          </a:p>
          <a:p>
            <a:pPr marL="342900" indent="-342900">
              <a:spcAft>
                <a:spcPts val="1000"/>
              </a:spcAft>
              <a:buSzPct val="100000"/>
              <a:buChar char="•"/>
            </a:pPr>
            <a:r>
              <a:rPr lang="en-US" sz="1600" dirty="0">
                <a:solidFill>
                  <a:srgbClr val="1F1A14"/>
                </a:solidFill>
              </a:rPr>
              <a:t>Each kill removes a producer for good</a:t>
            </a:r>
            <a:endParaRPr lang="en-US" sz="1600" dirty="0"/>
          </a:p>
          <a:p>
            <a:pPr marL="342900" indent="-342900">
              <a:spcAft>
                <a:spcPts val="1000"/>
              </a:spcAft>
              <a:buSzPct val="100000"/>
              <a:buChar char="•"/>
            </a:pPr>
            <a:r>
              <a:rPr lang="en-US" sz="1600" dirty="0">
                <a:solidFill>
                  <a:srgbClr val="1F1A14"/>
                </a:solidFill>
              </a:rPr>
              <a:t>Plants can choke the world with uneaten food</a:t>
            </a:r>
            <a:endParaRPr lang="en-US" sz="1600" dirty="0"/>
          </a:p>
        </p:txBody>
      </p:sp>
      <p:sp>
        <p:nvSpPr>
          <p:cNvPr id="6" name="Shape 4"/>
          <p:cNvSpPr/>
          <p:nvPr/>
        </p:nvSpPr>
        <p:spPr>
          <a:xfrm>
            <a:off x="6217920" y="1280160"/>
            <a:ext cx="5394960" cy="3566160"/>
          </a:xfrm>
          <a:prstGeom prst="roundRect">
            <a:avLst>
              <a:gd name="adj" fmla="val 3077"/>
            </a:avLst>
          </a:prstGeom>
          <a:solidFill>
            <a:srgbClr val="F8ECEC"/>
          </a:solidFill>
          <a:ln w="12700">
            <a:solidFill>
              <a:srgbClr val="F8ECEC"/>
            </a:solidFill>
            <a:prstDash val="solid"/>
          </a:ln>
        </p:spPr>
      </p:sp>
      <p:sp>
        <p:nvSpPr>
          <p:cNvPr id="7" name="Text 5"/>
          <p:cNvSpPr txBox="1"/>
          <p:nvPr/>
        </p:nvSpPr>
        <p:spPr>
          <a:xfrm>
            <a:off x="6492240" y="1463040"/>
            <a:ext cx="4846320" cy="457200"/>
          </a:xfrm>
          <a:prstGeom prst="rect">
            <a:avLst/>
          </a:prstGeom>
          <a:noFill/>
          <a:ln/>
        </p:spPr>
        <p:txBody>
          <a:bodyPr wrap="square" lIns="0" tIns="0" rIns="0" bIns="0" rtlCol="0" anchor="t"/>
          <a:lstStyle/>
          <a:p>
            <a:pPr indent="0" marL="0">
              <a:buNone/>
            </a:pPr>
            <a:r>
              <a:rPr lang="en-US" sz="2000" b="1" dirty="0">
                <a:solidFill>
                  <a:srgbClr val="B23A3A"/>
                </a:solidFill>
                <a:latin typeface="Cambria" pitchFamily="34" charset="0"/>
                <a:ea typeface="Cambria" pitchFamily="34" charset="-122"/>
                <a:cs typeface="Cambria" pitchFamily="34" charset="-120"/>
              </a:rPr>
              <a:t>What it cannot do</a:t>
            </a:r>
            <a:endParaRPr lang="en-US" sz="2000" dirty="0"/>
          </a:p>
        </p:txBody>
      </p:sp>
      <p:sp>
        <p:nvSpPr>
          <p:cNvPr id="8" name="Text 6"/>
          <p:cNvSpPr txBox="1"/>
          <p:nvPr/>
        </p:nvSpPr>
        <p:spPr>
          <a:xfrm>
            <a:off x="6492240" y="2057400"/>
            <a:ext cx="4846320" cy="34747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1A14"/>
                </a:solidFill>
              </a:rPr>
              <a:t>Nothing starves: animals only die of age or damage</a:t>
            </a:r>
            <a:endParaRPr lang="en-US" sz="1600" dirty="0"/>
          </a:p>
          <a:p>
            <a:pPr marL="342900" indent="-342900">
              <a:spcAft>
                <a:spcPts val="1000"/>
              </a:spcAft>
              <a:buSzPct val="100000"/>
              <a:buChar char="•"/>
            </a:pPr>
            <a:r>
              <a:rPr lang="en-US" sz="1600" dirty="0">
                <a:solidFill>
                  <a:srgbClr val="1F1A14"/>
                </a:solidFill>
              </a:rPr>
              <a:t>Grass and bush drop identical food, so there is no worse food to fall back on</a:t>
            </a:r>
            <a:endParaRPr lang="en-US" sz="1600" dirty="0"/>
          </a:p>
          <a:p>
            <a:pPr marL="342900" indent="-342900">
              <a:spcAft>
                <a:spcPts val="1000"/>
              </a:spcAft>
              <a:buSzPct val="100000"/>
              <a:buChar char="•"/>
            </a:pPr>
            <a:r>
              <a:rPr lang="en-US" sz="1600" dirty="0">
                <a:solidFill>
                  <a:srgbClr val="1F1A14"/>
                </a:solidFill>
              </a:rPr>
              <a:t>Leopards eat plant food, so they never depend on prey</a:t>
            </a:r>
            <a:endParaRPr lang="en-US" sz="1600" dirty="0"/>
          </a:p>
          <a:p>
            <a:pPr marL="342900" indent="-342900">
              <a:spcAft>
                <a:spcPts val="1000"/>
              </a:spcAft>
              <a:buSzPct val="100000"/>
              <a:buChar char="•"/>
            </a:pPr>
            <a:r>
              <a:rPr lang="en-US" sz="1600" dirty="0">
                <a:solidFill>
                  <a:srgbClr val="1F1A14"/>
                </a:solidFill>
              </a:rPr>
              <a:t>Mouths cannot hurt plants, so overgrazing is impossible</a:t>
            </a:r>
            <a:endParaRPr lang="en-US" sz="1600" dirty="0"/>
          </a:p>
        </p:txBody>
      </p:sp>
      <p:sp>
        <p:nvSpPr>
          <p:cNvPr id="9" name="Text 7"/>
          <p:cNvSpPr txBox="1"/>
          <p:nvPr/>
        </p:nvSpPr>
        <p:spPr>
          <a:xfrm>
            <a:off x="548640" y="5166360"/>
            <a:ext cx="11064240" cy="548640"/>
          </a:xfrm>
          <a:prstGeom prst="rect">
            <a:avLst/>
          </a:prstGeom>
          <a:noFill/>
          <a:ln/>
        </p:spPr>
        <p:txBody>
          <a:bodyPr wrap="square" lIns="0" tIns="0" rIns="0" bIns="0" rtlCol="0" anchor="t"/>
          <a:lstStyle/>
          <a:p>
            <a:pPr indent="0" marL="0">
              <a:buNone/>
            </a:pPr>
            <a:r>
              <a:rPr lang="en-US" sz="1800" b="1" dirty="0">
                <a:solidFill>
                  <a:srgbClr val="3B2F22"/>
                </a:solidFill>
              </a:rPr>
              <a:t>So in the base engine, suicide can only run through evolved killer cells that destroy plants.</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Base engine: zebras evolved a plant-killer and ate their world</a:t>
            </a:r>
            <a:endParaRPr lang="en-US" sz="3000" dirty="0"/>
          </a:p>
        </p:txBody>
      </p:sp>
      <p:pic>
        <p:nvPicPr>
          <p:cNvPr id="3" name="Image 0" descr="C:/Users/Ashley/Documents/LifeEngine/savanna-experiments/output/figures/timeline-base-suicide.png">    </p:cNvPr>
          <p:cNvPicPr>
            <a:picLocks noChangeAspect="1"/>
          </p:cNvPicPr>
          <p:nvPr/>
        </p:nvPicPr>
        <p:blipFill>
          <a:blip r:embed="rId1"/>
          <a:stretch>
            <a:fillRect/>
          </a:stretch>
        </p:blipFill>
        <p:spPr>
          <a:xfrm>
            <a:off x="548640" y="1188720"/>
            <a:ext cx="8138160" cy="4102324"/>
          </a:xfrm>
          <a:prstGeom prst="rect">
            <a:avLst/>
          </a:prstGeom>
        </p:spPr>
      </p:pic>
      <p:sp>
        <p:nvSpPr>
          <p:cNvPr id="4" name="Text 1"/>
          <p:cNvSpPr txBox="1"/>
          <p:nvPr/>
        </p:nvSpPr>
        <p:spPr>
          <a:xfrm>
            <a:off x="9052560" y="1280160"/>
            <a:ext cx="2651760" cy="731520"/>
          </a:xfrm>
          <a:prstGeom prst="rect">
            <a:avLst/>
          </a:prstGeom>
          <a:noFill/>
          <a:ln/>
        </p:spPr>
        <p:txBody>
          <a:bodyPr wrap="square" lIns="0" tIns="0" rIns="0" bIns="0" rtlCol="0" anchor="t"/>
          <a:lstStyle/>
          <a:p>
            <a:pPr indent="0" marL="0">
              <a:buNone/>
            </a:pPr>
            <a:r>
              <a:rPr lang="en-US" sz="4000" b="1" dirty="0">
                <a:solidFill>
                  <a:srgbClr val="B23A3A"/>
                </a:solidFill>
                <a:latin typeface="Cambria" pitchFamily="34" charset="0"/>
                <a:ea typeface="Cambria" pitchFamily="34" charset="-122"/>
                <a:cs typeface="Cambria" pitchFamily="34" charset="-120"/>
              </a:rPr>
              <a:t>3 of 3</a:t>
            </a:r>
            <a:endParaRPr lang="en-US" sz="4000" dirty="0"/>
          </a:p>
        </p:txBody>
      </p:sp>
      <p:sp>
        <p:nvSpPr>
          <p:cNvPr id="5" name="Text 2"/>
          <p:cNvSpPr txBox="1"/>
          <p:nvPr/>
        </p:nvSpPr>
        <p:spPr>
          <a:xfrm>
            <a:off x="9052560" y="2011680"/>
            <a:ext cx="2651760" cy="548640"/>
          </a:xfrm>
          <a:prstGeom prst="rect">
            <a:avLst/>
          </a:prstGeom>
          <a:noFill/>
          <a:ln/>
        </p:spPr>
        <p:txBody>
          <a:bodyPr wrap="square" lIns="0" tIns="0" rIns="0" bIns="0" rtlCol="0" anchor="t"/>
          <a:lstStyle/>
          <a:p>
            <a:pPr indent="0" marL="0">
              <a:buNone/>
            </a:pPr>
            <a:r>
              <a:rPr lang="en-US" sz="1300" dirty="0">
                <a:solidFill>
                  <a:srgbClr val="444444"/>
                </a:solidFill>
              </a:rPr>
              <a:t>seeds met all four criteria in the plant-kill control</a:t>
            </a:r>
            <a:endParaRPr lang="en-US" sz="1300" dirty="0"/>
          </a:p>
        </p:txBody>
      </p:sp>
      <p:sp>
        <p:nvSpPr>
          <p:cNvPr id="6" name="Text 3"/>
          <p:cNvSpPr txBox="1"/>
          <p:nvPr/>
        </p:nvSpPr>
        <p:spPr>
          <a:xfrm>
            <a:off x="9052560" y="2834640"/>
            <a:ext cx="2651760" cy="731520"/>
          </a:xfrm>
          <a:prstGeom prst="rect">
            <a:avLst/>
          </a:prstGeom>
          <a:noFill/>
          <a:ln/>
        </p:spPr>
        <p:txBody>
          <a:bodyPr wrap="square" lIns="0" tIns="0" rIns="0" bIns="0" rtlCol="0" anchor="t"/>
          <a:lstStyle/>
          <a:p>
            <a:pPr indent="0" marL="0">
              <a:buNone/>
            </a:pPr>
            <a:r>
              <a:rPr lang="en-US" sz="4000" b="1" dirty="0">
                <a:solidFill>
                  <a:srgbClr val="1F1A14"/>
                </a:solidFill>
                <a:latin typeface="Cambria" pitchFamily="34" charset="0"/>
                <a:ea typeface="Cambria" pitchFamily="34" charset="-122"/>
                <a:cs typeface="Cambria" pitchFamily="34" charset="-120"/>
              </a:rPr>
              <a:t>560</a:t>
            </a:r>
            <a:endParaRPr lang="en-US" sz="4000" dirty="0"/>
          </a:p>
        </p:txBody>
      </p:sp>
      <p:sp>
        <p:nvSpPr>
          <p:cNvPr id="7" name="Text 4"/>
          <p:cNvSpPr txBox="1"/>
          <p:nvPr/>
        </p:nvSpPr>
        <p:spPr>
          <a:xfrm>
            <a:off x="9052560" y="3566160"/>
            <a:ext cx="2651760" cy="548640"/>
          </a:xfrm>
          <a:prstGeom prst="rect">
            <a:avLst/>
          </a:prstGeom>
          <a:noFill/>
          <a:ln/>
        </p:spPr>
        <p:txBody>
          <a:bodyPr wrap="square" lIns="0" tIns="0" rIns="0" bIns="0" rtlCol="0" anchor="t"/>
          <a:lstStyle/>
          <a:p>
            <a:pPr indent="0" marL="0">
              <a:buNone/>
            </a:pPr>
            <a:r>
              <a:rPr lang="en-US" sz="1300" dirty="0">
                <a:solidFill>
                  <a:srgbClr val="444444"/>
                </a:solidFill>
              </a:rPr>
              <a:t>zebras at the peak (seed 2, tick 8,200)</a:t>
            </a:r>
            <a:endParaRPr lang="en-US" sz="1300" dirty="0"/>
          </a:p>
        </p:txBody>
      </p:sp>
      <p:sp>
        <p:nvSpPr>
          <p:cNvPr id="8" name="Text 5"/>
          <p:cNvSpPr txBox="1"/>
          <p:nvPr/>
        </p:nvSpPr>
        <p:spPr>
          <a:xfrm>
            <a:off x="9052560" y="4389120"/>
            <a:ext cx="2651760" cy="731520"/>
          </a:xfrm>
          <a:prstGeom prst="rect">
            <a:avLst/>
          </a:prstGeom>
          <a:noFill/>
          <a:ln/>
        </p:spPr>
        <p:txBody>
          <a:bodyPr wrap="square" lIns="0" tIns="0" rIns="0" bIns="0" rtlCol="0" anchor="t"/>
          <a:lstStyle/>
          <a:p>
            <a:pPr indent="0" marL="0">
              <a:buNone/>
            </a:pPr>
            <a:r>
              <a:rPr lang="en-US" sz="4000" b="1" dirty="0">
                <a:solidFill>
                  <a:srgbClr val="D98E04"/>
                </a:solidFill>
                <a:latin typeface="Cambria" pitchFamily="34" charset="0"/>
                <a:ea typeface="Cambria" pitchFamily="34" charset="-122"/>
                <a:cs typeface="Cambria" pitchFamily="34" charset="-120"/>
              </a:rPr>
              <a:t>14,881</a:t>
            </a:r>
            <a:endParaRPr lang="en-US" sz="4000" dirty="0"/>
          </a:p>
        </p:txBody>
      </p:sp>
      <p:sp>
        <p:nvSpPr>
          <p:cNvPr id="9" name="Text 6"/>
          <p:cNvSpPr txBox="1"/>
          <p:nvPr/>
        </p:nvSpPr>
        <p:spPr>
          <a:xfrm>
            <a:off x="9052560" y="5120640"/>
            <a:ext cx="2651760" cy="548640"/>
          </a:xfrm>
          <a:prstGeom prst="rect">
            <a:avLst/>
          </a:prstGeom>
          <a:noFill/>
          <a:ln/>
        </p:spPr>
        <p:txBody>
          <a:bodyPr wrap="square" lIns="0" tIns="0" rIns="0" bIns="0" rtlCol="0" anchor="t"/>
          <a:lstStyle/>
          <a:p>
            <a:pPr indent="0" marL="0">
              <a:buNone/>
            </a:pPr>
            <a:r>
              <a:rPr lang="en-US" sz="1300" dirty="0">
                <a:solidFill>
                  <a:srgbClr val="444444"/>
                </a:solidFill>
              </a:rPr>
              <a:t>tick when the last zebra died; the last grass went at 11,900</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Only the evolved plant-killer met every criterion</a:t>
            </a:r>
            <a:endParaRPr lang="en-US" sz="3000" dirty="0"/>
          </a:p>
        </p:txBody>
      </p:sp>
      <p:graphicFrame>
        <p:nvGraphicFramePr>
          <p:cNvPr id="3" name="Chart 0" descr=""/>
          <p:cNvGraphicFramePr/>
          <p:nvPr/>
        </p:nvGraphicFramePr>
        <p:xfrm>
          <a:off x="548640" y="123444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680960" y="1371600"/>
            <a:ext cx="3931920" cy="4754880"/>
          </a:xfrm>
          <a:prstGeom prst="rect">
            <a:avLst/>
          </a:prstGeom>
          <a:noFill/>
          <a:ln/>
        </p:spPr>
        <p:txBody>
          <a:bodyPr wrap="square" lIns="0" tIns="0" rIns="0" bIns="0" rtlCol="0" anchor="t"/>
          <a:lstStyle/>
          <a:p>
            <a:pPr indent="0" marL="0">
              <a:buNone/>
            </a:pPr>
            <a:r>
              <a:rPr lang="en-US" sz="1400" b="1" dirty="0">
                <a:solidFill>
                  <a:srgbClr val="1F1A14"/>
                </a:solidFill>
              </a:rPr>
              <a:t>Seeded killer: </a:t>
            </a:r>
            <a:pPr indent="0" marL="0">
              <a:buNone/>
            </a:pPr>
            <a:r>
              <a:rPr lang="en-US" sz="1400" dirty="0">
                <a:solidFill>
                  <a:srgbClr val="1F1A14"/>
                </a:solidFill>
              </a:rPr>
              <a:t>same collapse, but the trait was given, not evolved, so it fails criterion 2</a:t>
            </a:r>
            <a:endParaRPr lang="en-US" sz="1400" dirty="0"/>
          </a:p>
          <a:p>
            <a:pPr indent="0" marL="0">
              <a:buNone/>
            </a:pPr>
            <a:r>
              <a:rPr lang="en-US" sz="1400" dirty="0">
                <a:solidFill>
                  <a:srgbClr val="1F1A14"/>
                </a:solidFill>
              </a:rPr>
              <a:t> </a:t>
            </a:r>
            <a:endParaRPr lang="en-US" sz="1400" dirty="0"/>
          </a:p>
          <a:p>
            <a:pPr indent="0" marL="0">
              <a:buNone/>
            </a:pPr>
            <a:r>
              <a:rPr lang="en-US" sz="1400" b="1" dirty="0">
                <a:solidFill>
                  <a:srgbClr val="1F1A14"/>
                </a:solidFill>
              </a:rPr>
              <a:t>Default and harsh: </a:t>
            </a:r>
            <a:pPr indent="0" marL="0">
              <a:buNone/>
            </a:pPr>
            <a:r>
              <a:rPr lang="en-US" sz="1400" dirty="0">
                <a:solidFill>
                  <a:srgbClr val="1F1A14"/>
                </a:solidFill>
              </a:rPr>
              <a:t>booms then collapses with no trait. Rhinos crowded zebras out; in one harsh seed rhinos evolved killers and met all four criteria</a:t>
            </a:r>
            <a:endParaRPr lang="en-US" sz="1400" dirty="0"/>
          </a:p>
          <a:p>
            <a:pPr indent="0" marL="0">
              <a:buNone/>
            </a:pPr>
            <a:r>
              <a:rPr lang="en-US" sz="1400" dirty="0">
                <a:solidFill>
                  <a:srgbClr val="1F1A14"/>
                </a:solidFill>
              </a:rPr>
              <a:t> </a:t>
            </a:r>
            <a:endParaRPr lang="en-US" sz="1400" dirty="0"/>
          </a:p>
          <a:p>
            <a:pPr indent="0" marL="0">
              <a:buNone/>
            </a:pPr>
            <a:r>
              <a:rPr lang="en-US" sz="1400" b="1" dirty="0">
                <a:solidFill>
                  <a:srgbClr val="1F1A14"/>
                </a:solidFill>
              </a:rPr>
              <a:t>No mutation: </a:t>
            </a:r>
            <a:pPr indent="0" marL="0">
              <a:buNone/>
            </a:pPr>
            <a:r>
              <a:rPr lang="en-US" sz="1400" dirty="0">
                <a:solidFill>
                  <a:srgbClr val="1F1A14"/>
                </a:solidFill>
              </a:rPr>
              <a:t>extinct in 3 of 3 seeds: the failure-to-adapt baseline</a:t>
            </a:r>
            <a:endParaRPr lang="en-US" sz="1400" dirty="0"/>
          </a:p>
          <a:p>
            <a:pPr indent="0" marL="0">
              <a:buNone/>
            </a:pPr>
            <a:r>
              <a:rPr lang="en-US" sz="1400" dirty="0">
                <a:solidFill>
                  <a:srgbClr val="1F1A14"/>
                </a:solidFill>
              </a:rPr>
              <a:t> </a:t>
            </a:r>
            <a:endParaRPr lang="en-US" sz="1400" dirty="0"/>
          </a:p>
          <a:p>
            <a:pPr indent="0" marL="0">
              <a:buNone/>
            </a:pPr>
            <a:r>
              <a:rPr lang="en-US" sz="1400" b="1" dirty="0">
                <a:solidFill>
                  <a:srgbClr val="1F1A14"/>
                </a:solidFill>
              </a:rPr>
              <a:t>Clogging: </a:t>
            </a:r>
            <a:pPr indent="0" marL="0">
              <a:buNone/>
            </a:pPr>
            <a:r>
              <a:rPr lang="en-US" sz="1400" dirty="0">
                <a:solidFill>
                  <a:srgbClr val="1F1A14"/>
                </a:solidFill>
              </a:rPr>
              <a:t>grass filled the map and blocked births, an engine artefact</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2286000"/>
            <a:ext cx="10881360" cy="1188720"/>
          </a:xfrm>
          <a:prstGeom prst="rect">
            <a:avLst/>
          </a:prstGeom>
          <a:noFill/>
          <a:ln/>
        </p:spPr>
        <p:txBody>
          <a:bodyPr wrap="square" rtlCol="0"/>
          <a:lstStyle/>
          <a:p>
            <a:pPr algn="l" indent="0" marL="0">
              <a:buNone/>
            </a:pPr>
            <a:r>
              <a:rPr lang="en-US" sz="4000" b="1" dirty="0">
                <a:solidFill>
                  <a:schemeClr val="bg1"/>
                </a:solidFill>
              </a:rPr>
              <a:t>What we changed</a:t>
            </a:r>
            <a:endParaRPr lang="en-US" sz="4000" dirty="0"/>
          </a:p>
        </p:txBody>
      </p:sp>
      <p:sp>
        <p:nvSpPr>
          <p:cNvPr id="3" name="Text 0"/>
          <p:cNvSpPr/>
          <p:nvPr>
            <p:ph idx="101" type="body" hasCustomPrompt="1"/>
          </p:nvPr>
        </p:nvSpPr>
        <p:spPr>
          <a:xfrm>
            <a:off x="640080" y="3566160"/>
            <a:ext cx="10881360" cy="1097280"/>
          </a:xfrm>
          <a:prstGeom prst="rect">
            <a:avLst/>
          </a:prstGeom>
          <a:noFill/>
          <a:ln/>
        </p:spPr>
        <p:txBody>
          <a:bodyPr wrap="square" rtlCol="0"/>
          <a:lstStyle/>
          <a:p>
            <a:pPr indent="0" marL="0">
              <a:buNone/>
            </a:pPr>
            <a:r>
              <a:rPr lang="en-US" sz="2000" dirty="0">
                <a:solidFill>
                  <a:schemeClr val="accent1"/>
                </a:solidFill>
              </a:rPr>
              <a:t>Each change opens a road to collapse and adds an escape from it. All default to off.</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Each member feature opens a route and an escape</a:t>
            </a:r>
            <a:endParaRPr lang="en-US" sz="3000" dirty="0"/>
          </a:p>
        </p:txBody>
      </p:sp>
      <p:sp>
        <p:nvSpPr>
          <p:cNvPr id="3" name="Shape 1"/>
          <p:cNvSpPr/>
          <p:nvPr/>
        </p:nvSpPr>
        <p:spPr>
          <a:xfrm>
            <a:off x="548640" y="1280160"/>
            <a:ext cx="5440680" cy="2286000"/>
          </a:xfrm>
          <a:prstGeom prst="roundRect">
            <a:avLst>
              <a:gd name="adj" fmla="val 4800"/>
            </a:avLst>
          </a:prstGeom>
          <a:solidFill>
            <a:srgbClr val="F1F3F2"/>
          </a:solidFill>
          <a:ln w="12700">
            <a:solidFill>
              <a:srgbClr val="F1F3F2"/>
            </a:solidFill>
            <a:prstDash val="solid"/>
          </a:ln>
        </p:spPr>
      </p:sp>
      <p:sp>
        <p:nvSpPr>
          <p:cNvPr id="4" name="Text 2"/>
          <p:cNvSpPr txBox="1"/>
          <p:nvPr/>
        </p:nvSpPr>
        <p:spPr>
          <a:xfrm>
            <a:off x="822960" y="1463040"/>
            <a:ext cx="3200400" cy="457200"/>
          </a:xfrm>
          <a:prstGeom prst="rect">
            <a:avLst/>
          </a:prstGeom>
          <a:noFill/>
          <a:ln/>
        </p:spPr>
        <p:txBody>
          <a:bodyPr wrap="square" lIns="0" tIns="0" rIns="0" bIns="0" rtlCol="0" anchor="t"/>
          <a:lstStyle/>
          <a:p>
            <a:pPr indent="0" marL="0">
              <a:buNone/>
            </a:pPr>
            <a:r>
              <a:rPr lang="en-US" sz="2100" b="1" dirty="0">
                <a:solidFill>
                  <a:srgbClr val="7A5C3E"/>
                </a:solidFill>
                <a:latin typeface="Cambria" pitchFamily="34" charset="0"/>
                <a:ea typeface="Cambria" pitchFamily="34" charset="-122"/>
                <a:cs typeface="Cambria" pitchFamily="34" charset="-120"/>
              </a:rPr>
              <a:t>Horn cell</a:t>
            </a:r>
            <a:endParaRPr lang="en-US" sz="2100" dirty="0"/>
          </a:p>
        </p:txBody>
      </p:sp>
      <p:sp>
        <p:nvSpPr>
          <p:cNvPr id="5" name="Text 3"/>
          <p:cNvSpPr txBox="1"/>
          <p:nvPr/>
        </p:nvSpPr>
        <p:spPr>
          <a:xfrm>
            <a:off x="3840480" y="1527048"/>
            <a:ext cx="1920240" cy="365760"/>
          </a:xfrm>
          <a:prstGeom prst="rect">
            <a:avLst/>
          </a:prstGeom>
          <a:noFill/>
          <a:ln/>
        </p:spPr>
        <p:txBody>
          <a:bodyPr wrap="square" lIns="0" tIns="0" rIns="0" bIns="0" rtlCol="0" anchor="t"/>
          <a:lstStyle/>
          <a:p>
            <a:pPr algn="r" indent="0" marL="0">
              <a:buNone/>
            </a:pPr>
            <a:r>
              <a:rPr lang="en-US" sz="1300" dirty="0">
                <a:solidFill>
                  <a:srgbClr val="666666"/>
                </a:solidFill>
              </a:rPr>
              <a:t>Vimbai</a:t>
            </a:r>
            <a:endParaRPr lang="en-US" sz="1300" dirty="0"/>
          </a:p>
        </p:txBody>
      </p:sp>
      <p:sp>
        <p:nvSpPr>
          <p:cNvPr id="6" name="Text 4"/>
          <p:cNvSpPr txBox="1"/>
          <p:nvPr/>
        </p:nvSpPr>
        <p:spPr>
          <a:xfrm>
            <a:off x="822960" y="2057400"/>
            <a:ext cx="4937760" cy="640080"/>
          </a:xfrm>
          <a:prstGeom prst="rect">
            <a:avLst/>
          </a:prstGeom>
          <a:noFill/>
          <a:ln/>
        </p:spPr>
        <p:txBody>
          <a:bodyPr wrap="square" lIns="0" tIns="0" rIns="0" bIns="0" rtlCol="0" anchor="t"/>
          <a:lstStyle/>
          <a:p>
            <a:pPr indent="0" marL="0">
              <a:buNone/>
            </a:pPr>
            <a:r>
              <a:rPr lang="en-US" sz="1500" b="1" dirty="0">
                <a:solidFill>
                  <a:srgbClr val="B23A3A"/>
                </a:solidFill>
              </a:rPr>
              <a:t>Route  </a:t>
            </a:r>
            <a:pPr indent="0" marL="0">
              <a:buNone/>
            </a:pPr>
            <a:r>
              <a:rPr lang="en-US" sz="1500" dirty="0">
                <a:solidFill>
                  <a:srgbClr val="1F1A14"/>
                </a:solidFill>
              </a:rPr>
              <a:t>Horned rhinos trample plants and food around them</a:t>
            </a:r>
            <a:endParaRPr lang="en-US" sz="1500" dirty="0"/>
          </a:p>
        </p:txBody>
      </p:sp>
      <p:sp>
        <p:nvSpPr>
          <p:cNvPr id="7" name="Text 5"/>
          <p:cNvSpPr txBox="1"/>
          <p:nvPr/>
        </p:nvSpPr>
        <p:spPr>
          <a:xfrm>
            <a:off x="822960" y="2697480"/>
            <a:ext cx="4937760" cy="731520"/>
          </a:xfrm>
          <a:prstGeom prst="rect">
            <a:avLst/>
          </a:prstGeom>
          <a:noFill/>
          <a:ln/>
        </p:spPr>
        <p:txBody>
          <a:bodyPr wrap="square" lIns="0" tIns="0" rIns="0" bIns="0" rtlCol="0" anchor="t"/>
          <a:lstStyle/>
          <a:p>
            <a:pPr indent="0" marL="0">
              <a:buNone/>
            </a:pPr>
            <a:r>
              <a:rPr lang="en-US" sz="1500" b="1" dirty="0">
                <a:solidFill>
                  <a:srgbClr val="4E7D32"/>
                </a:solidFill>
              </a:rPr>
              <a:t>Escape  </a:t>
            </a:r>
            <a:pPr indent="0" marL="0">
              <a:buNone/>
            </a:pPr>
            <a:r>
              <a:rPr lang="en-US" sz="1500" dirty="0">
                <a:solidFill>
                  <a:srgbClr val="1F1A14"/>
                </a:solidFill>
              </a:rPr>
              <a:t>Immune to killers; gores attackers 50% per tick</a:t>
            </a:r>
            <a:endParaRPr lang="en-US" sz="1500" dirty="0"/>
          </a:p>
        </p:txBody>
      </p:sp>
      <p:sp>
        <p:nvSpPr>
          <p:cNvPr id="8" name="Shape 6"/>
          <p:cNvSpPr/>
          <p:nvPr/>
        </p:nvSpPr>
        <p:spPr>
          <a:xfrm>
            <a:off x="6172200" y="1280160"/>
            <a:ext cx="5440680" cy="2286000"/>
          </a:xfrm>
          <a:prstGeom prst="roundRect">
            <a:avLst>
              <a:gd name="adj" fmla="val 4800"/>
            </a:avLst>
          </a:prstGeom>
          <a:solidFill>
            <a:srgbClr val="F1F3F2"/>
          </a:solidFill>
          <a:ln w="12700">
            <a:solidFill>
              <a:srgbClr val="F1F3F2"/>
            </a:solidFill>
            <a:prstDash val="solid"/>
          </a:ln>
        </p:spPr>
      </p:sp>
      <p:sp>
        <p:nvSpPr>
          <p:cNvPr id="9" name="Text 7"/>
          <p:cNvSpPr txBox="1"/>
          <p:nvPr/>
        </p:nvSpPr>
        <p:spPr>
          <a:xfrm>
            <a:off x="6446520" y="1463040"/>
            <a:ext cx="3200400" cy="457200"/>
          </a:xfrm>
          <a:prstGeom prst="rect">
            <a:avLst/>
          </a:prstGeom>
          <a:noFill/>
          <a:ln/>
        </p:spPr>
        <p:txBody>
          <a:bodyPr wrap="square" lIns="0" tIns="0" rIns="0" bIns="0" rtlCol="0" anchor="t"/>
          <a:lstStyle/>
          <a:p>
            <a:pPr indent="0" marL="0">
              <a:buNone/>
            </a:pPr>
            <a:r>
              <a:rPr lang="en-US" sz="2100" b="1" dirty="0">
                <a:solidFill>
                  <a:srgbClr val="1F1A14"/>
                </a:solidFill>
                <a:latin typeface="Cambria" pitchFamily="34" charset="0"/>
                <a:ea typeface="Cambria" pitchFamily="34" charset="-122"/>
                <a:cs typeface="Cambria" pitchFamily="34" charset="-120"/>
              </a:rPr>
              <a:t>Stripe cell</a:t>
            </a:r>
            <a:endParaRPr lang="en-US" sz="2100" dirty="0"/>
          </a:p>
        </p:txBody>
      </p:sp>
      <p:sp>
        <p:nvSpPr>
          <p:cNvPr id="10" name="Text 8"/>
          <p:cNvSpPr txBox="1"/>
          <p:nvPr/>
        </p:nvSpPr>
        <p:spPr>
          <a:xfrm>
            <a:off x="9464040" y="1527048"/>
            <a:ext cx="1920240" cy="365760"/>
          </a:xfrm>
          <a:prstGeom prst="rect">
            <a:avLst/>
          </a:prstGeom>
          <a:noFill/>
          <a:ln/>
        </p:spPr>
        <p:txBody>
          <a:bodyPr wrap="square" lIns="0" tIns="0" rIns="0" bIns="0" rtlCol="0" anchor="t"/>
          <a:lstStyle/>
          <a:p>
            <a:pPr algn="r" indent="0" marL="0">
              <a:buNone/>
            </a:pPr>
            <a:r>
              <a:rPr lang="en-US" sz="1300" dirty="0">
                <a:solidFill>
                  <a:srgbClr val="666666"/>
                </a:solidFill>
              </a:rPr>
              <a:t>Moreblessing</a:t>
            </a:r>
            <a:endParaRPr lang="en-US" sz="1300" dirty="0"/>
          </a:p>
        </p:txBody>
      </p:sp>
      <p:sp>
        <p:nvSpPr>
          <p:cNvPr id="11" name="Text 9"/>
          <p:cNvSpPr txBox="1"/>
          <p:nvPr/>
        </p:nvSpPr>
        <p:spPr>
          <a:xfrm>
            <a:off x="6446520" y="2057400"/>
            <a:ext cx="4937760" cy="640080"/>
          </a:xfrm>
          <a:prstGeom prst="rect">
            <a:avLst/>
          </a:prstGeom>
          <a:noFill/>
          <a:ln/>
        </p:spPr>
        <p:txBody>
          <a:bodyPr wrap="square" lIns="0" tIns="0" rIns="0" bIns="0" rtlCol="0" anchor="t"/>
          <a:lstStyle/>
          <a:p>
            <a:pPr indent="0" marL="0">
              <a:buNone/>
            </a:pPr>
            <a:r>
              <a:rPr lang="en-US" sz="1500" b="1" dirty="0">
                <a:solidFill>
                  <a:srgbClr val="B23A3A"/>
                </a:solidFill>
              </a:rPr>
              <a:t>Route  </a:t>
            </a:r>
            <a:pPr indent="0" marL="0">
              <a:buNone/>
            </a:pPr>
            <a:r>
              <a:rPr lang="en-US" sz="1500" dirty="0">
                <a:solidFill>
                  <a:srgbClr val="1F1A14"/>
                </a:solidFill>
              </a:rPr>
              <a:t>More surviving zebras means more grazing pressure</a:t>
            </a:r>
            <a:endParaRPr lang="en-US" sz="1500" dirty="0"/>
          </a:p>
        </p:txBody>
      </p:sp>
      <p:sp>
        <p:nvSpPr>
          <p:cNvPr id="12" name="Text 10"/>
          <p:cNvSpPr txBox="1"/>
          <p:nvPr/>
        </p:nvSpPr>
        <p:spPr>
          <a:xfrm>
            <a:off x="6446520" y="2697480"/>
            <a:ext cx="4937760" cy="731520"/>
          </a:xfrm>
          <a:prstGeom prst="rect">
            <a:avLst/>
          </a:prstGeom>
          <a:noFill/>
          <a:ln/>
        </p:spPr>
        <p:txBody>
          <a:bodyPr wrap="square" lIns="0" tIns="0" rIns="0" bIns="0" rtlCol="0" anchor="t"/>
          <a:lstStyle/>
          <a:p>
            <a:pPr indent="0" marL="0">
              <a:buNone/>
            </a:pPr>
            <a:r>
              <a:rPr lang="en-US" sz="1500" b="1" dirty="0">
                <a:solidFill>
                  <a:srgbClr val="4E7D32"/>
                </a:solidFill>
              </a:rPr>
              <a:t>Escape  </a:t>
            </a:r>
            <a:pPr indent="0" marL="0">
              <a:buNone/>
            </a:pPr>
            <a:r>
              <a:rPr lang="en-US" sz="1500" dirty="0">
                <a:solidFill>
                  <a:srgbClr val="1F1A14"/>
                </a:solidFill>
              </a:rPr>
              <a:t>Leopard eyes miss a striped zebra 25% per striped neighbour, up to 85%</a:t>
            </a:r>
            <a:endParaRPr lang="en-US" sz="1500" dirty="0"/>
          </a:p>
        </p:txBody>
      </p:sp>
      <p:sp>
        <p:nvSpPr>
          <p:cNvPr id="13" name="Shape 11"/>
          <p:cNvSpPr/>
          <p:nvPr/>
        </p:nvSpPr>
        <p:spPr>
          <a:xfrm>
            <a:off x="548640" y="3794760"/>
            <a:ext cx="5440680" cy="2286000"/>
          </a:xfrm>
          <a:prstGeom prst="roundRect">
            <a:avLst>
              <a:gd name="adj" fmla="val 4800"/>
            </a:avLst>
          </a:prstGeom>
          <a:solidFill>
            <a:srgbClr val="F1F3F2"/>
          </a:solidFill>
          <a:ln w="12700">
            <a:solidFill>
              <a:srgbClr val="F1F3F2"/>
            </a:solidFill>
            <a:prstDash val="solid"/>
          </a:ln>
        </p:spPr>
      </p:sp>
      <p:sp>
        <p:nvSpPr>
          <p:cNvPr id="14" name="Text 12"/>
          <p:cNvSpPr txBox="1"/>
          <p:nvPr/>
        </p:nvSpPr>
        <p:spPr>
          <a:xfrm>
            <a:off x="822960" y="3977640"/>
            <a:ext cx="3200400" cy="457200"/>
          </a:xfrm>
          <a:prstGeom prst="rect">
            <a:avLst/>
          </a:prstGeom>
          <a:noFill/>
          <a:ln/>
        </p:spPr>
        <p:txBody>
          <a:bodyPr wrap="square" lIns="0" tIns="0" rIns="0" bIns="0" rtlCol="0" anchor="t"/>
          <a:lstStyle/>
          <a:p>
            <a:pPr indent="0" marL="0">
              <a:buNone/>
            </a:pPr>
            <a:r>
              <a:rPr lang="en-US" sz="2100" b="1" dirty="0">
                <a:solidFill>
                  <a:srgbClr val="D98E04"/>
                </a:solidFill>
                <a:latin typeface="Cambria" pitchFamily="34" charset="0"/>
                <a:ea typeface="Cambria" pitchFamily="34" charset="-122"/>
                <a:cs typeface="Cambria" pitchFamily="34" charset="-120"/>
              </a:rPr>
              <a:t>Cache cell</a:t>
            </a:r>
            <a:endParaRPr lang="en-US" sz="2100" dirty="0"/>
          </a:p>
        </p:txBody>
      </p:sp>
      <p:sp>
        <p:nvSpPr>
          <p:cNvPr id="15" name="Text 13"/>
          <p:cNvSpPr txBox="1"/>
          <p:nvPr/>
        </p:nvSpPr>
        <p:spPr>
          <a:xfrm>
            <a:off x="3840480" y="4041648"/>
            <a:ext cx="1920240" cy="365760"/>
          </a:xfrm>
          <a:prstGeom prst="rect">
            <a:avLst/>
          </a:prstGeom>
          <a:noFill/>
          <a:ln/>
        </p:spPr>
        <p:txBody>
          <a:bodyPr wrap="square" lIns="0" tIns="0" rIns="0" bIns="0" rtlCol="0" anchor="t"/>
          <a:lstStyle/>
          <a:p>
            <a:pPr algn="r" indent="0" marL="0">
              <a:buNone/>
            </a:pPr>
            <a:r>
              <a:rPr lang="en-US" sz="1300" dirty="0">
                <a:solidFill>
                  <a:srgbClr val="666666"/>
                </a:solidFill>
              </a:rPr>
              <a:t>Ashley</a:t>
            </a:r>
            <a:endParaRPr lang="en-US" sz="1300" dirty="0"/>
          </a:p>
        </p:txBody>
      </p:sp>
      <p:sp>
        <p:nvSpPr>
          <p:cNvPr id="16" name="Text 14"/>
          <p:cNvSpPr txBox="1"/>
          <p:nvPr/>
        </p:nvSpPr>
        <p:spPr>
          <a:xfrm>
            <a:off x="822960" y="4572000"/>
            <a:ext cx="4937760" cy="640080"/>
          </a:xfrm>
          <a:prstGeom prst="rect">
            <a:avLst/>
          </a:prstGeom>
          <a:noFill/>
          <a:ln/>
        </p:spPr>
        <p:txBody>
          <a:bodyPr wrap="square" lIns="0" tIns="0" rIns="0" bIns="0" rtlCol="0" anchor="t"/>
          <a:lstStyle/>
          <a:p>
            <a:pPr indent="0" marL="0">
              <a:buNone/>
            </a:pPr>
            <a:r>
              <a:rPr lang="en-US" sz="1500" b="1" dirty="0">
                <a:solidFill>
                  <a:srgbClr val="B23A3A"/>
                </a:solidFill>
              </a:rPr>
              <a:t>Route  </a:t>
            </a:r>
            <a:pPr indent="0" marL="0">
              <a:buNone/>
            </a:pPr>
            <a:r>
              <a:rPr lang="en-US" sz="1500" dirty="0">
                <a:solidFill>
                  <a:srgbClr val="1F1A14"/>
                </a:solidFill>
              </a:rPr>
              <a:t>Banking food delays breeding</a:t>
            </a:r>
            <a:endParaRPr lang="en-US" sz="1500" dirty="0"/>
          </a:p>
        </p:txBody>
      </p:sp>
      <p:sp>
        <p:nvSpPr>
          <p:cNvPr id="17" name="Text 15"/>
          <p:cNvSpPr txBox="1"/>
          <p:nvPr/>
        </p:nvSpPr>
        <p:spPr>
          <a:xfrm>
            <a:off x="822960" y="5212080"/>
            <a:ext cx="4937760" cy="731520"/>
          </a:xfrm>
          <a:prstGeom prst="rect">
            <a:avLst/>
          </a:prstGeom>
          <a:noFill/>
          <a:ln/>
        </p:spPr>
        <p:txBody>
          <a:bodyPr wrap="square" lIns="0" tIns="0" rIns="0" bIns="0" rtlCol="0" anchor="t"/>
          <a:lstStyle/>
          <a:p>
            <a:pPr indent="0" marL="0">
              <a:buNone/>
            </a:pPr>
            <a:r>
              <a:rPr lang="en-US" sz="1500" b="1" dirty="0">
                <a:solidFill>
                  <a:srgbClr val="4E7D32"/>
                </a:solidFill>
              </a:rPr>
              <a:t>Escape  </a:t>
            </a:r>
            <a:pPr indent="0" marL="0">
              <a:buNone/>
            </a:pPr>
            <a:r>
              <a:rPr lang="en-US" sz="1500" dirty="0">
                <a:solidFill>
                  <a:srgbClr val="1F1A14"/>
                </a:solidFill>
              </a:rPr>
              <a:t>Surplus banked near trees, spent automatically to stave off starvation</a:t>
            </a:r>
            <a:endParaRPr lang="en-US" sz="1500" dirty="0"/>
          </a:p>
        </p:txBody>
      </p:sp>
      <p:sp>
        <p:nvSpPr>
          <p:cNvPr id="18" name="Shape 16"/>
          <p:cNvSpPr/>
          <p:nvPr/>
        </p:nvSpPr>
        <p:spPr>
          <a:xfrm>
            <a:off x="6172200" y="3794760"/>
            <a:ext cx="5440680" cy="2286000"/>
          </a:xfrm>
          <a:prstGeom prst="roundRect">
            <a:avLst>
              <a:gd name="adj" fmla="val 4800"/>
            </a:avLst>
          </a:prstGeom>
          <a:solidFill>
            <a:srgbClr val="F1F3F2"/>
          </a:solidFill>
          <a:ln w="12700">
            <a:solidFill>
              <a:srgbClr val="F1F3F2"/>
            </a:solidFill>
            <a:prstDash val="solid"/>
          </a:ln>
        </p:spPr>
      </p:sp>
      <p:sp>
        <p:nvSpPr>
          <p:cNvPr id="19" name="Text 17"/>
          <p:cNvSpPr txBox="1"/>
          <p:nvPr/>
        </p:nvSpPr>
        <p:spPr>
          <a:xfrm>
            <a:off x="6446520" y="3977640"/>
            <a:ext cx="3200400" cy="457200"/>
          </a:xfrm>
          <a:prstGeom prst="rect">
            <a:avLst/>
          </a:prstGeom>
          <a:noFill/>
          <a:ln/>
        </p:spPr>
        <p:txBody>
          <a:bodyPr wrap="square" lIns="0" tIns="0" rIns="0" bIns="0" rtlCol="0" anchor="t"/>
          <a:lstStyle/>
          <a:p>
            <a:pPr indent="0" marL="0">
              <a:buNone/>
            </a:pPr>
            <a:r>
              <a:rPr lang="en-US" sz="2100" b="1" dirty="0">
                <a:solidFill>
                  <a:srgbClr val="2F6FA8"/>
                </a:solidFill>
                <a:latin typeface="Cambria" pitchFamily="34" charset="0"/>
                <a:ea typeface="Cambria" pitchFamily="34" charset="-122"/>
                <a:cs typeface="Cambria" pitchFamily="34" charset="-120"/>
              </a:rPr>
              <a:t>Soil water</a:t>
            </a:r>
            <a:endParaRPr lang="en-US" sz="2100" dirty="0"/>
          </a:p>
        </p:txBody>
      </p:sp>
      <p:sp>
        <p:nvSpPr>
          <p:cNvPr id="20" name="Text 18"/>
          <p:cNvSpPr txBox="1"/>
          <p:nvPr/>
        </p:nvSpPr>
        <p:spPr>
          <a:xfrm>
            <a:off x="9464040" y="4041648"/>
            <a:ext cx="1920240" cy="365760"/>
          </a:xfrm>
          <a:prstGeom prst="rect">
            <a:avLst/>
          </a:prstGeom>
          <a:noFill/>
          <a:ln/>
        </p:spPr>
        <p:txBody>
          <a:bodyPr wrap="square" lIns="0" tIns="0" rIns="0" bIns="0" rtlCol="0" anchor="t"/>
          <a:lstStyle/>
          <a:p>
            <a:pPr algn="r" indent="0" marL="0">
              <a:buNone/>
            </a:pPr>
            <a:r>
              <a:rPr lang="en-US" sz="1300" dirty="0">
                <a:solidFill>
                  <a:srgbClr val="666666"/>
                </a:solidFill>
              </a:rPr>
              <a:t>Fourth member</a:t>
            </a:r>
            <a:endParaRPr lang="en-US" sz="1300" dirty="0"/>
          </a:p>
        </p:txBody>
      </p:sp>
      <p:sp>
        <p:nvSpPr>
          <p:cNvPr id="21" name="Text 19"/>
          <p:cNvSpPr txBox="1"/>
          <p:nvPr/>
        </p:nvSpPr>
        <p:spPr>
          <a:xfrm>
            <a:off x="6446520" y="4572000"/>
            <a:ext cx="4937760" cy="640080"/>
          </a:xfrm>
          <a:prstGeom prst="rect">
            <a:avLst/>
          </a:prstGeom>
          <a:noFill/>
          <a:ln/>
        </p:spPr>
        <p:txBody>
          <a:bodyPr wrap="square" lIns="0" tIns="0" rIns="0" bIns="0" rtlCol="0" anchor="t"/>
          <a:lstStyle/>
          <a:p>
            <a:pPr indent="0" marL="0">
              <a:buNone/>
            </a:pPr>
            <a:r>
              <a:rPr lang="en-US" sz="1500" b="1" dirty="0">
                <a:solidFill>
                  <a:srgbClr val="B23A3A"/>
                </a:solidFill>
              </a:rPr>
              <a:t>Route  </a:t>
            </a:r>
            <a:pPr indent="0" marL="0">
              <a:buNone/>
            </a:pPr>
            <a:r>
              <a:rPr lang="en-US" sz="1500" dirty="0">
                <a:solidFill>
                  <a:srgbClr val="1F1A14"/>
                </a:solidFill>
              </a:rPr>
              <a:t>Grass needs water to produce; dry soil recovers slowly</a:t>
            </a:r>
            <a:endParaRPr lang="en-US" sz="1500" dirty="0"/>
          </a:p>
        </p:txBody>
      </p:sp>
      <p:sp>
        <p:nvSpPr>
          <p:cNvPr id="22" name="Text 20"/>
          <p:cNvSpPr txBox="1"/>
          <p:nvPr/>
        </p:nvSpPr>
        <p:spPr>
          <a:xfrm>
            <a:off x="6446520" y="5212080"/>
            <a:ext cx="4937760" cy="731520"/>
          </a:xfrm>
          <a:prstGeom prst="rect">
            <a:avLst/>
          </a:prstGeom>
          <a:noFill/>
          <a:ln/>
        </p:spPr>
        <p:txBody>
          <a:bodyPr wrap="square" lIns="0" tIns="0" rIns="0" bIns="0" rtlCol="0" anchor="t"/>
          <a:lstStyle/>
          <a:p>
            <a:pPr indent="0" marL="0">
              <a:buNone/>
            </a:pPr>
            <a:r>
              <a:rPr lang="en-US" sz="1500" b="1" dirty="0">
                <a:solidFill>
                  <a:srgbClr val="4E7D32"/>
                </a:solidFill>
              </a:rPr>
              <a:t>Escape  </a:t>
            </a:r>
            <a:pPr indent="0" marL="0">
              <a:buNone/>
            </a:pPr>
            <a:r>
              <a:rPr lang="en-US" sz="1500" dirty="0">
                <a:solidFill>
                  <a:srgbClr val="1F1A14"/>
                </a:solidFill>
              </a:rPr>
              <a:t>Rain refills soil; deep-rooted bushes take over freed water</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Shared rules turned the map into a food web</a:t>
            </a:r>
            <a:endParaRPr lang="en-US" sz="3000" dirty="0"/>
          </a:p>
        </p:txBody>
      </p:sp>
      <p:sp>
        <p:nvSpPr>
          <p:cNvPr id="3" name="Shape 1"/>
          <p:cNvSpPr/>
          <p:nvPr/>
        </p:nvSpPr>
        <p:spPr>
          <a:xfrm>
            <a:off x="548640" y="1325880"/>
            <a:ext cx="3520440" cy="2194560"/>
          </a:xfrm>
          <a:prstGeom prst="roundRect">
            <a:avLst>
              <a:gd name="adj" fmla="val 5000"/>
            </a:avLst>
          </a:prstGeom>
          <a:solidFill>
            <a:srgbClr val="F1F3F2"/>
          </a:solidFill>
          <a:ln w="12700">
            <a:solidFill>
              <a:srgbClr val="F1F3F2"/>
            </a:solidFill>
            <a:prstDash val="solid"/>
          </a:ln>
        </p:spPr>
      </p:sp>
      <p:sp>
        <p:nvSpPr>
          <p:cNvPr id="4" name="Shape 2"/>
          <p:cNvSpPr/>
          <p:nvPr/>
        </p:nvSpPr>
        <p:spPr>
          <a:xfrm>
            <a:off x="822960" y="1600200"/>
            <a:ext cx="457200" cy="457200"/>
          </a:xfrm>
          <a:prstGeom prst="ellipse">
            <a:avLst/>
          </a:prstGeom>
          <a:solidFill>
            <a:srgbClr val="D98E04"/>
          </a:solidFill>
          <a:ln w="12700">
            <a:solidFill>
              <a:srgbClr val="D98E04"/>
            </a:solidFill>
            <a:prstDash val="solid"/>
          </a:ln>
        </p:spPr>
      </p:sp>
      <p:sp>
        <p:nvSpPr>
          <p:cNvPr id="5" name="Text 3"/>
          <p:cNvSpPr txBox="1"/>
          <p:nvPr/>
        </p:nvSpPr>
        <p:spPr>
          <a:xfrm>
            <a:off x="822960"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822960" y="2194560"/>
            <a:ext cx="3017520" cy="411480"/>
          </a:xfrm>
          <a:prstGeom prst="rect">
            <a:avLst/>
          </a:prstGeom>
          <a:noFill/>
          <a:ln/>
        </p:spPr>
        <p:txBody>
          <a:bodyPr wrap="square" lIns="0" tIns="0" rIns="0" bIns="0" rtlCol="0" anchor="t"/>
          <a:lstStyle/>
          <a:p>
            <a:pPr indent="0" marL="0">
              <a:buNone/>
            </a:pPr>
            <a:r>
              <a:rPr lang="en-US" sz="1900" b="1" dirty="0">
                <a:solidFill>
                  <a:srgbClr val="1F1A14"/>
                </a:solidFill>
                <a:latin typeface="Cambria" pitchFamily="34" charset="0"/>
                <a:ea typeface="Cambria" pitchFamily="34" charset="-122"/>
                <a:cs typeface="Cambria" pitchFamily="34" charset="-120"/>
              </a:rPr>
              <a:t>Worse food</a:t>
            </a:r>
            <a:endParaRPr lang="en-US" sz="1900" dirty="0"/>
          </a:p>
        </p:txBody>
      </p:sp>
      <p:sp>
        <p:nvSpPr>
          <p:cNvPr id="7" name="Text 5"/>
          <p:cNvSpPr txBox="1"/>
          <p:nvPr/>
        </p:nvSpPr>
        <p:spPr>
          <a:xfrm>
            <a:off x="822960" y="2651760"/>
            <a:ext cx="3017520" cy="777240"/>
          </a:xfrm>
          <a:prstGeom prst="rect">
            <a:avLst/>
          </a:prstGeom>
          <a:noFill/>
          <a:ln/>
        </p:spPr>
        <p:txBody>
          <a:bodyPr wrap="square" lIns="0" tIns="0" rIns="0" bIns="0" rtlCol="0" anchor="t"/>
          <a:lstStyle/>
          <a:p>
            <a:pPr indent="0" marL="0">
              <a:buNone/>
            </a:pPr>
            <a:r>
              <a:rPr lang="en-US" sz="1400" dirty="0">
                <a:solidFill>
                  <a:srgbClr val="444444"/>
                </a:solidFill>
              </a:rPr>
              <a:t>Bush browse worth 0.35 of grass</a:t>
            </a:r>
            <a:endParaRPr lang="en-US" sz="1400" dirty="0"/>
          </a:p>
        </p:txBody>
      </p:sp>
      <p:sp>
        <p:nvSpPr>
          <p:cNvPr id="8" name="Shape 6"/>
          <p:cNvSpPr/>
          <p:nvPr/>
        </p:nvSpPr>
        <p:spPr>
          <a:xfrm>
            <a:off x="4297680" y="1325880"/>
            <a:ext cx="3520440" cy="2194560"/>
          </a:xfrm>
          <a:prstGeom prst="roundRect">
            <a:avLst>
              <a:gd name="adj" fmla="val 5000"/>
            </a:avLst>
          </a:prstGeom>
          <a:solidFill>
            <a:srgbClr val="F1F3F2"/>
          </a:solidFill>
          <a:ln w="12700">
            <a:solidFill>
              <a:srgbClr val="F1F3F2"/>
            </a:solidFill>
            <a:prstDash val="solid"/>
          </a:ln>
        </p:spPr>
      </p:sp>
      <p:sp>
        <p:nvSpPr>
          <p:cNvPr id="9" name="Shape 7"/>
          <p:cNvSpPr/>
          <p:nvPr/>
        </p:nvSpPr>
        <p:spPr>
          <a:xfrm>
            <a:off x="4572000" y="1600200"/>
            <a:ext cx="457200" cy="457200"/>
          </a:xfrm>
          <a:prstGeom prst="ellipse">
            <a:avLst/>
          </a:prstGeom>
          <a:solidFill>
            <a:srgbClr val="4E7D32"/>
          </a:solidFill>
          <a:ln w="12700">
            <a:solidFill>
              <a:srgbClr val="4E7D32"/>
            </a:solidFill>
            <a:prstDash val="solid"/>
          </a:ln>
        </p:spPr>
      </p:sp>
      <p:sp>
        <p:nvSpPr>
          <p:cNvPr id="10" name="Text 8"/>
          <p:cNvSpPr txBox="1"/>
          <p:nvPr/>
        </p:nvSpPr>
        <p:spPr>
          <a:xfrm>
            <a:off x="4572000"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1" name="Text 9"/>
          <p:cNvSpPr txBox="1"/>
          <p:nvPr/>
        </p:nvSpPr>
        <p:spPr>
          <a:xfrm>
            <a:off x="4572000" y="2194560"/>
            <a:ext cx="3017520" cy="411480"/>
          </a:xfrm>
          <a:prstGeom prst="rect">
            <a:avLst/>
          </a:prstGeom>
          <a:noFill/>
          <a:ln/>
        </p:spPr>
        <p:txBody>
          <a:bodyPr wrap="square" lIns="0" tIns="0" rIns="0" bIns="0" rtlCol="0" anchor="t"/>
          <a:lstStyle/>
          <a:p>
            <a:pPr indent="0" marL="0">
              <a:buNone/>
            </a:pPr>
            <a:r>
              <a:rPr lang="en-US" sz="1900" b="1" dirty="0">
                <a:solidFill>
                  <a:srgbClr val="1F1A14"/>
                </a:solidFill>
                <a:latin typeface="Cambria" pitchFamily="34" charset="0"/>
                <a:ea typeface="Cambria" pitchFamily="34" charset="-122"/>
                <a:cs typeface="Cambria" pitchFamily="34" charset="-120"/>
              </a:rPr>
              <a:t>Grazing</a:t>
            </a:r>
            <a:endParaRPr lang="en-US" sz="1900" dirty="0"/>
          </a:p>
        </p:txBody>
      </p:sp>
      <p:sp>
        <p:nvSpPr>
          <p:cNvPr id="12" name="Text 10"/>
          <p:cNvSpPr txBox="1"/>
          <p:nvPr/>
        </p:nvSpPr>
        <p:spPr>
          <a:xfrm>
            <a:off x="4572000" y="2651760"/>
            <a:ext cx="3017520" cy="777240"/>
          </a:xfrm>
          <a:prstGeom prst="rect">
            <a:avLst/>
          </a:prstGeom>
          <a:noFill/>
          <a:ln/>
        </p:spPr>
        <p:txBody>
          <a:bodyPr wrap="square" lIns="0" tIns="0" rIns="0" bIns="0" rtlCol="0" anchor="t"/>
          <a:lstStyle/>
          <a:p>
            <a:pPr indent="0" marL="0">
              <a:buNone/>
            </a:pPr>
            <a:r>
              <a:rPr lang="en-US" sz="1400" dirty="0">
                <a:solidFill>
                  <a:srgbClr val="444444"/>
                </a:solidFill>
              </a:rPr>
              <a:t>Mouths beside grass bite the plant (2% per tick)</a:t>
            </a:r>
            <a:endParaRPr lang="en-US" sz="1400" dirty="0"/>
          </a:p>
        </p:txBody>
      </p:sp>
      <p:sp>
        <p:nvSpPr>
          <p:cNvPr id="13" name="Shape 11"/>
          <p:cNvSpPr/>
          <p:nvPr/>
        </p:nvSpPr>
        <p:spPr>
          <a:xfrm>
            <a:off x="8046720" y="1325880"/>
            <a:ext cx="3520440" cy="2194560"/>
          </a:xfrm>
          <a:prstGeom prst="roundRect">
            <a:avLst>
              <a:gd name="adj" fmla="val 5000"/>
            </a:avLst>
          </a:prstGeom>
          <a:solidFill>
            <a:srgbClr val="F1F3F2"/>
          </a:solidFill>
          <a:ln w="12700">
            <a:solidFill>
              <a:srgbClr val="F1F3F2"/>
            </a:solidFill>
            <a:prstDash val="solid"/>
          </a:ln>
        </p:spPr>
      </p:sp>
      <p:sp>
        <p:nvSpPr>
          <p:cNvPr id="14" name="Shape 12"/>
          <p:cNvSpPr/>
          <p:nvPr/>
        </p:nvSpPr>
        <p:spPr>
          <a:xfrm>
            <a:off x="8321040" y="1600200"/>
            <a:ext cx="457200" cy="457200"/>
          </a:xfrm>
          <a:prstGeom prst="ellipse">
            <a:avLst/>
          </a:prstGeom>
          <a:solidFill>
            <a:srgbClr val="B23A3A"/>
          </a:solidFill>
          <a:ln w="12700">
            <a:solidFill>
              <a:srgbClr val="B23A3A"/>
            </a:solidFill>
            <a:prstDash val="solid"/>
          </a:ln>
        </p:spPr>
      </p:sp>
      <p:sp>
        <p:nvSpPr>
          <p:cNvPr id="15" name="Text 13"/>
          <p:cNvSpPr txBox="1"/>
          <p:nvPr/>
        </p:nvSpPr>
        <p:spPr>
          <a:xfrm>
            <a:off x="8321040"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6" name="Text 14"/>
          <p:cNvSpPr txBox="1"/>
          <p:nvPr/>
        </p:nvSpPr>
        <p:spPr>
          <a:xfrm>
            <a:off x="8321040" y="2194560"/>
            <a:ext cx="3017520" cy="411480"/>
          </a:xfrm>
          <a:prstGeom prst="rect">
            <a:avLst/>
          </a:prstGeom>
          <a:noFill/>
          <a:ln/>
        </p:spPr>
        <p:txBody>
          <a:bodyPr wrap="square" lIns="0" tIns="0" rIns="0" bIns="0" rtlCol="0" anchor="t"/>
          <a:lstStyle/>
          <a:p>
            <a:pPr indent="0" marL="0">
              <a:buNone/>
            </a:pPr>
            <a:r>
              <a:rPr lang="en-US" sz="1900" b="1" dirty="0">
                <a:solidFill>
                  <a:srgbClr val="1F1A14"/>
                </a:solidFill>
                <a:latin typeface="Cambria" pitchFamily="34" charset="0"/>
                <a:ea typeface="Cambria" pitchFamily="34" charset="-122"/>
                <a:cs typeface="Cambria" pitchFamily="34" charset="-120"/>
              </a:rPr>
              <a:t>Hunger</a:t>
            </a:r>
            <a:endParaRPr lang="en-US" sz="1900" dirty="0"/>
          </a:p>
        </p:txBody>
      </p:sp>
      <p:sp>
        <p:nvSpPr>
          <p:cNvPr id="17" name="Text 15"/>
          <p:cNvSpPr txBox="1"/>
          <p:nvPr/>
        </p:nvSpPr>
        <p:spPr>
          <a:xfrm>
            <a:off x="8321040" y="2651760"/>
            <a:ext cx="3017520" cy="777240"/>
          </a:xfrm>
          <a:prstGeom prst="rect">
            <a:avLst/>
          </a:prstGeom>
          <a:noFill/>
          <a:ln/>
        </p:spPr>
        <p:txBody>
          <a:bodyPr wrap="square" lIns="0" tIns="0" rIns="0" bIns="0" rtlCol="0" anchor="t"/>
          <a:lstStyle/>
          <a:p>
            <a:pPr indent="0" marL="0">
              <a:buNone/>
            </a:pPr>
            <a:r>
              <a:rPr lang="en-US" sz="1400" dirty="0">
                <a:solidFill>
                  <a:srgbClr val="444444"/>
                </a:solidFill>
              </a:rPr>
              <a:t>Pay 1 food every 80 ticks; die after 10 misses</a:t>
            </a:r>
            <a:endParaRPr lang="en-US" sz="1400" dirty="0"/>
          </a:p>
        </p:txBody>
      </p:sp>
      <p:sp>
        <p:nvSpPr>
          <p:cNvPr id="18" name="Shape 16"/>
          <p:cNvSpPr/>
          <p:nvPr/>
        </p:nvSpPr>
        <p:spPr>
          <a:xfrm>
            <a:off x="548640" y="3749040"/>
            <a:ext cx="3520440" cy="2194560"/>
          </a:xfrm>
          <a:prstGeom prst="roundRect">
            <a:avLst>
              <a:gd name="adj" fmla="val 5000"/>
            </a:avLst>
          </a:prstGeom>
          <a:solidFill>
            <a:srgbClr val="F1F3F2"/>
          </a:solidFill>
          <a:ln w="12700">
            <a:solidFill>
              <a:srgbClr val="F1F3F2"/>
            </a:solidFill>
            <a:prstDash val="solid"/>
          </a:ln>
        </p:spPr>
      </p:sp>
      <p:sp>
        <p:nvSpPr>
          <p:cNvPr id="19" name="Shape 17"/>
          <p:cNvSpPr/>
          <p:nvPr/>
        </p:nvSpPr>
        <p:spPr>
          <a:xfrm>
            <a:off x="822960" y="4023360"/>
            <a:ext cx="457200" cy="457200"/>
          </a:xfrm>
          <a:prstGeom prst="ellipse">
            <a:avLst/>
          </a:prstGeom>
          <a:solidFill>
            <a:srgbClr val="7A5C3E"/>
          </a:solidFill>
          <a:ln w="12700">
            <a:solidFill>
              <a:srgbClr val="7A5C3E"/>
            </a:solidFill>
            <a:prstDash val="solid"/>
          </a:ln>
        </p:spPr>
      </p:sp>
      <p:sp>
        <p:nvSpPr>
          <p:cNvPr id="20" name="Text 18"/>
          <p:cNvSpPr txBox="1"/>
          <p:nvPr/>
        </p:nvSpPr>
        <p:spPr>
          <a:xfrm>
            <a:off x="822960" y="40233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1" name="Text 19"/>
          <p:cNvSpPr txBox="1"/>
          <p:nvPr/>
        </p:nvSpPr>
        <p:spPr>
          <a:xfrm>
            <a:off x="822960" y="4617720"/>
            <a:ext cx="3017520" cy="411480"/>
          </a:xfrm>
          <a:prstGeom prst="rect">
            <a:avLst/>
          </a:prstGeom>
          <a:noFill/>
          <a:ln/>
        </p:spPr>
        <p:txBody>
          <a:bodyPr wrap="square" lIns="0" tIns="0" rIns="0" bIns="0" rtlCol="0" anchor="t"/>
          <a:lstStyle/>
          <a:p>
            <a:pPr indent="0" marL="0">
              <a:buNone/>
            </a:pPr>
            <a:r>
              <a:rPr lang="en-US" sz="1900" b="1" dirty="0">
                <a:solidFill>
                  <a:srgbClr val="1F1A14"/>
                </a:solidFill>
                <a:latin typeface="Cambria" pitchFamily="34" charset="0"/>
                <a:ea typeface="Cambria" pitchFamily="34" charset="-122"/>
                <a:cs typeface="Cambria" pitchFamily="34" charset="-120"/>
              </a:rPr>
              <a:t>Meat and jaws</a:t>
            </a:r>
            <a:endParaRPr lang="en-US" sz="1900" dirty="0"/>
          </a:p>
        </p:txBody>
      </p:sp>
      <p:sp>
        <p:nvSpPr>
          <p:cNvPr id="22" name="Text 20"/>
          <p:cNvSpPr txBox="1"/>
          <p:nvPr/>
        </p:nvSpPr>
        <p:spPr>
          <a:xfrm>
            <a:off x="822960" y="5074920"/>
            <a:ext cx="3017520" cy="777240"/>
          </a:xfrm>
          <a:prstGeom prst="rect">
            <a:avLst/>
          </a:prstGeom>
          <a:noFill/>
          <a:ln/>
        </p:spPr>
        <p:txBody>
          <a:bodyPr wrap="square" lIns="0" tIns="0" rIns="0" bIns="0" rtlCol="0" anchor="t"/>
          <a:lstStyle/>
          <a:p>
            <a:pPr indent="0" marL="0">
              <a:buNone/>
            </a:pPr>
            <a:r>
              <a:rPr lang="en-US" sz="1400" dirty="0">
                <a:solidFill>
                  <a:srgbClr val="444444"/>
                </a:solidFill>
              </a:rPr>
              <a:t>Carcasses become meat; a killer beside a mouth digests only meat</a:t>
            </a:r>
            <a:endParaRPr lang="en-US" sz="1400" dirty="0"/>
          </a:p>
        </p:txBody>
      </p:sp>
      <p:sp>
        <p:nvSpPr>
          <p:cNvPr id="23" name="Shape 21"/>
          <p:cNvSpPr/>
          <p:nvPr/>
        </p:nvSpPr>
        <p:spPr>
          <a:xfrm>
            <a:off x="4297680" y="3749040"/>
            <a:ext cx="3520440" cy="2194560"/>
          </a:xfrm>
          <a:prstGeom prst="roundRect">
            <a:avLst>
              <a:gd name="adj" fmla="val 5000"/>
            </a:avLst>
          </a:prstGeom>
          <a:solidFill>
            <a:srgbClr val="F1F3F2"/>
          </a:solidFill>
          <a:ln w="12700">
            <a:solidFill>
              <a:srgbClr val="F1F3F2"/>
            </a:solidFill>
            <a:prstDash val="solid"/>
          </a:ln>
        </p:spPr>
      </p:sp>
      <p:sp>
        <p:nvSpPr>
          <p:cNvPr id="24" name="Shape 22"/>
          <p:cNvSpPr/>
          <p:nvPr/>
        </p:nvSpPr>
        <p:spPr>
          <a:xfrm>
            <a:off x="4572000" y="4023360"/>
            <a:ext cx="457200" cy="457200"/>
          </a:xfrm>
          <a:prstGeom prst="ellipse">
            <a:avLst/>
          </a:prstGeom>
          <a:solidFill>
            <a:srgbClr val="2F6FA8"/>
          </a:solidFill>
          <a:ln w="12700">
            <a:solidFill>
              <a:srgbClr val="2F6FA8"/>
            </a:solidFill>
            <a:prstDash val="solid"/>
          </a:ln>
        </p:spPr>
      </p:sp>
      <p:sp>
        <p:nvSpPr>
          <p:cNvPr id="25" name="Text 23"/>
          <p:cNvSpPr txBox="1"/>
          <p:nvPr/>
        </p:nvSpPr>
        <p:spPr>
          <a:xfrm>
            <a:off x="4572000" y="40233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6" name="Text 24"/>
          <p:cNvSpPr txBox="1"/>
          <p:nvPr/>
        </p:nvSpPr>
        <p:spPr>
          <a:xfrm>
            <a:off x="4572000" y="4617720"/>
            <a:ext cx="3017520" cy="411480"/>
          </a:xfrm>
          <a:prstGeom prst="rect">
            <a:avLst/>
          </a:prstGeom>
          <a:noFill/>
          <a:ln/>
        </p:spPr>
        <p:txBody>
          <a:bodyPr wrap="square" lIns="0" tIns="0" rIns="0" bIns="0" rtlCol="0" anchor="t"/>
          <a:lstStyle/>
          <a:p>
            <a:pPr indent="0" marL="0">
              <a:buNone/>
            </a:pPr>
            <a:r>
              <a:rPr lang="en-US" sz="1900" b="1" dirty="0">
                <a:solidFill>
                  <a:srgbClr val="1F1A14"/>
                </a:solidFill>
                <a:latin typeface="Cambria" pitchFamily="34" charset="0"/>
                <a:ea typeface="Cambria" pitchFamily="34" charset="-122"/>
                <a:cs typeface="Cambria" pitchFamily="34" charset="-120"/>
              </a:rPr>
              <a:t>River and trees</a:t>
            </a:r>
            <a:endParaRPr lang="en-US" sz="1900" dirty="0"/>
          </a:p>
        </p:txBody>
      </p:sp>
      <p:sp>
        <p:nvSpPr>
          <p:cNvPr id="27" name="Text 25"/>
          <p:cNvSpPr txBox="1"/>
          <p:nvPr/>
        </p:nvSpPr>
        <p:spPr>
          <a:xfrm>
            <a:off x="4572000" y="5074920"/>
            <a:ext cx="3017520" cy="777240"/>
          </a:xfrm>
          <a:prstGeom prst="rect">
            <a:avLst/>
          </a:prstGeom>
          <a:noFill/>
          <a:ln/>
        </p:spPr>
        <p:txBody>
          <a:bodyPr wrap="square" lIns="0" tIns="0" rIns="0" bIns="0" rtlCol="0" anchor="t"/>
          <a:lstStyle/>
          <a:p>
            <a:pPr indent="0" marL="0">
              <a:buNone/>
            </a:pPr>
            <a:r>
              <a:rPr lang="en-US" sz="1400" dirty="0">
                <a:solidFill>
                  <a:srgbClr val="444444"/>
                </a:solidFill>
              </a:rPr>
              <a:t>Only 9-cell animals wade; trees hide animals and host caches</a:t>
            </a:r>
            <a:endParaRPr lang="en-US" sz="1400" dirty="0"/>
          </a:p>
        </p:txBody>
      </p:sp>
      <p:sp>
        <p:nvSpPr>
          <p:cNvPr id="28" name="Shape 26"/>
          <p:cNvSpPr/>
          <p:nvPr/>
        </p:nvSpPr>
        <p:spPr>
          <a:xfrm>
            <a:off x="8046720" y="3749040"/>
            <a:ext cx="3520440" cy="2194560"/>
          </a:xfrm>
          <a:prstGeom prst="roundRect">
            <a:avLst>
              <a:gd name="adj" fmla="val 5000"/>
            </a:avLst>
          </a:prstGeom>
          <a:solidFill>
            <a:srgbClr val="F1F3F2"/>
          </a:solidFill>
          <a:ln w="12700">
            <a:solidFill>
              <a:srgbClr val="F1F3F2"/>
            </a:solidFill>
            <a:prstDash val="solid"/>
          </a:ln>
        </p:spPr>
      </p:sp>
      <p:sp>
        <p:nvSpPr>
          <p:cNvPr id="29" name="Shape 27"/>
          <p:cNvSpPr/>
          <p:nvPr/>
        </p:nvSpPr>
        <p:spPr>
          <a:xfrm>
            <a:off x="8321040" y="4023360"/>
            <a:ext cx="457200" cy="457200"/>
          </a:xfrm>
          <a:prstGeom prst="ellipse">
            <a:avLst/>
          </a:prstGeom>
          <a:solidFill>
            <a:srgbClr val="3B2F22"/>
          </a:solidFill>
          <a:ln w="12700">
            <a:solidFill>
              <a:srgbClr val="3B2F22"/>
            </a:solidFill>
            <a:prstDash val="solid"/>
          </a:ln>
        </p:spPr>
      </p:sp>
      <p:sp>
        <p:nvSpPr>
          <p:cNvPr id="30" name="Text 28"/>
          <p:cNvSpPr txBox="1"/>
          <p:nvPr/>
        </p:nvSpPr>
        <p:spPr>
          <a:xfrm>
            <a:off x="8321040" y="40233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6</a:t>
            </a:r>
            <a:endParaRPr lang="en-US" sz="1600" dirty="0"/>
          </a:p>
        </p:txBody>
      </p:sp>
      <p:sp>
        <p:nvSpPr>
          <p:cNvPr id="31" name="Text 29"/>
          <p:cNvSpPr txBox="1"/>
          <p:nvPr/>
        </p:nvSpPr>
        <p:spPr>
          <a:xfrm>
            <a:off x="8321040" y="4617720"/>
            <a:ext cx="3017520" cy="411480"/>
          </a:xfrm>
          <a:prstGeom prst="rect">
            <a:avLst/>
          </a:prstGeom>
          <a:noFill/>
          <a:ln/>
        </p:spPr>
        <p:txBody>
          <a:bodyPr wrap="square" lIns="0" tIns="0" rIns="0" bIns="0" rtlCol="0" anchor="t"/>
          <a:lstStyle/>
          <a:p>
            <a:pPr indent="0" marL="0">
              <a:buNone/>
            </a:pPr>
            <a:r>
              <a:rPr lang="en-US" sz="1900" b="1" dirty="0">
                <a:solidFill>
                  <a:srgbClr val="1F1A14"/>
                </a:solidFill>
                <a:latin typeface="Cambria" pitchFamily="34" charset="0"/>
                <a:ea typeface="Cambria" pitchFamily="34" charset="-122"/>
                <a:cs typeface="Cambria" pitchFamily="34" charset="-120"/>
              </a:rPr>
              <a:t>Fire</a:t>
            </a:r>
            <a:endParaRPr lang="en-US" sz="1900" dirty="0"/>
          </a:p>
        </p:txBody>
      </p:sp>
      <p:sp>
        <p:nvSpPr>
          <p:cNvPr id="32" name="Text 30"/>
          <p:cNvSpPr txBox="1"/>
          <p:nvPr/>
        </p:nvSpPr>
        <p:spPr>
          <a:xfrm>
            <a:off x="8321040" y="5074920"/>
            <a:ext cx="3017520" cy="777240"/>
          </a:xfrm>
          <a:prstGeom prst="rect">
            <a:avLst/>
          </a:prstGeom>
          <a:noFill/>
          <a:ln/>
        </p:spPr>
        <p:txBody>
          <a:bodyPr wrap="square" lIns="0" tIns="0" rIns="0" bIns="0" rtlCol="0" anchor="t"/>
          <a:lstStyle/>
          <a:p>
            <a:pPr indent="0" marL="0">
              <a:buNone/>
            </a:pPr>
            <a:r>
              <a:rPr lang="en-US" sz="1400" dirty="0">
                <a:solidFill>
                  <a:srgbClr val="444444"/>
                </a:solidFill>
              </a:rPr>
              <a:t>Starts in dry vegetation; grazed ground stops it</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Seed 1: predators boom and vanish, zebras adapt</a:t>
            </a:r>
            <a:endParaRPr lang="en-US" sz="3000" dirty="0"/>
          </a:p>
        </p:txBody>
      </p:sp>
      <p:pic>
        <p:nvPicPr>
          <p:cNvPr id="3" name="Image 0" descr="C:/Users/Ashley/Documents/LifeEngine/savanna-experiments/output/figures/timeline-main-full-1.png">    </p:cNvPr>
          <p:cNvPicPr>
            <a:picLocks noChangeAspect="1"/>
          </p:cNvPicPr>
          <p:nvPr/>
        </p:nvPicPr>
        <p:blipFill>
          <a:blip r:embed="rId1"/>
          <a:stretch>
            <a:fillRect/>
          </a:stretch>
        </p:blipFill>
        <p:spPr>
          <a:xfrm>
            <a:off x="914400" y="1143000"/>
            <a:ext cx="10332720" cy="5208569"/>
          </a:xfrm>
          <a:prstGeom prst="rect">
            <a:avLst/>
          </a:prstGeom>
        </p:spPr>
      </p:pic>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Every leopard and rhino population died out</a:t>
            </a:r>
            <a:endParaRPr lang="en-US" sz="3000" dirty="0"/>
          </a:p>
        </p:txBody>
      </p:sp>
      <p:graphicFrame>
        <p:nvGraphicFramePr>
          <p:cNvPr id="3" name="Chart 0" descr=""/>
          <p:cNvGraphicFramePr/>
          <p:nvPr/>
        </p:nvGraphicFramePr>
        <p:xfrm>
          <a:off x="548640" y="123444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955280" y="1280160"/>
            <a:ext cx="3657600" cy="731520"/>
          </a:xfrm>
          <a:prstGeom prst="rect">
            <a:avLst/>
          </a:prstGeom>
          <a:noFill/>
          <a:ln/>
        </p:spPr>
        <p:txBody>
          <a:bodyPr wrap="square" lIns="0" tIns="0" rIns="0" bIns="0" rtlCol="0" anchor="t"/>
          <a:lstStyle/>
          <a:p>
            <a:pPr indent="0" marL="0">
              <a:buNone/>
            </a:pPr>
            <a:r>
              <a:rPr lang="en-US" sz="4000" b="1" dirty="0">
                <a:solidFill>
                  <a:srgbClr val="D98E04"/>
                </a:solidFill>
                <a:latin typeface="Cambria" pitchFamily="34" charset="0"/>
                <a:ea typeface="Cambria" pitchFamily="34" charset="-122"/>
                <a:cs typeface="Cambria" pitchFamily="34" charset="-120"/>
              </a:rPr>
              <a:t>26 to 35</a:t>
            </a:r>
            <a:endParaRPr lang="en-US" sz="4000" dirty="0"/>
          </a:p>
        </p:txBody>
      </p:sp>
      <p:sp>
        <p:nvSpPr>
          <p:cNvPr id="5" name="Text 2"/>
          <p:cNvSpPr txBox="1"/>
          <p:nvPr/>
        </p:nvSpPr>
        <p:spPr>
          <a:xfrm>
            <a:off x="7955280" y="2011680"/>
            <a:ext cx="3657600" cy="548640"/>
          </a:xfrm>
          <a:prstGeom prst="rect">
            <a:avLst/>
          </a:prstGeom>
          <a:noFill/>
          <a:ln/>
        </p:spPr>
        <p:txBody>
          <a:bodyPr wrap="square" lIns="0" tIns="0" rIns="0" bIns="0" rtlCol="0" anchor="t"/>
          <a:lstStyle/>
          <a:p>
            <a:pPr indent="0" marL="0">
              <a:buNone/>
            </a:pPr>
            <a:r>
              <a:rPr lang="en-US" sz="1300" dirty="0">
                <a:solidFill>
                  <a:srgbClr val="444444"/>
                </a:solidFill>
              </a:rPr>
              <a:t>leopard peak, then extinct by tick 3,600 to 12,800</a:t>
            </a:r>
            <a:endParaRPr lang="en-US" sz="1300" dirty="0"/>
          </a:p>
        </p:txBody>
      </p:sp>
      <p:sp>
        <p:nvSpPr>
          <p:cNvPr id="6" name="Text 3"/>
          <p:cNvSpPr txBox="1"/>
          <p:nvPr/>
        </p:nvSpPr>
        <p:spPr>
          <a:xfrm>
            <a:off x="7955280" y="2834640"/>
            <a:ext cx="3657600" cy="731520"/>
          </a:xfrm>
          <a:prstGeom prst="rect">
            <a:avLst/>
          </a:prstGeom>
          <a:noFill/>
          <a:ln/>
        </p:spPr>
        <p:txBody>
          <a:bodyPr wrap="square" lIns="0" tIns="0" rIns="0" bIns="0" rtlCol="0" anchor="t"/>
          <a:lstStyle/>
          <a:p>
            <a:pPr indent="0" marL="0">
              <a:buNone/>
            </a:pPr>
            <a:r>
              <a:rPr lang="en-US" sz="4000" b="1" dirty="0">
                <a:solidFill>
                  <a:srgbClr val="7A5C3E"/>
                </a:solidFill>
                <a:latin typeface="Cambria" pitchFamily="34" charset="0"/>
                <a:ea typeface="Cambria" pitchFamily="34" charset="-122"/>
                <a:cs typeface="Cambria" pitchFamily="34" charset="-120"/>
              </a:rPr>
              <a:t>5 of 5</a:t>
            </a:r>
            <a:endParaRPr lang="en-US" sz="4000" dirty="0"/>
          </a:p>
        </p:txBody>
      </p:sp>
      <p:sp>
        <p:nvSpPr>
          <p:cNvPr id="7" name="Text 4"/>
          <p:cNvSpPr txBox="1"/>
          <p:nvPr/>
        </p:nvSpPr>
        <p:spPr>
          <a:xfrm>
            <a:off x="7955280" y="3566160"/>
            <a:ext cx="3657600" cy="548640"/>
          </a:xfrm>
          <a:prstGeom prst="rect">
            <a:avLst/>
          </a:prstGeom>
          <a:noFill/>
          <a:ln/>
        </p:spPr>
        <p:txBody>
          <a:bodyPr wrap="square" lIns="0" tIns="0" rIns="0" bIns="0" rtlCol="0" anchor="t"/>
          <a:lstStyle/>
          <a:p>
            <a:pPr indent="0" marL="0">
              <a:buNone/>
            </a:pPr>
            <a:r>
              <a:rPr lang="en-US" sz="1300" dirty="0">
                <a:solidFill>
                  <a:srgbClr val="444444"/>
                </a:solidFill>
              </a:rPr>
              <a:t>rhino populations faded out by tick 17,300</a:t>
            </a:r>
            <a:endParaRPr lang="en-US" sz="1300" dirty="0"/>
          </a:p>
        </p:txBody>
      </p:sp>
      <p:sp>
        <p:nvSpPr>
          <p:cNvPr id="8" name="Text 5"/>
          <p:cNvSpPr txBox="1"/>
          <p:nvPr/>
        </p:nvSpPr>
        <p:spPr>
          <a:xfrm>
            <a:off x="7955280" y="4389120"/>
            <a:ext cx="3657600" cy="731520"/>
          </a:xfrm>
          <a:prstGeom prst="rect">
            <a:avLst/>
          </a:prstGeom>
          <a:noFill/>
          <a:ln/>
        </p:spPr>
        <p:txBody>
          <a:bodyPr wrap="square" lIns="0" tIns="0" rIns="0" bIns="0" rtlCol="0" anchor="t"/>
          <a:lstStyle/>
          <a:p>
            <a:pPr indent="0" marL="0">
              <a:buNone/>
            </a:pPr>
            <a:r>
              <a:rPr lang="en-US" sz="4000" b="1" dirty="0">
                <a:solidFill>
                  <a:srgbClr val="1F1A14"/>
                </a:solidFill>
                <a:latin typeface="Cambria" pitchFamily="34" charset="0"/>
                <a:ea typeface="Cambria" pitchFamily="34" charset="-122"/>
                <a:cs typeface="Cambria" pitchFamily="34" charset="-120"/>
              </a:rPr>
              <a:t>1 of 5</a:t>
            </a:r>
            <a:endParaRPr lang="en-US" sz="4000" dirty="0"/>
          </a:p>
        </p:txBody>
      </p:sp>
      <p:sp>
        <p:nvSpPr>
          <p:cNvPr id="9" name="Text 6"/>
          <p:cNvSpPr txBox="1"/>
          <p:nvPr/>
        </p:nvSpPr>
        <p:spPr>
          <a:xfrm>
            <a:off x="7955280" y="5120640"/>
            <a:ext cx="3657600" cy="548640"/>
          </a:xfrm>
          <a:prstGeom prst="rect">
            <a:avLst/>
          </a:prstGeom>
          <a:noFill/>
          <a:ln/>
        </p:spPr>
        <p:txBody>
          <a:bodyPr wrap="square" lIns="0" tIns="0" rIns="0" bIns="0" rtlCol="0" anchor="t"/>
          <a:lstStyle/>
          <a:p>
            <a:pPr indent="0" marL="0">
              <a:buNone/>
            </a:pPr>
            <a:r>
              <a:rPr lang="en-US" sz="1300" dirty="0">
                <a:solidFill>
                  <a:srgbClr val="444444"/>
                </a:solidFill>
              </a:rPr>
              <a:t>zebra lineages alive at 100k: the one that evolved a second mouth</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Three different ways to disappear</a:t>
            </a:r>
            <a:endParaRPr lang="en-US" sz="3000" dirty="0"/>
          </a:p>
        </p:txBody>
      </p:sp>
      <p:sp>
        <p:nvSpPr>
          <p:cNvPr id="3" name="Shape 1"/>
          <p:cNvSpPr/>
          <p:nvPr/>
        </p:nvSpPr>
        <p:spPr>
          <a:xfrm>
            <a:off x="548640" y="1325880"/>
            <a:ext cx="3520440" cy="3566160"/>
          </a:xfrm>
          <a:prstGeom prst="roundRect">
            <a:avLst>
              <a:gd name="adj" fmla="val 3117"/>
            </a:avLst>
          </a:prstGeom>
          <a:solidFill>
            <a:srgbClr val="F1F3F2"/>
          </a:solidFill>
          <a:ln w="12700">
            <a:solidFill>
              <a:srgbClr val="F1F3F2"/>
            </a:solidFill>
            <a:prstDash val="solid"/>
          </a:ln>
        </p:spPr>
      </p:sp>
      <p:sp>
        <p:nvSpPr>
          <p:cNvPr id="4" name="Text 2"/>
          <p:cNvSpPr txBox="1"/>
          <p:nvPr/>
        </p:nvSpPr>
        <p:spPr>
          <a:xfrm>
            <a:off x="822960" y="1554480"/>
            <a:ext cx="3017520" cy="502920"/>
          </a:xfrm>
          <a:prstGeom prst="rect">
            <a:avLst/>
          </a:prstGeom>
          <a:noFill/>
          <a:ln/>
        </p:spPr>
        <p:txBody>
          <a:bodyPr wrap="square" lIns="0" tIns="0" rIns="0" bIns="0" rtlCol="0" anchor="t"/>
          <a:lstStyle/>
          <a:p>
            <a:pPr indent="0" marL="0">
              <a:buNone/>
            </a:pPr>
            <a:r>
              <a:rPr lang="en-US" sz="2400" b="1" dirty="0">
                <a:solidFill>
                  <a:srgbClr val="D98E04"/>
                </a:solidFill>
                <a:latin typeface="Cambria" pitchFamily="34" charset="0"/>
                <a:ea typeface="Cambria" pitchFamily="34" charset="-122"/>
                <a:cs typeface="Cambria" pitchFamily="34" charset="-120"/>
              </a:rPr>
              <a:t>Leopards</a:t>
            </a:r>
            <a:endParaRPr lang="en-US" sz="2400" dirty="0"/>
          </a:p>
        </p:txBody>
      </p:sp>
      <p:sp>
        <p:nvSpPr>
          <p:cNvPr id="5" name="Text 3"/>
          <p:cNvSpPr txBox="1"/>
          <p:nvPr/>
        </p:nvSpPr>
        <p:spPr>
          <a:xfrm>
            <a:off x="822960" y="2103120"/>
            <a:ext cx="3017520" cy="411480"/>
          </a:xfrm>
          <a:prstGeom prst="rect">
            <a:avLst/>
          </a:prstGeom>
          <a:noFill/>
          <a:ln/>
        </p:spPr>
        <p:txBody>
          <a:bodyPr wrap="square" lIns="0" tIns="0" rIns="0" bIns="0" rtlCol="0" anchor="t"/>
          <a:lstStyle/>
          <a:p>
            <a:pPr indent="0" marL="0">
              <a:buNone/>
            </a:pPr>
            <a:r>
              <a:rPr lang="en-US" sz="1700" b="1" dirty="0">
                <a:solidFill>
                  <a:srgbClr val="555555"/>
                </a:solidFill>
              </a:rPr>
              <a:t>Boom then bust</a:t>
            </a:r>
            <a:endParaRPr lang="en-US" sz="1700" dirty="0"/>
          </a:p>
        </p:txBody>
      </p:sp>
      <p:sp>
        <p:nvSpPr>
          <p:cNvPr id="6" name="Text 4"/>
          <p:cNvSpPr txBox="1"/>
          <p:nvPr/>
        </p:nvSpPr>
        <p:spPr>
          <a:xfrm>
            <a:off x="822960" y="2743200"/>
            <a:ext cx="3017520" cy="3108960"/>
          </a:xfrm>
          <a:prstGeom prst="rect">
            <a:avLst/>
          </a:prstGeom>
          <a:noFill/>
          <a:ln/>
        </p:spPr>
        <p:txBody>
          <a:bodyPr wrap="square" lIns="0" tIns="0" rIns="0" bIns="0" rtlCol="0" anchor="t"/>
          <a:lstStyle/>
          <a:p>
            <a:pPr indent="0" marL="0">
              <a:buNone/>
            </a:pPr>
            <a:r>
              <a:rPr lang="en-US" sz="1500" dirty="0">
                <a:solidFill>
                  <a:srgbClr val="1F1A14"/>
                </a:solidFill>
              </a:rPr>
              <a:t>Killed 57 to 144 zebras per run, then aged out or were kicked to death. Zebras never crashed first: a predator that failed to persist, not over-predation.</a:t>
            </a:r>
            <a:endParaRPr lang="en-US" sz="1500" dirty="0"/>
          </a:p>
        </p:txBody>
      </p:sp>
      <p:sp>
        <p:nvSpPr>
          <p:cNvPr id="7" name="Shape 5"/>
          <p:cNvSpPr/>
          <p:nvPr/>
        </p:nvSpPr>
        <p:spPr>
          <a:xfrm>
            <a:off x="4297680" y="1325880"/>
            <a:ext cx="3520440" cy="3566160"/>
          </a:xfrm>
          <a:prstGeom prst="roundRect">
            <a:avLst>
              <a:gd name="adj" fmla="val 3117"/>
            </a:avLst>
          </a:prstGeom>
          <a:solidFill>
            <a:srgbClr val="F1F3F2"/>
          </a:solidFill>
          <a:ln w="12700">
            <a:solidFill>
              <a:srgbClr val="F1F3F2"/>
            </a:solidFill>
            <a:prstDash val="solid"/>
          </a:ln>
        </p:spPr>
      </p:sp>
      <p:sp>
        <p:nvSpPr>
          <p:cNvPr id="8" name="Text 6"/>
          <p:cNvSpPr txBox="1"/>
          <p:nvPr/>
        </p:nvSpPr>
        <p:spPr>
          <a:xfrm>
            <a:off x="4572000" y="1554480"/>
            <a:ext cx="3017520" cy="502920"/>
          </a:xfrm>
          <a:prstGeom prst="rect">
            <a:avLst/>
          </a:prstGeom>
          <a:noFill/>
          <a:ln/>
        </p:spPr>
        <p:txBody>
          <a:bodyPr wrap="square" lIns="0" tIns="0" rIns="0" bIns="0" rtlCol="0" anchor="t"/>
          <a:lstStyle/>
          <a:p>
            <a:pPr indent="0" marL="0">
              <a:buNone/>
            </a:pPr>
            <a:r>
              <a:rPr lang="en-US" sz="2400" b="1" dirty="0">
                <a:solidFill>
                  <a:srgbClr val="7A5C3E"/>
                </a:solidFill>
                <a:latin typeface="Cambria" pitchFamily="34" charset="0"/>
                <a:ea typeface="Cambria" pitchFamily="34" charset="-122"/>
                <a:cs typeface="Cambria" pitchFamily="34" charset="-120"/>
              </a:rPr>
              <a:t>Rhinos</a:t>
            </a:r>
            <a:endParaRPr lang="en-US" sz="2400" dirty="0"/>
          </a:p>
        </p:txBody>
      </p:sp>
      <p:sp>
        <p:nvSpPr>
          <p:cNvPr id="9" name="Text 7"/>
          <p:cNvSpPr txBox="1"/>
          <p:nvPr/>
        </p:nvSpPr>
        <p:spPr>
          <a:xfrm>
            <a:off x="4572000" y="2103120"/>
            <a:ext cx="3017520" cy="411480"/>
          </a:xfrm>
          <a:prstGeom prst="rect">
            <a:avLst/>
          </a:prstGeom>
          <a:noFill/>
          <a:ln/>
        </p:spPr>
        <p:txBody>
          <a:bodyPr wrap="square" lIns="0" tIns="0" rIns="0" bIns="0" rtlCol="0" anchor="t"/>
          <a:lstStyle/>
          <a:p>
            <a:pPr indent="0" marL="0">
              <a:buNone/>
            </a:pPr>
            <a:r>
              <a:rPr lang="en-US" sz="1700" b="1" dirty="0">
                <a:solidFill>
                  <a:srgbClr val="555555"/>
                </a:solidFill>
              </a:rPr>
              <a:t>Failure to adapt</a:t>
            </a:r>
            <a:endParaRPr lang="en-US" sz="1700" dirty="0"/>
          </a:p>
        </p:txBody>
      </p:sp>
      <p:sp>
        <p:nvSpPr>
          <p:cNvPr id="10" name="Text 8"/>
          <p:cNvSpPr txBox="1"/>
          <p:nvPr/>
        </p:nvSpPr>
        <p:spPr>
          <a:xfrm>
            <a:off x="4572000" y="2743200"/>
            <a:ext cx="3017520" cy="3108960"/>
          </a:xfrm>
          <a:prstGeom prst="rect">
            <a:avLst/>
          </a:prstGeom>
          <a:noFill/>
          <a:ln/>
        </p:spPr>
        <p:txBody>
          <a:bodyPr wrap="square" lIns="0" tIns="0" rIns="0" bIns="0" rtlCol="0" anchor="t"/>
          <a:lstStyle/>
          <a:p>
            <a:pPr indent="0" marL="0">
              <a:buNone/>
            </a:pPr>
            <a:r>
              <a:rPr lang="en-US" sz="1500" dirty="0">
                <a:solidFill>
                  <a:srgbClr val="1F1A14"/>
                </a:solidFill>
              </a:rPr>
              <a:t>Rose to 27 to 80, then died of old age (54 to 358 per run, versus 17 to 66 killed). At 16 food per calf they could not keep up with zebras.</a:t>
            </a:r>
            <a:endParaRPr lang="en-US" sz="1500" dirty="0"/>
          </a:p>
        </p:txBody>
      </p:sp>
      <p:sp>
        <p:nvSpPr>
          <p:cNvPr id="11" name="Shape 9"/>
          <p:cNvSpPr/>
          <p:nvPr/>
        </p:nvSpPr>
        <p:spPr>
          <a:xfrm>
            <a:off x="8046720" y="1325880"/>
            <a:ext cx="3520440" cy="3566160"/>
          </a:xfrm>
          <a:prstGeom prst="roundRect">
            <a:avLst>
              <a:gd name="adj" fmla="val 3117"/>
            </a:avLst>
          </a:prstGeom>
          <a:solidFill>
            <a:srgbClr val="F1F3F2"/>
          </a:solidFill>
          <a:ln w="12700">
            <a:solidFill>
              <a:srgbClr val="F1F3F2"/>
            </a:solidFill>
            <a:prstDash val="solid"/>
          </a:ln>
        </p:spPr>
      </p:sp>
      <p:sp>
        <p:nvSpPr>
          <p:cNvPr id="12" name="Text 10"/>
          <p:cNvSpPr txBox="1"/>
          <p:nvPr/>
        </p:nvSpPr>
        <p:spPr>
          <a:xfrm>
            <a:off x="8321040" y="1554480"/>
            <a:ext cx="3017520" cy="502920"/>
          </a:xfrm>
          <a:prstGeom prst="rect">
            <a:avLst/>
          </a:prstGeom>
          <a:noFill/>
          <a:ln/>
        </p:spPr>
        <p:txBody>
          <a:bodyPr wrap="square" lIns="0" tIns="0" rIns="0" bIns="0" rtlCol="0" anchor="t"/>
          <a:lstStyle/>
          <a:p>
            <a:pPr indent="0" marL="0">
              <a:buNone/>
            </a:pPr>
            <a:r>
              <a:rPr lang="en-US" sz="2400" b="1" dirty="0">
                <a:solidFill>
                  <a:srgbClr val="1F1A14"/>
                </a:solidFill>
                <a:latin typeface="Cambria" pitchFamily="34" charset="0"/>
                <a:ea typeface="Cambria" pitchFamily="34" charset="-122"/>
                <a:cs typeface="Cambria" pitchFamily="34" charset="-120"/>
              </a:rPr>
              <a:t>Zebras</a:t>
            </a:r>
            <a:endParaRPr lang="en-US" sz="2400" dirty="0"/>
          </a:p>
        </p:txBody>
      </p:sp>
      <p:sp>
        <p:nvSpPr>
          <p:cNvPr id="13" name="Text 11"/>
          <p:cNvSpPr txBox="1"/>
          <p:nvPr/>
        </p:nvSpPr>
        <p:spPr>
          <a:xfrm>
            <a:off x="8321040" y="2103120"/>
            <a:ext cx="3017520" cy="411480"/>
          </a:xfrm>
          <a:prstGeom prst="rect">
            <a:avLst/>
          </a:prstGeom>
          <a:noFill/>
          <a:ln/>
        </p:spPr>
        <p:txBody>
          <a:bodyPr wrap="square" lIns="0" tIns="0" rIns="0" bIns="0" rtlCol="0" anchor="t"/>
          <a:lstStyle/>
          <a:p>
            <a:pPr indent="0" marL="0">
              <a:buNone/>
            </a:pPr>
            <a:r>
              <a:rPr lang="en-US" sz="1700" b="1" dirty="0">
                <a:solidFill>
                  <a:srgbClr val="555555"/>
                </a:solidFill>
              </a:rPr>
              <a:t>Adapt or fade</a:t>
            </a:r>
            <a:endParaRPr lang="en-US" sz="1700" dirty="0"/>
          </a:p>
        </p:txBody>
      </p:sp>
      <p:sp>
        <p:nvSpPr>
          <p:cNvPr id="14" name="Text 12"/>
          <p:cNvSpPr txBox="1"/>
          <p:nvPr/>
        </p:nvSpPr>
        <p:spPr>
          <a:xfrm>
            <a:off x="8321040" y="2743200"/>
            <a:ext cx="3017520" cy="3108960"/>
          </a:xfrm>
          <a:prstGeom prst="rect">
            <a:avLst/>
          </a:prstGeom>
          <a:noFill/>
          <a:ln/>
        </p:spPr>
        <p:txBody>
          <a:bodyPr wrap="square" lIns="0" tIns="0" rIns="0" bIns="0" rtlCol="0" anchor="t"/>
          <a:lstStyle/>
          <a:p>
            <a:pPr indent="0" marL="0">
              <a:buNone/>
            </a:pPr>
            <a:r>
              <a:rPr lang="en-US" sz="1500" dirty="0">
                <a:solidFill>
                  <a:srgbClr val="1F1A14"/>
                </a:solidFill>
              </a:rPr>
              <a:t>Where a second mouth spread, zebras thrived. Where it did not, they faded over tens of thousands of ticks with food still on the map.</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Without the river or soil water, every zebra lineage died</a:t>
            </a:r>
            <a:endParaRPr lang="en-US" sz="3000" dirty="0"/>
          </a:p>
        </p:txBody>
      </p:sp>
      <p:graphicFrame>
        <p:nvGraphicFramePr>
          <p:cNvPr id="3" name="Chart 0" descr=""/>
          <p:cNvGraphicFramePr/>
          <p:nvPr/>
        </p:nvGraphicFramePr>
        <p:xfrm>
          <a:off x="548640" y="1188720"/>
          <a:ext cx="5486400" cy="50292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188720"/>
          <a:ext cx="5486400" cy="502920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Zebras streamlined instead of overgrazing</a:t>
            </a:r>
            <a:endParaRPr lang="en-US" sz="3000" dirty="0"/>
          </a:p>
        </p:txBody>
      </p:sp>
      <p:pic>
        <p:nvPicPr>
          <p:cNvPr id="3" name="Image 0" descr="C:/Users/Ashley/Documents/LifeEngine/savanna-experiments/output/figures/timeline-mech-full-5.png">    </p:cNvPr>
          <p:cNvPicPr>
            <a:picLocks noChangeAspect="1"/>
          </p:cNvPicPr>
          <p:nvPr/>
        </p:nvPicPr>
        <p:blipFill>
          <a:blip r:embed="rId1"/>
          <a:stretch>
            <a:fillRect/>
          </a:stretch>
        </p:blipFill>
        <p:spPr>
          <a:xfrm>
            <a:off x="548640" y="1143000"/>
            <a:ext cx="11064240" cy="2199272"/>
          </a:xfrm>
          <a:prstGeom prst="rect">
            <a:avLst/>
          </a:prstGeom>
        </p:spPr>
      </p:pic>
      <p:graphicFrame>
        <p:nvGraphicFramePr>
          <p:cNvPr id="4" name="Chart 0" descr=""/>
          <p:cNvGraphicFramePr/>
          <p:nvPr/>
        </p:nvGraphicFramePr>
        <p:xfrm>
          <a:off x="548640" y="3520440"/>
          <a:ext cx="6766560" cy="27432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7589520" y="3657600"/>
            <a:ext cx="4023360" cy="2560320"/>
          </a:xfrm>
          <a:prstGeom prst="rect">
            <a:avLst/>
          </a:prstGeom>
          <a:noFill/>
          <a:ln/>
        </p:spPr>
        <p:txBody>
          <a:bodyPr wrap="square" lIns="0" tIns="0" rIns="0" bIns="0" rtlCol="0" anchor="t"/>
          <a:lstStyle/>
          <a:p>
            <a:pPr indent="0" marL="0">
              <a:buNone/>
            </a:pPr>
            <a:r>
              <a:rPr lang="en-US" sz="1500" dirty="0">
                <a:solidFill>
                  <a:srgbClr val="1F1A14"/>
                </a:solidFill>
              </a:rPr>
              <a:t>Once leopards are gone, eyes, stripes and the kick are dead weight. A smaller body breeds on less food and a second mouth eats faster. Grass food never crashed (500 to 2,000 cells), so the trait never destroyed its own food: adaptation, not suicide.</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Longer, drier, more predators, more fire: same verdict</a:t>
            </a:r>
            <a:endParaRPr lang="en-US" sz="3000" dirty="0"/>
          </a:p>
        </p:txBody>
      </p:sp>
      <p:sp>
        <p:nvSpPr>
          <p:cNvPr id="3" name="Shape 1"/>
          <p:cNvSpPr/>
          <p:nvPr/>
        </p:nvSpPr>
        <p:spPr>
          <a:xfrm>
            <a:off x="548640" y="1234440"/>
            <a:ext cx="3520440" cy="1554480"/>
          </a:xfrm>
          <a:prstGeom prst="roundRect">
            <a:avLst>
              <a:gd name="adj" fmla="val 7059"/>
            </a:avLst>
          </a:prstGeom>
          <a:solidFill>
            <a:srgbClr val="F1F3F2"/>
          </a:solidFill>
          <a:ln w="12700">
            <a:solidFill>
              <a:srgbClr val="F1F3F2"/>
            </a:solidFill>
            <a:prstDash val="solid"/>
          </a:ln>
        </p:spPr>
      </p:sp>
      <p:sp>
        <p:nvSpPr>
          <p:cNvPr id="4" name="Text 2"/>
          <p:cNvSpPr txBox="1"/>
          <p:nvPr/>
        </p:nvSpPr>
        <p:spPr>
          <a:xfrm>
            <a:off x="777240" y="1371600"/>
            <a:ext cx="3108960" cy="411480"/>
          </a:xfrm>
          <a:prstGeom prst="rect">
            <a:avLst/>
          </a:prstGeom>
          <a:noFill/>
          <a:ln/>
        </p:spPr>
        <p:txBody>
          <a:bodyPr wrap="square" lIns="0" tIns="0" rIns="0" bIns="0" rtlCol="0" anchor="t"/>
          <a:lstStyle/>
          <a:p>
            <a:pPr indent="0" marL="0">
              <a:buNone/>
            </a:pPr>
            <a:r>
              <a:rPr lang="en-US" sz="1800" b="1" dirty="0">
                <a:solidFill>
                  <a:srgbClr val="1F1A14"/>
                </a:solidFill>
                <a:latin typeface="Cambria" pitchFamily="34" charset="0"/>
                <a:ea typeface="Cambria" pitchFamily="34" charset="-122"/>
                <a:cs typeface="Cambria" pitchFamily="34" charset="-120"/>
              </a:rPr>
              <a:t>200k ticks, 40% rain</a:t>
            </a:r>
            <a:endParaRPr lang="en-US" sz="1800" dirty="0"/>
          </a:p>
        </p:txBody>
      </p:sp>
      <p:sp>
        <p:nvSpPr>
          <p:cNvPr id="5" name="Text 3"/>
          <p:cNvSpPr txBox="1"/>
          <p:nvPr/>
        </p:nvSpPr>
        <p:spPr>
          <a:xfrm>
            <a:off x="777240" y="1828800"/>
            <a:ext cx="3108960" cy="914400"/>
          </a:xfrm>
          <a:prstGeom prst="rect">
            <a:avLst/>
          </a:prstGeom>
          <a:noFill/>
          <a:ln/>
        </p:spPr>
        <p:txBody>
          <a:bodyPr wrap="square" lIns="0" tIns="0" rIns="0" bIns="0" rtlCol="0" anchor="t"/>
          <a:lstStyle/>
          <a:p>
            <a:pPr indent="0" marL="0">
              <a:buNone/>
            </a:pPr>
            <a:r>
              <a:rPr lang="en-US" sz="1300" dirty="0">
                <a:solidFill>
                  <a:srgbClr val="1F1A14"/>
                </a:solidFill>
              </a:rPr>
              <a:t>Zebras evolved up to 2.8 mouths as food fell, then died out. Food kept falling after they were gone: grass crowding, not grazing.</a:t>
            </a:r>
            <a:endParaRPr lang="en-US" sz="1300" dirty="0"/>
          </a:p>
        </p:txBody>
      </p:sp>
      <p:sp>
        <p:nvSpPr>
          <p:cNvPr id="6" name="Shape 4"/>
          <p:cNvSpPr/>
          <p:nvPr/>
        </p:nvSpPr>
        <p:spPr>
          <a:xfrm>
            <a:off x="4297680" y="1234440"/>
            <a:ext cx="3520440" cy="1554480"/>
          </a:xfrm>
          <a:prstGeom prst="roundRect">
            <a:avLst>
              <a:gd name="adj" fmla="val 7059"/>
            </a:avLst>
          </a:prstGeom>
          <a:solidFill>
            <a:srgbClr val="F1F3F2"/>
          </a:solidFill>
          <a:ln w="12700">
            <a:solidFill>
              <a:srgbClr val="F1F3F2"/>
            </a:solidFill>
            <a:prstDash val="solid"/>
          </a:ln>
        </p:spPr>
      </p:sp>
      <p:sp>
        <p:nvSpPr>
          <p:cNvPr id="7" name="Text 5"/>
          <p:cNvSpPr txBox="1"/>
          <p:nvPr/>
        </p:nvSpPr>
        <p:spPr>
          <a:xfrm>
            <a:off x="4526280" y="1371600"/>
            <a:ext cx="3108960" cy="411480"/>
          </a:xfrm>
          <a:prstGeom prst="rect">
            <a:avLst/>
          </a:prstGeom>
          <a:noFill/>
          <a:ln/>
        </p:spPr>
        <p:txBody>
          <a:bodyPr wrap="square" lIns="0" tIns="0" rIns="0" bIns="0" rtlCol="0" anchor="t"/>
          <a:lstStyle/>
          <a:p>
            <a:pPr indent="0" marL="0">
              <a:buNone/>
            </a:pPr>
            <a:r>
              <a:rPr lang="en-US" sz="1800" b="1" dirty="0">
                <a:solidFill>
                  <a:srgbClr val="D98E04"/>
                </a:solidFill>
                <a:latin typeface="Cambria" pitchFamily="34" charset="0"/>
                <a:ea typeface="Cambria" pitchFamily="34" charset="-122"/>
                <a:cs typeface="Cambria" pitchFamily="34" charset="-120"/>
              </a:rPr>
              <a:t>32 and 48 leopards</a:t>
            </a:r>
            <a:endParaRPr lang="en-US" sz="1800" dirty="0"/>
          </a:p>
        </p:txBody>
      </p:sp>
      <p:sp>
        <p:nvSpPr>
          <p:cNvPr id="8" name="Text 6"/>
          <p:cNvSpPr txBox="1"/>
          <p:nvPr/>
        </p:nvSpPr>
        <p:spPr>
          <a:xfrm>
            <a:off x="4526280" y="1828800"/>
            <a:ext cx="3108960" cy="914400"/>
          </a:xfrm>
          <a:prstGeom prst="rect">
            <a:avLst/>
          </a:prstGeom>
          <a:noFill/>
          <a:ln/>
        </p:spPr>
        <p:txBody>
          <a:bodyPr wrap="square" lIns="0" tIns="0" rIns="0" bIns="0" rtlCol="0" anchor="t"/>
          <a:lstStyle/>
          <a:p>
            <a:pPr indent="0" marL="0">
              <a:buNone/>
            </a:pPr>
            <a:r>
              <a:rPr lang="en-US" sz="1300" dirty="0">
                <a:solidFill>
                  <a:srgbClr val="1F1A14"/>
                </a:solidFill>
              </a:rPr>
              <a:t>48 leopards ate the whole herd in about 1,300 ticks, then starved: over-exploitation from density, not an evolved trait.</a:t>
            </a:r>
            <a:endParaRPr lang="en-US" sz="1300" dirty="0"/>
          </a:p>
        </p:txBody>
      </p:sp>
      <p:sp>
        <p:nvSpPr>
          <p:cNvPr id="9" name="Shape 7"/>
          <p:cNvSpPr/>
          <p:nvPr/>
        </p:nvSpPr>
        <p:spPr>
          <a:xfrm>
            <a:off x="8046720" y="1234440"/>
            <a:ext cx="3520440" cy="1554480"/>
          </a:xfrm>
          <a:prstGeom prst="roundRect">
            <a:avLst>
              <a:gd name="adj" fmla="val 7059"/>
            </a:avLst>
          </a:prstGeom>
          <a:solidFill>
            <a:srgbClr val="F1F3F2"/>
          </a:solidFill>
          <a:ln w="12700">
            <a:solidFill>
              <a:srgbClr val="F1F3F2"/>
            </a:solidFill>
            <a:prstDash val="solid"/>
          </a:ln>
        </p:spPr>
      </p:sp>
      <p:sp>
        <p:nvSpPr>
          <p:cNvPr id="10" name="Text 8"/>
          <p:cNvSpPr txBox="1"/>
          <p:nvPr/>
        </p:nvSpPr>
        <p:spPr>
          <a:xfrm>
            <a:off x="8275320" y="1371600"/>
            <a:ext cx="3108960" cy="411480"/>
          </a:xfrm>
          <a:prstGeom prst="rect">
            <a:avLst/>
          </a:prstGeom>
          <a:noFill/>
          <a:ln/>
        </p:spPr>
        <p:txBody>
          <a:bodyPr wrap="square" lIns="0" tIns="0" rIns="0" bIns="0" rtlCol="0" anchor="t"/>
          <a:lstStyle/>
          <a:p>
            <a:pPr indent="0" marL="0">
              <a:buNone/>
            </a:pPr>
            <a:r>
              <a:rPr lang="en-US" sz="1800" b="1" dirty="0">
                <a:solidFill>
                  <a:srgbClr val="B23A3A"/>
                </a:solidFill>
                <a:latin typeface="Cambria" pitchFamily="34" charset="0"/>
                <a:ea typeface="Cambria" pitchFamily="34" charset="-122"/>
                <a:cs typeface="Cambria" pitchFamily="34" charset="-120"/>
              </a:rPr>
              <a:t>10x fire chance</a:t>
            </a:r>
            <a:endParaRPr lang="en-US" sz="1800" dirty="0"/>
          </a:p>
        </p:txBody>
      </p:sp>
      <p:sp>
        <p:nvSpPr>
          <p:cNvPr id="11" name="Text 9"/>
          <p:cNvSpPr txBox="1"/>
          <p:nvPr/>
        </p:nvSpPr>
        <p:spPr>
          <a:xfrm>
            <a:off x="8275320" y="1828800"/>
            <a:ext cx="3108960" cy="914400"/>
          </a:xfrm>
          <a:prstGeom prst="rect">
            <a:avLst/>
          </a:prstGeom>
          <a:noFill/>
          <a:ln/>
        </p:spPr>
        <p:txBody>
          <a:bodyPr wrap="square" lIns="0" tIns="0" rIns="0" bIns="0" rtlCol="0" anchor="t"/>
          <a:lstStyle/>
          <a:p>
            <a:pPr indent="0" marL="0">
              <a:buNone/>
            </a:pPr>
            <a:r>
              <a:rPr lang="en-US" sz="1300" dirty="0">
                <a:solidFill>
                  <a:srgbClr val="1F1A14"/>
                </a:solidFill>
              </a:rPr>
              <a:t>Burning rose only 2.6x and no fire passed 160 cells. Patchy plants on wet soil starve fires of fuel.</a:t>
            </a:r>
            <a:endParaRPr lang="en-US" sz="1300" dirty="0"/>
          </a:p>
        </p:txBody>
      </p:sp>
      <p:pic>
        <p:nvPicPr>
          <p:cNvPr id="12" name="Image 0" descr="C:/Users/Ashley/Documents/LifeEngine/savanna-experiments/output/figures/timeline-long-dry-3.png">    </p:cNvPr>
          <p:cNvPicPr>
            <a:picLocks noChangeAspect="1"/>
          </p:cNvPicPr>
          <p:nvPr/>
        </p:nvPicPr>
        <p:blipFill>
          <a:blip r:embed="rId1"/>
          <a:stretch>
            <a:fillRect/>
          </a:stretch>
        </p:blipFill>
        <p:spPr>
          <a:xfrm>
            <a:off x="548640" y="3017520"/>
            <a:ext cx="5440680" cy="2742565"/>
          </a:xfrm>
          <a:prstGeom prst="rect">
            <a:avLst/>
          </a:prstGeom>
        </p:spPr>
      </p:pic>
      <p:pic>
        <p:nvPicPr>
          <p:cNvPr id="13" name="Image 1" descr="C:/Users/Ashley/Documents/LifeEngine/savanna-experiments/output/figures/timeline-leopards48.png">    </p:cNvPr>
          <p:cNvPicPr>
            <a:picLocks noChangeAspect="1"/>
          </p:cNvPicPr>
          <p:nvPr/>
        </p:nvPicPr>
        <p:blipFill>
          <a:blip r:embed="rId2"/>
          <a:stretch>
            <a:fillRect/>
          </a:stretch>
        </p:blipFill>
        <p:spPr>
          <a:xfrm>
            <a:off x="6172200" y="3017520"/>
            <a:ext cx="5440680" cy="2742565"/>
          </a:xfrm>
          <a:prstGeom prst="rect">
            <a:avLst/>
          </a:prstGeom>
        </p:spPr>
      </p:pic>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Answers to the brief</a:t>
            </a:r>
            <a:endParaRPr lang="en-US" sz="3000" dirty="0"/>
          </a:p>
        </p:txBody>
      </p:sp>
      <p:sp>
        <p:nvSpPr>
          <p:cNvPr id="3" name="Shape 1"/>
          <p:cNvSpPr/>
          <p:nvPr/>
        </p:nvSpPr>
        <p:spPr>
          <a:xfrm>
            <a:off x="548640" y="1325880"/>
            <a:ext cx="5440680" cy="2103120"/>
          </a:xfrm>
          <a:prstGeom prst="roundRect">
            <a:avLst>
              <a:gd name="adj" fmla="val 5217"/>
            </a:avLst>
          </a:prstGeom>
          <a:solidFill>
            <a:srgbClr val="F1F3F2"/>
          </a:solidFill>
          <a:ln w="12700">
            <a:solidFill>
              <a:srgbClr val="F1F3F2"/>
            </a:solidFill>
            <a:prstDash val="solid"/>
          </a:ln>
        </p:spPr>
      </p:sp>
      <p:sp>
        <p:nvSpPr>
          <p:cNvPr id="4" name="Shape 2"/>
          <p:cNvSpPr/>
          <p:nvPr/>
        </p:nvSpPr>
        <p:spPr>
          <a:xfrm>
            <a:off x="822960" y="1600200"/>
            <a:ext cx="457200" cy="457200"/>
          </a:xfrm>
          <a:prstGeom prst="ellipse">
            <a:avLst/>
          </a:prstGeom>
          <a:solidFill>
            <a:srgbClr val="D98E04"/>
          </a:solidFill>
          <a:ln w="12700">
            <a:solidFill>
              <a:srgbClr val="D98E04"/>
            </a:solidFill>
            <a:prstDash val="solid"/>
          </a:ln>
        </p:spPr>
      </p:sp>
      <p:sp>
        <p:nvSpPr>
          <p:cNvPr id="5" name="Text 3"/>
          <p:cNvSpPr txBox="1"/>
          <p:nvPr/>
        </p:nvSpPr>
        <p:spPr>
          <a:xfrm>
            <a:off x="822960"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463040" y="1627632"/>
            <a:ext cx="4297680" cy="457200"/>
          </a:xfrm>
          <a:prstGeom prst="rect">
            <a:avLst/>
          </a:prstGeom>
          <a:noFill/>
          <a:ln/>
        </p:spPr>
        <p:txBody>
          <a:bodyPr wrap="square" lIns="0" tIns="0" rIns="0" bIns="0" rtlCol="0" anchor="t"/>
          <a:lstStyle/>
          <a:p>
            <a:pPr indent="0" marL="0">
              <a:buNone/>
            </a:pPr>
            <a:r>
              <a:rPr lang="en-US" sz="1900" b="1" dirty="0">
                <a:solidFill>
                  <a:srgbClr val="1F1A14"/>
                </a:solidFill>
                <a:latin typeface="Cambria" pitchFamily="34" charset="0"/>
                <a:ea typeface="Cambria" pitchFamily="34" charset="-122"/>
                <a:cs typeface="Cambria" pitchFamily="34" charset="-120"/>
              </a:rPr>
              <a:t>Did extinction occur?</a:t>
            </a:r>
            <a:endParaRPr lang="en-US" sz="1900" dirty="0"/>
          </a:p>
        </p:txBody>
      </p:sp>
      <p:sp>
        <p:nvSpPr>
          <p:cNvPr id="7" name="Text 5"/>
          <p:cNvSpPr txBox="1"/>
          <p:nvPr/>
        </p:nvSpPr>
        <p:spPr>
          <a:xfrm>
            <a:off x="822960" y="2240280"/>
            <a:ext cx="4937760" cy="1280160"/>
          </a:xfrm>
          <a:prstGeom prst="rect">
            <a:avLst/>
          </a:prstGeom>
          <a:noFill/>
          <a:ln/>
        </p:spPr>
        <p:txBody>
          <a:bodyPr wrap="square" lIns="0" tIns="0" rIns="0" bIns="0" rtlCol="0" anchor="t"/>
          <a:lstStyle/>
          <a:p>
            <a:pPr indent="0" marL="0">
              <a:buNone/>
            </a:pPr>
            <a:r>
              <a:rPr lang="en-US" sz="1500" dirty="0">
                <a:solidFill>
                  <a:srgbClr val="1F1A14"/>
                </a:solidFill>
              </a:rPr>
              <a:t>Yes: every leopard and rhino population in the main runs, and zebras in 4 of 5 main seeds.</a:t>
            </a:r>
            <a:endParaRPr lang="en-US" sz="1500" dirty="0"/>
          </a:p>
        </p:txBody>
      </p:sp>
      <p:sp>
        <p:nvSpPr>
          <p:cNvPr id="8" name="Shape 6"/>
          <p:cNvSpPr/>
          <p:nvPr/>
        </p:nvSpPr>
        <p:spPr>
          <a:xfrm>
            <a:off x="6172200" y="1325880"/>
            <a:ext cx="5440680" cy="2103120"/>
          </a:xfrm>
          <a:prstGeom prst="roundRect">
            <a:avLst>
              <a:gd name="adj" fmla="val 5217"/>
            </a:avLst>
          </a:prstGeom>
          <a:solidFill>
            <a:srgbClr val="F1F3F2"/>
          </a:solidFill>
          <a:ln w="12700">
            <a:solidFill>
              <a:srgbClr val="F1F3F2"/>
            </a:solidFill>
            <a:prstDash val="solid"/>
          </a:ln>
        </p:spPr>
      </p:sp>
      <p:sp>
        <p:nvSpPr>
          <p:cNvPr id="9" name="Shape 7"/>
          <p:cNvSpPr/>
          <p:nvPr/>
        </p:nvSpPr>
        <p:spPr>
          <a:xfrm>
            <a:off x="6446520" y="1600200"/>
            <a:ext cx="457200" cy="457200"/>
          </a:xfrm>
          <a:prstGeom prst="ellipse">
            <a:avLst/>
          </a:prstGeom>
          <a:solidFill>
            <a:srgbClr val="D98E04"/>
          </a:solidFill>
          <a:ln w="12700">
            <a:solidFill>
              <a:srgbClr val="D98E04"/>
            </a:solidFill>
            <a:prstDash val="solid"/>
          </a:ln>
        </p:spPr>
      </p:sp>
      <p:sp>
        <p:nvSpPr>
          <p:cNvPr id="10" name="Text 8"/>
          <p:cNvSpPr txBox="1"/>
          <p:nvPr/>
        </p:nvSpPr>
        <p:spPr>
          <a:xfrm>
            <a:off x="6446520"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1" name="Text 9"/>
          <p:cNvSpPr txBox="1"/>
          <p:nvPr/>
        </p:nvSpPr>
        <p:spPr>
          <a:xfrm>
            <a:off x="7086600" y="1627632"/>
            <a:ext cx="4297680" cy="457200"/>
          </a:xfrm>
          <a:prstGeom prst="rect">
            <a:avLst/>
          </a:prstGeom>
          <a:noFill/>
          <a:ln/>
        </p:spPr>
        <p:txBody>
          <a:bodyPr wrap="square" lIns="0" tIns="0" rIns="0" bIns="0" rtlCol="0" anchor="t"/>
          <a:lstStyle/>
          <a:p>
            <a:pPr indent="0" marL="0">
              <a:buNone/>
            </a:pPr>
            <a:r>
              <a:rPr lang="en-US" sz="1900" b="1" dirty="0">
                <a:solidFill>
                  <a:srgbClr val="1F1A14"/>
                </a:solidFill>
                <a:latin typeface="Cambria" pitchFamily="34" charset="0"/>
                <a:ea typeface="Cambria" pitchFamily="34" charset="-122"/>
                <a:cs typeface="Cambria" pitchFamily="34" charset="-120"/>
              </a:rPr>
              <a:t>Suicide or failure?</a:t>
            </a:r>
            <a:endParaRPr lang="en-US" sz="1900" dirty="0"/>
          </a:p>
        </p:txBody>
      </p:sp>
      <p:sp>
        <p:nvSpPr>
          <p:cNvPr id="12" name="Text 10"/>
          <p:cNvSpPr txBox="1"/>
          <p:nvPr/>
        </p:nvSpPr>
        <p:spPr>
          <a:xfrm>
            <a:off x="6446520" y="2240280"/>
            <a:ext cx="4937760" cy="1280160"/>
          </a:xfrm>
          <a:prstGeom prst="rect">
            <a:avLst/>
          </a:prstGeom>
          <a:noFill/>
          <a:ln/>
        </p:spPr>
        <p:txBody>
          <a:bodyPr wrap="square" lIns="0" tIns="0" rIns="0" bIns="0" rtlCol="0" anchor="t"/>
          <a:lstStyle/>
          <a:p>
            <a:pPr indent="0" marL="0">
              <a:buNone/>
            </a:pPr>
            <a:r>
              <a:rPr lang="en-US" sz="1500" dirty="0">
                <a:solidFill>
                  <a:srgbClr val="1F1A14"/>
                </a:solidFill>
              </a:rPr>
              <a:t>Suicide in the base engine (evolved plant-killers, 3 of 3). Failure to adapt for rhinos and non-adapting zebras; boom-bust for leopards.</a:t>
            </a:r>
            <a:endParaRPr lang="en-US" sz="1500" dirty="0"/>
          </a:p>
        </p:txBody>
      </p:sp>
      <p:sp>
        <p:nvSpPr>
          <p:cNvPr id="13" name="Shape 11"/>
          <p:cNvSpPr/>
          <p:nvPr/>
        </p:nvSpPr>
        <p:spPr>
          <a:xfrm>
            <a:off x="548640" y="3657600"/>
            <a:ext cx="5440680" cy="2103120"/>
          </a:xfrm>
          <a:prstGeom prst="roundRect">
            <a:avLst>
              <a:gd name="adj" fmla="val 5217"/>
            </a:avLst>
          </a:prstGeom>
          <a:solidFill>
            <a:srgbClr val="F1F3F2"/>
          </a:solidFill>
          <a:ln w="12700">
            <a:solidFill>
              <a:srgbClr val="F1F3F2"/>
            </a:solidFill>
            <a:prstDash val="solid"/>
          </a:ln>
        </p:spPr>
      </p:sp>
      <p:sp>
        <p:nvSpPr>
          <p:cNvPr id="14" name="Shape 12"/>
          <p:cNvSpPr/>
          <p:nvPr/>
        </p:nvSpPr>
        <p:spPr>
          <a:xfrm>
            <a:off x="822960" y="3931920"/>
            <a:ext cx="457200" cy="457200"/>
          </a:xfrm>
          <a:prstGeom prst="ellipse">
            <a:avLst/>
          </a:prstGeom>
          <a:solidFill>
            <a:srgbClr val="D98E04"/>
          </a:solidFill>
          <a:ln w="12700">
            <a:solidFill>
              <a:srgbClr val="D98E04"/>
            </a:solidFill>
            <a:prstDash val="solid"/>
          </a:ln>
        </p:spPr>
      </p:sp>
      <p:sp>
        <p:nvSpPr>
          <p:cNvPr id="15" name="Text 13"/>
          <p:cNvSpPr txBox="1"/>
          <p:nvPr/>
        </p:nvSpPr>
        <p:spPr>
          <a:xfrm>
            <a:off x="82296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6" name="Text 14"/>
          <p:cNvSpPr txBox="1"/>
          <p:nvPr/>
        </p:nvSpPr>
        <p:spPr>
          <a:xfrm>
            <a:off x="1463040" y="3959352"/>
            <a:ext cx="4297680" cy="457200"/>
          </a:xfrm>
          <a:prstGeom prst="rect">
            <a:avLst/>
          </a:prstGeom>
          <a:noFill/>
          <a:ln/>
        </p:spPr>
        <p:txBody>
          <a:bodyPr wrap="square" lIns="0" tIns="0" rIns="0" bIns="0" rtlCol="0" anchor="t"/>
          <a:lstStyle/>
          <a:p>
            <a:pPr indent="0" marL="0">
              <a:buNone/>
            </a:pPr>
            <a:r>
              <a:rPr lang="en-US" sz="1900" b="1" dirty="0">
                <a:solidFill>
                  <a:srgbClr val="1F1A14"/>
                </a:solidFill>
                <a:latin typeface="Cambria" pitchFamily="34" charset="0"/>
                <a:ea typeface="Cambria" pitchFamily="34" charset="-122"/>
                <a:cs typeface="Cambria" pitchFamily="34" charset="-120"/>
              </a:rPr>
              <a:t>Environment or species?</a:t>
            </a:r>
            <a:endParaRPr lang="en-US" sz="1900" dirty="0"/>
          </a:p>
        </p:txBody>
      </p:sp>
      <p:sp>
        <p:nvSpPr>
          <p:cNvPr id="17" name="Text 15"/>
          <p:cNvSpPr txBox="1"/>
          <p:nvPr/>
        </p:nvSpPr>
        <p:spPr>
          <a:xfrm>
            <a:off x="822960" y="4572000"/>
            <a:ext cx="4937760" cy="1280160"/>
          </a:xfrm>
          <a:prstGeom prst="rect">
            <a:avLst/>
          </a:prstGeom>
          <a:noFill/>
          <a:ln/>
        </p:spPr>
        <p:txBody>
          <a:bodyPr wrap="square" lIns="0" tIns="0" rIns="0" bIns="0" rtlCol="0" anchor="t"/>
          <a:lstStyle/>
          <a:p>
            <a:pPr indent="0" marL="0">
              <a:buNone/>
            </a:pPr>
            <a:r>
              <a:rPr lang="en-US" sz="1500" dirty="0">
                <a:solidFill>
                  <a:srgbClr val="1F1A14"/>
                </a:solidFill>
              </a:rPr>
              <a:t>The same zebras killed themselves in the base engine and adapted in the savanna. Removing the river or soil water was as decisive as removing a trait.</a:t>
            </a:r>
            <a:endParaRPr lang="en-US" sz="1500" dirty="0"/>
          </a:p>
        </p:txBody>
      </p:sp>
      <p:sp>
        <p:nvSpPr>
          <p:cNvPr id="18" name="Shape 16"/>
          <p:cNvSpPr/>
          <p:nvPr/>
        </p:nvSpPr>
        <p:spPr>
          <a:xfrm>
            <a:off x="6172200" y="3657600"/>
            <a:ext cx="5440680" cy="2103120"/>
          </a:xfrm>
          <a:prstGeom prst="roundRect">
            <a:avLst>
              <a:gd name="adj" fmla="val 5217"/>
            </a:avLst>
          </a:prstGeom>
          <a:solidFill>
            <a:srgbClr val="F1F3F2"/>
          </a:solidFill>
          <a:ln w="12700">
            <a:solidFill>
              <a:srgbClr val="F1F3F2"/>
            </a:solidFill>
            <a:prstDash val="solid"/>
          </a:ln>
        </p:spPr>
      </p:sp>
      <p:sp>
        <p:nvSpPr>
          <p:cNvPr id="19" name="Shape 17"/>
          <p:cNvSpPr/>
          <p:nvPr/>
        </p:nvSpPr>
        <p:spPr>
          <a:xfrm>
            <a:off x="6446520" y="3931920"/>
            <a:ext cx="457200" cy="457200"/>
          </a:xfrm>
          <a:prstGeom prst="ellipse">
            <a:avLst/>
          </a:prstGeom>
          <a:solidFill>
            <a:srgbClr val="D98E04"/>
          </a:solidFill>
          <a:ln w="12700">
            <a:solidFill>
              <a:srgbClr val="D98E04"/>
            </a:solidFill>
            <a:prstDash val="solid"/>
          </a:ln>
        </p:spPr>
      </p:sp>
      <p:sp>
        <p:nvSpPr>
          <p:cNvPr id="20" name="Text 18"/>
          <p:cNvSpPr txBox="1"/>
          <p:nvPr/>
        </p:nvSpPr>
        <p:spPr>
          <a:xfrm>
            <a:off x="644652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1" name="Text 19"/>
          <p:cNvSpPr txBox="1"/>
          <p:nvPr/>
        </p:nvSpPr>
        <p:spPr>
          <a:xfrm>
            <a:off x="7086600" y="3959352"/>
            <a:ext cx="4297680" cy="457200"/>
          </a:xfrm>
          <a:prstGeom prst="rect">
            <a:avLst/>
          </a:prstGeom>
          <a:noFill/>
          <a:ln/>
        </p:spPr>
        <p:txBody>
          <a:bodyPr wrap="square" lIns="0" tIns="0" rIns="0" bIns="0" rtlCol="0" anchor="t"/>
          <a:lstStyle/>
          <a:p>
            <a:pPr indent="0" marL="0">
              <a:buNone/>
            </a:pPr>
            <a:r>
              <a:rPr lang="en-US" sz="1900" b="1" dirty="0">
                <a:solidFill>
                  <a:srgbClr val="1F1A14"/>
                </a:solidFill>
                <a:latin typeface="Cambria" pitchFamily="34" charset="0"/>
                <a:ea typeface="Cambria" pitchFamily="34" charset="-122"/>
                <a:cs typeface="Cambria" pitchFamily="34" charset="-120"/>
              </a:rPr>
              <a:t>Instrumental traits</a:t>
            </a:r>
            <a:endParaRPr lang="en-US" sz="1900" dirty="0"/>
          </a:p>
        </p:txBody>
      </p:sp>
      <p:sp>
        <p:nvSpPr>
          <p:cNvPr id="22" name="Text 20"/>
          <p:cNvSpPr txBox="1"/>
          <p:nvPr/>
        </p:nvSpPr>
        <p:spPr>
          <a:xfrm>
            <a:off x="6446520" y="4572000"/>
            <a:ext cx="4937760" cy="1280160"/>
          </a:xfrm>
          <a:prstGeom prst="rect">
            <a:avLst/>
          </a:prstGeom>
          <a:noFill/>
          <a:ln/>
        </p:spPr>
        <p:txBody>
          <a:bodyPr wrap="square" lIns="0" tIns="0" rIns="0" bIns="0" rtlCol="0" anchor="t"/>
          <a:lstStyle/>
          <a:p>
            <a:pPr indent="0" marL="0">
              <a:buNone/>
            </a:pPr>
            <a:r>
              <a:rPr lang="en-US" sz="1500" dirty="0">
                <a:solidFill>
                  <a:srgbClr val="1F1A14"/>
                </a:solidFill>
              </a:rPr>
              <a:t>Toward collapse: evolved killers, costly armour, single-prey diet. Away: river, water regrowth, stripes, kick, the second mouth.</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What we can and cannot claim</a:t>
            </a:r>
            <a:endParaRPr lang="en-US" sz="3000" dirty="0"/>
          </a:p>
        </p:txBody>
      </p:sp>
      <p:sp>
        <p:nvSpPr>
          <p:cNvPr id="3" name="Shape 1"/>
          <p:cNvSpPr/>
          <p:nvPr/>
        </p:nvSpPr>
        <p:spPr>
          <a:xfrm>
            <a:off x="548640" y="1280160"/>
            <a:ext cx="5394960" cy="3840480"/>
          </a:xfrm>
          <a:prstGeom prst="roundRect">
            <a:avLst>
              <a:gd name="adj" fmla="val 2857"/>
            </a:avLst>
          </a:prstGeom>
          <a:solidFill>
            <a:srgbClr val="F8ECEC"/>
          </a:solidFill>
          <a:ln w="12700">
            <a:solidFill>
              <a:srgbClr val="F8ECEC"/>
            </a:solidFill>
            <a:prstDash val="solid"/>
          </a:ln>
        </p:spPr>
      </p:sp>
      <p:sp>
        <p:nvSpPr>
          <p:cNvPr id="4" name="Text 2"/>
          <p:cNvSpPr txBox="1"/>
          <p:nvPr/>
        </p:nvSpPr>
        <p:spPr>
          <a:xfrm>
            <a:off x="822960" y="1463040"/>
            <a:ext cx="4846320" cy="457200"/>
          </a:xfrm>
          <a:prstGeom prst="rect">
            <a:avLst/>
          </a:prstGeom>
          <a:noFill/>
          <a:ln/>
        </p:spPr>
        <p:txBody>
          <a:bodyPr wrap="square" lIns="0" tIns="0" rIns="0" bIns="0" rtlCol="0" anchor="t"/>
          <a:lstStyle/>
          <a:p>
            <a:pPr indent="0" marL="0">
              <a:buNone/>
            </a:pPr>
            <a:r>
              <a:rPr lang="en-US" sz="2000" b="1" dirty="0">
                <a:solidFill>
                  <a:srgbClr val="B23A3A"/>
                </a:solidFill>
                <a:latin typeface="Cambria" pitchFamily="34" charset="0"/>
                <a:ea typeface="Cambria" pitchFamily="34" charset="-122"/>
                <a:cs typeface="Cambria" pitchFamily="34" charset="-120"/>
              </a:rPr>
              <a:t>Limits</a:t>
            </a:r>
            <a:endParaRPr lang="en-US" sz="2000" dirty="0"/>
          </a:p>
        </p:txBody>
      </p:sp>
      <p:sp>
        <p:nvSpPr>
          <p:cNvPr id="5" name="Text 3"/>
          <p:cNvSpPr txBox="1"/>
          <p:nvPr/>
        </p:nvSpPr>
        <p:spPr>
          <a:xfrm>
            <a:off x="822960" y="2011680"/>
            <a:ext cx="4846320" cy="38404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1A14"/>
                </a:solidFill>
              </a:rPr>
              <a:t>3 seeds per ablation and sweep: one seed of difference is noise</a:t>
            </a:r>
            <a:endParaRPr lang="en-US" sz="1500" dirty="0"/>
          </a:p>
          <a:p>
            <a:pPr marL="342900" indent="-342900">
              <a:spcAft>
                <a:spcPts val="800"/>
              </a:spcAft>
              <a:buSzPct val="100000"/>
              <a:buChar char="•"/>
            </a:pPr>
            <a:r>
              <a:rPr lang="en-US" sz="1500" dirty="0">
                <a:solidFill>
                  <a:srgbClr val="1F1A14"/>
                </a:solidFill>
              </a:rPr>
              <a:t>Rules were rebalanced during testing (leopard body, sprint, armour, weapons) before the final runs</a:t>
            </a:r>
            <a:endParaRPr lang="en-US" sz="1500" dirty="0"/>
          </a:p>
          <a:p>
            <a:pPr marL="342900" indent="-342900">
              <a:spcAft>
                <a:spcPts val="800"/>
              </a:spcAft>
              <a:buSzPct val="100000"/>
              <a:buChar char="•"/>
            </a:pPr>
            <a:r>
              <a:rPr lang="en-US" sz="1500" dirty="0">
                <a:solidFill>
                  <a:srgbClr val="1F1A14"/>
                </a:solidFill>
              </a:rPr>
              <a:t>Our overgrazing hypothesis was not observed in 100k ticks</a:t>
            </a:r>
            <a:endParaRPr lang="en-US" sz="1500" dirty="0"/>
          </a:p>
          <a:p>
            <a:pPr marL="342900" indent="-342900">
              <a:spcAft>
                <a:spcPts val="800"/>
              </a:spcAft>
              <a:buSzPct val="100000"/>
              <a:buChar char="•"/>
            </a:pPr>
            <a:r>
              <a:rPr lang="en-US" sz="1500" dirty="0">
                <a:solidFill>
                  <a:srgbClr val="1F1A14"/>
                </a:solidFill>
              </a:rPr>
              <a:t>Fires stayed small and leopards never persisted, even with 10x fire and 3x leopards</a:t>
            </a:r>
            <a:endParaRPr lang="en-US" sz="1500" dirty="0"/>
          </a:p>
        </p:txBody>
      </p:sp>
      <p:sp>
        <p:nvSpPr>
          <p:cNvPr id="6" name="Shape 4"/>
          <p:cNvSpPr/>
          <p:nvPr/>
        </p:nvSpPr>
        <p:spPr>
          <a:xfrm>
            <a:off x="6217920" y="1280160"/>
            <a:ext cx="5394960" cy="3840480"/>
          </a:xfrm>
          <a:prstGeom prst="roundRect">
            <a:avLst>
              <a:gd name="adj" fmla="val 2857"/>
            </a:avLst>
          </a:prstGeom>
          <a:solidFill>
            <a:srgbClr val="EEF5EA"/>
          </a:solidFill>
          <a:ln w="12700">
            <a:solidFill>
              <a:srgbClr val="EEF5EA"/>
            </a:solidFill>
            <a:prstDash val="solid"/>
          </a:ln>
        </p:spPr>
      </p:sp>
      <p:sp>
        <p:nvSpPr>
          <p:cNvPr id="7" name="Text 5"/>
          <p:cNvSpPr txBox="1"/>
          <p:nvPr/>
        </p:nvSpPr>
        <p:spPr>
          <a:xfrm>
            <a:off x="6492240" y="1463040"/>
            <a:ext cx="4846320" cy="457200"/>
          </a:xfrm>
          <a:prstGeom prst="rect">
            <a:avLst/>
          </a:prstGeom>
          <a:noFill/>
          <a:ln/>
        </p:spPr>
        <p:txBody>
          <a:bodyPr wrap="square" lIns="0" tIns="0" rIns="0" bIns="0" rtlCol="0" anchor="t"/>
          <a:lstStyle/>
          <a:p>
            <a:pPr indent="0" marL="0">
              <a:buNone/>
            </a:pPr>
            <a:r>
              <a:rPr lang="en-US" sz="2000" b="1" dirty="0">
                <a:solidFill>
                  <a:srgbClr val="4E7D32"/>
                </a:solidFill>
                <a:latin typeface="Cambria" pitchFamily="34" charset="0"/>
                <a:ea typeface="Cambria" pitchFamily="34" charset="-122"/>
                <a:cs typeface="Cambria" pitchFamily="34" charset="-120"/>
              </a:rPr>
              <a:t>No outcome is hard-coded</a:t>
            </a:r>
            <a:endParaRPr lang="en-US" sz="2000" dirty="0"/>
          </a:p>
        </p:txBody>
      </p:sp>
      <p:sp>
        <p:nvSpPr>
          <p:cNvPr id="8" name="Text 6"/>
          <p:cNvSpPr txBox="1"/>
          <p:nvPr/>
        </p:nvSpPr>
        <p:spPr>
          <a:xfrm>
            <a:off x="6492240" y="2011680"/>
            <a:ext cx="4846320" cy="38404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1A14"/>
                </a:solidFill>
              </a:rPr>
              <a:t>Every death comes from per-organism rules: age, cell damage or hunger</a:t>
            </a:r>
            <a:endParaRPr lang="en-US" sz="1500" dirty="0"/>
          </a:p>
          <a:p>
            <a:pPr marL="342900" indent="-342900">
              <a:spcAft>
                <a:spcPts val="800"/>
              </a:spcAft>
              <a:buSzPct val="100000"/>
              <a:buChar char="•"/>
            </a:pPr>
            <a:r>
              <a:rPr lang="en-US" sz="1500" dirty="0">
                <a:solidFill>
                  <a:srgbClr val="1F1A14"/>
                </a:solidFill>
              </a:rPr>
              <a:t>Variants only change starting organisms and settings</a:t>
            </a:r>
            <a:endParaRPr lang="en-US" sz="1500" dirty="0"/>
          </a:p>
          <a:p>
            <a:pPr marL="342900" indent="-342900">
              <a:spcAft>
                <a:spcPts val="800"/>
              </a:spcAft>
              <a:buSzPct val="100000"/>
              <a:buChar char="•"/>
            </a:pPr>
            <a:r>
              <a:rPr lang="en-US" sz="1500" dirty="0">
                <a:solidFill>
                  <a:srgbClr val="1F1A14"/>
                </a:solidFill>
              </a:rPr>
              <a:t>Seeds of one condition reach different outcomes</a:t>
            </a:r>
            <a:endParaRPr lang="en-US" sz="1500" dirty="0"/>
          </a:p>
          <a:p>
            <a:pPr marL="342900" indent="-342900">
              <a:spcAft>
                <a:spcPts val="800"/>
              </a:spcAft>
              <a:buSzPct val="100000"/>
              <a:buChar char="•"/>
            </a:pPr>
            <a:r>
              <a:rPr lang="en-US" sz="1500" dirty="0">
                <a:solidFill>
                  <a:srgbClr val="1F1A14"/>
                </a:solidFill>
              </a:rPr>
              <a:t>Code: src/Organism/Cell/BodyCells, savanna-experiments/</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10881360" cy="1554480"/>
          </a:xfrm>
          <a:prstGeom prst="rect">
            <a:avLst/>
          </a:prstGeom>
          <a:noFill/>
          <a:ln/>
        </p:spPr>
        <p:txBody>
          <a:bodyPr wrap="square" rtlCol="0" anchor="t"/>
          <a:lstStyle/>
          <a:p>
            <a:pPr algn="l" indent="0" marL="0">
              <a:buNone/>
            </a:pPr>
            <a:r>
              <a:rPr lang="en-US" sz="4400" b="1" dirty="0">
                <a:solidFill>
                  <a:schemeClr val="bg1"/>
                </a:solidFill>
              </a:rPr>
              <a:t>The trait that wins is not always the trait that kills</a:t>
            </a:r>
            <a:endParaRPr lang="en-US" sz="4400" dirty="0"/>
          </a:p>
        </p:txBody>
      </p:sp>
      <p:sp>
        <p:nvSpPr>
          <p:cNvPr id="3" name="Text 0"/>
          <p:cNvSpPr/>
          <p:nvPr>
            <p:ph idx="101" type="body" hasCustomPrompt="1"/>
          </p:nvPr>
        </p:nvSpPr>
        <p:spPr>
          <a:xfrm>
            <a:off x="640080" y="2743200"/>
            <a:ext cx="10881360" cy="914400"/>
          </a:xfrm>
          <a:prstGeom prst="rect">
            <a:avLst/>
          </a:prstGeom>
          <a:noFill/>
          <a:ln/>
        </p:spPr>
        <p:txBody>
          <a:bodyPr wrap="square" rtlCol="0"/>
          <a:lstStyle/>
          <a:p>
            <a:pPr indent="0" marL="0">
              <a:buNone/>
            </a:pPr>
            <a:r>
              <a:rPr lang="en-US" sz="2000" dirty="0">
                <a:solidFill>
                  <a:schemeClr val="accent1"/>
                </a:solidFill>
              </a:rPr>
              <a:t>A killer that pays in food today destroyed the base-engine world. In a savanna with water, refuges and fallbacks, the same pressure produced adaptation instead.</a:t>
            </a:r>
            <a:endParaRPr lang="en-US" sz="2000" dirty="0"/>
          </a:p>
        </p:txBody>
      </p:sp>
      <p:sp>
        <p:nvSpPr>
          <p:cNvPr id="4" name="Text 2"/>
          <p:cNvSpPr txBox="1"/>
          <p:nvPr/>
        </p:nvSpPr>
        <p:spPr>
          <a:xfrm>
            <a:off x="640080" y="5852160"/>
            <a:ext cx="10881360" cy="365760"/>
          </a:xfrm>
          <a:prstGeom prst="rect">
            <a:avLst/>
          </a:prstGeom>
          <a:noFill/>
          <a:ln/>
        </p:spPr>
        <p:txBody>
          <a:bodyPr wrap="square" lIns="0" tIns="0" rIns="0" bIns="0" rtlCol="0" anchor="t"/>
          <a:lstStyle/>
          <a:p>
            <a:pPr indent="0" marL="0">
              <a:buNone/>
            </a:pPr>
            <a:r>
              <a:rPr lang="en-US" sz="1400" dirty="0">
                <a:solidFill>
                  <a:srgbClr val="BFBFBF"/>
                </a:solidFill>
              </a:rPr>
              <a:t>Report, logs, screenshots and code: savanna-experiments/ in the project repository</a:t>
            </a:r>
            <a:endParaRPr lang="en-US" sz="1400" dirty="0"/>
          </a:p>
        </p:txBody>
      </p:sp>
    </p:spTree>
  </p:cSld>
  <p:clrMapOvr>
    <a:masterClrMapping/>
  </p:clrMapOvr>
</p:sld>
</file>

<file path=ppt/theme/theme1.xml><?xml version="1.0" encoding="utf-8"?>
<a:theme xmlns:a="http://schemas.openxmlformats.org/drawingml/2006/main" name="Savanna Dusk">
  <a:themeElements>
    <a:clrScheme name="Savanna Dusk">
      <a:dk1>
        <a:srgbClr val="1F1A14"/>
      </a:dk1>
      <a:lt1>
        <a:srgbClr val="FFFFFF"/>
      </a:lt1>
      <a:dk2>
        <a:srgbClr val="3B2F22"/>
      </a:dk2>
      <a:lt2>
        <a:srgbClr val="F1F3F2"/>
      </a:lt2>
      <a:accent1>
        <a:srgbClr val="D98E04"/>
      </a:accent1>
      <a:accent2>
        <a:srgbClr val="4E7D32"/>
      </a:accent2>
      <a:accent3>
        <a:srgbClr val="2F6FA8"/>
      </a:accent3>
      <a:accent4>
        <a:srgbClr val="B23A3A"/>
      </a:accent4>
      <a:accent5>
        <a:srgbClr val="7A5C3E"/>
      </a:accent5>
      <a:accent6>
        <a:srgbClr val="6B7280"/>
      </a:accent6>
      <a:hlink>
        <a:srgbClr val="2F6FA8"/>
      </a:hlink>
      <a:folHlink>
        <a:srgbClr val="7A5C3E"/>
      </a:folHlink>
    </a:clrScheme>
    <a:fontScheme name="Savanna Dus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Reproducing Evolutionary Suicide in a Digital Savanna</dc:title>
  <dc:subject>PptxGenJS Presentation</dc:subject>
  <dc:creator>CSC4044Z group</dc:creator>
  <cp:lastModifiedBy>CSC4044Z group</cp:lastModifiedBy>
  <cp:revision>1</cp:revision>
  <dcterms:created xsi:type="dcterms:W3CDTF">2026-10-17T15:29:58Z</dcterms:created>
  <dcterms:modified xsi:type="dcterms:W3CDTF">2026-10-17T15:29:58Z</dcterms:modified>
</cp:coreProperties>
</file>